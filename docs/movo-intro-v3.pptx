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12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1.xml" ContentType="application/vnd.openxmlformats-officedocument.presentationml.notesSlide+xml"/>
  <Override PartName="/ppt/slideLayouts/slideLayout6.xml" ContentType="application/vnd.openxmlformats-officedocument.presentationml.slideLayout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s/slide10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9.xml" ContentType="application/vnd.openxmlformats-officedocument.presentationml.notes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firstSlideNum="1" mc:Ignorable="p15">
  <p:sldMasterIdLst>
    <p:sldMasterId id="2147483648" r:id="rId0"/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/>
</file>

<file path=ppt/viewProps.xml><?xml version="1.0" encoding="utf-8"?>
<p:viewPr xmlns:a="http://schemas.openxmlformats.org/drawingml/2006/main" xmlns:p="http://schemas.openxmlformats.org/presentationml/2006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8.xml" /><Relationship Id="rId8" Type="http://schemas.openxmlformats.org/officeDocument/2006/relationships/slide" Target="slides/slide7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2" Type="http://schemas.openxmlformats.org/officeDocument/2006/relationships/slide" Target="slides/slid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2.xml" /><Relationship Id="rId12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4" Type="http://schemas.openxmlformats.org/officeDocument/2006/relationships/notesMaster" Target="notesMasters/notesMaster1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3" Type="http://schemas.openxmlformats.org/officeDocument/2006/relationships/slide" Target="slides/slide2.xml" /><Relationship Id="rId13" Type="http://schemas.openxmlformats.org/officeDocument/2006/relationships/slide" Target="slides/slide12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/>
          </a:p>
          <a:p>
            <a:pPr lvl="1"/>
            <a:r>
              <a:rPr lang="en-US" smtClean="0"/>
              <a:t>Second level</a:t>
            </a:r>
            <a:endParaRPr/>
          </a:p>
          <a:p>
            <a:pPr lvl="2"/>
            <a:r>
              <a:rPr lang="en-US" smtClean="0"/>
              <a:t>Third level</a:t>
            </a:r>
            <a:endParaRPr/>
          </a:p>
          <a:p>
            <a:pPr lvl="3"/>
            <a:r>
              <a:rPr lang="en-US" smtClean="0"/>
              <a:t>Fourth level</a:t>
            </a:r>
            <a:endParaRPr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9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0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P2 是规模化生态。Dream Cycle 把会话沉淀成 Skill 让平台越用越聪明；右侧清单是其余高阶能力，工作量最大可后置。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1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三阶段：1-2 月先把生产底座做扎实，3-6 月做可靠协作与会话交接，6-12 月以上做规模化生态。全程复用现有底座，不推倒重来。</a:t>
            </a:r>
            <a:endParaRPr/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落地从 P0 风控开始，网关韧性改动小收益大，Hooks 先单事件验证，用一个标杆场景同时打通 P0 与 P1，始终守住自托管与数据自主。</a:t>
            </a:r>
            <a:endParaRPr/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2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2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收尾：能力与治理一起补齐，MOGONG 就能从 Demo 走进生产。欢迎通过 GitHub 或邮箱联系，支持私有化部署。</a:t>
            </a:r>
            <a:endParaRPr/>
          </a:p>
        </p:txBody>
      </p:sp>
      <p:sp>
        <p:nvSpPr>
          <p:cNvPr id="2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3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3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  <a:endParaRPr/>
          </a:p>
        </p:txBody>
      </p:sp>
      <p:sp>
        <p:nvSpPr>
          <p:cNvPr id="3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3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一句话：MOGONG 是 DSH 执行底座加企业层。本材料按已有基线、六大缺口、分级补强、三阶段落地四步展开。</a:t>
            </a:r>
            <a:endParaRPr/>
          </a:p>
        </p:txBody>
      </p:sp>
      <p:sp>
        <p:nvSpPr>
          <p:cNvPr id="4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5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46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7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MOGONG 已有九大能力域，从执行底座、知识RAG、多模态理解到部署桌面都已成型。这是后续补强的坚实基线。</a:t>
            </a:r>
            <a:endParaRPr/>
          </a:p>
        </p:txBody>
      </p:sp>
      <p:sp>
        <p:nvSpPr>
          <p:cNvPr id="48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2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53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4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与对标方案反向确认，这五块 MOGONG 已经领先，不应重复投入。它们同时也是后续补强的挂载点与安全边界。</a:t>
            </a:r>
            <a:endParaRPr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9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6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六大缺口按优先级分三档。P0 三件是企业入场券，P1 三件解决可靠协作与会话交接，P2 是规模化生态，工作量最大可后置。</a:t>
            </a:r>
            <a:endParaRPr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6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67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8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治理风控是 MOGONG 当前最大缺口。Gatekeeper 六层门禁串行放行，配合风险矩阵和细粒度权限码，PII 脱敏同时覆盖运行时和保存分享两个场景。</a:t>
            </a:r>
            <a:endParaRPr/>
          </a:p>
        </p:txBody>
      </p:sp>
      <p:sp>
        <p:nvSpPr>
          <p:cNvPr id="69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0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7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7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P0 后两件是生产底座：网关韧性解决 LLM 单点，驾驶舱让成本、使用、质量、趋势四维可观测。两者改动集中、复用现有模块，收益直接。</a:t>
            </a:r>
            <a:endParaRPr/>
          </a:p>
        </p:txBody>
      </p:sp>
      <p:sp>
        <p:nvSpPr>
          <p:cNvPr id="7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 smtClean="0"/>
              <a:t>1.7.2013</a:t>
            </a:r>
            <a:endParaRPr/>
          </a:p>
        </p:txBody>
      </p:sp>
      <p:sp>
        <p:nvSpPr>
          <p:cNvPr id="8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P1 三件套：Hooks 先单事件低成本切入，DAG 通用化现有编排，会话与工作流双版本化让工作可交接、可回放。会话级是贯穿多条补强的横切维度。</a:t>
            </a:r>
            <a:endParaRPr/>
          </a:p>
        </p:txBody>
      </p:sp>
      <p:sp>
        <p:nvSpPr>
          <p:cNvPr id="8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 smtClean="0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/>
            <a:endParaRPr/>
          </a:p>
        </p:txBody>
      </p:sp>
      <p:sp>
        <p:nvSpPr>
          <p:cNvPr id="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OBJEC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_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22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3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4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woObj">
  <p:cSld name="TWO_OBJECTS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7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8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9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0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1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twoTxTwoObj">
  <p:cSld name="TWO_OBJECTS_WITH_TEXT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4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5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6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7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8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9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0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type="titleOnly">
  <p:cSld name="TITLE_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3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4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5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8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9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objTx">
  <p:cSld name="OBJECT_WITH_CAPTION_TEXT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2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/>
            <a:endParaRPr/>
          </a:p>
        </p:txBody>
      </p:sp>
      <p:sp>
        <p:nvSpPr>
          <p:cNvPr id="53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54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5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6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picTx">
  <p:cSld name="PICTURE_WITH_CAPTION_TEXT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9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p/>
        </p:txBody>
      </p:sp>
      <p:sp>
        <p:nvSpPr>
          <p:cNvPr id="60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61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2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3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vertTx">
  <p:cSld name="VERTICAL_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6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67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8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9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VERTICAL_TITLE_AND_VERTICAL_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5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6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7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8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type="title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8" Type="http://schemas.openxmlformats.org/officeDocument/2006/relationships/slideLayout" Target="../slideLayouts/slideLayout9.xml" /><Relationship Id="rId7" Type="http://schemas.openxmlformats.org/officeDocument/2006/relationships/slideLayout" Target="../slideLayouts/slideLayout8.xml" /><Relationship Id="rId2" Type="http://schemas.openxmlformats.org/officeDocument/2006/relationships/slideLayout" Target="../slideLayouts/slideLayout3.xml" /><Relationship Id="rId11" Type="http://schemas.openxmlformats.org/officeDocument/2006/relationships/theme" Target="../theme/theme1.xml" /><Relationship Id="rId6" Type="http://schemas.openxmlformats.org/officeDocument/2006/relationships/slideLayout" Target="../slideLayouts/slideLayout7.xml" /><Relationship Id="rId4" Type="http://schemas.openxmlformats.org/officeDocument/2006/relationships/slideLayout" Target="../slideLayouts/slideLayout5.xml" /><Relationship Id="rId3" Type="http://schemas.openxmlformats.org/officeDocument/2006/relationships/slideLayout" Target="../slideLayouts/slideLayout4.xml" /><Relationship Id="rId5" Type="http://schemas.openxmlformats.org/officeDocument/2006/relationships/slideLayout" Target="../slideLayouts/slideLayout6.xml" /><Relationship Id="rId1" Type="http://schemas.openxmlformats.org/officeDocument/2006/relationships/slideLayout" Target="../slideLayouts/slideLayout2.xml" /><Relationship Id="rId10" Type="http://schemas.openxmlformats.org/officeDocument/2006/relationships/slideLayout" Target="../slideLayouts/slideLayout11.xml" /><Relationship Id="rId0" Type="http://schemas.openxmlformats.org/officeDocument/2006/relationships/slideLayout" Target="../slideLayouts/slideLayout1.xml" 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 /><Relationship Id="rId0" Type="http://schemas.openxmlformats.org/officeDocument/2006/relationships/slideLayout" Target="../slideLayouts/slideLayout1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pPr/>
            <a:endParaRPr/>
          </a:p>
        </p:txBody>
      </p:sp>
      <p:sp>
        <p:nvSpPr>
          <p:cNvPr id="3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4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5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6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1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12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1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8.xml" /><Relationship Id="rId0" Type="http://schemas.openxmlformats.org/officeDocument/2006/relationships/slideLayout" Target="../slideLayouts/slideLayout12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12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12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1.xml" /><Relationship Id="rId0" Type="http://schemas.openxmlformats.org/officeDocument/2006/relationships/slideLayout" Target="../slideLayouts/slideLayout1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2.xml" /><Relationship Id="rId0" Type="http://schemas.openxmlformats.org/officeDocument/2006/relationships/slideLayout" Target="../slideLayouts/slideLayout12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2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12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12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12.xml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D1221">
            <a:alpha val="100000"/>
          </a:srgbClr>
        </a:solidFill>
      </p:bgPr>
    </p:bg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8" name="Connector 2"/>
          <p:cNvCxnSpPr/>
          <p:nvPr/>
        </p:nvCxnSpPr>
        <p:spPr>
          <a:xfrm rot="-3580" flipH="0" flipV="0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" name="Connector 3"/>
          <p:cNvCxnSpPr/>
          <p:nvPr/>
        </p:nvCxnSpPr>
        <p:spPr>
          <a:xfrm rot="-3580" flipH="0" flipV="0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0" name="Connector 4"/>
          <p:cNvCxnSpPr/>
          <p:nvPr/>
        </p:nvCxnSpPr>
        <p:spPr>
          <a:xfrm rot="-3580" flipH="0" flipV="0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1" name="Connector 5"/>
          <p:cNvCxnSpPr/>
          <p:nvPr/>
        </p:nvCxnSpPr>
        <p:spPr>
          <a:xfrm rot="5393633" flipH="0" flipV="0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" name="Connector 6"/>
          <p:cNvCxnSpPr/>
          <p:nvPr/>
        </p:nvCxnSpPr>
        <p:spPr>
          <a:xfrm rot="5393633" flipH="0" flipV="0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" name="Connector 7"/>
          <p:cNvCxnSpPr/>
          <p:nvPr/>
        </p:nvCxnSpPr>
        <p:spPr>
          <a:xfrm rot="5393633" flipH="0" flipV="0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" name="AutoShape 8"/>
          <p:cNvSpPr/>
          <p:nvPr/>
        </p:nvSpPr>
        <p:spPr>
          <a:xfrm rot="0" flipH="0" flipV="0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" name="AutoShape 9"/>
          <p:cNvSpPr/>
          <p:nvPr/>
        </p:nvSpPr>
        <p:spPr>
          <a:xfrm rot="0" flipH="0" flipV="0"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500" b="1" i="0" u="none" strike="noStrike">
                <a:solidFill>
                  <a:srgbClr val="10B9A9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 </a:t>
            </a:r>
            <a:r>
              <a:rPr lang="zh-CN" sz="1500" b="1" i="0" u="none" strike="noStrike">
                <a:solidFill>
                  <a:srgbClr val="10B9A9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基于</a:t>
            </a:r>
            <a:r>
              <a:rPr lang="en-US" sz="1500" b="1" i="0" u="none" strike="noStrike">
                <a:solidFill>
                  <a:srgbClr val="10B9A9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DSH</a:t>
            </a:r>
            <a:r>
              <a:rPr lang="zh-CN" sz="1500" b="1" i="0" u="none" strike="noStrike">
                <a:solidFill>
                  <a:srgbClr val="10B9A9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</a:t>
            </a:r>
            <a:r>
              <a:rPr lang="en-US" sz="1500" b="1" i="0" u="none" strike="noStrike">
                <a:solidFill>
                  <a:srgbClr val="10B9A9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企业级智能体平台</a:t>
            </a:r>
            <a:endParaRPr/>
          </a:p>
        </p:txBody>
      </p:sp>
      <p:sp>
        <p:nvSpPr>
          <p:cNvPr id="136" name="AutoShape 10"/>
          <p:cNvSpPr/>
          <p:nvPr/>
        </p:nvSpPr>
        <p:spPr>
          <a:xfrm rot="0" flipH="0" flipV="0">
            <a:off x="812800" y="2489200"/>
            <a:ext cx="10566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从能力底座到生产就绪</a:t>
            </a:r>
            <a:endParaRPr lang="en-US" sz="1100"/>
          </a:p>
        </p:txBody>
      </p:sp>
      <p:sp>
        <p:nvSpPr>
          <p:cNvPr id="137" name="AutoShape 11"/>
          <p:cNvSpPr/>
          <p:nvPr/>
        </p:nvSpPr>
        <p:spPr>
          <a:xfrm rot="0" flipH="0" flipV="0">
            <a:off x="812800" y="32512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企业级智能体功能补强规划与落地路线</a:t>
            </a:r>
            <a:endParaRPr lang="en-US" sz="1100"/>
          </a:p>
        </p:txBody>
      </p:sp>
      <p:sp>
        <p:nvSpPr>
          <p:cNvPr id="138" name="AutoShape 12"/>
          <p:cNvSpPr/>
          <p:nvPr/>
        </p:nvSpPr>
        <p:spPr>
          <a:xfrm rot="0" flipH="0" flipV="0"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" name="AutoShape 15"/>
          <p:cNvSpPr/>
          <p:nvPr/>
        </p:nvSpPr>
        <p:spPr>
          <a:xfrm rot="0" flipH="0" flipV="0"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>
                    <a:alpha val="4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2026-09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1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01 · 定位与主线</a:t>
            </a:r>
            <a:endParaRPr lang="en-US" sz="1100"/>
          </a:p>
        </p:txBody>
      </p:sp>
      <p:sp>
        <p:nvSpPr>
          <p:cNvPr id="143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2600" b="1" i="0" u="none" strike="noStrike">
                <a:solidFill>
                  <a:srgbClr val="0F172A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DSH 管运行，MOGONG 管进企业——本规划只补六处缺口</a:t>
            </a:r>
            <a:endParaRPr/>
          </a:p>
        </p:txBody>
      </p:sp>
      <p:cxnSp>
        <p:nvCxnSpPr>
          <p:cNvPr id="144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" name="AutoShape 6"/>
          <p:cNvSpPr/>
          <p:nvPr/>
        </p:nvSpPr>
        <p:spPr>
          <a:xfrm rot="0" flipH="0" flipV="0"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" name="AutoShape 7"/>
          <p:cNvSpPr/>
          <p:nvPr/>
        </p:nvSpPr>
        <p:spPr>
          <a:xfrm rot="0" flipH="0" flipV="0">
            <a:off x="1092200" y="2032000"/>
            <a:ext cx="3251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一句话定位</a:t>
            </a:r>
            <a:endParaRPr lang="en-US" sz="1100"/>
          </a:p>
        </p:txBody>
      </p:sp>
      <p:sp>
        <p:nvSpPr>
          <p:cNvPr id="147" name="AutoShape 8"/>
          <p:cNvSpPr/>
          <p:nvPr/>
        </p:nvSpPr>
        <p:spPr>
          <a:xfrm rot="0" flipH="0" flipV="0">
            <a:off x="1092200" y="2438400"/>
            <a:ext cx="3251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25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700" b="1" i="0" u="none" strike="noStrike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 = DSH Runtime（执行底座）+ MOGONG 企业层（进入生产）</a:t>
            </a:r>
            <a:endParaRPr/>
          </a:p>
        </p:txBody>
      </p:sp>
      <p:sp>
        <p:nvSpPr>
          <p:cNvPr id="148" name="AutoShape 9"/>
          <p:cNvSpPr/>
          <p:nvPr/>
        </p:nvSpPr>
        <p:spPr>
          <a:xfrm rot="0" flipH="0" flipV="0"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" name="AutoShape 10"/>
          <p:cNvSpPr/>
          <p:nvPr/>
        </p:nvSpPr>
        <p:spPr>
          <a:xfrm rot="0" flipH="0" flipV="0">
            <a:off x="1092200" y="3860800"/>
            <a:ext cx="3251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9166"/>
              </a:lnSpc>
              <a:defRPr/>
            </a:pPr>
            <a:r>
              <a:rPr lang="en-US" sz="1250" b="0" i="0" u="none" strike="noStrike">
                <a:solidFill>
                  <a:srgbClr val="E2E8F0">
                    <a:alpha val="7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id="150" name="AutoShape 11"/>
          <p:cNvSpPr/>
          <p:nvPr/>
        </p:nvSpPr>
        <p:spPr>
          <a:xfrm rot="0" flipH="0" flipV="0">
            <a:off x="5029200" y="1778000"/>
            <a:ext cx="635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本材料按四步回答</a:t>
            </a:r>
            <a:endParaRPr lang="en-US" sz="1100"/>
          </a:p>
        </p:txBody>
      </p:sp>
      <p:sp>
        <p:nvSpPr>
          <p:cNvPr id="151" name="AutoShape 12"/>
          <p:cNvSpPr/>
          <p:nvPr/>
        </p:nvSpPr>
        <p:spPr>
          <a:xfrm rot="0" flipH="0" flipV="0"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" name="AutoShape 13"/>
          <p:cNvSpPr/>
          <p:nvPr/>
        </p:nvSpPr>
        <p:spPr>
          <a:xfrm rot="0" flipH="0" flipV="0">
            <a:off x="5257800" y="22606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id="153" name="AutoShape 14"/>
          <p:cNvSpPr/>
          <p:nvPr/>
        </p:nvSpPr>
        <p:spPr>
          <a:xfrm rot="0" flipH="0" flipV="0">
            <a:off x="5867400" y="22606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已有哪些能力，哪些已领先、不重复投入</a:t>
            </a:r>
            <a:endParaRPr lang="en-US" sz="1100"/>
          </a:p>
        </p:txBody>
      </p:sp>
      <p:sp>
        <p:nvSpPr>
          <p:cNvPr id="154" name="AutoShape 15"/>
          <p:cNvSpPr/>
          <p:nvPr/>
        </p:nvSpPr>
        <p:spPr>
          <a:xfrm rot="0" flipH="0" flipV="0"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5" name="AutoShape 16"/>
          <p:cNvSpPr/>
          <p:nvPr/>
        </p:nvSpPr>
        <p:spPr>
          <a:xfrm rot="0" flipH="0" flipV="0">
            <a:off x="5257800" y="30480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156" name="AutoShape 17"/>
          <p:cNvSpPr/>
          <p:nvPr/>
        </p:nvSpPr>
        <p:spPr>
          <a:xfrm rot="0" flipH="0" flipV="0">
            <a:off x="5867400" y="30480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与 EntAgent / AgentGit 对比，缺哪六处</a:t>
            </a:r>
            <a:endParaRPr lang="en-US" sz="1100"/>
          </a:p>
        </p:txBody>
      </p:sp>
      <p:sp>
        <p:nvSpPr>
          <p:cNvPr id="157" name="AutoShape 18"/>
          <p:cNvSpPr/>
          <p:nvPr/>
        </p:nvSpPr>
        <p:spPr>
          <a:xfrm rot="0" flipH="0" flipV="0"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" name="AutoShape 19"/>
          <p:cNvSpPr/>
          <p:nvPr/>
        </p:nvSpPr>
        <p:spPr>
          <a:xfrm rot="0" flipH="0" flipV="0">
            <a:off x="5257800" y="38354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id="159" name="AutoShape 20"/>
          <p:cNvSpPr/>
          <p:nvPr/>
        </p:nvSpPr>
        <p:spPr>
          <a:xfrm rot="0" flipH="0" flipV="0">
            <a:off x="5867400" y="38354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按 P0 / P1 / P2 优先级逐项补强什么</a:t>
            </a:r>
            <a:endParaRPr lang="en-US" sz="1100"/>
          </a:p>
        </p:txBody>
      </p:sp>
      <p:sp>
        <p:nvSpPr>
          <p:cNvPr id="160" name="AutoShape 21"/>
          <p:cNvSpPr/>
          <p:nvPr/>
        </p:nvSpPr>
        <p:spPr>
          <a:xfrm rot="0" flipH="0" flipV="0"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" name="AutoShape 22"/>
          <p:cNvSpPr/>
          <p:nvPr/>
        </p:nvSpPr>
        <p:spPr>
          <a:xfrm rot="0" flipH="0" flipV="0">
            <a:off x="5257800" y="46228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id="162" name="AutoShape 23"/>
          <p:cNvSpPr/>
          <p:nvPr/>
        </p:nvSpPr>
        <p:spPr>
          <a:xfrm rot="0" flipH="0" flipV="0">
            <a:off x="5867400" y="46228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三阶段多久落地、各交付什么</a:t>
            </a:r>
            <a:endParaRPr lang="en-US" sz="1100"/>
          </a:p>
        </p:txBody>
      </p:sp>
      <p:sp>
        <p:nvSpPr>
          <p:cNvPr id="163" name="AutoShape 24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/>
          </a:p>
        </p:txBody>
      </p:sp>
      <p:sp>
        <p:nvSpPr>
          <p:cNvPr id="164" name="AutoShape 25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2 / 12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 — 已有基线</a:t>
            </a:r>
            <a:endParaRPr lang="en-US" sz="1100"/>
          </a:p>
        </p:txBody>
      </p:sp>
      <p:sp>
        <p:nvSpPr>
          <p:cNvPr id="168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已具备九大能力域，执行与内容生成完整</a:t>
            </a:r>
            <a:endParaRPr lang="en-US" sz="1100"/>
          </a:p>
        </p:txBody>
      </p:sp>
      <p:cxnSp>
        <p:nvCxnSpPr>
          <p:cNvPr id="169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" name="AutoShape 6"/>
          <p:cNvSpPr/>
          <p:nvPr/>
        </p:nvSpPr>
        <p:spPr>
          <a:xfrm rot="0" flipH="0" flipV="0">
            <a:off x="812800" y="17526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" name="AutoShape 7"/>
          <p:cNvSpPr/>
          <p:nvPr/>
        </p:nvSpPr>
        <p:spPr>
          <a:xfrm rot="0" flipH="0" flipV="0">
            <a:off x="10414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Agent Runtime</a:t>
            </a:r>
            <a:endParaRPr lang="en-US" sz="1100"/>
          </a:p>
        </p:txBody>
      </p:sp>
      <p:sp>
        <p:nvSpPr>
          <p:cNvPr id="172" name="AutoShape 8"/>
          <p:cNvSpPr/>
          <p:nvPr/>
        </p:nvSpPr>
        <p:spPr>
          <a:xfrm rot="0" flipH="0" flipV="0">
            <a:off x="10414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id="173" name="AutoShape 9"/>
          <p:cNvSpPr/>
          <p:nvPr/>
        </p:nvSpPr>
        <p:spPr>
          <a:xfrm rot="0" flipH="0" flipV="0">
            <a:off x="4394200" y="17526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" name="AutoShape 10"/>
          <p:cNvSpPr/>
          <p:nvPr/>
        </p:nvSpPr>
        <p:spPr>
          <a:xfrm rot="0" flipH="0" flipV="0">
            <a:off x="46228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企业知识 / RAG</a:t>
            </a:r>
            <a:endParaRPr lang="en-US" sz="1100"/>
          </a:p>
        </p:txBody>
      </p:sp>
      <p:sp>
        <p:nvSpPr>
          <p:cNvPr id="175" name="AutoShape 11"/>
          <p:cNvSpPr/>
          <p:nvPr/>
        </p:nvSpPr>
        <p:spPr>
          <a:xfrm rot="0" flipH="0" flipV="0">
            <a:off x="46228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id="176" name="AutoShape 12"/>
          <p:cNvSpPr/>
          <p:nvPr/>
        </p:nvSpPr>
        <p:spPr>
          <a:xfrm rot="0" flipH="0" flipV="0">
            <a:off x="7975600" y="17526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" name="AutoShape 13"/>
          <p:cNvSpPr/>
          <p:nvPr/>
        </p:nvSpPr>
        <p:spPr>
          <a:xfrm rot="0" flipH="0" flipV="0">
            <a:off x="82042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多模态理解</a:t>
            </a:r>
            <a:endParaRPr lang="en-US" sz="1100"/>
          </a:p>
        </p:txBody>
      </p:sp>
      <p:sp>
        <p:nvSpPr>
          <p:cNvPr id="178" name="AutoShape 14"/>
          <p:cNvSpPr/>
          <p:nvPr/>
        </p:nvSpPr>
        <p:spPr>
          <a:xfrm rot="0" flipH="0" flipV="0">
            <a:off x="82042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id="179" name="AutoShape 15"/>
          <p:cNvSpPr/>
          <p:nvPr/>
        </p:nvSpPr>
        <p:spPr>
          <a:xfrm rot="0" flipH="0" flipV="0">
            <a:off x="812800" y="29464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" name="AutoShape 16"/>
          <p:cNvSpPr/>
          <p:nvPr/>
        </p:nvSpPr>
        <p:spPr>
          <a:xfrm rot="0" flipH="0" flipV="0">
            <a:off x="10414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内容生成</a:t>
            </a:r>
            <a:endParaRPr lang="en-US" sz="1100"/>
          </a:p>
        </p:txBody>
      </p:sp>
      <p:sp>
        <p:nvSpPr>
          <p:cNvPr id="181" name="AutoShape 17"/>
          <p:cNvSpPr/>
          <p:nvPr/>
        </p:nvSpPr>
        <p:spPr>
          <a:xfrm rot="0" flipH="0" flipV="0">
            <a:off x="10414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报告 / 文章 / PPTX / 表格 / PDF / MD 交付物</a:t>
            </a:r>
            <a:endParaRPr lang="en-US" sz="1100"/>
          </a:p>
        </p:txBody>
      </p:sp>
      <p:sp>
        <p:nvSpPr>
          <p:cNvPr id="182" name="AutoShape 18"/>
          <p:cNvSpPr/>
          <p:nvPr/>
        </p:nvSpPr>
        <p:spPr>
          <a:xfrm rot="0" flipH="0" flipV="0">
            <a:off x="4394200" y="29464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" name="AutoShape 19"/>
          <p:cNvSpPr/>
          <p:nvPr/>
        </p:nvSpPr>
        <p:spPr>
          <a:xfrm rot="0" flipH="0" flipV="0">
            <a:off x="46228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集成（MCP）</a:t>
            </a:r>
            <a:endParaRPr lang="en-US" sz="1100"/>
          </a:p>
        </p:txBody>
      </p:sp>
      <p:sp>
        <p:nvSpPr>
          <p:cNvPr id="184" name="AutoShape 20"/>
          <p:cNvSpPr/>
          <p:nvPr/>
        </p:nvSpPr>
        <p:spPr>
          <a:xfrm rot="0" flipH="0" flipV="0">
            <a:off x="46228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工作流型 Skill、HTTP / MCP 连接业务系统</a:t>
            </a:r>
            <a:endParaRPr lang="en-US" sz="1100"/>
          </a:p>
        </p:txBody>
      </p:sp>
      <p:sp>
        <p:nvSpPr>
          <p:cNvPr id="185" name="AutoShape 21"/>
          <p:cNvSpPr/>
          <p:nvPr/>
        </p:nvSpPr>
        <p:spPr>
          <a:xfrm rot="0" flipH="0" flipV="0">
            <a:off x="7975600" y="29464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" name="AutoShape 22"/>
          <p:cNvSpPr/>
          <p:nvPr/>
        </p:nvSpPr>
        <p:spPr>
          <a:xfrm rot="0" flipH="0" flipV="0">
            <a:off x="82042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自动化与治理</a:t>
            </a:r>
            <a:endParaRPr lang="en-US" sz="1100"/>
          </a:p>
        </p:txBody>
      </p:sp>
      <p:sp>
        <p:nvSpPr>
          <p:cNvPr id="187" name="AutoShape 23"/>
          <p:cNvSpPr/>
          <p:nvPr/>
        </p:nvSpPr>
        <p:spPr>
          <a:xfrm rot="0" flipH="0" flipV="0">
            <a:off x="82042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id="188" name="AutoShape 24"/>
          <p:cNvSpPr/>
          <p:nvPr/>
        </p:nvSpPr>
        <p:spPr>
          <a:xfrm rot="0" flipH="0" flipV="0">
            <a:off x="812800" y="41402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" name="AutoShape 25"/>
          <p:cNvSpPr/>
          <p:nvPr/>
        </p:nvSpPr>
        <p:spPr>
          <a:xfrm rot="0" flipH="0" flipV="0">
            <a:off x="10414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管理后台</a:t>
            </a:r>
            <a:endParaRPr lang="en-US" sz="1100"/>
          </a:p>
        </p:txBody>
      </p:sp>
      <p:sp>
        <p:nvSpPr>
          <p:cNvPr id="190" name="AutoShape 26"/>
          <p:cNvSpPr/>
          <p:nvPr/>
        </p:nvSpPr>
        <p:spPr>
          <a:xfrm rot="0" flipH="0" flipV="0">
            <a:off x="10414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id="191" name="AutoShape 27"/>
          <p:cNvSpPr/>
          <p:nvPr/>
        </p:nvSpPr>
        <p:spPr>
          <a:xfrm rot="0" flipH="0" flipV="0">
            <a:off x="4394200" y="41402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" name="AutoShape 28"/>
          <p:cNvSpPr/>
          <p:nvPr/>
        </p:nvSpPr>
        <p:spPr>
          <a:xfrm rot="0" flipH="0" flipV="0">
            <a:off x="46228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部署</a:t>
            </a:r>
            <a:endParaRPr lang="en-US" sz="1100"/>
          </a:p>
        </p:txBody>
      </p:sp>
      <p:sp>
        <p:nvSpPr>
          <p:cNvPr id="193" name="AutoShape 29"/>
          <p:cNvSpPr/>
          <p:nvPr/>
        </p:nvSpPr>
        <p:spPr>
          <a:xfrm rot="0" flipH="0" flipV="0">
            <a:off x="46228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Compose 一键 12 服务、自托管、模型数据自主</a:t>
            </a:r>
            <a:endParaRPr lang="en-US" sz="1100"/>
          </a:p>
        </p:txBody>
      </p:sp>
      <p:sp>
        <p:nvSpPr>
          <p:cNvPr id="194" name="AutoShape 30"/>
          <p:cNvSpPr/>
          <p:nvPr/>
        </p:nvSpPr>
        <p:spPr>
          <a:xfrm rot="0" flipH="0" flipV="0">
            <a:off x="7975600" y="4140200"/>
            <a:ext cx="3378200" cy="1041400"/>
          </a:xfrm>
          <a:prstGeom prst="roundRect">
            <a:avLst>
              <a:gd name="adj" fmla="val 121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" name="AutoShape 31"/>
          <p:cNvSpPr/>
          <p:nvPr/>
        </p:nvSpPr>
        <p:spPr>
          <a:xfrm rot="0" flipH="0" flipV="0">
            <a:off x="82042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桌面扩展</a:t>
            </a:r>
            <a:endParaRPr lang="en-US" sz="1100"/>
          </a:p>
        </p:txBody>
      </p:sp>
      <p:sp>
        <p:nvSpPr>
          <p:cNvPr id="196" name="AutoShape 32"/>
          <p:cNvSpPr/>
          <p:nvPr/>
        </p:nvSpPr>
        <p:spPr>
          <a:xfrm rot="0" flipH="0" flipV="0">
            <a:off x="82042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Desktop 连接浏览器 / Code Agent</a:t>
            </a:r>
            <a:endParaRPr lang="en-US" sz="1100"/>
          </a:p>
        </p:txBody>
      </p:sp>
      <p:sp>
        <p:nvSpPr>
          <p:cNvPr id="197" name="AutoShape 33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198" name="AutoShape 34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3 / 12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1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1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 — 已领先边界</a:t>
            </a:r>
            <a:endParaRPr lang="en-US" sz="1100"/>
          </a:p>
        </p:txBody>
      </p:sp>
      <p:sp>
        <p:nvSpPr>
          <p:cNvPr id="202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id="203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4" name="AutoShape 6"/>
          <p:cNvSpPr/>
          <p:nvPr/>
        </p:nvSpPr>
        <p:spPr>
          <a:xfrm rot="0" flipH="0" flipV="0"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" name="AutoShape 7"/>
          <p:cNvSpPr/>
          <p:nvPr/>
        </p:nvSpPr>
        <p:spPr>
          <a:xfrm rot="0" flipH="0" flipV="0">
            <a:off x="1066800" y="17272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容器化自托管部署</a:t>
            </a:r>
            <a:endParaRPr lang="en-US" sz="1100"/>
          </a:p>
        </p:txBody>
      </p:sp>
      <p:sp>
        <p:nvSpPr>
          <p:cNvPr id="206" name="AutoShape 8"/>
          <p:cNvSpPr/>
          <p:nvPr/>
        </p:nvSpPr>
        <p:spPr>
          <a:xfrm rot="0" flipH="0" flipV="0">
            <a:off x="3962400" y="17272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Compose 一键 12 服务 + CLI 启动器 + 备份/恢复，生产运维底座已就绪</a:t>
            </a:r>
            <a:endParaRPr lang="en-US" sz="1100"/>
          </a:p>
        </p:txBody>
      </p:sp>
      <p:sp>
        <p:nvSpPr>
          <p:cNvPr id="207" name="AutoShape 9"/>
          <p:cNvSpPr/>
          <p:nvPr/>
        </p:nvSpPr>
        <p:spPr>
          <a:xfrm rot="0" flipH="0" flipV="0"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" name="AutoShape 10"/>
          <p:cNvSpPr/>
          <p:nvPr/>
        </p:nvSpPr>
        <p:spPr>
          <a:xfrm rot="0" flipH="0" flipV="0">
            <a:off x="1066800" y="24638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Docling 多格式解析</a:t>
            </a:r>
            <a:endParaRPr lang="en-US" sz="1100"/>
          </a:p>
        </p:txBody>
      </p:sp>
      <p:sp>
        <p:nvSpPr>
          <p:cNvPr id="209" name="AutoShape 11"/>
          <p:cNvSpPr/>
          <p:nvPr/>
        </p:nvSpPr>
        <p:spPr>
          <a:xfrm rot="0" flipH="0" flipV="0">
            <a:off x="3962400" y="24638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id="210" name="AutoShape 12"/>
          <p:cNvSpPr/>
          <p:nvPr/>
        </p:nvSpPr>
        <p:spPr>
          <a:xfrm rot="0" flipH="0" flipV="0"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" name="AutoShape 13"/>
          <p:cNvSpPr/>
          <p:nvPr/>
        </p:nvSpPr>
        <p:spPr>
          <a:xfrm rot="0" flipH="0" flipV="0">
            <a:off x="1066800" y="32004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内容与文件生成</a:t>
            </a:r>
            <a:endParaRPr lang="en-US" sz="1100"/>
          </a:p>
        </p:txBody>
      </p:sp>
      <p:sp>
        <p:nvSpPr>
          <p:cNvPr id="212" name="AutoShape 14"/>
          <p:cNvSpPr/>
          <p:nvPr/>
        </p:nvSpPr>
        <p:spPr>
          <a:xfrm rot="0" flipH="0" flipV="0">
            <a:off x="3962400" y="32004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报告/文章/PPTX/表格/PDF/翻译/表单——对标几乎空白，MOGONG 差异化强项</a:t>
            </a:r>
            <a:endParaRPr lang="en-US" sz="1100"/>
          </a:p>
        </p:txBody>
      </p:sp>
      <p:sp>
        <p:nvSpPr>
          <p:cNvPr id="213" name="AutoShape 15"/>
          <p:cNvSpPr/>
          <p:nvPr/>
        </p:nvSpPr>
        <p:spPr>
          <a:xfrm rot="0" flipH="0" flipV="0"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" name="AutoShape 16"/>
          <p:cNvSpPr/>
          <p:nvPr/>
        </p:nvSpPr>
        <p:spPr>
          <a:xfrm rot="0" flipH="0" flipV="0">
            <a:off x="1066800" y="39370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多形态 Agent</a:t>
            </a:r>
            <a:endParaRPr lang="en-US" sz="1100"/>
          </a:p>
        </p:txBody>
      </p:sp>
      <p:sp>
        <p:nvSpPr>
          <p:cNvPr id="215" name="AutoShape 17"/>
          <p:cNvSpPr/>
          <p:nvPr/>
        </p:nvSpPr>
        <p:spPr>
          <a:xfrm rot="0" flipH="0" flipV="0">
            <a:off x="3962400" y="39370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id="216" name="AutoShape 18"/>
          <p:cNvSpPr/>
          <p:nvPr/>
        </p:nvSpPr>
        <p:spPr>
          <a:xfrm rot="0" flipH="0" flipV="0"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7" name="AutoShape 19"/>
          <p:cNvSpPr/>
          <p:nvPr/>
        </p:nvSpPr>
        <p:spPr>
          <a:xfrm rot="0" flipH="0" flipV="0">
            <a:off x="1066800" y="46736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SkillHub 生态</a:t>
            </a:r>
            <a:endParaRPr lang="en-US" sz="1100"/>
          </a:p>
        </p:txBody>
      </p:sp>
      <p:sp>
        <p:nvSpPr>
          <p:cNvPr id="218" name="AutoShape 20"/>
          <p:cNvSpPr/>
          <p:nvPr/>
        </p:nvSpPr>
        <p:spPr>
          <a:xfrm rot="0" flipH="0" flipV="0">
            <a:off x="3962400" y="46736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id="219" name="AutoShape 21"/>
          <p:cNvSpPr/>
          <p:nvPr/>
        </p:nvSpPr>
        <p:spPr>
          <a:xfrm rot="0" flipH="0" flipV="0">
            <a:off x="812800" y="5537200"/>
            <a:ext cx="10566400" cy="558800"/>
          </a:xfrm>
          <a:prstGeom prst="roundRect">
            <a:avLst>
              <a:gd name="adj" fmla="val 18181"/>
            </a:avLst>
          </a:prstGeom>
          <a:solidFill>
            <a:srgbClr val="F0F9F7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0" name="AutoShape 22"/>
          <p:cNvSpPr/>
          <p:nvPr/>
        </p:nvSpPr>
        <p:spPr>
          <a:xfrm rot="0" flipH="0" flipV="0">
            <a:off x="1066800" y="5537200"/>
            <a:ext cx="152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结论</a:t>
            </a:r>
            <a:endParaRPr lang="en-US" sz="1100"/>
          </a:p>
        </p:txBody>
      </p:sp>
      <p:sp>
        <p:nvSpPr>
          <p:cNvPr id="221" name="AutoShape 23"/>
          <p:cNvSpPr/>
          <p:nvPr/>
        </p:nvSpPr>
        <p:spPr>
          <a:xfrm rot="0" flipH="0" flipV="0">
            <a:off x="2540000" y="5537200"/>
            <a:ext cx="863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id="222" name="AutoShape 24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223" name="AutoShape 25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4 / 12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2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6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GAP — 六大缺口</a:t>
            </a:r>
            <a:endParaRPr lang="en-US" sz="1100"/>
          </a:p>
        </p:txBody>
      </p:sp>
      <p:sp>
        <p:nvSpPr>
          <p:cNvPr id="227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缺口分级：P0 合规刚需 → P1 可靠协作 → P2 生态自进化</a:t>
            </a:r>
            <a:endParaRPr lang="en-US" sz="1100"/>
          </a:p>
        </p:txBody>
      </p:sp>
      <p:cxnSp>
        <p:nvCxnSpPr>
          <p:cNvPr id="228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AutoShape 6"/>
          <p:cNvSpPr/>
          <p:nvPr/>
        </p:nvSpPr>
        <p:spPr>
          <a:xfrm rot="0" flipH="0" flipV="0"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0" name="AutoShape 7"/>
          <p:cNvSpPr/>
          <p:nvPr/>
        </p:nvSpPr>
        <p:spPr>
          <a:xfrm rot="0" flipH="0" flipV="0">
            <a:off x="10668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P0</a:t>
            </a:r>
            <a:endParaRPr lang="en-US" sz="1100"/>
          </a:p>
        </p:txBody>
      </p:sp>
      <p:sp>
        <p:nvSpPr>
          <p:cNvPr id="231" name="AutoShape 8"/>
          <p:cNvSpPr/>
          <p:nvPr/>
        </p:nvSpPr>
        <p:spPr>
          <a:xfrm rot="0" flipH="0" flipV="0">
            <a:off x="17780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企业入场券</a:t>
            </a:r>
            <a:endParaRPr lang="en-US" sz="1100"/>
          </a:p>
        </p:txBody>
      </p:sp>
      <p:sp>
        <p:nvSpPr>
          <p:cNvPr id="232" name="AutoShape 9"/>
          <p:cNvSpPr/>
          <p:nvPr/>
        </p:nvSpPr>
        <p:spPr>
          <a:xfrm rot="0" flipH="0" flipV="0"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3" name="AutoShape 10"/>
          <p:cNvSpPr/>
          <p:nvPr/>
        </p:nvSpPr>
        <p:spPr>
          <a:xfrm rot="0" flipH="0" flipV="0">
            <a:off x="46482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</a:t>
            </a:r>
            <a:endParaRPr lang="en-US" sz="1100"/>
          </a:p>
        </p:txBody>
      </p:sp>
      <p:sp>
        <p:nvSpPr>
          <p:cNvPr id="234" name="AutoShape 11"/>
          <p:cNvSpPr/>
          <p:nvPr/>
        </p:nvSpPr>
        <p:spPr>
          <a:xfrm rot="0" flipH="0" flipV="0">
            <a:off x="53594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可靠性与协作</a:t>
            </a:r>
            <a:endParaRPr lang="en-US" sz="1100"/>
          </a:p>
        </p:txBody>
      </p:sp>
      <p:sp>
        <p:nvSpPr>
          <p:cNvPr id="235" name="AutoShape 12"/>
          <p:cNvSpPr/>
          <p:nvPr/>
        </p:nvSpPr>
        <p:spPr>
          <a:xfrm rot="0" flipH="0" flipV="0"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6" name="AutoShape 13"/>
          <p:cNvSpPr/>
          <p:nvPr/>
        </p:nvSpPr>
        <p:spPr>
          <a:xfrm rot="0" flipH="0" flipV="0">
            <a:off x="82296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</a:t>
            </a:r>
            <a:endParaRPr lang="en-US" sz="1100"/>
          </a:p>
        </p:txBody>
      </p:sp>
      <p:sp>
        <p:nvSpPr>
          <p:cNvPr id="237" name="AutoShape 14"/>
          <p:cNvSpPr/>
          <p:nvPr/>
        </p:nvSpPr>
        <p:spPr>
          <a:xfrm rot="0" flipH="0" flipV="0">
            <a:off x="89408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自进化与生态</a:t>
            </a:r>
            <a:endParaRPr lang="en-US" sz="1100"/>
          </a:p>
        </p:txBody>
      </p:sp>
      <p:sp>
        <p:nvSpPr>
          <p:cNvPr id="238" name="AutoShape 15"/>
          <p:cNvSpPr/>
          <p:nvPr/>
        </p:nvSpPr>
        <p:spPr>
          <a:xfrm rot="0" flipH="0" flipV="0">
            <a:off x="812800" y="24638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9" name="AutoShape 16"/>
          <p:cNvSpPr/>
          <p:nvPr/>
        </p:nvSpPr>
        <p:spPr>
          <a:xfrm rot="0" flipH="0" flipV="0">
            <a:off x="10414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治理与风控层</a:t>
            </a:r>
            <a:endParaRPr lang="en-US" sz="1100"/>
          </a:p>
        </p:txBody>
      </p:sp>
      <p:sp>
        <p:nvSpPr>
          <p:cNvPr id="240" name="AutoShape 17"/>
          <p:cNvSpPr/>
          <p:nvPr/>
        </p:nvSpPr>
        <p:spPr>
          <a:xfrm rot="0" flipH="0" flipV="0">
            <a:off x="10414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六层门禁 · 风险分级 · RBAC 码 · 脱敏</a:t>
            </a:r>
            <a:endParaRPr lang="en-US" sz="1100"/>
          </a:p>
        </p:txBody>
      </p:sp>
      <p:sp>
        <p:nvSpPr>
          <p:cNvPr id="241" name="AutoShape 18"/>
          <p:cNvSpPr/>
          <p:nvPr/>
        </p:nvSpPr>
        <p:spPr>
          <a:xfrm rot="0" flipH="0" flipV="0">
            <a:off x="812800" y="34290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2" name="AutoShape 19"/>
          <p:cNvSpPr/>
          <p:nvPr/>
        </p:nvSpPr>
        <p:spPr>
          <a:xfrm rot="0" flipH="0" flipV="0">
            <a:off x="10414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</a:t>
            </a:r>
            <a:endParaRPr lang="en-US" sz="1100"/>
          </a:p>
        </p:txBody>
      </p:sp>
      <p:sp>
        <p:nvSpPr>
          <p:cNvPr id="243" name="AutoShape 20"/>
          <p:cNvSpPr/>
          <p:nvPr/>
        </p:nvSpPr>
        <p:spPr>
          <a:xfrm rot="0" flipH="0" flipV="0">
            <a:off x="10414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故障转移 · 降级链 · 退避重试 · 计量</a:t>
            </a:r>
            <a:endParaRPr lang="en-US" sz="1100"/>
          </a:p>
        </p:txBody>
      </p:sp>
      <p:sp>
        <p:nvSpPr>
          <p:cNvPr id="244" name="AutoShape 21"/>
          <p:cNvSpPr/>
          <p:nvPr/>
        </p:nvSpPr>
        <p:spPr>
          <a:xfrm rot="0" flipH="0" flipV="0">
            <a:off x="812800" y="43942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5" name="AutoShape 22"/>
          <p:cNvSpPr/>
          <p:nvPr/>
        </p:nvSpPr>
        <p:spPr>
          <a:xfrm rot="0" flipH="0" flipV="0">
            <a:off x="10414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运营驾驶舱</a:t>
            </a:r>
            <a:endParaRPr lang="en-US" sz="1100"/>
          </a:p>
        </p:txBody>
      </p:sp>
      <p:sp>
        <p:nvSpPr>
          <p:cNvPr id="246" name="AutoShape 23"/>
          <p:cNvSpPr/>
          <p:nvPr/>
        </p:nvSpPr>
        <p:spPr>
          <a:xfrm rot="0" flipH="0" flipV="0">
            <a:off x="10414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成本 / 使用 / 质量 / 趋势 四维看板</a:t>
            </a:r>
            <a:endParaRPr lang="en-US" sz="1100"/>
          </a:p>
        </p:txBody>
      </p:sp>
      <p:sp>
        <p:nvSpPr>
          <p:cNvPr id="247" name="AutoShape 24"/>
          <p:cNvSpPr/>
          <p:nvPr/>
        </p:nvSpPr>
        <p:spPr>
          <a:xfrm rot="0" flipH="0" flipV="0">
            <a:off x="4394200" y="24638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8" name="AutoShape 25"/>
          <p:cNvSpPr/>
          <p:nvPr/>
        </p:nvSpPr>
        <p:spPr>
          <a:xfrm rot="0" flipH="0" flipV="0">
            <a:off x="46228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拦截机制</a:t>
            </a:r>
            <a:endParaRPr lang="en-US" sz="1100"/>
          </a:p>
        </p:txBody>
      </p:sp>
      <p:sp>
        <p:nvSpPr>
          <p:cNvPr id="249" name="AutoShape 26"/>
          <p:cNvSpPr/>
          <p:nvPr/>
        </p:nvSpPr>
        <p:spPr>
          <a:xfrm rot="0" flipH="0" flipV="0">
            <a:off x="46228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五事件钩子 · 声明式规则 · fail-closed</a:t>
            </a:r>
            <a:endParaRPr lang="en-US" sz="1100"/>
          </a:p>
        </p:txBody>
      </p:sp>
      <p:sp>
        <p:nvSpPr>
          <p:cNvPr id="250" name="AutoShape 27"/>
          <p:cNvSpPr/>
          <p:nvPr/>
        </p:nvSpPr>
        <p:spPr>
          <a:xfrm rot="0" flipH="0" flipV="0">
            <a:off x="4394200" y="34290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1" name="AutoShape 28"/>
          <p:cNvSpPr/>
          <p:nvPr/>
        </p:nvSpPr>
        <p:spPr>
          <a:xfrm rot="0" flipH="0" flipV="0">
            <a:off x="46228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DAG 通用编排</a:t>
            </a:r>
            <a:endParaRPr lang="en-US" sz="1100"/>
          </a:p>
        </p:txBody>
      </p:sp>
      <p:sp>
        <p:nvSpPr>
          <p:cNvPr id="252" name="AutoShape 29"/>
          <p:cNvSpPr/>
          <p:nvPr/>
        </p:nvSpPr>
        <p:spPr>
          <a:xfrm rot="0" flipH="0" flipV="0">
            <a:off x="46228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四模式 · 拓扑排序 · 环检测 · 节点重试</a:t>
            </a:r>
            <a:endParaRPr lang="en-US" sz="1100"/>
          </a:p>
        </p:txBody>
      </p:sp>
      <p:sp>
        <p:nvSpPr>
          <p:cNvPr id="253" name="AutoShape 30"/>
          <p:cNvSpPr/>
          <p:nvPr/>
        </p:nvSpPr>
        <p:spPr>
          <a:xfrm rot="0" flipH="0" flipV="0">
            <a:off x="4394200" y="43942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4" name="AutoShape 31"/>
          <p:cNvSpPr/>
          <p:nvPr/>
        </p:nvSpPr>
        <p:spPr>
          <a:xfrm rot="0" flipH="0" flipV="0">
            <a:off x="46228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会话/工作流双版本化</a:t>
            </a:r>
            <a:endParaRPr lang="en-US" sz="1100"/>
          </a:p>
        </p:txBody>
      </p:sp>
      <p:sp>
        <p:nvSpPr>
          <p:cNvPr id="255" name="AutoShape 32"/>
          <p:cNvSpPr/>
          <p:nvPr/>
        </p:nvSpPr>
        <p:spPr>
          <a:xfrm rot="0" flipH="0" flipV="0">
            <a:off x="46228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commit / resume / share + GraphSpec 契约</a:t>
            </a:r>
            <a:endParaRPr lang="en-US" sz="1100"/>
          </a:p>
        </p:txBody>
      </p:sp>
      <p:sp>
        <p:nvSpPr>
          <p:cNvPr id="256" name="AutoShape 33"/>
          <p:cNvSpPr/>
          <p:nvPr/>
        </p:nvSpPr>
        <p:spPr>
          <a:xfrm rot="0" flipH="0" flipV="0">
            <a:off x="7975600" y="24638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7" name="AutoShape 34"/>
          <p:cNvSpPr/>
          <p:nvPr/>
        </p:nvSpPr>
        <p:spPr>
          <a:xfrm rot="0" flipH="0" flipV="0">
            <a:off x="82042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Dream 自进化</a:t>
            </a:r>
            <a:endParaRPr lang="en-US" sz="1100"/>
          </a:p>
        </p:txBody>
      </p:sp>
      <p:sp>
        <p:nvSpPr>
          <p:cNvPr id="258" name="AutoShape 35"/>
          <p:cNvSpPr/>
          <p:nvPr/>
        </p:nvSpPr>
        <p:spPr>
          <a:xfrm rot="0" flipH="0" flipV="0">
            <a:off x="82042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会话 → 经验 → Skill 闭环 · 自动淘汰</a:t>
            </a:r>
            <a:endParaRPr lang="en-US" sz="1100"/>
          </a:p>
        </p:txBody>
      </p:sp>
      <p:sp>
        <p:nvSpPr>
          <p:cNvPr id="259" name="AutoShape 36"/>
          <p:cNvSpPr/>
          <p:nvPr/>
        </p:nvSpPr>
        <p:spPr>
          <a:xfrm rot="0" flipH="0" flipV="0">
            <a:off x="7975600" y="34290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0" name="AutoShape 37"/>
          <p:cNvSpPr/>
          <p:nvPr/>
        </p:nvSpPr>
        <p:spPr>
          <a:xfrm rot="0" flipH="0" flipV="0">
            <a:off x="82042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会话级与生态清单</a:t>
            </a:r>
            <a:endParaRPr lang="en-US" sz="1100"/>
          </a:p>
        </p:txBody>
      </p:sp>
      <p:sp>
        <p:nvSpPr>
          <p:cNvPr id="261" name="AutoShape 38"/>
          <p:cNvSpPr/>
          <p:nvPr/>
        </p:nvSpPr>
        <p:spPr>
          <a:xfrm rot="0" flipH="0" flipV="0">
            <a:off x="82042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秘密不上链 · A2A · 多 IM · 知识图谱</a:t>
            </a:r>
            <a:endParaRPr lang="en-US" sz="1100"/>
          </a:p>
        </p:txBody>
      </p:sp>
      <p:sp>
        <p:nvSpPr>
          <p:cNvPr id="262" name="AutoShape 39"/>
          <p:cNvSpPr/>
          <p:nvPr/>
        </p:nvSpPr>
        <p:spPr>
          <a:xfrm rot="0" flipH="0" flipV="0">
            <a:off x="7975600" y="4394200"/>
            <a:ext cx="3378200" cy="838200"/>
          </a:xfrm>
          <a:prstGeom prst="roundRect">
            <a:avLst>
              <a:gd name="adj" fmla="val 1212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3" name="AutoShape 40"/>
          <p:cNvSpPr/>
          <p:nvPr/>
        </p:nvSpPr>
        <p:spPr>
          <a:xfrm rot="0" flipH="0" flipV="0">
            <a:off x="82042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市场强化</a:t>
            </a:r>
            <a:endParaRPr lang="en-US" sz="1100"/>
          </a:p>
        </p:txBody>
      </p:sp>
      <p:sp>
        <p:nvSpPr>
          <p:cNvPr id="264" name="AutoShape 41"/>
          <p:cNvSpPr/>
          <p:nvPr/>
        </p:nvSpPr>
        <p:spPr>
          <a:xfrm rot="0" flipH="0" flipV="0">
            <a:off x="82042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三范围 Memory · 能力资产化 · 厚/薄 Harness</a:t>
            </a:r>
            <a:endParaRPr lang="en-US" sz="1100"/>
          </a:p>
        </p:txBody>
      </p:sp>
      <p:sp>
        <p:nvSpPr>
          <p:cNvPr id="265" name="AutoShape 42"/>
          <p:cNvSpPr/>
          <p:nvPr/>
        </p:nvSpPr>
        <p:spPr>
          <a:xfrm rot="0" flipH="0" flipV="0">
            <a:off x="812800" y="5486400"/>
            <a:ext cx="10566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 是「企业入场券」：合规刚需、当前最大缺口、最高价值——落地时最先打（详见后页）。</a:t>
            </a:r>
            <a:endParaRPr lang="en-US" sz="1100"/>
          </a:p>
        </p:txBody>
      </p:sp>
      <p:sp>
        <p:nvSpPr>
          <p:cNvPr id="266" name="AutoShape 43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267" name="AutoShape 44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5 / 12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2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0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P0 — 治理与风控层</a:t>
            </a:r>
            <a:endParaRPr lang="en-US" sz="1100"/>
          </a:p>
        </p:txBody>
      </p:sp>
      <p:sp>
        <p:nvSpPr>
          <p:cNvPr id="271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id="272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3" name="AutoShape 6"/>
          <p:cNvSpPr/>
          <p:nvPr/>
        </p:nvSpPr>
        <p:spPr>
          <a:xfrm rot="0" flipH="0" flipV="0">
            <a:off x="812800" y="16510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id="274" name="AutoShape 7"/>
          <p:cNvSpPr/>
          <p:nvPr/>
        </p:nvSpPr>
        <p:spPr>
          <a:xfrm rot="0" flipH="0" flipV="0">
            <a:off x="812800" y="1981200"/>
            <a:ext cx="1473200" cy="558800"/>
          </a:xfrm>
          <a:prstGeom prst="roundRect">
            <a:avLst>
              <a:gd name="adj" fmla="val 18181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5" name="AutoShape 8"/>
          <p:cNvSpPr/>
          <p:nvPr/>
        </p:nvSpPr>
        <p:spPr>
          <a:xfrm rot="0" flipH="0" flipV="0">
            <a:off x="812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身份</a:t>
            </a:r>
            <a:endParaRPr lang="en-US" sz="1100"/>
          </a:p>
        </p:txBody>
      </p:sp>
      <p:sp>
        <p:nvSpPr>
          <p:cNvPr id="276" name="AutoShape 9"/>
          <p:cNvSpPr/>
          <p:nvPr/>
        </p:nvSpPr>
        <p:spPr>
          <a:xfrm rot="0" flipH="0" flipV="0">
            <a:off x="22860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id="277" name="AutoShape 10"/>
          <p:cNvSpPr/>
          <p:nvPr/>
        </p:nvSpPr>
        <p:spPr>
          <a:xfrm rot="0" flipH="0" flipV="0">
            <a:off x="2489200" y="1981200"/>
            <a:ext cx="1473200" cy="558800"/>
          </a:xfrm>
          <a:prstGeom prst="roundRect">
            <a:avLst>
              <a:gd name="adj" fmla="val 1818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8" name="AutoShape 11"/>
          <p:cNvSpPr/>
          <p:nvPr/>
        </p:nvSpPr>
        <p:spPr>
          <a:xfrm rot="0" flipH="0" flipV="0">
            <a:off x="24892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RBAC</a:t>
            </a:r>
            <a:endParaRPr lang="en-US" sz="1100"/>
          </a:p>
        </p:txBody>
      </p:sp>
      <p:sp>
        <p:nvSpPr>
          <p:cNvPr id="279" name="AutoShape 12"/>
          <p:cNvSpPr/>
          <p:nvPr/>
        </p:nvSpPr>
        <p:spPr>
          <a:xfrm rot="0" flipH="0" flipV="0">
            <a:off x="39624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id="280" name="AutoShape 13"/>
          <p:cNvSpPr/>
          <p:nvPr/>
        </p:nvSpPr>
        <p:spPr>
          <a:xfrm rot="0" flipH="0" flipV="0">
            <a:off x="4165600" y="1981200"/>
            <a:ext cx="1473200" cy="558800"/>
          </a:xfrm>
          <a:prstGeom prst="roundRect">
            <a:avLst>
              <a:gd name="adj" fmla="val 1818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1" name="AutoShape 14"/>
          <p:cNvSpPr/>
          <p:nvPr/>
        </p:nvSpPr>
        <p:spPr>
          <a:xfrm rot="0" flipH="0" flipV="0">
            <a:off x="41656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脱敏</a:t>
            </a:r>
            <a:endParaRPr lang="en-US" sz="1100"/>
          </a:p>
        </p:txBody>
      </p:sp>
      <p:sp>
        <p:nvSpPr>
          <p:cNvPr id="282" name="AutoShape 15"/>
          <p:cNvSpPr/>
          <p:nvPr/>
        </p:nvSpPr>
        <p:spPr>
          <a:xfrm rot="0" flipH="0" flipV="0">
            <a:off x="56388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id="283" name="AutoShape 16"/>
          <p:cNvSpPr/>
          <p:nvPr/>
        </p:nvSpPr>
        <p:spPr>
          <a:xfrm rot="0" flipH="0" flipV="0">
            <a:off x="5842000" y="1981200"/>
            <a:ext cx="1473200" cy="558800"/>
          </a:xfrm>
          <a:prstGeom prst="roundRect">
            <a:avLst>
              <a:gd name="adj" fmla="val 1818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4" name="AutoShape 17"/>
          <p:cNvSpPr/>
          <p:nvPr/>
        </p:nvSpPr>
        <p:spPr>
          <a:xfrm rot="0" flipH="0" flipV="0">
            <a:off x="58420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审批</a:t>
            </a:r>
            <a:endParaRPr lang="en-US" sz="1100"/>
          </a:p>
        </p:txBody>
      </p:sp>
      <p:sp>
        <p:nvSpPr>
          <p:cNvPr id="285" name="AutoShape 18"/>
          <p:cNvSpPr/>
          <p:nvPr/>
        </p:nvSpPr>
        <p:spPr>
          <a:xfrm rot="0" flipH="0" flipV="0">
            <a:off x="73152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id="286" name="AutoShape 19"/>
          <p:cNvSpPr/>
          <p:nvPr/>
        </p:nvSpPr>
        <p:spPr>
          <a:xfrm rot="0" flipH="0" flipV="0">
            <a:off x="7518400" y="1981200"/>
            <a:ext cx="1473200" cy="558800"/>
          </a:xfrm>
          <a:prstGeom prst="roundRect">
            <a:avLst>
              <a:gd name="adj" fmla="val 18181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7" name="AutoShape 20"/>
          <p:cNvSpPr/>
          <p:nvPr/>
        </p:nvSpPr>
        <p:spPr>
          <a:xfrm rot="0" flipH="0" flipV="0">
            <a:off x="75184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配额</a:t>
            </a:r>
            <a:endParaRPr lang="en-US" sz="1100"/>
          </a:p>
        </p:txBody>
      </p:sp>
      <p:sp>
        <p:nvSpPr>
          <p:cNvPr id="288" name="AutoShape 21"/>
          <p:cNvSpPr/>
          <p:nvPr/>
        </p:nvSpPr>
        <p:spPr>
          <a:xfrm rot="0" flipH="0" flipV="0">
            <a:off x="89916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id="289" name="AutoShape 22"/>
          <p:cNvSpPr/>
          <p:nvPr/>
        </p:nvSpPr>
        <p:spPr>
          <a:xfrm rot="0" flipH="0" flipV="0">
            <a:off x="9194800" y="1981200"/>
            <a:ext cx="1473200" cy="558800"/>
          </a:xfrm>
          <a:prstGeom prst="roundRect">
            <a:avLst>
              <a:gd name="adj" fmla="val 18181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0" name="AutoShape 23"/>
          <p:cNvSpPr/>
          <p:nvPr/>
        </p:nvSpPr>
        <p:spPr>
          <a:xfrm rot="0" flipH="0" flipV="0">
            <a:off x="9194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审计</a:t>
            </a:r>
            <a:endParaRPr lang="en-US" sz="1100"/>
          </a:p>
        </p:txBody>
      </p:sp>
      <p:sp>
        <p:nvSpPr>
          <p:cNvPr id="291" name="AutoShape 24"/>
          <p:cNvSpPr/>
          <p:nvPr/>
        </p:nvSpPr>
        <p:spPr>
          <a:xfrm rot="0" flipH="0" flipV="0"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2" name="AutoShape 25"/>
          <p:cNvSpPr/>
          <p:nvPr/>
        </p:nvSpPr>
        <p:spPr>
          <a:xfrm rot="0" flipH="0" flipV="0">
            <a:off x="1066800" y="29972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id="293" name="AutoShape 26"/>
          <p:cNvSpPr/>
          <p:nvPr/>
        </p:nvSpPr>
        <p:spPr>
          <a:xfrm rot="0" flipH="0" flipV="0">
            <a:off x="1066800" y="33020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id="294" name="AutoShape 27"/>
          <p:cNvSpPr/>
          <p:nvPr/>
        </p:nvSpPr>
        <p:spPr>
          <a:xfrm rot="0" flipH="0" flipV="0"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5" name="AutoShape 28"/>
          <p:cNvSpPr/>
          <p:nvPr/>
        </p:nvSpPr>
        <p:spPr>
          <a:xfrm rot="0" flipH="0" flipV="0">
            <a:off x="6578600" y="29972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id="296" name="AutoShape 29"/>
          <p:cNvSpPr/>
          <p:nvPr/>
        </p:nvSpPr>
        <p:spPr>
          <a:xfrm rot="0" flipH="0" flipV="0">
            <a:off x="6578600" y="33020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id="297" name="AutoShape 30"/>
          <p:cNvSpPr/>
          <p:nvPr/>
        </p:nvSpPr>
        <p:spPr>
          <a:xfrm rot="0" flipH="0" flipV="0"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8" name="AutoShape 31"/>
          <p:cNvSpPr/>
          <p:nvPr/>
        </p:nvSpPr>
        <p:spPr>
          <a:xfrm rot="0" flipH="0" flipV="0">
            <a:off x="1066800" y="43688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PII 脱敏层</a:t>
            </a:r>
            <a:endParaRPr lang="en-US" sz="1100"/>
          </a:p>
        </p:txBody>
      </p:sp>
      <p:sp>
        <p:nvSpPr>
          <p:cNvPr id="299" name="AutoShape 32"/>
          <p:cNvSpPr/>
          <p:nvPr/>
        </p:nvSpPr>
        <p:spPr>
          <a:xfrm rot="0" flipH="0" flipV="0">
            <a:off x="1066800" y="46736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id="300" name="AutoShape 33"/>
          <p:cNvSpPr/>
          <p:nvPr/>
        </p:nvSpPr>
        <p:spPr>
          <a:xfrm rot="0" flipH="0" flipV="0"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1" name="AutoShape 34"/>
          <p:cNvSpPr/>
          <p:nvPr/>
        </p:nvSpPr>
        <p:spPr>
          <a:xfrm rot="0" flipH="0" flipV="0">
            <a:off x="6578600" y="43688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会话保存/分享秘密过滤</a:t>
            </a:r>
            <a:endParaRPr lang="en-US" sz="1100"/>
          </a:p>
        </p:txBody>
      </p:sp>
      <p:sp>
        <p:nvSpPr>
          <p:cNvPr id="302" name="AutoShape 35"/>
          <p:cNvSpPr/>
          <p:nvPr/>
        </p:nvSpPr>
        <p:spPr>
          <a:xfrm rot="0" flipH="0" flipV="0">
            <a:off x="6578600" y="46736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id="303" name="AutoShape 36"/>
          <p:cNvSpPr/>
          <p:nvPr/>
        </p:nvSpPr>
        <p:spPr>
          <a:xfrm rot="0" flipH="0" flipV="0"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4" name="AutoShape 37"/>
          <p:cNvSpPr/>
          <p:nvPr/>
        </p:nvSpPr>
        <p:spPr>
          <a:xfrm rot="0" flipH="0" flipV="0">
            <a:off x="1066800" y="56134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挂载点</a:t>
            </a:r>
            <a:endParaRPr lang="en-US" sz="1100"/>
          </a:p>
        </p:txBody>
      </p:sp>
      <p:sp>
        <p:nvSpPr>
          <p:cNvPr id="305" name="AutoShape 38"/>
          <p:cNvSpPr/>
          <p:nvPr/>
        </p:nvSpPr>
        <p:spPr>
          <a:xfrm rot="0" flipH="0" flipV="0">
            <a:off x="2489200" y="56134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复用 MOGONG 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id="306" name="AutoShape 39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307" name="AutoShape 40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6 / 12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3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0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P0 — 生产可靠与可观测</a:t>
            </a:r>
            <a:endParaRPr lang="en-US" sz="1100"/>
          </a:p>
        </p:txBody>
      </p:sp>
      <p:sp>
        <p:nvSpPr>
          <p:cNvPr id="311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id="312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3" name="AutoShape 6"/>
          <p:cNvSpPr/>
          <p:nvPr/>
        </p:nvSpPr>
        <p:spPr>
          <a:xfrm rot="0" flipH="0" flipV="0"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4" name="AutoShape 7"/>
          <p:cNvSpPr/>
          <p:nvPr/>
        </p:nvSpPr>
        <p:spPr>
          <a:xfrm rot="0" flipH="0" flipV="0"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5" name="AutoShape 8"/>
          <p:cNvSpPr/>
          <p:nvPr/>
        </p:nvSpPr>
        <p:spPr>
          <a:xfrm rot="0" flipH="0" flipV="0">
            <a:off x="1092200" y="1930400"/>
            <a:ext cx="4597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</a:t>
            </a:r>
            <a:endParaRPr lang="en-US" sz="1100"/>
          </a:p>
        </p:txBody>
      </p:sp>
      <p:sp>
        <p:nvSpPr>
          <p:cNvPr id="316" name="AutoShape 9"/>
          <p:cNvSpPr/>
          <p:nvPr/>
        </p:nvSpPr>
        <p:spPr>
          <a:xfrm rot="0" flipH="0" flipV="0">
            <a:off x="1092200" y="2235200"/>
            <a:ext cx="4597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id="317" name="AutoShape 10"/>
          <p:cNvSpPr/>
          <p:nvPr/>
        </p:nvSpPr>
        <p:spPr>
          <a:xfrm rot="0" flipH="0" flipV="0"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8" name="AutoShape 11"/>
          <p:cNvSpPr/>
          <p:nvPr/>
        </p:nvSpPr>
        <p:spPr>
          <a:xfrm rot="0" flipH="0" flipV="0">
            <a:off x="1092200" y="269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319" name="AutoShape 12"/>
          <p:cNvSpPr/>
          <p:nvPr/>
        </p:nvSpPr>
        <p:spPr>
          <a:xfrm rot="0" flipH="0" flipV="0">
            <a:off x="1524000" y="266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主→备故障转移 failover</a:t>
            </a:r>
            <a:endParaRPr lang="en-US" sz="1100"/>
          </a:p>
        </p:txBody>
      </p:sp>
      <p:sp>
        <p:nvSpPr>
          <p:cNvPr id="320" name="AutoShape 13"/>
          <p:cNvSpPr/>
          <p:nvPr/>
        </p:nvSpPr>
        <p:spPr>
          <a:xfrm rot="0" flipH="0" flipV="0">
            <a:off x="1524000" y="292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供应商自动切换，服务不中断</a:t>
            </a:r>
            <a:endParaRPr lang="en-US" sz="1100"/>
          </a:p>
        </p:txBody>
      </p:sp>
      <p:sp>
        <p:nvSpPr>
          <p:cNvPr id="321" name="AutoShape 14"/>
          <p:cNvSpPr/>
          <p:nvPr/>
        </p:nvSpPr>
        <p:spPr>
          <a:xfrm rot="0" flipH="0" flipV="0"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2" name="AutoShape 15"/>
          <p:cNvSpPr/>
          <p:nvPr/>
        </p:nvSpPr>
        <p:spPr>
          <a:xfrm rot="0" flipH="0" flipV="0">
            <a:off x="1092200" y="332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323" name="AutoShape 16"/>
          <p:cNvSpPr/>
          <p:nvPr/>
        </p:nvSpPr>
        <p:spPr>
          <a:xfrm rot="0" flipH="0" flipV="0">
            <a:off x="1524000" y="330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降级链 degradation_chain</a:t>
            </a:r>
            <a:endParaRPr lang="en-US" sz="1100"/>
          </a:p>
        </p:txBody>
      </p:sp>
      <p:sp>
        <p:nvSpPr>
          <p:cNvPr id="324" name="AutoShape 17"/>
          <p:cNvSpPr/>
          <p:nvPr/>
        </p:nvSpPr>
        <p:spPr>
          <a:xfrm rot="0" flipH="0" flipV="0">
            <a:off x="1524000" y="355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主模型失败逐级降档</a:t>
            </a:r>
            <a:endParaRPr lang="en-US" sz="1100"/>
          </a:p>
        </p:txBody>
      </p:sp>
      <p:sp>
        <p:nvSpPr>
          <p:cNvPr id="325" name="AutoShape 18"/>
          <p:cNvSpPr/>
          <p:nvPr/>
        </p:nvSpPr>
        <p:spPr>
          <a:xfrm rot="0" flipH="0" flipV="0"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6" name="AutoShape 19"/>
          <p:cNvSpPr/>
          <p:nvPr/>
        </p:nvSpPr>
        <p:spPr>
          <a:xfrm rot="0" flipH="0" flipV="0">
            <a:off x="1092200" y="396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327" name="AutoShape 20"/>
          <p:cNvSpPr/>
          <p:nvPr/>
        </p:nvSpPr>
        <p:spPr>
          <a:xfrm rot="0" flipH="0" flipV="0">
            <a:off x="1524000" y="393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指数退避重试</a:t>
            </a:r>
            <a:endParaRPr lang="en-US" sz="1100"/>
          </a:p>
        </p:txBody>
      </p:sp>
      <p:sp>
        <p:nvSpPr>
          <p:cNvPr id="328" name="AutoShape 21"/>
          <p:cNvSpPr/>
          <p:nvPr/>
        </p:nvSpPr>
        <p:spPr>
          <a:xfrm rot="0" flipH="0" flipV="0">
            <a:off x="1524000" y="419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瞬时故障自恢复，避免雪崩</a:t>
            </a:r>
            <a:endParaRPr lang="en-US" sz="1100"/>
          </a:p>
        </p:txBody>
      </p:sp>
      <p:sp>
        <p:nvSpPr>
          <p:cNvPr id="329" name="AutoShape 22"/>
          <p:cNvSpPr/>
          <p:nvPr/>
        </p:nvSpPr>
        <p:spPr>
          <a:xfrm rot="0" flipH="0" flipV="0"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" name="AutoShape 23"/>
          <p:cNvSpPr/>
          <p:nvPr/>
        </p:nvSpPr>
        <p:spPr>
          <a:xfrm rot="0" flipH="0" flipV="0">
            <a:off x="1092200" y="459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id="331" name="AutoShape 24"/>
          <p:cNvSpPr/>
          <p:nvPr/>
        </p:nvSpPr>
        <p:spPr>
          <a:xfrm rot="0" flipH="0" flipV="0">
            <a:off x="1524000" y="457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用量 / 成本计量上报</a:t>
            </a:r>
            <a:endParaRPr lang="en-US" sz="1100"/>
          </a:p>
        </p:txBody>
      </p:sp>
      <p:sp>
        <p:nvSpPr>
          <p:cNvPr id="332" name="AutoShape 25"/>
          <p:cNvSpPr/>
          <p:nvPr/>
        </p:nvSpPr>
        <p:spPr>
          <a:xfrm rot="0" flipH="0" flipV="0">
            <a:off x="1524000" y="482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按模型与部门归集，支撑账单与配额</a:t>
            </a:r>
            <a:endParaRPr lang="en-US" sz="1100"/>
          </a:p>
        </p:txBody>
      </p:sp>
      <p:sp>
        <p:nvSpPr>
          <p:cNvPr id="333" name="AutoShape 26"/>
          <p:cNvSpPr/>
          <p:nvPr/>
        </p:nvSpPr>
        <p:spPr>
          <a:xfrm rot="0" flipH="0" flipV="0"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4" name="AutoShape 27"/>
          <p:cNvSpPr/>
          <p:nvPr/>
        </p:nvSpPr>
        <p:spPr>
          <a:xfrm rot="0" flipH="0" flipV="0"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5" name="AutoShape 28"/>
          <p:cNvSpPr/>
          <p:nvPr/>
        </p:nvSpPr>
        <p:spPr>
          <a:xfrm rot="0" flipH="0" flipV="0">
            <a:off x="6604000" y="1930400"/>
            <a:ext cx="4495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总览数据统计驾驶舱</a:t>
            </a:r>
            <a:endParaRPr lang="en-US" sz="1100"/>
          </a:p>
        </p:txBody>
      </p:sp>
      <p:sp>
        <p:nvSpPr>
          <p:cNvPr id="336" name="AutoShape 29"/>
          <p:cNvSpPr/>
          <p:nvPr/>
        </p:nvSpPr>
        <p:spPr>
          <a:xfrm rot="0" flipH="0" flipV="0">
            <a:off x="6604000" y="2235200"/>
            <a:ext cx="4495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id="337" name="AutoShape 30"/>
          <p:cNvSpPr/>
          <p:nvPr/>
        </p:nvSpPr>
        <p:spPr>
          <a:xfrm rot="0" flipH="0" flipV="0">
            <a:off x="6604000" y="26670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338" name="AutoShape 31"/>
          <p:cNvSpPr/>
          <p:nvPr/>
        </p:nvSpPr>
        <p:spPr>
          <a:xfrm rot="0" flipH="0" flipV="0">
            <a:off x="7061200" y="26670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成本</a:t>
            </a:r>
            <a:endParaRPr lang="en-US" sz="1100"/>
          </a:p>
        </p:txBody>
      </p:sp>
      <p:sp>
        <p:nvSpPr>
          <p:cNvPr id="339" name="AutoShape 32"/>
          <p:cNvSpPr/>
          <p:nvPr/>
        </p:nvSpPr>
        <p:spPr>
          <a:xfrm rot="0" flipH="0" flipV="0">
            <a:off x="7061200" y="29210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id="340" name="AutoShape 33"/>
          <p:cNvSpPr/>
          <p:nvPr/>
        </p:nvSpPr>
        <p:spPr>
          <a:xfrm rot="0" flipH="0" flipV="0">
            <a:off x="6604000" y="33274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341" name="AutoShape 34"/>
          <p:cNvSpPr/>
          <p:nvPr/>
        </p:nvSpPr>
        <p:spPr>
          <a:xfrm rot="0" flipH="0" flipV="0">
            <a:off x="7061200" y="33274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使用</a:t>
            </a:r>
            <a:endParaRPr lang="en-US" sz="1100"/>
          </a:p>
        </p:txBody>
      </p:sp>
      <p:sp>
        <p:nvSpPr>
          <p:cNvPr id="342" name="AutoShape 35"/>
          <p:cNvSpPr/>
          <p:nvPr/>
        </p:nvSpPr>
        <p:spPr>
          <a:xfrm rot="0" flipH="0" flipV="0">
            <a:off x="7061200" y="35814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调用量 · 活跃用户 · Skill/检索频次</a:t>
            </a:r>
            <a:endParaRPr lang="en-US" sz="1100"/>
          </a:p>
        </p:txBody>
      </p:sp>
      <p:sp>
        <p:nvSpPr>
          <p:cNvPr id="343" name="AutoShape 36"/>
          <p:cNvSpPr/>
          <p:nvPr/>
        </p:nvSpPr>
        <p:spPr>
          <a:xfrm rot="0" flipH="0" flipV="0">
            <a:off x="6604000" y="39878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344" name="AutoShape 37"/>
          <p:cNvSpPr/>
          <p:nvPr/>
        </p:nvSpPr>
        <p:spPr>
          <a:xfrm rot="0" flipH="0" flipV="0">
            <a:off x="7061200" y="39878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质量</a:t>
            </a:r>
            <a:endParaRPr lang="en-US" sz="1100"/>
          </a:p>
        </p:txBody>
      </p:sp>
      <p:sp>
        <p:nvSpPr>
          <p:cNvPr id="345" name="AutoShape 38"/>
          <p:cNvSpPr/>
          <p:nvPr/>
        </p:nvSpPr>
        <p:spPr>
          <a:xfrm rot="0" flipH="0" flipV="0">
            <a:off x="7061200" y="42418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id="346" name="AutoShape 39"/>
          <p:cNvSpPr/>
          <p:nvPr/>
        </p:nvSpPr>
        <p:spPr>
          <a:xfrm rot="0" flipH="0" flipV="0">
            <a:off x="6604000" y="46482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id="347" name="AutoShape 40"/>
          <p:cNvSpPr/>
          <p:nvPr/>
        </p:nvSpPr>
        <p:spPr>
          <a:xfrm rot="0" flipH="0" flipV="0">
            <a:off x="7061200" y="46482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趋势</a:t>
            </a:r>
            <a:endParaRPr lang="en-US" sz="1100"/>
          </a:p>
        </p:txBody>
      </p:sp>
      <p:sp>
        <p:nvSpPr>
          <p:cNvPr id="348" name="AutoShape 41"/>
          <p:cNvSpPr/>
          <p:nvPr/>
        </p:nvSpPr>
        <p:spPr>
          <a:xfrm rot="0" flipH="0" flipV="0">
            <a:off x="7061200" y="49022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环比同比 · 瓶颈识别</a:t>
            </a:r>
            <a:endParaRPr lang="en-US" sz="1100"/>
          </a:p>
        </p:txBody>
      </p:sp>
      <p:sp>
        <p:nvSpPr>
          <p:cNvPr id="349" name="AutoShape 42"/>
          <p:cNvSpPr/>
          <p:nvPr/>
        </p:nvSpPr>
        <p:spPr>
          <a:xfrm rot="0" flipH="0" flipV="0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0" name="AutoShape 43"/>
          <p:cNvSpPr/>
          <p:nvPr/>
        </p:nvSpPr>
        <p:spPr>
          <a:xfrm rot="0" flipH="0" flipV="0">
            <a:off x="1066800" y="56642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影响可控</a:t>
            </a:r>
            <a:endParaRPr lang="en-US" sz="1100"/>
          </a:p>
        </p:txBody>
      </p:sp>
      <p:sp>
        <p:nvSpPr>
          <p:cNvPr id="351" name="AutoShape 44"/>
          <p:cNvSpPr/>
          <p:nvPr/>
        </p:nvSpPr>
        <p:spPr>
          <a:xfrm rot="0" flipH="0" flipV="0">
            <a:off x="2489200" y="56642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id="352" name="AutoShape 45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353" name="AutoShape 46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7 / 12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3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6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P1 — 可靠执行与会话交接</a:t>
            </a:r>
            <a:endParaRPr lang="en-US" sz="1100"/>
          </a:p>
        </p:txBody>
      </p:sp>
      <p:sp>
        <p:nvSpPr>
          <p:cNvPr id="357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id="358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9" name="AutoShape 6"/>
          <p:cNvSpPr/>
          <p:nvPr/>
        </p:nvSpPr>
        <p:spPr>
          <a:xfrm rot="0" flipH="0" flipV="0"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0" name="AutoShape 7"/>
          <p:cNvSpPr/>
          <p:nvPr/>
        </p:nvSpPr>
        <p:spPr>
          <a:xfrm rot="0" flipH="0" flipV="0"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1" name="AutoShape 8"/>
          <p:cNvSpPr/>
          <p:nvPr/>
        </p:nvSpPr>
        <p:spPr>
          <a:xfrm rot="0" flipH="0" flipV="0">
            <a:off x="10668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① Hooks 拦截机制</a:t>
            </a:r>
            <a:endParaRPr lang="en-US" sz="1100"/>
          </a:p>
        </p:txBody>
      </p:sp>
      <p:sp>
        <p:nvSpPr>
          <p:cNvPr id="362" name="AutoShape 9"/>
          <p:cNvSpPr/>
          <p:nvPr/>
        </p:nvSpPr>
        <p:spPr>
          <a:xfrm rot="0" flipH="0" flipV="0">
            <a:off x="10668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低成本高扩展的合规扩展点</a:t>
            </a:r>
            <a:endParaRPr lang="en-US" sz="1100"/>
          </a:p>
        </p:txBody>
      </p:sp>
      <p:sp>
        <p:nvSpPr>
          <p:cNvPr id="363" name="AutoShape 10"/>
          <p:cNvSpPr/>
          <p:nvPr/>
        </p:nvSpPr>
        <p:spPr>
          <a:xfrm rot="0" flipH="0" flipV="0"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4" name="AutoShape 11"/>
          <p:cNvSpPr/>
          <p:nvPr/>
        </p:nvSpPr>
        <p:spPr>
          <a:xfrm rot="0" flipH="0" flipV="0">
            <a:off x="12446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id="365" name="AutoShape 12"/>
          <p:cNvSpPr/>
          <p:nvPr/>
        </p:nvSpPr>
        <p:spPr>
          <a:xfrm rot="0" flipH="0" flipV="0"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6" name="AutoShape 13"/>
          <p:cNvSpPr/>
          <p:nvPr/>
        </p:nvSpPr>
        <p:spPr>
          <a:xfrm rot="0" flipH="0" flipV="0">
            <a:off x="1244600" y="34036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id="367" name="AutoShape 14"/>
          <p:cNvSpPr/>
          <p:nvPr/>
        </p:nvSpPr>
        <p:spPr>
          <a:xfrm rot="0" flipH="0" flipV="0"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8" name="AutoShape 15"/>
          <p:cNvSpPr/>
          <p:nvPr/>
        </p:nvSpPr>
        <p:spPr>
          <a:xfrm rot="0" flipH="0" flipV="0">
            <a:off x="1244600" y="42672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id="369" name="AutoShape 16"/>
          <p:cNvSpPr/>
          <p:nvPr/>
        </p:nvSpPr>
        <p:spPr>
          <a:xfrm rot="0" flipH="0" flipV="0"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0" name="AutoShape 17"/>
          <p:cNvSpPr/>
          <p:nvPr/>
        </p:nvSpPr>
        <p:spPr>
          <a:xfrm rot="0" flipH="0" flipV="0"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1" name="AutoShape 18"/>
          <p:cNvSpPr/>
          <p:nvPr/>
        </p:nvSpPr>
        <p:spPr>
          <a:xfrm rot="0" flipH="0" flipV="0">
            <a:off x="46482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② DAG 通用编排</a:t>
            </a:r>
            <a:endParaRPr lang="en-US" sz="1100"/>
          </a:p>
        </p:txBody>
      </p:sp>
      <p:sp>
        <p:nvSpPr>
          <p:cNvPr id="372" name="AutoShape 19"/>
          <p:cNvSpPr/>
          <p:nvPr/>
        </p:nvSpPr>
        <p:spPr>
          <a:xfrm rot="0" flipH="0" flipV="0">
            <a:off x="46482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从"规划/研究"到通用编排</a:t>
            </a:r>
            <a:endParaRPr lang="en-US" sz="1100"/>
          </a:p>
        </p:txBody>
      </p:sp>
      <p:sp>
        <p:nvSpPr>
          <p:cNvPr id="373" name="AutoShape 20"/>
          <p:cNvSpPr/>
          <p:nvPr/>
        </p:nvSpPr>
        <p:spPr>
          <a:xfrm rot="0" flipH="0" flipV="0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4" name="AutoShape 21"/>
          <p:cNvSpPr/>
          <p:nvPr/>
        </p:nvSpPr>
        <p:spPr>
          <a:xfrm rot="0" flipH="0" flipV="0">
            <a:off x="4826000" y="2590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四模式：sequential / supervisor / hybrid / graph</a:t>
            </a:r>
            <a:endParaRPr lang="en-US" sz="1100"/>
          </a:p>
        </p:txBody>
      </p:sp>
      <p:sp>
        <p:nvSpPr>
          <p:cNvPr id="375" name="AutoShape 22"/>
          <p:cNvSpPr/>
          <p:nvPr/>
        </p:nvSpPr>
        <p:spPr>
          <a:xfrm rot="0" flipH="0" flipV="0"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6" name="AutoShape 23"/>
          <p:cNvSpPr/>
          <p:nvPr/>
        </p:nvSpPr>
        <p:spPr>
          <a:xfrm rot="0" flipH="0" flipV="0">
            <a:off x="4826000" y="3352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DAG 拓扑排序 + 环检测，杜绝依赖回路</a:t>
            </a:r>
            <a:endParaRPr lang="en-US" sz="1100"/>
          </a:p>
        </p:txBody>
      </p:sp>
      <p:sp>
        <p:nvSpPr>
          <p:cNvPr id="377" name="AutoShape 24"/>
          <p:cNvSpPr/>
          <p:nvPr/>
        </p:nvSpPr>
        <p:spPr>
          <a:xfrm rot="0" flipH="0" flipV="0"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8" name="AutoShape 25"/>
          <p:cNvSpPr/>
          <p:nvPr/>
        </p:nvSpPr>
        <p:spPr>
          <a:xfrm rot="0" flipH="0" flipV="0">
            <a:off x="4826000" y="4114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id="379" name="AutoShape 26"/>
          <p:cNvSpPr/>
          <p:nvPr/>
        </p:nvSpPr>
        <p:spPr>
          <a:xfrm rot="0" flipH="0" flipV="0"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0" name="AutoShape 27"/>
          <p:cNvSpPr/>
          <p:nvPr/>
        </p:nvSpPr>
        <p:spPr>
          <a:xfrm rot="0" flipH="0" flipV="0"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1" name="AutoShape 28"/>
          <p:cNvSpPr/>
          <p:nvPr/>
        </p:nvSpPr>
        <p:spPr>
          <a:xfrm rot="0" flipH="0" flipV="0">
            <a:off x="82296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③ 会话/工作流双版本化</a:t>
            </a:r>
            <a:endParaRPr lang="en-US" sz="1100"/>
          </a:p>
        </p:txBody>
      </p:sp>
      <p:sp>
        <p:nvSpPr>
          <p:cNvPr id="382" name="AutoShape 29"/>
          <p:cNvSpPr/>
          <p:nvPr/>
        </p:nvSpPr>
        <p:spPr>
          <a:xfrm rot="0" flipH="0" flipV="0">
            <a:off x="82296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解决"换个人从头来""工作即沉没"</a:t>
            </a:r>
            <a:endParaRPr lang="en-US" sz="1100"/>
          </a:p>
        </p:txBody>
      </p:sp>
      <p:sp>
        <p:nvSpPr>
          <p:cNvPr id="383" name="AutoShape 30"/>
          <p:cNvSpPr/>
          <p:nvPr/>
        </p:nvSpPr>
        <p:spPr>
          <a:xfrm rot="0" flipH="0" flipV="0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4" name="AutoShape 31"/>
          <p:cNvSpPr/>
          <p:nvPr/>
        </p:nvSpPr>
        <p:spPr>
          <a:xfrm rot="0" flipH="0" flipV="0">
            <a:off x="84074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id="385" name="AutoShape 32"/>
          <p:cNvSpPr/>
          <p:nvPr/>
        </p:nvSpPr>
        <p:spPr>
          <a:xfrm rot="0" flipH="0" flipV="0"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6" name="AutoShape 33"/>
          <p:cNvSpPr/>
          <p:nvPr/>
        </p:nvSpPr>
        <p:spPr>
          <a:xfrm rot="0" flipH="0" flipV="0">
            <a:off x="8407400" y="34290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id="387" name="AutoShape 34"/>
          <p:cNvSpPr/>
          <p:nvPr/>
        </p:nvSpPr>
        <p:spPr>
          <a:xfrm rot="0" flipH="0" flipV="0"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8" name="AutoShape 35"/>
          <p:cNvSpPr/>
          <p:nvPr/>
        </p:nvSpPr>
        <p:spPr>
          <a:xfrm rot="0" flipH="0" flipV="0">
            <a:off x="8407400" y="42672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id="389" name="AutoShape 36"/>
          <p:cNvSpPr/>
          <p:nvPr/>
        </p:nvSpPr>
        <p:spPr>
          <a:xfrm rot="0" flipH="0" flipV="0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0" name="AutoShape 37"/>
          <p:cNvSpPr/>
          <p:nvPr/>
        </p:nvSpPr>
        <p:spPr>
          <a:xfrm rot="0" flipH="0" flipV="0">
            <a:off x="1066800" y="5664200"/>
            <a:ext cx="152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会话级是横切</a:t>
            </a:r>
            <a:endParaRPr lang="en-US" sz="1100"/>
          </a:p>
        </p:txBody>
      </p:sp>
      <p:sp>
        <p:nvSpPr>
          <p:cNvPr id="391" name="AutoShape 38"/>
          <p:cNvSpPr/>
          <p:nvPr/>
        </p:nvSpPr>
        <p:spPr>
          <a:xfrm rot="0" flipH="0" flipV="0">
            <a:off x="2692400" y="5664200"/>
            <a:ext cx="8559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id="392" name="AutoShape 39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393" name="AutoShape 40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8 / 12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293B"/>
                </a:solidFill>
                <a:latin typeface="Noto Sans SC"/>
                <a:ea typeface="Noto Sans SC"/>
                <a:cs typeface="Noto Sans SC"/>
                <a:sym typeface="Noto Sans SC"/>
              </a:rPr>
              <a:t>06 · P2 — 自进化与生态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 rot="0" flipH="0" flipV="0">
            <a:off x="812800" y="16764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Dream Cycle 三层自进化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 rot="0" flipH="0" flipV="0"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 rot="0" flipH="0" flipV="0">
            <a:off x="1066800" y="21590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 rot="0" flipH="0" flipV="0">
            <a:off x="1473200" y="21590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经验沉淀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 rot="0" flipH="0" flipV="0">
            <a:off x="1473200" y="24384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 rot="0" flipH="0" flipV="0">
            <a:off x="3251200" y="29464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⇣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 rot="0" flipH="0" flipV="0"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 rot="0" flipH="0" flipV="0">
            <a:off x="1066800" y="33528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rot="0" flipH="0" flipV="0">
            <a:off x="1473200" y="33528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自动发现 → 生成 Skill 草稿 + 自动建 MR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 rot="0" flipH="0" flipV="0">
            <a:off x="1473200" y="36322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周期扫描重复模式，产出可复用 Skill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 rot="0" flipH="0" flipV="0">
            <a:off x="3251200" y="41402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⇣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 rot="0" flipH="0" flipV="0"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 rot="0" flipH="0" flipV="0">
            <a:off x="1066800" y="45466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 rot="0" flipH="0" flipV="0">
            <a:off x="1473200" y="45466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低采纳率自动淘汰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rot="0" flipH="0" flipV="0">
            <a:off x="1473200" y="48260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未验证的经验自动下线，保持生态质量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 rot="0" flipH="0" flipV="0">
            <a:off x="6223000" y="1676400"/>
            <a:ext cx="5156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 + 生态清单（P2 其余项）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 rot="0" flipH="0" flipV="0"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 rot="0" flipH="0" flipV="0">
            <a:off x="6400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A2A Agent 互通网关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 rot="0" flipH="0" flipV="0"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 rot="0" flipH="0" flipV="0">
            <a:off x="9067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多 IM 入口（飞书/钉钉/企微）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 rot="0" flipH="0" flipV="0">
            <a:off x="6223000" y="2794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 rot="0" flipH="0" flipV="0">
            <a:off x="6400800" y="2794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业务系统语义索引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 rot="0" flipH="0" flipV="0">
            <a:off x="8890000" y="2794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 rot="0" flipH="0" flipV="0">
            <a:off x="9067800" y="2794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 rot="0" flipH="0" flipV="0">
            <a:off x="6223000" y="3581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 rot="0" flipH="0" flipV="0">
            <a:off x="6400800" y="3581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市场强化（版本/监控）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 rot="0" flipH="0" flipV="0">
            <a:off x="8890000" y="3581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 rot="0" flipH="0" flipV="0">
            <a:off x="9067800" y="3581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三范围 Memory（个人/组织）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 rot="0" flipH="0" flipV="0">
            <a:off x="6223000" y="4368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 rot="0" flipH="0" flipV="0">
            <a:off x="6400800" y="4368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能力资产化「发现→注册」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 rot="0" flipH="0" flipV="0">
            <a:off x="8890000" y="4368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 rot="0" flipH="0" flipV="0">
            <a:off x="9067800" y="4368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厚 / 薄 Harness 弹性配置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 rot="0" flipH="0" flipV="0"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39"/>
          <p:cNvSpPr/>
          <p:nvPr/>
        </p:nvSpPr>
        <p:spPr>
          <a:xfrm rot="0" flipH="0" flipV="0">
            <a:off x="1066800" y="5613400"/>
            <a:ext cx="1397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目标形态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 rot="0" flipH="0" flipV="0">
            <a:off x="2489200" y="5613400"/>
            <a:ext cx="8763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42" name="AutoShape 42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9 / 12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07 · 实施路线图</a:t>
            </a:r>
            <a:endParaRPr lang="en-US" sz="1100"/>
          </a:p>
        </p:txBody>
      </p:sp>
      <p:sp>
        <p:nvSpPr>
          <p:cNvPr id="46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三阶段推进：先合规底座，再可靠协作，最后自进化</a:t>
            </a:r>
            <a:endParaRPr lang="en-US" sz="1100"/>
          </a:p>
        </p:txBody>
      </p:sp>
      <p:cxnSp>
        <p:nvCxnSpPr>
          <p:cNvPr id="47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" name="AutoShape 6"/>
          <p:cNvSpPr/>
          <p:nvPr/>
        </p:nvSpPr>
        <p:spPr>
          <a:xfrm rot="0" flipH="0" flipV="0">
            <a:off x="812800" y="1727200"/>
            <a:ext cx="3378200" cy="711200"/>
          </a:xfrm>
          <a:prstGeom prst="roundRect">
            <a:avLst>
              <a:gd name="adj" fmla="val 14285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7"/>
          <p:cNvSpPr/>
          <p:nvPr/>
        </p:nvSpPr>
        <p:spPr>
          <a:xfrm rot="0" flipH="0" flipV="0">
            <a:off x="10668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P0</a:t>
            </a:r>
            <a:endParaRPr lang="en-US" sz="1100"/>
          </a:p>
        </p:txBody>
      </p:sp>
      <p:sp>
        <p:nvSpPr>
          <p:cNvPr id="50" name="AutoShape 8"/>
          <p:cNvSpPr/>
          <p:nvPr/>
        </p:nvSpPr>
        <p:spPr>
          <a:xfrm rot="0" flipH="0" flipV="0">
            <a:off x="16256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生产底座</a:t>
            </a:r>
            <a:endParaRPr lang="en-US" sz="1100"/>
          </a:p>
        </p:txBody>
      </p:sp>
      <p:sp>
        <p:nvSpPr>
          <p:cNvPr id="51" name="AutoShape 10"/>
          <p:cNvSpPr/>
          <p:nvPr/>
        </p:nvSpPr>
        <p:spPr>
          <a:xfrm rot="0" flipH="0" flipV="0"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" name="AutoShape 11"/>
          <p:cNvSpPr/>
          <p:nvPr/>
        </p:nvSpPr>
        <p:spPr>
          <a:xfrm rot="0" flipH="0" flipV="0">
            <a:off x="12446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id="53" name="AutoShape 12"/>
          <p:cNvSpPr/>
          <p:nvPr/>
        </p:nvSpPr>
        <p:spPr>
          <a:xfrm rot="0" flipH="0" flipV="0"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" name="AutoShape 13"/>
          <p:cNvSpPr/>
          <p:nvPr/>
        </p:nvSpPr>
        <p:spPr>
          <a:xfrm rot="0" flipH="0" flipV="0">
            <a:off x="1244600" y="32512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网关韧性：failover · 降级链 · 退避重试</a:t>
            </a:r>
            <a:endParaRPr lang="en-US" sz="1100"/>
          </a:p>
        </p:txBody>
      </p:sp>
      <p:sp>
        <p:nvSpPr>
          <p:cNvPr id="55" name="AutoShape 14"/>
          <p:cNvSpPr/>
          <p:nvPr/>
        </p:nvSpPr>
        <p:spPr>
          <a:xfrm rot="0" flipH="0" flipV="0"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" name="AutoShape 15"/>
          <p:cNvSpPr/>
          <p:nvPr/>
        </p:nvSpPr>
        <p:spPr>
          <a:xfrm rot="0" flipH="0" flipV="0">
            <a:off x="1244600" y="38100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运营驾驶舱：成本 / 使用 / 质量 / 趋势</a:t>
            </a:r>
            <a:endParaRPr lang="en-US" sz="1100"/>
          </a:p>
        </p:txBody>
      </p:sp>
      <p:sp>
        <p:nvSpPr>
          <p:cNvPr id="57" name="AutoShape 16"/>
          <p:cNvSpPr/>
          <p:nvPr/>
        </p:nvSpPr>
        <p:spPr>
          <a:xfrm rot="0" flipH="0" flipV="0">
            <a:off x="1066800" y="4470400"/>
            <a:ext cx="2870200" cy="838200"/>
          </a:xfrm>
          <a:prstGeom prst="roundRect">
            <a:avLst>
              <a:gd name="adj" fmla="val 12121"/>
            </a:avLst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" name="AutoShape 17"/>
          <p:cNvSpPr/>
          <p:nvPr/>
        </p:nvSpPr>
        <p:spPr>
          <a:xfrm rot="0" flipH="0" flipV="0">
            <a:off x="1244600" y="45720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id="59" name="AutoShape 18"/>
          <p:cNvSpPr/>
          <p:nvPr/>
        </p:nvSpPr>
        <p:spPr>
          <a:xfrm rot="0" flipH="0" flipV="0">
            <a:off x="1244600" y="4800600"/>
            <a:ext cx="2514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合规入场券 · 生产可用性 · 可观测</a:t>
            </a:r>
            <a:endParaRPr lang="en-US" sz="1100"/>
          </a:p>
        </p:txBody>
      </p:sp>
      <p:sp>
        <p:nvSpPr>
          <p:cNvPr id="60" name="AutoShape 19"/>
          <p:cNvSpPr/>
          <p:nvPr/>
        </p:nvSpPr>
        <p:spPr>
          <a:xfrm rot="0" flipH="0" flipV="0">
            <a:off x="4394200" y="1727200"/>
            <a:ext cx="3378200" cy="711200"/>
          </a:xfrm>
          <a:prstGeom prst="roundRect">
            <a:avLst>
              <a:gd name="adj" fmla="val 14285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" name="AutoShape 20"/>
          <p:cNvSpPr/>
          <p:nvPr/>
        </p:nvSpPr>
        <p:spPr>
          <a:xfrm rot="0" flipH="0" flipV="0">
            <a:off x="46482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</a:t>
            </a:r>
            <a:endParaRPr lang="en-US" sz="1100"/>
          </a:p>
        </p:txBody>
      </p:sp>
      <p:sp>
        <p:nvSpPr>
          <p:cNvPr id="62" name="AutoShape 21"/>
          <p:cNvSpPr/>
          <p:nvPr/>
        </p:nvSpPr>
        <p:spPr>
          <a:xfrm rot="0" flipH="0" flipV="0">
            <a:off x="52070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可靠性与协作</a:t>
            </a:r>
            <a:endParaRPr lang="en-US" sz="1100"/>
          </a:p>
        </p:txBody>
      </p:sp>
      <p:sp>
        <p:nvSpPr>
          <p:cNvPr id="63" name="AutoShape 23"/>
          <p:cNvSpPr/>
          <p:nvPr/>
        </p:nvSpPr>
        <p:spPr>
          <a:xfrm rot="0" flipH="0" flipV="0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4" name="AutoShape 24"/>
          <p:cNvSpPr/>
          <p:nvPr/>
        </p:nvSpPr>
        <p:spPr>
          <a:xfrm rot="0" flipH="0" flipV="0">
            <a:off x="48260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拦截：五事件 + 会话生命周期</a:t>
            </a:r>
            <a:endParaRPr lang="en-US" sz="1100"/>
          </a:p>
        </p:txBody>
      </p:sp>
      <p:sp>
        <p:nvSpPr>
          <p:cNvPr id="65" name="AutoShape 25"/>
          <p:cNvSpPr/>
          <p:nvPr/>
        </p:nvSpPr>
        <p:spPr>
          <a:xfrm rot="0" flipH="0" flipV="0"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" name="AutoShape 26"/>
          <p:cNvSpPr/>
          <p:nvPr/>
        </p:nvSpPr>
        <p:spPr>
          <a:xfrm rot="0" flipH="0" flipV="0">
            <a:off x="48260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id="67" name="AutoShape 27"/>
          <p:cNvSpPr/>
          <p:nvPr/>
        </p:nvSpPr>
        <p:spPr>
          <a:xfrm rot="0" flipH="0" flipV="0"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" name="AutoShape 28"/>
          <p:cNvSpPr/>
          <p:nvPr/>
        </p:nvSpPr>
        <p:spPr>
          <a:xfrm rot="0" flipH="0" flipV="0">
            <a:off x="48260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双版本化：版本 / 交接 / 多人协同</a:t>
            </a:r>
            <a:endParaRPr lang="en-US" sz="1100"/>
          </a:p>
        </p:txBody>
      </p:sp>
      <p:sp>
        <p:nvSpPr>
          <p:cNvPr id="69" name="AutoShape 29"/>
          <p:cNvSpPr/>
          <p:nvPr/>
        </p:nvSpPr>
        <p:spPr>
          <a:xfrm rot="0" flipH="0" flipV="0">
            <a:off x="4648200" y="4572000"/>
            <a:ext cx="2870200" cy="736600"/>
          </a:xfrm>
          <a:prstGeom prst="roundRect">
            <a:avLst>
              <a:gd name="adj" fmla="val 13793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" name="AutoShape 30"/>
          <p:cNvSpPr/>
          <p:nvPr/>
        </p:nvSpPr>
        <p:spPr>
          <a:xfrm rot="0" flipH="0" flipV="0">
            <a:off x="48260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id="71" name="AutoShape 31"/>
          <p:cNvSpPr/>
          <p:nvPr/>
        </p:nvSpPr>
        <p:spPr>
          <a:xfrm rot="0" flipH="0" flipV="0">
            <a:off x="48260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多步骤可靠 · 合规扩展 · 工作可交接</a:t>
            </a:r>
            <a:endParaRPr lang="en-US" sz="1100"/>
          </a:p>
        </p:txBody>
      </p:sp>
      <p:sp>
        <p:nvSpPr>
          <p:cNvPr id="72" name="AutoShape 32"/>
          <p:cNvSpPr/>
          <p:nvPr/>
        </p:nvSpPr>
        <p:spPr>
          <a:xfrm rot="0" flipH="0" flipV="0">
            <a:off x="7975600" y="1727200"/>
            <a:ext cx="3378200" cy="711200"/>
          </a:xfrm>
          <a:prstGeom prst="roundRect">
            <a:avLst>
              <a:gd name="adj" fmla="val 14285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3" name="AutoShape 33"/>
          <p:cNvSpPr/>
          <p:nvPr/>
        </p:nvSpPr>
        <p:spPr>
          <a:xfrm rot="0" flipH="0" flipV="0">
            <a:off x="82296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</a:t>
            </a:r>
            <a:endParaRPr lang="en-US" sz="1100"/>
          </a:p>
        </p:txBody>
      </p:sp>
      <p:sp>
        <p:nvSpPr>
          <p:cNvPr id="74" name="AutoShape 34"/>
          <p:cNvSpPr/>
          <p:nvPr/>
        </p:nvSpPr>
        <p:spPr>
          <a:xfrm rot="0" flipH="0" flipV="0">
            <a:off x="87884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自进化与生态</a:t>
            </a:r>
            <a:endParaRPr lang="en-US" sz="1100"/>
          </a:p>
        </p:txBody>
      </p:sp>
      <p:sp>
        <p:nvSpPr>
          <p:cNvPr id="75" name="AutoShape 36"/>
          <p:cNvSpPr/>
          <p:nvPr/>
        </p:nvSpPr>
        <p:spPr>
          <a:xfrm rot="0" flipH="0" flipV="0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" name="AutoShape 37"/>
          <p:cNvSpPr/>
          <p:nvPr/>
        </p:nvSpPr>
        <p:spPr>
          <a:xfrm rot="0" flipH="0" flipV="0">
            <a:off x="84074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Dream 自进化 · 会话→经验→Skill 闭环</a:t>
            </a:r>
            <a:endParaRPr lang="en-US" sz="1100"/>
          </a:p>
        </p:txBody>
      </p:sp>
      <p:sp>
        <p:nvSpPr>
          <p:cNvPr id="77" name="AutoShape 38"/>
          <p:cNvSpPr/>
          <p:nvPr/>
        </p:nvSpPr>
        <p:spPr>
          <a:xfrm rot="0" flipH="0" flipV="0"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" name="AutoShape 39"/>
          <p:cNvSpPr/>
          <p:nvPr/>
        </p:nvSpPr>
        <p:spPr>
          <a:xfrm rot="0" flipH="0" flipV="0">
            <a:off x="84074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A2A · 多 IM · 业务索引 · 知识图谱</a:t>
            </a:r>
            <a:endParaRPr lang="en-US" sz="1100"/>
          </a:p>
        </p:txBody>
      </p:sp>
      <p:sp>
        <p:nvSpPr>
          <p:cNvPr id="79" name="AutoShape 40"/>
          <p:cNvSpPr/>
          <p:nvPr/>
        </p:nvSpPr>
        <p:spPr>
          <a:xfrm rot="0" flipH="0" flipV="0"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" name="AutoShape 41"/>
          <p:cNvSpPr/>
          <p:nvPr/>
        </p:nvSpPr>
        <p:spPr>
          <a:xfrm rot="0" flipH="0" flipV="0">
            <a:off x="84074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0833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id="81" name="AutoShape 42"/>
          <p:cNvSpPr/>
          <p:nvPr/>
        </p:nvSpPr>
        <p:spPr>
          <a:xfrm rot="0" flipH="0" flipV="0">
            <a:off x="8229600" y="4572000"/>
            <a:ext cx="2870200" cy="736600"/>
          </a:xfrm>
          <a:prstGeom prst="roundRect">
            <a:avLst>
              <a:gd name="adj" fmla="val 13793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" name="AutoShape 43"/>
          <p:cNvSpPr/>
          <p:nvPr/>
        </p:nvSpPr>
        <p:spPr>
          <a:xfrm rot="0" flipH="0" flipV="0">
            <a:off x="84074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1E293B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id="83" name="AutoShape 44"/>
          <p:cNvSpPr/>
          <p:nvPr/>
        </p:nvSpPr>
        <p:spPr>
          <a:xfrm rot="0" flipH="0" flipV="0">
            <a:off x="84074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组织级「数字组织」· 越用越聪明</a:t>
            </a:r>
            <a:endParaRPr lang="en-US" sz="1100"/>
          </a:p>
        </p:txBody>
      </p:sp>
      <p:sp>
        <p:nvSpPr>
          <p:cNvPr id="84" name="AutoShape 45"/>
          <p:cNvSpPr/>
          <p:nvPr/>
        </p:nvSpPr>
        <p:spPr>
          <a:xfrm rot="0" flipH="0" flipV="0">
            <a:off x="812800" y="55880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id="85" name="AutoShape 46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86" name="AutoShape 47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10 / 12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rgbClr val="F8FAFC">
            <a:alpha val="100000"/>
          </a:srgbClr>
        </a:solidFill>
      </p:bgPr>
    </p:bg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utoShape 2"/>
          <p:cNvSpPr/>
          <p:nvPr/>
        </p:nvSpPr>
        <p:spPr>
          <a:xfrm rot="0" flipH="0" flipV="0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" name="AutoShape 3"/>
          <p:cNvSpPr/>
          <p:nvPr/>
        </p:nvSpPr>
        <p:spPr>
          <a:xfrm rot="0" flipH="0" flipV="0"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08 · 落地建议</a:t>
            </a:r>
            <a:endParaRPr lang="en-US" sz="1100"/>
          </a:p>
        </p:txBody>
      </p:sp>
      <p:sp>
        <p:nvSpPr>
          <p:cNvPr id="90" name="AutoShape 4"/>
          <p:cNvSpPr/>
          <p:nvPr/>
        </p:nvSpPr>
        <p:spPr>
          <a:xfrm rot="0" flipH="0" flipV="0"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五条立即行动：先打 P0，小步快跑</a:t>
            </a:r>
            <a:endParaRPr lang="en-US" sz="1100"/>
          </a:p>
        </p:txBody>
      </p:sp>
      <p:cxnSp>
        <p:nvCxnSpPr>
          <p:cNvPr id="91" name="Connector 5"/>
          <p:cNvCxnSpPr/>
          <p:nvPr/>
        </p:nvCxnSpPr>
        <p:spPr>
          <a:xfrm rot="-4131" flipH="0" flipV="0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AutoShape 6"/>
          <p:cNvSpPr/>
          <p:nvPr/>
        </p:nvSpPr>
        <p:spPr>
          <a:xfrm rot="0" flipH="0" flipV="0"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" name="AutoShape 7"/>
          <p:cNvSpPr/>
          <p:nvPr/>
        </p:nvSpPr>
        <p:spPr>
          <a:xfrm rot="0" flipH="0" flipV="0">
            <a:off x="1066800" y="17018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id="94" name="AutoShape 8"/>
          <p:cNvSpPr/>
          <p:nvPr/>
        </p:nvSpPr>
        <p:spPr>
          <a:xfrm rot="0" flipH="0" flipV="0">
            <a:off x="1625600" y="1803400"/>
            <a:ext cx="304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先打 P0 风控引擎</a:t>
            </a:r>
            <a:endParaRPr lang="en-US" sz="1100"/>
          </a:p>
        </p:txBody>
      </p:sp>
      <p:sp>
        <p:nvSpPr>
          <p:cNvPr id="95" name="AutoShape 9"/>
          <p:cNvSpPr/>
          <p:nvPr/>
        </p:nvSpPr>
        <p:spPr>
          <a:xfrm rot="0" flipH="0" flipV="0">
            <a:off x="1625600" y="20828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合规刚需、当前最大缺口；以已有审批/配额/审计为挂载点，风险最低、价值最高。</a:t>
            </a:r>
            <a:endParaRPr lang="en-US" sz="1100"/>
          </a:p>
        </p:txBody>
      </p:sp>
      <p:sp>
        <p:nvSpPr>
          <p:cNvPr id="96" name="AutoShape 10"/>
          <p:cNvSpPr/>
          <p:nvPr/>
        </p:nvSpPr>
        <p:spPr>
          <a:xfrm rot="0" flipH="0" flipV="0"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" name="AutoShape 11"/>
          <p:cNvSpPr/>
          <p:nvPr/>
        </p:nvSpPr>
        <p:spPr>
          <a:xfrm rot="0" flipH="0" flipV="0">
            <a:off x="1066800" y="25654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id="98" name="AutoShape 12"/>
          <p:cNvSpPr/>
          <p:nvPr/>
        </p:nvSpPr>
        <p:spPr>
          <a:xfrm rot="0" flipH="0" flipV="0">
            <a:off x="1625600" y="2667000"/>
            <a:ext cx="330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网关韧性集中在 llm/ 模块</a:t>
            </a:r>
            <a:endParaRPr lang="en-US" sz="1100"/>
          </a:p>
        </p:txBody>
      </p:sp>
      <p:sp>
        <p:nvSpPr>
          <p:cNvPr id="99" name="AutoShape 13"/>
          <p:cNvSpPr/>
          <p:nvPr/>
        </p:nvSpPr>
        <p:spPr>
          <a:xfrm rot="0" flipH="0" flipV="0">
            <a:off x="1625600" y="29464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failover + 降级链 + 退避重试，改动集中、生产可用性直接受益。</a:t>
            </a:r>
            <a:endParaRPr lang="en-US" sz="1100"/>
          </a:p>
        </p:txBody>
      </p:sp>
      <p:sp>
        <p:nvSpPr>
          <p:cNvPr id="100" name="AutoShape 14"/>
          <p:cNvSpPr/>
          <p:nvPr/>
        </p:nvSpPr>
        <p:spPr>
          <a:xfrm rot="0" flipH="0" flipV="0"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" name="AutoShape 15"/>
          <p:cNvSpPr/>
          <p:nvPr/>
        </p:nvSpPr>
        <p:spPr>
          <a:xfrm rot="0" flipH="0" flipV="0">
            <a:off x="1066800" y="34290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id="102" name="AutoShape 16"/>
          <p:cNvSpPr/>
          <p:nvPr/>
        </p:nvSpPr>
        <p:spPr>
          <a:xfrm rot="0" flipH="0" flipV="0">
            <a:off x="1625600" y="35306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先单事件 PreToolUse 切入</a:t>
            </a:r>
            <a:endParaRPr lang="en-US" sz="1100"/>
          </a:p>
        </p:txBody>
      </p:sp>
      <p:sp>
        <p:nvSpPr>
          <p:cNvPr id="103" name="AutoShape 17"/>
          <p:cNvSpPr/>
          <p:nvPr/>
        </p:nvSpPr>
        <p:spPr>
          <a:xfrm rot="0" flipH="0" flipV="0">
            <a:off x="1625600" y="38100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低成本获得合规拦截/字段校验/工具禁用，再逐步补齐其余事件。</a:t>
            </a:r>
            <a:endParaRPr lang="en-US" sz="1100"/>
          </a:p>
        </p:txBody>
      </p:sp>
      <p:sp>
        <p:nvSpPr>
          <p:cNvPr id="104" name="AutoShape 18"/>
          <p:cNvSpPr/>
          <p:nvPr/>
        </p:nvSpPr>
        <p:spPr>
          <a:xfrm rot="0" flipH="0" flipV="0"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" name="AutoShape 19"/>
          <p:cNvSpPr/>
          <p:nvPr/>
        </p:nvSpPr>
        <p:spPr>
          <a:xfrm rot="0" flipH="0" flipV="0">
            <a:off x="1066800" y="42926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id="106" name="AutoShape 20"/>
          <p:cNvSpPr/>
          <p:nvPr/>
        </p:nvSpPr>
        <p:spPr>
          <a:xfrm rot="0" flipH="0" flipV="0">
            <a:off x="1625600" y="43942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把"会话交接"做成标杆场景</a:t>
            </a:r>
            <a:endParaRPr lang="en-US" sz="1100"/>
          </a:p>
        </p:txBody>
      </p:sp>
      <p:sp>
        <p:nvSpPr>
          <p:cNvPr id="107" name="AutoShape 21"/>
          <p:cNvSpPr/>
          <p:nvPr/>
        </p:nvSpPr>
        <p:spPr>
          <a:xfrm rot="0" flipH="0" flipV="0">
            <a:off x="1625600" y="46736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知识问答 + 分级审批 + commit/share 交接 + 成本驾驶舱，一次打通 P0 与 P1。</a:t>
            </a:r>
            <a:endParaRPr lang="en-US" sz="1100"/>
          </a:p>
        </p:txBody>
      </p:sp>
      <p:sp>
        <p:nvSpPr>
          <p:cNvPr id="108" name="AutoShape 22"/>
          <p:cNvSpPr/>
          <p:nvPr/>
        </p:nvSpPr>
        <p:spPr>
          <a:xfrm rot="0" flipH="0" flipV="0"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" name="AutoShape 23"/>
          <p:cNvSpPr/>
          <p:nvPr/>
        </p:nvSpPr>
        <p:spPr>
          <a:xfrm rot="0" flipH="0" flipV="0">
            <a:off x="1066800" y="51562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id="110" name="AutoShape 24"/>
          <p:cNvSpPr/>
          <p:nvPr/>
        </p:nvSpPr>
        <p:spPr>
          <a:xfrm rot="0" flipH="0" flipV="0">
            <a:off x="1625600" y="5257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保留自托管与数据自主优势</a:t>
            </a:r>
            <a:endParaRPr lang="en-US" sz="1100"/>
          </a:p>
        </p:txBody>
      </p:sp>
      <p:sp>
        <p:nvSpPr>
          <p:cNvPr id="111" name="AutoShape 25"/>
          <p:cNvSpPr/>
          <p:nvPr/>
        </p:nvSpPr>
        <p:spPr>
          <a:xfrm rot="0" flipH="0" flipV="0">
            <a:off x="1625600" y="55372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坚持模型与数据自主管控，生产环境自行加固，不可裸用。</a:t>
            </a:r>
            <a:endParaRPr lang="en-US" sz="1100"/>
          </a:p>
        </p:txBody>
      </p:sp>
      <p:sp>
        <p:nvSpPr>
          <p:cNvPr id="112" name="AutoShape 26"/>
          <p:cNvSpPr/>
          <p:nvPr/>
        </p:nvSpPr>
        <p:spPr>
          <a:xfrm rot="0" flipH="0" flipV="0"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</a:t>
            </a:r>
            <a:r>
              <a:rPr lang="en-US" sz="1100" b="0" i="0" u="none" strike="noStrike">
                <a:solidFill>
                  <a:srgbClr val="94A3B8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· 企业级智能体平台</a:t>
            </a:r>
            <a:endParaRPr/>
          </a:p>
        </p:txBody>
      </p:sp>
      <p:sp>
        <p:nvSpPr>
          <p:cNvPr id="113" name="AutoShape 27"/>
          <p:cNvSpPr/>
          <p:nvPr/>
        </p:nvSpPr>
        <p:spPr>
          <a:xfrm rot="0" flipH="0" flipV="0"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11 / 12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rgbClr val="0D1221">
            <a:alpha val="100000"/>
          </a:srgbClr>
        </a:solidFill>
      </p:bgPr>
    </p:bg>
    <p:spTree>
      <p:nvGrpSpPr>
        <p:cNvPr id="1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5" name="Connector 2"/>
          <p:cNvCxnSpPr/>
          <p:nvPr/>
        </p:nvCxnSpPr>
        <p:spPr>
          <a:xfrm rot="-3580" flipH="0" flipV="0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Connector 3"/>
          <p:cNvCxnSpPr/>
          <p:nvPr/>
        </p:nvCxnSpPr>
        <p:spPr>
          <a:xfrm rot="-3580" flipH="0" flipV="0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Connector 4"/>
          <p:cNvCxnSpPr/>
          <p:nvPr/>
        </p:nvCxnSpPr>
        <p:spPr>
          <a:xfrm rot="-3580" flipH="0" flipV="0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8" name="Connector 5"/>
          <p:cNvCxnSpPr/>
          <p:nvPr/>
        </p:nvCxnSpPr>
        <p:spPr>
          <a:xfrm rot="5393633" flipH="0" flipV="0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" name="Connector 6"/>
          <p:cNvCxnSpPr/>
          <p:nvPr/>
        </p:nvCxnSpPr>
        <p:spPr>
          <a:xfrm rot="5393633" flipH="0" flipV="0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" name="Connector 7"/>
          <p:cNvCxnSpPr/>
          <p:nvPr/>
        </p:nvCxnSpPr>
        <p:spPr>
          <a:xfrm rot="5393633" flipH="0" flipV="0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1" name="AutoShape 8"/>
          <p:cNvSpPr/>
          <p:nvPr/>
        </p:nvSpPr>
        <p:spPr>
          <a:xfrm rot="0" flipH="0" flipV="0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" name="AutoShape 9"/>
          <p:cNvSpPr/>
          <p:nvPr/>
        </p:nvSpPr>
        <p:spPr>
          <a:xfrm rot="0" flipH="0" flipV="0"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buClr>
                <a:srgbClr val="000000">
                  <a:alpha val="100000"/>
                </a:srgbClr>
              </a:buClr>
              <a:buFont typeface="Arial"/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lang="en-US" sz="1500" b="1" i="0" u="none" strike="noStrike">
                <a:solidFill>
                  <a:srgbClr val="10B9A9">
                    <a:alpha val="10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/>
          </a:p>
        </p:txBody>
      </p:sp>
      <p:sp>
        <p:nvSpPr>
          <p:cNvPr id="123" name="AutoShape 10"/>
          <p:cNvSpPr/>
          <p:nvPr/>
        </p:nvSpPr>
        <p:spPr>
          <a:xfrm rot="0" flipH="0" flipV="0">
            <a:off x="812800" y="1854200"/>
            <a:ext cx="1056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4166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能力与治理一起补齐，从 Demo 走进生产</a:t>
            </a:r>
            <a:endParaRPr lang="en-US" sz="1100"/>
          </a:p>
        </p:txBody>
      </p:sp>
      <p:sp>
        <p:nvSpPr>
          <p:cNvPr id="124" name="AutoShape 11"/>
          <p:cNvSpPr/>
          <p:nvPr/>
        </p:nvSpPr>
        <p:spPr>
          <a:xfrm rot="0" flipH="0" flipV="0">
            <a:off x="812800" y="3276600"/>
            <a:ext cx="10566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先打 P0 风控引擎 → 网关韧性集中在 llm/ 模块 → Hooks 先单事件低成本切入，小步快跑、风险最低。</a:t>
            </a:r>
            <a:endParaRPr lang="en-US" sz="1100"/>
          </a:p>
        </p:txBody>
      </p:sp>
      <p:sp>
        <p:nvSpPr>
          <p:cNvPr id="125" name="AutoShape 18"/>
          <p:cNvSpPr/>
          <p:nvPr/>
        </p:nvSpPr>
        <p:spPr>
          <a:xfrm rot="0" flipH="0" flipV="0"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" name="AutoShape 20"/>
          <p:cNvSpPr/>
          <p:nvPr/>
        </p:nvSpPr>
        <p:spPr>
          <a:xfrm rot="0" flipH="0" flipV="0"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4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12 / 12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2026-09-24T11:47:15Z</dcterms:created>
  <dcterms:modified xsi:type="dcterms:W3CDTF">2026-09-24T11:47:15Z</dcterms:modified>
</cp:coreProperties>
</file>
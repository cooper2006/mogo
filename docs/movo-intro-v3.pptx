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notesSlides/notesSlide1.xml" Type="http://schemas.openxmlformats.org/officeDocument/2006/relationships/notesSlide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10.xml" Type="http://schemas.openxmlformats.org/officeDocument/2006/relationships/notesSlide"/><Relationship Id="rId31" Target="notesSlides/notesSlide11.xml" Type="http://schemas.openxmlformats.org/officeDocument/2006/relationships/notesSlide"/><Relationship Id="rId32" Target="notesSlides/notesSlide12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开场。本规划依据知识库 7 篇核心文章、与 EntAgent 开源方案的代码级对比，以及 AgentGit 会话级实践。主线是 DSH 管运行、MOVO 管进企业，聚焦企业级补强的缺口与三阶段路线。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一句话：MOVO 是 DSH 执行底座加企业层。本材料按已有基线、六大缺口、分级补强、三阶段落地四步展开。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MOVO 已有九大能力域，从执行底座、知识RAG、多模态理解到部署桌面都已成型。这是后续补强的坚实基线。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与对标方案反向确认，这五块 MOVO 已经领先，不应重复投入。它们同时也是后续补强的挂载点与安全边界。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六大缺口按优先级分三档。P0 三件是企业入场券，P1 三件解决可靠协作与会话交接，P2 是规模化生态，工作量最大可后置。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治理风控是 MOVO 当前最大缺口。Gatekeeper 六层门禁串行放行，配合风险矩阵和细粒度权限码，PII 脱敏同时覆盖运行时和保存分享两个场景。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P0 后两件是生产底座：网关韧性解决 LLM 单点，驾驶舱让成本、使用、质量、趋势四维可观测。两者改动集中、复用现有模块，收益直接。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P1 三件套：Hooks 先单事件低成本切入，DAG 通用化现有编排，会话与工作流双版本化让工作可交接、可回放。会话级是贯穿多条补强的横切维度。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P2 是规模化生态。Dream Cycle 把会话沉淀成 Skill 让平台越用越聪明；右侧清单是其余高阶能力，工作量最大可后置。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三阶段：1-2 月先把生产底座做扎实，3-6 月做可靠协作与会话交接，6-12 月以上做规模化生态。全程复用现有底座，不推倒重来。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落地从 P0 风控开始，网关韧性改动小收益大，Hooks 先单事件验证，用一个标杆场景同时打通 P0 与 P1，始终守住自托管与数据自主。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收尾：能力与治理一起补齐，MOVO 就能从 Demo 走进生产。欢迎通过 GitHub 或邮箱联系，支持私有化部署。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0D122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3580" flipH="false" flipV="false">
            <a:off x="3" y="17081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3" id="3"/>
          <p:cNvCxnSpPr/>
          <p:nvPr/>
        </p:nvCxnSpPr>
        <p:spPr>
          <a:xfrm rot="-3580" flipH="false" flipV="false">
            <a:off x="3" y="34226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4" id="4"/>
          <p:cNvCxnSpPr/>
          <p:nvPr/>
        </p:nvCxnSpPr>
        <p:spPr>
          <a:xfrm rot="-3580" flipH="false" flipV="false">
            <a:off x="3" y="51371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5393633" flipH="false" flipV="false">
            <a:off x="-381000" y="3422656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5393633" flipH="false" flipV="false">
            <a:off x="2667000" y="3422656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7" id="7"/>
          <p:cNvCxnSpPr/>
          <p:nvPr/>
        </p:nvCxnSpPr>
        <p:spPr>
          <a:xfrm rot="5393633" flipH="false" flipV="false">
            <a:off x="5715000" y="3422656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812800" y="736600"/>
            <a:ext cx="711200" cy="762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" y="9398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0B9A9"/>
                </a:solidFill>
                <a:latin typeface="Noto Sans SC"/>
                <a:ea typeface="Noto Sans SC"/>
                <a:cs typeface="Noto Sans SC"/>
                <a:sym typeface="Noto Sans SC"/>
              </a:rPr>
              <a:t>MOVO · 企业级智能体平台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" y="2489200"/>
            <a:ext cx="105664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从能力底座到生产就绪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" y="3251200"/>
            <a:ext cx="10566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企业级智能体功能补强规划与落地路线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" y="4191000"/>
            <a:ext cx="1524000" cy="381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" y="4394200"/>
            <a:ext cx="10566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DSH 管 Agent 怎么跑，MOVO 管 Agent 怎么进企业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" y="4826000"/>
            <a:ext cx="10566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基于与 EntAgent / AgentGit 的代码级对比 · 复用已有底座 · 可私有化部署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652000" y="6248400"/>
            <a:ext cx="1727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4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2026-09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90600" y="558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01 · 定位与主线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12800" y="838200"/>
            <a:ext cx="10566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DSH 管运行，MOVO 管进企业——本规划只补六处缺口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778000"/>
            <a:ext cx="3810000" cy="3556000"/>
          </a:xfrm>
          <a:prstGeom prst="roundRect">
            <a:avLst>
              <a:gd name="adj" fmla="val 3571"/>
            </a:avLst>
          </a:prstGeom>
          <a:solidFill>
            <a:srgbClr val="0F172A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92200" y="2032000"/>
            <a:ext cx="3251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2DD4BF"/>
                </a:solidFill>
                <a:latin typeface="Noto Sans SC"/>
                <a:ea typeface="Noto Sans SC"/>
                <a:cs typeface="Noto Sans SC"/>
                <a:sym typeface="Noto Sans SC"/>
              </a:rPr>
              <a:t>一句话定位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92200" y="2438400"/>
            <a:ext cx="32512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MOVO = DSH Runtime（执行底座）+ MOVO 企业层（进入生产）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92200" y="3657600"/>
            <a:ext cx="508000" cy="381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92200" y="3860800"/>
            <a:ext cx="32512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50">
                <a:solidFill>
                  <a:srgbClr val="E2E8F0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在执行底座、文档与内容生成、多形态 Agent、SkillHub、自托管部署上已是较完整起点；本次不推倒重来，只补缺口。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029200" y="1778000"/>
            <a:ext cx="6350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本材料按四步回答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029200" y="2260600"/>
            <a:ext cx="6350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257800" y="2260600"/>
            <a:ext cx="50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A9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867400" y="2260600"/>
            <a:ext cx="533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已有哪些能力，哪些已领先、不重复投入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29200" y="3048000"/>
            <a:ext cx="6350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257800" y="3048000"/>
            <a:ext cx="50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A9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867400" y="3048000"/>
            <a:ext cx="533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与 EntAgent / AgentGit 对比，缺哪六处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29200" y="3835400"/>
            <a:ext cx="6350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257800" y="3835400"/>
            <a:ext cx="50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A9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867400" y="3835400"/>
            <a:ext cx="533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按 P0 / P1 / P2 优先级逐项补强什么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029200" y="4622800"/>
            <a:ext cx="63500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257800" y="4622800"/>
            <a:ext cx="50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A9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867400" y="4622800"/>
            <a:ext cx="533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三阶段多久落地、各交付什么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" y="6451600"/>
            <a:ext cx="381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MOVO · 企业级智能体平台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617200" y="6451600"/>
            <a:ext cx="762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2 / 12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90600" y="558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02 · 现状 — 已有基线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12800" y="838200"/>
            <a:ext cx="10566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MOVO 已具备九大能力域，执行与内容生成完整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752600"/>
            <a:ext cx="3378200" cy="1041400"/>
          </a:xfrm>
          <a:prstGeom prst="roundRect">
            <a:avLst>
              <a:gd name="adj" fmla="val 121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41400" y="19050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Agent Runtime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41400" y="2184400"/>
            <a:ext cx="297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DSH 原生：任务规划、工具调用、Skill、子智能体、受控执行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94200" y="1752600"/>
            <a:ext cx="3378200" cy="1041400"/>
          </a:xfrm>
          <a:prstGeom prst="roundRect">
            <a:avLst>
              <a:gd name="adj" fmla="val 121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22800" y="19050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企业知识 / RAG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22800" y="2184400"/>
            <a:ext cx="297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内部+公开检索、多轮研究、保留引用、可分享个人知识库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975600" y="1752600"/>
            <a:ext cx="3378200" cy="1041400"/>
          </a:xfrm>
          <a:prstGeom prst="roundRect">
            <a:avLst>
              <a:gd name="adj" fmla="val 121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04200" y="19050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多模态理解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04200" y="2184400"/>
            <a:ext cx="297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PDF/DOCX/XLSX/PPTX/CSV/MD，含文档内图片与图表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" y="2946400"/>
            <a:ext cx="3378200" cy="1041400"/>
          </a:xfrm>
          <a:prstGeom prst="roundRect">
            <a:avLst>
              <a:gd name="adj" fmla="val 121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41400" y="30988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内容生成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41400" y="3378200"/>
            <a:ext cx="297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报告 / 文章 / PPTX / 表格 / PDF / MD 交付物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394200" y="2946400"/>
            <a:ext cx="3378200" cy="1041400"/>
          </a:xfrm>
          <a:prstGeom prst="roundRect">
            <a:avLst>
              <a:gd name="adj" fmla="val 121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22800" y="30988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集成（MCP）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622800" y="3378200"/>
            <a:ext cx="297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工作流型 Skill、HTTP / MCP 连接业务系统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975600" y="2946400"/>
            <a:ext cx="3378200" cy="1041400"/>
          </a:xfrm>
          <a:prstGeom prst="roundRect">
            <a:avLst>
              <a:gd name="adj" fmla="val 121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204200" y="30988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自动化与治理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204200" y="3378200"/>
            <a:ext cx="297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定时任务、敏感工具审批、执行追踪、产物留存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" y="4140200"/>
            <a:ext cx="3378200" cy="1041400"/>
          </a:xfrm>
          <a:prstGeom prst="roundRect">
            <a:avLst>
              <a:gd name="adj" fmla="val 121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41400" y="42926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管理后台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41400" y="4572000"/>
            <a:ext cx="297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组织/用户/角色/模型/知识/Skill/工具/审计、RBAC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394200" y="4140200"/>
            <a:ext cx="3378200" cy="1041400"/>
          </a:xfrm>
          <a:prstGeom prst="roundRect">
            <a:avLst>
              <a:gd name="adj" fmla="val 121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622800" y="42926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部署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622800" y="4572000"/>
            <a:ext cx="297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Compose 一键 12 服务、自托管、模型数据自主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7975600" y="4140200"/>
            <a:ext cx="3378200" cy="1041400"/>
          </a:xfrm>
          <a:prstGeom prst="roundRect">
            <a:avLst>
              <a:gd name="adj" fmla="val 1219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204200" y="42926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桌面扩展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204200" y="4572000"/>
            <a:ext cx="2971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MOVO Desktop 连接浏览器 / Code Agent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12800" y="6451600"/>
            <a:ext cx="381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MOVO · 企业级智能体平台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10617200" y="6451600"/>
            <a:ext cx="762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3 / 12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90600" y="558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02 · 现状 — 已领先边界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12800" y="838200"/>
            <a:ext cx="10566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五块能力已强于对标，作为"不重复造轮子"的边界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727200"/>
            <a:ext cx="10566400" cy="6096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1727200"/>
            <a:ext cx="2743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容器化自托管部署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962400" y="1727200"/>
            <a:ext cx="72136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Docker Compose 一键 12 服务 + CLI 启动器 + 备份/恢复，生产运维底座已就绪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" y="2463800"/>
            <a:ext cx="10566400" cy="6096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6800" y="2463800"/>
            <a:ext cx="2743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Docling 多格式解析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962400" y="2463800"/>
            <a:ext cx="72136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PDF/DOCX/XLSX/PPTX/CSV + LibreOffice 预览，文档理解强于对标方案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" y="3200400"/>
            <a:ext cx="10566400" cy="6096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66800" y="3200400"/>
            <a:ext cx="2743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内容与文件生成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962400" y="3200400"/>
            <a:ext cx="72136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报告/文章/PPTX/表格/PDF/翻译/表单——对标几乎空白，MOVO 差异化强项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" y="3937000"/>
            <a:ext cx="10566400" cy="6096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66800" y="3937000"/>
            <a:ext cx="2743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多形态 Agent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962400" y="3937000"/>
            <a:ext cx="72136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浏览器 Agent、代码 Agent、子智能体（桌面端），执行形态丰富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" y="4673600"/>
            <a:ext cx="10566400" cy="6096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66800" y="4673600"/>
            <a:ext cx="27432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SkillHub 生态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962400" y="4673600"/>
            <a:ext cx="72136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企业知识研究、引用证据、Skill 市场 + ZIP 安装，知识闭环与分发成型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800" y="5537200"/>
            <a:ext cx="10566400" cy="558800"/>
          </a:xfrm>
          <a:prstGeom prst="roundRect">
            <a:avLst>
              <a:gd name="adj" fmla="val 18181"/>
            </a:avLst>
          </a:prstGeom>
          <a:solidFill>
            <a:srgbClr val="F0F9F7">
              <a:alpha val="100000"/>
            </a:srgbClr>
          </a:solidFill>
          <a:ln w="12700" cmpd="sng" cap="flat">
            <a:solidFill>
              <a:srgbClr val="10B9A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66800" y="5537200"/>
            <a:ext cx="1524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结论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540000" y="5537200"/>
            <a:ext cx="863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这五块是后续补强的"不重复造轮子"边界，所有新增能力只做加法、不推倒重来。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" y="6451600"/>
            <a:ext cx="381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MOVO · 企业级智能体平台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617200" y="6451600"/>
            <a:ext cx="762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4 / 12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90600" y="558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03 · GAP — 六大缺口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12800" y="838200"/>
            <a:ext cx="10566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缺口分级：P0 合规刚需 → P1 可靠协作 → P2 生态自进化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701800"/>
            <a:ext cx="3378200" cy="609600"/>
          </a:xfrm>
          <a:prstGeom prst="roundRect">
            <a:avLst>
              <a:gd name="adj" fmla="val 16666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1701800"/>
            <a:ext cx="76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P0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778000" y="1701800"/>
            <a:ext cx="228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企业入场券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94200" y="1701800"/>
            <a:ext cx="3378200" cy="609600"/>
          </a:xfrm>
          <a:prstGeom prst="roundRect">
            <a:avLst>
              <a:gd name="adj" fmla="val 16666"/>
            </a:avLst>
          </a:prstGeom>
          <a:solidFill>
            <a:srgbClr val="6474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48200" y="1701800"/>
            <a:ext cx="76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P1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359400" y="1701800"/>
            <a:ext cx="228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可靠性与协作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975600" y="1701800"/>
            <a:ext cx="3378200" cy="609600"/>
          </a:xfrm>
          <a:prstGeom prst="roundRect">
            <a:avLst>
              <a:gd name="adj" fmla="val 16666"/>
            </a:avLst>
          </a:prstGeom>
          <a:solidFill>
            <a:srgbClr val="1E29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29600" y="1701800"/>
            <a:ext cx="762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940800" y="1701800"/>
            <a:ext cx="2286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自进化与生态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" y="2463800"/>
            <a:ext cx="3378200" cy="838200"/>
          </a:xfrm>
          <a:prstGeom prst="roundRect">
            <a:avLst>
              <a:gd name="adj" fmla="val 1212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41400" y="25908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治理与风控层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41400" y="2870200"/>
            <a:ext cx="297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六层门禁 · 风险分级 · RBAC 码 · 脱敏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" y="3429000"/>
            <a:ext cx="3378200" cy="838200"/>
          </a:xfrm>
          <a:prstGeom prst="roundRect">
            <a:avLst>
              <a:gd name="adj" fmla="val 1212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41400" y="35560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LLM 网关韧性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41400" y="3835400"/>
            <a:ext cx="297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故障转移 · 降级链 · 退避重试 · 计量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12800" y="4394200"/>
            <a:ext cx="3378200" cy="838200"/>
          </a:xfrm>
          <a:prstGeom prst="roundRect">
            <a:avLst>
              <a:gd name="adj" fmla="val 1212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41400" y="45212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运营驾驶舱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41400" y="4800600"/>
            <a:ext cx="297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成本 / 使用 / 质量 / 趋势 四维看板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394200" y="2463800"/>
            <a:ext cx="3378200" cy="838200"/>
          </a:xfrm>
          <a:prstGeom prst="roundRect">
            <a:avLst>
              <a:gd name="adj" fmla="val 1212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622800" y="25908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Hooks 拦截机制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622800" y="2870200"/>
            <a:ext cx="297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五事件钩子 · 声明式规则 · fail-closed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394200" y="3429000"/>
            <a:ext cx="3378200" cy="838200"/>
          </a:xfrm>
          <a:prstGeom prst="roundRect">
            <a:avLst>
              <a:gd name="adj" fmla="val 1212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622800" y="35560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DAG 通用编排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622800" y="3835400"/>
            <a:ext cx="297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四模式 · 拓扑排序 · 环检测 · 节点重试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394200" y="4394200"/>
            <a:ext cx="3378200" cy="838200"/>
          </a:xfrm>
          <a:prstGeom prst="roundRect">
            <a:avLst>
              <a:gd name="adj" fmla="val 1212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622800" y="45212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会话/工作流双版本化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4622800" y="4800600"/>
            <a:ext cx="297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commit / resume / share + GraphSpec 契约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7975600" y="2463800"/>
            <a:ext cx="3378200" cy="838200"/>
          </a:xfrm>
          <a:prstGeom prst="roundRect">
            <a:avLst>
              <a:gd name="adj" fmla="val 1212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204200" y="25908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Dream 自进化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204200" y="2870200"/>
            <a:ext cx="297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会话 → 经验 → Skill 闭环 · 自动淘汰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7975600" y="3429000"/>
            <a:ext cx="3378200" cy="838200"/>
          </a:xfrm>
          <a:prstGeom prst="roundRect">
            <a:avLst>
              <a:gd name="adj" fmla="val 1212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204200" y="35560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会话级与生态清单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204200" y="3835400"/>
            <a:ext cx="297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秘密不上链 · A2A · 多 IM · 知识图谱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7975600" y="4394200"/>
            <a:ext cx="3378200" cy="838200"/>
          </a:xfrm>
          <a:prstGeom prst="roundRect">
            <a:avLst>
              <a:gd name="adj" fmla="val 1212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204200" y="4521200"/>
            <a:ext cx="2971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Skill 市场强化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8204200" y="4800600"/>
            <a:ext cx="2971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三范围 Memory · 能力资产化 · 厚/薄 Harness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812800" y="5486400"/>
            <a:ext cx="10566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P0 是「企业入场券」：合规刚需、当前最大缺口、最高价值——落地时最先打（详见后页）。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812800" y="6451600"/>
            <a:ext cx="381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MOVO · 企业级智能体平台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10617200" y="6451600"/>
            <a:ext cx="762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5 / 12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90600" y="558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P0 — 治理与风控层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12800" y="838200"/>
            <a:ext cx="10566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六层串行门禁 + 风险矩阵 + 权限码 + 脱敏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651000"/>
            <a:ext cx="508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Gatekeeper 六层串行门禁（R4 红线不可覆盖）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" y="1981200"/>
            <a:ext cx="1473200" cy="558800"/>
          </a:xfrm>
          <a:prstGeom prst="roundRect">
            <a:avLst>
              <a:gd name="adj" fmla="val 18181"/>
            </a:avLst>
          </a:prstGeom>
          <a:solidFill>
            <a:srgbClr val="1E29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" y="1981200"/>
            <a:ext cx="1473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身份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286000" y="1981200"/>
            <a:ext cx="203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▸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489200" y="1981200"/>
            <a:ext cx="1473200" cy="558800"/>
          </a:xfrm>
          <a:prstGeom prst="roundRect">
            <a:avLst>
              <a:gd name="adj" fmla="val 1818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489200" y="1981200"/>
            <a:ext cx="1473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RBAC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962400" y="1981200"/>
            <a:ext cx="203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▸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165600" y="1981200"/>
            <a:ext cx="1473200" cy="558800"/>
          </a:xfrm>
          <a:prstGeom prst="roundRect">
            <a:avLst>
              <a:gd name="adj" fmla="val 1818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165600" y="1981200"/>
            <a:ext cx="1473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脱敏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638800" y="1981200"/>
            <a:ext cx="203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▸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842000" y="1981200"/>
            <a:ext cx="1473200" cy="558800"/>
          </a:xfrm>
          <a:prstGeom prst="roundRect">
            <a:avLst>
              <a:gd name="adj" fmla="val 18181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842000" y="1981200"/>
            <a:ext cx="1473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审批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315200" y="1981200"/>
            <a:ext cx="203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▸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518400" y="1981200"/>
            <a:ext cx="1473200" cy="558800"/>
          </a:xfrm>
          <a:prstGeom prst="roundRect">
            <a:avLst>
              <a:gd name="adj" fmla="val 18181"/>
            </a:avLst>
          </a:prstGeom>
          <a:solidFill>
            <a:srgbClr val="CCFBF1">
              <a:alpha val="100000"/>
            </a:srgbClr>
          </a:solidFill>
          <a:ln w="12700" cmpd="sng" cap="flat">
            <a:solidFill>
              <a:srgbClr val="10B9A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518400" y="1981200"/>
            <a:ext cx="1473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配额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991600" y="1981200"/>
            <a:ext cx="203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▸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194800" y="1981200"/>
            <a:ext cx="1473200" cy="558800"/>
          </a:xfrm>
          <a:prstGeom prst="roundRect">
            <a:avLst>
              <a:gd name="adj" fmla="val 18181"/>
            </a:avLst>
          </a:prstGeom>
          <a:solidFill>
            <a:srgbClr val="CCFBF1">
              <a:alpha val="100000"/>
            </a:srgbClr>
          </a:solidFill>
          <a:ln w="12700" cmpd="sng" cap="flat">
            <a:solidFill>
              <a:srgbClr val="10B9A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194800" y="1981200"/>
            <a:ext cx="1473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审计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" y="2844800"/>
            <a:ext cx="51562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66800" y="2997200"/>
            <a:ext cx="4648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R0–R4 风险分级 × L1–L5 自主矩阵（25 格）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66800" y="3302000"/>
            <a:ext cx="4648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把"敏感工具审批"升级为系统化分级放权：按风险等级决定自主级别。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324600" y="2844800"/>
            <a:ext cx="50546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578600" y="2997200"/>
            <a:ext cx="4546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RBAC 权限码 &lt;resource&gt;:&lt;action&gt;[:&lt;target&gt;]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578600" y="3302000"/>
            <a:ext cx="4546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三级隔离、fail-closed 默认拒绝，替代当前粗粒度的"岗位角色"。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12800" y="4216400"/>
            <a:ext cx="51562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1066800" y="4368800"/>
            <a:ext cx="4648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PII 脱敏层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1066800" y="4673600"/>
            <a:ext cx="4648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私钥 / 身份证 / 银行卡 / 手机号 × mask / remove / hash / abstract 策略。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324600" y="4216400"/>
            <a:ext cx="5054600" cy="1219200"/>
          </a:xfrm>
          <a:prstGeom prst="roundRect">
            <a:avLst>
              <a:gd name="adj" fmla="val 10416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578600" y="4368800"/>
            <a:ext cx="45466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会话保存/分享秘密过滤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578600" y="4673600"/>
            <a:ext cx="4546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发布时低熵秘密过滤、敏感内容换可逆占位符、clone 默认只读，与运行时拦截形成双保险。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12800" y="5613400"/>
            <a:ext cx="10566400" cy="508000"/>
          </a:xfrm>
          <a:prstGeom prst="roundRect">
            <a:avLst>
              <a:gd name="adj" fmla="val 2000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1066800" y="5613400"/>
            <a:ext cx="139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挂载点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2489200" y="5613400"/>
            <a:ext cx="876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复用 MOVO 已有审批/配额/审计作门禁链挂载点，预留四类门禁可插拔接入，不推倒现有实现。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12800" y="6451600"/>
            <a:ext cx="381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MOVO · 企业级智能体平台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10617200" y="6451600"/>
            <a:ext cx="762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6 / 12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90600" y="558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04 · P0 — 生产可靠与可观测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12800" y="838200"/>
            <a:ext cx="10566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网关韧性避免单点中断，驾驶舱让运营可观测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727200"/>
            <a:ext cx="5156200" cy="3759200"/>
          </a:xfrm>
          <a:prstGeom prst="roundRect">
            <a:avLst>
              <a:gd name="adj" fmla="val 337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" y="1727200"/>
            <a:ext cx="5156200" cy="508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92200" y="1930400"/>
            <a:ext cx="4597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LLM 网关韧性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92200" y="2235200"/>
            <a:ext cx="4597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主→备供应商故障转移，避免 LLM 单点中断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92200" y="2692400"/>
            <a:ext cx="279400" cy="279400"/>
          </a:xfrm>
          <a:prstGeom prst="ellipse">
            <a:avLst/>
          </a:prstGeom>
          <a:solidFill>
            <a:srgbClr val="CCFB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92200" y="2692400"/>
            <a:ext cx="279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524000" y="2667000"/>
            <a:ext cx="419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主→备故障转移 failover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524000" y="2921000"/>
            <a:ext cx="419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供应商自动切换，服务不中断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92200" y="3327400"/>
            <a:ext cx="279400" cy="279400"/>
          </a:xfrm>
          <a:prstGeom prst="ellipse">
            <a:avLst/>
          </a:prstGeom>
          <a:solidFill>
            <a:srgbClr val="CCFB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92200" y="3327400"/>
            <a:ext cx="279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524000" y="3302000"/>
            <a:ext cx="419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降级链 degradation_chain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524000" y="3556000"/>
            <a:ext cx="419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主模型失败逐级降档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92200" y="3962400"/>
            <a:ext cx="279400" cy="279400"/>
          </a:xfrm>
          <a:prstGeom prst="ellipse">
            <a:avLst/>
          </a:prstGeom>
          <a:solidFill>
            <a:srgbClr val="CCFB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92200" y="3962400"/>
            <a:ext cx="279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524000" y="3937000"/>
            <a:ext cx="419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指数退避重试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524000" y="4191000"/>
            <a:ext cx="419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瞬时故障自恢复，避免雪崩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092200" y="4597400"/>
            <a:ext cx="279400" cy="279400"/>
          </a:xfrm>
          <a:prstGeom prst="ellipse">
            <a:avLst/>
          </a:prstGeom>
          <a:solidFill>
            <a:srgbClr val="CCFB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92200" y="4597400"/>
            <a:ext cx="2794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1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524000" y="4572000"/>
            <a:ext cx="419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用量 / 成本计量上报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524000" y="4826000"/>
            <a:ext cx="4191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按模型与部门归集，支撑账单与配额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324600" y="1727200"/>
            <a:ext cx="5054600" cy="3759200"/>
          </a:xfrm>
          <a:prstGeom prst="roundRect">
            <a:avLst>
              <a:gd name="adj" fmla="val 337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324600" y="1727200"/>
            <a:ext cx="5054600" cy="508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604000" y="1930400"/>
            <a:ext cx="4495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总览数据统计驾驶舱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604000" y="2235200"/>
            <a:ext cx="44958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管理后台扩展"运营驾驶舱"，复用已有运行数据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604000" y="2667000"/>
            <a:ext cx="50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061200" y="26670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成本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061200" y="29210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Token 总量 · 模型占比 · 部门/智能体分摊 · 预测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604000" y="3327400"/>
            <a:ext cx="50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7061200" y="33274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7061200" y="35814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调用量 · 活跃用户 · Skill/检索频次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604000" y="3987800"/>
            <a:ext cx="50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7061200" y="39878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质量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7061200" y="42418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成功率 · 响应时长 · 异常率 · 人工介入率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6604000" y="4648200"/>
            <a:ext cx="50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7061200" y="4648200"/>
            <a:ext cx="4064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趋势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7061200" y="4902200"/>
            <a:ext cx="4064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环比同比 · 瓶颈识别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812800" y="5664200"/>
            <a:ext cx="10566400" cy="508000"/>
          </a:xfrm>
          <a:prstGeom prst="roundRect">
            <a:avLst>
              <a:gd name="adj" fmla="val 2000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1066800" y="5664200"/>
            <a:ext cx="139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影响可控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2489200" y="5664200"/>
            <a:ext cx="876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网关韧性改动集中在 llm/model_router.py 与 providers 模块；驾驶舱复用现有运行数据，直接作用于生产可用性。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812800" y="6451600"/>
            <a:ext cx="381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MOVO · 企业级智能体平台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10617200" y="6451600"/>
            <a:ext cx="762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7 / 12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90600" y="558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05 · P1 — 可靠执行与会话交接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12800" y="838200"/>
            <a:ext cx="10566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Hooks 拦截 · DAG 编排 · 会话/工作流双版本化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727200"/>
            <a:ext cx="3378200" cy="3759200"/>
          </a:xfrm>
          <a:prstGeom prst="roundRect">
            <a:avLst>
              <a:gd name="adj" fmla="val 375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" y="1727200"/>
            <a:ext cx="3378200" cy="508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1955800"/>
            <a:ext cx="2870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① Hooks 拦截机制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66800" y="2235200"/>
            <a:ext cx="2870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低成本高扩展的合规扩展点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6800" y="2692400"/>
            <a:ext cx="76200" cy="76200"/>
          </a:xfrm>
          <a:prstGeom prst="ellipse">
            <a:avLst/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44600" y="2590800"/>
            <a:ext cx="2743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五事件：SessionStart / PreToolUse / PostToolUse / SessionEnd / MemoryCommit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66800" y="3505200"/>
            <a:ext cx="76200" cy="76200"/>
          </a:xfrm>
          <a:prstGeom prst="ellipse">
            <a:avLst/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44600" y="3403600"/>
            <a:ext cx="2743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超时保护 · fail-closed · 声明式规则 deny_tool / require_field / observe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66800" y="4368800"/>
            <a:ext cx="76200" cy="76200"/>
          </a:xfrm>
          <a:prstGeom prst="ellipse">
            <a:avLst/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44600" y="4267200"/>
            <a:ext cx="2743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切入点：先 PreToolUse 单事件，快速获得合规拦截与字段校验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394200" y="1727200"/>
            <a:ext cx="3378200" cy="3759200"/>
          </a:xfrm>
          <a:prstGeom prst="roundRect">
            <a:avLst>
              <a:gd name="adj" fmla="val 375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394200" y="1727200"/>
            <a:ext cx="3378200" cy="50800"/>
          </a:xfrm>
          <a:prstGeom prst="roundRect">
            <a:avLst>
              <a:gd name="adj" fmla="val 0"/>
            </a:avLst>
          </a:prstGeom>
          <a:solidFill>
            <a:srgbClr val="6474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648200" y="1955800"/>
            <a:ext cx="2870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② DAG 通用编排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648200" y="2235200"/>
            <a:ext cx="2870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从"规划/研究"到通用编排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648200" y="2692400"/>
            <a:ext cx="76200" cy="76200"/>
          </a:xfrm>
          <a:prstGeom prst="ellipse">
            <a:avLst/>
          </a:prstGeom>
          <a:solidFill>
            <a:srgbClr val="6474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826000" y="2590800"/>
            <a:ext cx="2743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四模式：sequential / supervisor / hybrid / graph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48200" y="3454400"/>
            <a:ext cx="76200" cy="76200"/>
          </a:xfrm>
          <a:prstGeom prst="ellipse">
            <a:avLst/>
          </a:prstGeom>
          <a:solidFill>
            <a:srgbClr val="6474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826000" y="3352800"/>
            <a:ext cx="2743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DAG 拓扑排序 + 环检测，杜绝依赖回路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648200" y="4216400"/>
            <a:ext cx="76200" cy="76200"/>
          </a:xfrm>
          <a:prstGeom prst="ellipse">
            <a:avLst/>
          </a:prstGeom>
          <a:solidFill>
            <a:srgbClr val="6474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826000" y="4114800"/>
            <a:ext cx="2743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条件跳过（表达式求值）+ 节点级指数退避重试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975600" y="1727200"/>
            <a:ext cx="3378200" cy="3759200"/>
          </a:xfrm>
          <a:prstGeom prst="roundRect">
            <a:avLst>
              <a:gd name="adj" fmla="val 3759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975600" y="1727200"/>
            <a:ext cx="3378200" cy="508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229600" y="1955800"/>
            <a:ext cx="2870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③ 会话/工作流双版本化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229600" y="2235200"/>
            <a:ext cx="2870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解决"换个人从头来""工作即沉没"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8229600" y="2692400"/>
            <a:ext cx="76200" cy="76200"/>
          </a:xfrm>
          <a:prstGeom prst="ellipse">
            <a:avLst/>
          </a:prstGeom>
          <a:solidFill>
            <a:srgbClr val="1E29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407400" y="2590800"/>
            <a:ext cx="2743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会话级：commit 存进度 · log 回看 · resume 续写不分支 · share 交接上下文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229600" y="3530600"/>
            <a:ext cx="76200" cy="76200"/>
          </a:xfrm>
          <a:prstGeom prst="ellipse">
            <a:avLst/>
          </a:prstGeom>
          <a:solidFill>
            <a:srgbClr val="1E29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407400" y="3429000"/>
            <a:ext cx="27432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工作流级：GraphSpec 可执行契约，版本发布 / 灰度 / 回滚 / 轨迹回放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229600" y="4368800"/>
            <a:ext cx="76200" cy="76200"/>
          </a:xfrm>
          <a:prstGeom prst="ellipse">
            <a:avLst/>
          </a:prstGeom>
          <a:solidFill>
            <a:srgbClr val="1E29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407400" y="4267200"/>
            <a:ext cx="2743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二者互补：会话管上下文，工作流管流程定义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12800" y="5664200"/>
            <a:ext cx="10566400" cy="508000"/>
          </a:xfrm>
          <a:prstGeom prst="roundRect">
            <a:avLst>
              <a:gd name="adj" fmla="val 2000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1066800" y="5664200"/>
            <a:ext cx="152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会话级是横切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2692400" y="5664200"/>
            <a:ext cx="8559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会话级与脱敏（保存时）、Hooks（生命周期事件）、自进化（会话→经验→Skill）交叉，也与现有 Workspace/组织打通多人协同。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12800" y="6451600"/>
            <a:ext cx="381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MOVO · 企业级智能体平台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10617200" y="6451600"/>
            <a:ext cx="762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8 / 12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E29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90600" y="558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06 · P2 — 自进化与生态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12800" y="838200"/>
            <a:ext cx="10566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把"会话 → 经验 → Skill"串成主线，越用越聪明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676400"/>
            <a:ext cx="508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Dream Cycle 三层自进化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" y="2006600"/>
            <a:ext cx="5080000" cy="914400"/>
          </a:xfrm>
          <a:prstGeom prst="roundRect">
            <a:avLst>
              <a:gd name="adj" fmla="val 1388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66800" y="21590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A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473200" y="2159000"/>
            <a:ext cx="4216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经验沉淀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473200" y="2438400"/>
            <a:ext cx="4216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friction 触发，记录高价值实践（Agent 越用越聪明）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251200" y="2946400"/>
            <a:ext cx="203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⇣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" y="3200400"/>
            <a:ext cx="5080000" cy="914400"/>
          </a:xfrm>
          <a:prstGeom prst="roundRect">
            <a:avLst>
              <a:gd name="adj" fmla="val 1388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066800" y="33528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A9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473200" y="3352800"/>
            <a:ext cx="4216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自动发现 → 生成 Skill 草稿 + 自动建 MR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473200" y="3632200"/>
            <a:ext cx="4216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周期扫描重复模式，产出可复用 Skill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251200" y="4140200"/>
            <a:ext cx="203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⇣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" y="4394200"/>
            <a:ext cx="5080000" cy="914400"/>
          </a:xfrm>
          <a:prstGeom prst="roundRect">
            <a:avLst>
              <a:gd name="adj" fmla="val 13888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66800" y="4546600"/>
            <a:ext cx="38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A9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473200" y="4546600"/>
            <a:ext cx="42164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低采纳率自动淘汰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473200" y="4826000"/>
            <a:ext cx="42164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未验证的经验自动下线，保持生态质量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1676400"/>
            <a:ext cx="51562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会话级 + 生态清单（P2 其余项）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20066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00800" y="2006600"/>
            <a:ext cx="2184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A2A Agent 互通网关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890000" y="20066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067800" y="2006600"/>
            <a:ext cx="2184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多 IM 入口（飞书/钉钉/企微）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223000" y="27940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00800" y="2794000"/>
            <a:ext cx="2184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业务系统语义索引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890000" y="27940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067800" y="2794000"/>
            <a:ext cx="2184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知识图谱层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223000" y="35814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400800" y="3581400"/>
            <a:ext cx="2184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 市场强化（版本/监控）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890000" y="35814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9067800" y="3581400"/>
            <a:ext cx="2184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三范围 Memory（个人/组织）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223000" y="43688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400800" y="4368800"/>
            <a:ext cx="2184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能力资产化「发现→注册」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890000" y="4368800"/>
            <a:ext cx="2489200" cy="660400"/>
          </a:xfrm>
          <a:prstGeom prst="roundRect">
            <a:avLst>
              <a:gd name="adj" fmla="val 15384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067800" y="4368800"/>
            <a:ext cx="21844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厚 / 薄 Harness 弹性配置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12800" y="5613400"/>
            <a:ext cx="10566400" cy="533400"/>
          </a:xfrm>
          <a:prstGeom prst="roundRect">
            <a:avLst>
              <a:gd name="adj" fmla="val 19047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1066800" y="5613400"/>
            <a:ext cx="1397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5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目标形态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2489200" y="5613400"/>
            <a:ext cx="8763000" cy="533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组织级「数字组织」：一个人的会话成为团队与后续自动化的起点——工作量最大，故后置到阶段三。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812800" y="6451600"/>
            <a:ext cx="381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MOVO · 企业级智能体平台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10617200" y="6451600"/>
            <a:ext cx="762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9 / 12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90600" y="558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07 · 实施路线图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12800" y="838200"/>
            <a:ext cx="10566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三阶段推进：先合规底座，再可靠协作，最后自进化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727200"/>
            <a:ext cx="3378200" cy="711200"/>
          </a:xfrm>
          <a:prstGeom prst="roundRect">
            <a:avLst>
              <a:gd name="adj" fmla="val 14285"/>
            </a:avLst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1828800"/>
            <a:ext cx="50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P0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625600" y="1828800"/>
            <a:ext cx="241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生产底座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625600" y="2108200"/>
            <a:ext cx="2413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1–2 月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66800" y="2692400"/>
            <a:ext cx="76200" cy="76200"/>
          </a:xfrm>
          <a:prstGeom prst="ellipse">
            <a:avLst/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244600" y="2590800"/>
            <a:ext cx="2844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风控引擎：Gatekeeper · R0–R4 · RBAC 码 · PII 脱敏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66800" y="3352800"/>
            <a:ext cx="76200" cy="76200"/>
          </a:xfrm>
          <a:prstGeom prst="ellipse">
            <a:avLst/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244600" y="3251200"/>
            <a:ext cx="2844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LLM 网关韧性：failover · 降级链 · 退避重试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66800" y="3911600"/>
            <a:ext cx="76200" cy="76200"/>
          </a:xfrm>
          <a:prstGeom prst="ellipse">
            <a:avLst/>
          </a:prstGeom>
          <a:solidFill>
            <a:srgbClr val="0D948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244600" y="3810000"/>
            <a:ext cx="2844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运营驾驶舱：成本 / 使用 / 质量 / 趋势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66800" y="4470400"/>
            <a:ext cx="2870200" cy="838200"/>
          </a:xfrm>
          <a:prstGeom prst="roundRect">
            <a:avLst>
              <a:gd name="adj" fmla="val 12121"/>
            </a:avLst>
          </a:prstGeom>
          <a:solidFill>
            <a:srgbClr val="CCFBF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244600" y="4572000"/>
            <a:ext cx="711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5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交付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244600" y="4800600"/>
            <a:ext cx="25146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合规入场券 · 生产可用性 · 可观测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394200" y="1727200"/>
            <a:ext cx="3378200" cy="711200"/>
          </a:xfrm>
          <a:prstGeom prst="roundRect">
            <a:avLst>
              <a:gd name="adj" fmla="val 14285"/>
            </a:avLst>
          </a:prstGeom>
          <a:solidFill>
            <a:srgbClr val="6474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648200" y="1828800"/>
            <a:ext cx="50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P1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5207000" y="1828800"/>
            <a:ext cx="241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可靠性与协作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5207000" y="2108200"/>
            <a:ext cx="2413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3–6 月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48200" y="2692400"/>
            <a:ext cx="76200" cy="76200"/>
          </a:xfrm>
          <a:prstGeom prst="ellipse">
            <a:avLst/>
          </a:prstGeom>
          <a:solidFill>
            <a:srgbClr val="6474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826000" y="2590800"/>
            <a:ext cx="2844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Hooks 拦截：五事件 + 会话生命周期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648200" y="3352800"/>
            <a:ext cx="76200" cy="76200"/>
          </a:xfrm>
          <a:prstGeom prst="ellipse">
            <a:avLst/>
          </a:prstGeom>
          <a:solidFill>
            <a:srgbClr val="6474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826000" y="3251200"/>
            <a:ext cx="2844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DAG 编排：四模式 · 拓扑 · 环检测 · 条件跳过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4648200" y="4013200"/>
            <a:ext cx="76200" cy="76200"/>
          </a:xfrm>
          <a:prstGeom prst="ellipse">
            <a:avLst/>
          </a:prstGeom>
          <a:solidFill>
            <a:srgbClr val="64748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826000" y="3911600"/>
            <a:ext cx="2844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双版本化：版本 / 交接 / 多人协同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648200" y="4572000"/>
            <a:ext cx="2870200" cy="736600"/>
          </a:xfrm>
          <a:prstGeom prst="roundRect">
            <a:avLst>
              <a:gd name="adj" fmla="val 13793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826000" y="4673600"/>
            <a:ext cx="711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交付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826000" y="4902200"/>
            <a:ext cx="2514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多步骤可靠 · 合规扩展 · 工作可交接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7975600" y="1727200"/>
            <a:ext cx="3378200" cy="711200"/>
          </a:xfrm>
          <a:prstGeom prst="roundRect">
            <a:avLst>
              <a:gd name="adj" fmla="val 14285"/>
            </a:avLst>
          </a:prstGeom>
          <a:solidFill>
            <a:srgbClr val="1E29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8229600" y="1828800"/>
            <a:ext cx="50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P2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788400" y="1828800"/>
            <a:ext cx="241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自进化与生态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788400" y="2108200"/>
            <a:ext cx="2413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6–12 月+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229600" y="2692400"/>
            <a:ext cx="76200" cy="76200"/>
          </a:xfrm>
          <a:prstGeom prst="ellipse">
            <a:avLst/>
          </a:prstGeom>
          <a:solidFill>
            <a:srgbClr val="1E29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407400" y="2590800"/>
            <a:ext cx="2844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Dream 自进化 · 会话→经验→Skill 闭环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8229600" y="3352800"/>
            <a:ext cx="76200" cy="76200"/>
          </a:xfrm>
          <a:prstGeom prst="ellipse">
            <a:avLst/>
          </a:prstGeom>
          <a:solidFill>
            <a:srgbClr val="1E29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8407400" y="3251200"/>
            <a:ext cx="2844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A2A · 多 IM · 业务索引 · 知识图谱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8229600" y="4013200"/>
            <a:ext cx="76200" cy="76200"/>
          </a:xfrm>
          <a:prstGeom prst="ellipse">
            <a:avLst/>
          </a:prstGeom>
          <a:solidFill>
            <a:srgbClr val="1E293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8407400" y="3911600"/>
            <a:ext cx="28448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15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Skill 市场 · 三范围 Memory · 资产化 / Harness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8229600" y="4572000"/>
            <a:ext cx="2870200" cy="736600"/>
          </a:xfrm>
          <a:prstGeom prst="roundRect">
            <a:avLst>
              <a:gd name="adj" fmla="val 13793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8407400" y="4673600"/>
            <a:ext cx="7112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05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交付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8407400" y="4902200"/>
            <a:ext cx="25146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1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组织级「数字组织」· 越用越聪明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812800" y="5588000"/>
            <a:ext cx="105664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贯穿原则：复用 DSH Runtime / RBAC / MCP / 自托管与审批·配额·审计挂载点，不重复造底座；守住既有优势边界。</a:t>
            </a:r>
            <a:endParaRPr lang="en-US" sz="1100"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812800" y="6451600"/>
            <a:ext cx="381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MOVO · 企业级智能体平台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10617200" y="6451600"/>
            <a:ext cx="762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10 / 12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12800" y="533400"/>
            <a:ext cx="50800" cy="2794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990600" y="558800"/>
            <a:ext cx="63500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08 · 落地建议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812800" y="838200"/>
            <a:ext cx="105664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五条立即行动：先打 P0，小步快跑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131" flipH="false" flipV="false">
            <a:off x="812804" y="1441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/>
          <p:nvPr/>
        </p:nvSpPr>
        <p:spPr>
          <a:xfrm rot="0" flipH="false" flipV="false">
            <a:off x="812800" y="1701800"/>
            <a:ext cx="105664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1701800"/>
            <a:ext cx="431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A9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625600" y="1803400"/>
            <a:ext cx="3048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先打 P0 风控引擎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625600" y="2082800"/>
            <a:ext cx="9448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合规刚需、当前最大缺口；以已有审批/配额/审计为挂载点，风险最低、价值最高。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" y="2565400"/>
            <a:ext cx="105664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66800" y="2565400"/>
            <a:ext cx="431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A9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625600" y="2667000"/>
            <a:ext cx="330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网关韧性集中在 llm/ 模块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625600" y="2946400"/>
            <a:ext cx="9448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failover + 降级链 + 退避重试，改动集中、生产可用性直接受益。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" y="3429000"/>
            <a:ext cx="105664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66800" y="3429000"/>
            <a:ext cx="431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A9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625600" y="35306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Hooks 先单事件 PreToolUse 切入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625600" y="3810000"/>
            <a:ext cx="9448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低成本获得合规拦截/字段校验/工具禁用，再逐步补齐其余事件。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" y="4292600"/>
            <a:ext cx="105664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66800" y="4292600"/>
            <a:ext cx="431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A9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625600" y="43942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把"会话交接"做成标杆场景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625600" y="4673600"/>
            <a:ext cx="9448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知识问答 + 分级审批 + commit/share 交接 + 成本驾驶舱，一次打通 P0 与 P1。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2800" y="5156200"/>
            <a:ext cx="10566400" cy="762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066800" y="5156200"/>
            <a:ext cx="4318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A9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625600" y="5257800"/>
            <a:ext cx="3810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5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保留自托管与数据自主优势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625600" y="5537200"/>
            <a:ext cx="94488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5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坚持模型与数据自主管控，生产环境自行加固，不可裸用。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12800" y="6451600"/>
            <a:ext cx="3810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MOVO · 企业级智能体平台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617200" y="6451600"/>
            <a:ext cx="762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11 / 12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221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3580" flipH="false" flipV="false">
            <a:off x="3" y="17081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3" id="3"/>
          <p:cNvCxnSpPr/>
          <p:nvPr/>
        </p:nvCxnSpPr>
        <p:spPr>
          <a:xfrm rot="-3580" flipH="false" flipV="false">
            <a:off x="3" y="34226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4" id="4"/>
          <p:cNvCxnSpPr/>
          <p:nvPr/>
        </p:nvCxnSpPr>
        <p:spPr>
          <a:xfrm rot="-3580" flipH="false" flipV="false">
            <a:off x="3" y="5137150"/>
            <a:ext cx="1219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5393633" flipH="false" flipV="false">
            <a:off x="-381000" y="3422656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5393633" flipH="false" flipV="false">
            <a:off x="2667000" y="3422656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7" id="7"/>
          <p:cNvCxnSpPr/>
          <p:nvPr/>
        </p:nvCxnSpPr>
        <p:spPr>
          <a:xfrm rot="5393633" flipH="false" flipV="false">
            <a:off x="5715000" y="3422656"/>
            <a:ext cx="685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812800" y="736600"/>
            <a:ext cx="711200" cy="762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" y="9398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10B9A9"/>
                </a:solidFill>
                <a:latin typeface="Noto Sans SC"/>
                <a:ea typeface="Noto Sans SC"/>
                <a:cs typeface="Noto Sans SC"/>
                <a:sym typeface="Noto Sans SC"/>
              </a:rPr>
              <a:t>MOVO · 企业级智能体平台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2800" y="1854200"/>
            <a:ext cx="10566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4166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能力与治理一起补齐，从 Demo 走进生产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" y="3276600"/>
            <a:ext cx="105664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2E8F0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先打 P0 风控引擎 → 网关韧性集中在 llm/ 模块 → Hooks 先单事件低成本切入，小步快跑、风险最低。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" y="4140200"/>
            <a:ext cx="2844800" cy="558800"/>
          </a:xfrm>
          <a:prstGeom prst="roundRect">
            <a:avLst>
              <a:gd name="adj" fmla="val 50000"/>
            </a:avLst>
          </a:prstGeom>
          <a:solidFill>
            <a:srgbClr val="1E293B">
              <a:alpha val="100000"/>
            </a:srgbClr>
          </a:solidFill>
          <a:ln w="12700" cmpd="sng" cap="flat">
            <a:solidFill>
              <a:srgbClr val="FFFFFF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" y="4140200"/>
            <a:ext cx="28448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GitHub · himovo/movo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860800" y="4140200"/>
            <a:ext cx="2032000" cy="558800"/>
          </a:xfrm>
          <a:prstGeom prst="roundRect">
            <a:avLst>
              <a:gd name="adj" fmla="val 50000"/>
            </a:avLst>
          </a:prstGeom>
          <a:solidFill>
            <a:srgbClr val="1E293B">
              <a:alpha val="100000"/>
            </a:srgbClr>
          </a:solidFill>
          <a:ln w="12700" cmpd="sng" cap="flat">
            <a:solidFill>
              <a:srgbClr val="FFFFFF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860800" y="4140200"/>
            <a:ext cx="2032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可私有化部署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096000" y="4140200"/>
            <a:ext cx="2667000" cy="558800"/>
          </a:xfrm>
          <a:prstGeom prst="roundRect">
            <a:avLst>
              <a:gd name="adj" fmla="val 50000"/>
            </a:avLst>
          </a:prstGeom>
          <a:solidFill>
            <a:srgbClr val="1E293B">
              <a:alpha val="100000"/>
            </a:srgbClr>
          </a:solidFill>
          <a:ln w="12700" cmpd="sng" cap="flat">
            <a:solidFill>
              <a:srgbClr val="FFFFFF">
                <a:alpha val="14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096000" y="4140200"/>
            <a:ext cx="2667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support@himovo.com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2800" y="5181600"/>
            <a:ext cx="1524000" cy="38100"/>
          </a:xfrm>
          <a:prstGeom prst="roundRect">
            <a:avLst>
              <a:gd name="adj" fmla="val 0"/>
            </a:avLst>
          </a:prstGeom>
          <a:solidFill>
            <a:srgbClr val="10B9A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" y="5384800"/>
            <a:ext cx="105664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>
                    <a:alpha val="92157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DSH 管 Agent 怎么跑，MOVO 管 Agent 怎么进企业。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652000" y="6248400"/>
            <a:ext cx="17272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4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12 / 12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
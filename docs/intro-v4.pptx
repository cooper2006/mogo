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firstSlideNum="1">
  <p:sldMasterIdLst>
    <p:sldMasterId id="2147483659" r:id="rId4"/>
    <p:sldMasterId id="2147483660" r:id="rId8"/>
    <p:sldMasterId id="2147483661" r:id="rId9"/>
  </p:sldMasterIdLst>
  <p:notesMasterIdLst>
    <p:notesMasterId r:id="rId6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theme" Target="theme/theme2.xml"/><Relationship Id="rId8" Type="http://schemas.openxmlformats.org/officeDocument/2006/relationships/slideMaster" Target="slideMasters/slideMaster2.xml"/><Relationship Id="rId9" Type="http://schemas.openxmlformats.org/officeDocument/2006/relationships/slideMaster" Target="slideMasters/slideMaster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notesSlide" Target="notesSlides/notesSlide1.xml"/><Relationship Id="rId27" Type="http://schemas.openxmlformats.org/officeDocument/2006/relationships/notesSlide" Target="notesSlides/notesSlide2.xml"/><Relationship Id="rId28" Type="http://schemas.openxmlformats.org/officeDocument/2006/relationships/notesSlide" Target="notesSlides/notesSlide3.xml"/><Relationship Id="rId29" Type="http://schemas.openxmlformats.org/officeDocument/2006/relationships/notesSlide" Target="notesSlides/notesSlide4.xml"/><Relationship Id="rId30" Type="http://schemas.openxmlformats.org/officeDocument/2006/relationships/notesSlide" Target="notesSlides/notesSlide5.xml"/><Relationship Id="rId31" Type="http://schemas.openxmlformats.org/officeDocument/2006/relationships/notesSlide" Target="notesSlides/notesSlide6.xml"/><Relationship Id="rId32" Type="http://schemas.openxmlformats.org/officeDocument/2006/relationships/notesSlide" Target="notesSlides/notesSlide7.xml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notesSlide" Target="notesSlides/notesSlide13.xml"/><Relationship Id="rId39" Type="http://schemas.openxmlformats.org/officeDocument/2006/relationships/notesSlide" Target="notesSlides/notesSlide14.xml"/><Relationship Id="rId40" Type="http://schemas.openxmlformats.org/officeDocument/2006/relationships/notesSlide" Target="notesSlides/notesSlide15.xml"/><Relationship Id="rId41" Type="http://schemas.openxmlformats.org/officeDocument/2006/relationships/notesSlide" Target="notesSlides/notes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MOGONG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、多模态理解到部署桌面都已成型。这是后续补强的坚实基线。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后两件是生产底座：网关韧性解决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LLM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单点，驾驶舱让成本、使用、质量、趋势四维可观测。两者改动集中、复用现有模块，收益直接。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三件套：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Hooks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先单事件低成本切入，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通用化现有编排，会话与工作流双版本化让工作可交接、可回放。会话级是贯穿多条补强的横切维度。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P2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Dream Cycle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Skill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6" type="body" sz="quarter" hasCustomPrompt="true"/>
          </p:nvPr>
        </p:nvSpPr>
        <p:spPr>
          <a:xfrm rot="0" flipH="false" flipV="false"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7" type="body" sz="quarter" hasCustomPrompt="true"/>
          </p:nvPr>
        </p:nvSpPr>
        <p:spPr>
          <a:xfrm rot="0" flipH="false" flipV="false"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18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457200" indent="-36195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</a:p>
        </p:txBody>
      </p:sp>
      <p:sp>
        <p:nvSpPr>
          <p:cNvPr name="AutoShape 4" id="4"/>
          <p:cNvSpPr/>
          <p:nvPr>
            <p:ph idx="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F15BA87E-0511-403F-8208-00DFF90F47E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B85030D2-7057-4DDF-ADB6-784244A9F46D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6" type="body" sz="quarter" hasCustomPrompt="true"/>
          </p:nvPr>
        </p:nvSpPr>
        <p:spPr>
          <a:xfrm rot="0" flipH="false" flipV="false"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7" type="body" sz="quarter" hasCustomPrompt="true"/>
          </p:nvPr>
        </p:nvSpPr>
        <p:spPr>
          <a:xfrm rot="0" flipH="false" flipV="false"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2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2BC57320-2551-4BE9-A720-62A40845B097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2" type="body" sz="quarter" hasCustomPrompt="true"/>
          </p:nvPr>
        </p:nvSpPr>
        <p:spPr>
          <a:xfrm rot="0" flipH="false" flipV="false"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3" type="body" sz="quarter" hasCustomPrompt="true"/>
          </p:nvPr>
        </p:nvSpPr>
        <p:spPr>
          <a:xfrm rot="0" flipH="false" flipV="false"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24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25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26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DC39A48B-50F7-4D84-82CD-39943793969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7" type="body" sz="quarter" hasCustomPrompt="true"/>
          </p:nvPr>
        </p:nvSpPr>
        <p:spPr>
          <a:xfrm rot="0" flipH="false" flipV="false"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8" type="body" sz="quarter" hasCustomPrompt="true"/>
          </p:nvPr>
        </p:nvSpPr>
        <p:spPr>
          <a:xfrm rot="0" flipH="false" flipV="false"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9" type="body" sz="quarter" hasCustomPrompt="true"/>
          </p:nvPr>
        </p:nvSpPr>
        <p:spPr>
          <a:xfrm rot="0" flipH="false" flipV="false"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30" type="body" sz="quarter" hasCustomPrompt="true"/>
          </p:nvPr>
        </p:nvSpPr>
        <p:spPr>
          <a:xfrm rot="0" flipH="false" flipV="false"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6" id="6"/>
          <p:cNvSpPr/>
          <p:nvPr>
            <p:ph idx="31" type="body" sz="quarter" hasCustomPrompt="true"/>
          </p:nvPr>
        </p:nvSpPr>
        <p:spPr>
          <a:xfrm rot="0" flipH="false" flipV="false"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7" id="7"/>
          <p:cNvSpPr/>
          <p:nvPr>
            <p:ph idx="32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8" id="8"/>
          <p:cNvSpPr/>
          <p:nvPr>
            <p:ph idx="33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9" id="9"/>
          <p:cNvSpPr/>
          <p:nvPr>
            <p:ph idx="34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9FA9FBFF-0D92-41E1-B35A-E21CA4CFE281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5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3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3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5" id="5"/>
          <p:cNvSpPr/>
          <p:nvPr>
            <p:ph idx="3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5338049-1806-452C-A362-26701BAB893B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9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3" id="3"/>
          <p:cNvSpPr/>
          <p:nvPr>
            <p:ph idx="40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4" id="4"/>
          <p:cNvSpPr/>
          <p:nvPr>
            <p:ph idx="41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8D52007-29D0-447E-9725-1CE814C3117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2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3" type="body" sz="quarter" hasCustomPrompt="true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810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44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45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46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47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02DCA6F-A194-4080-9006-BB4DBB3F9D28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8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9" type="pic" sz="quarter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lIns="63500" rIns="63500" tIns="63500" bIns="63500"/>
          <a:lstStyle>
            <a:lvl1pPr algn="ctr">
              <a:defRPr sz="16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name="AutoShape 4" id="4"/>
          <p:cNvSpPr/>
          <p:nvPr>
            <p:ph idx="50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5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5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5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82A30D4-F5E0-497D-B220-A50D264F9C0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4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55" type="body" sz="quarter" hasCustomPrompt="true"/>
          </p:nvPr>
        </p:nvSpPr>
        <p:spPr>
          <a:xfrm rot="5400000" flipH="false" flipV="false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5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5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388FBF1B-F6B4-419F-BC46-C3FC20252815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9" type="body" sz="quarter" hasCustomPrompt="true"/>
          </p:nvPr>
        </p:nvSpPr>
        <p:spPr>
          <a:xfrm rot="5400000" flipH="false" flipV="false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60" type="body" sz="quarter" hasCustomPrompt="true"/>
          </p:nvPr>
        </p:nvSpPr>
        <p:spPr>
          <a:xfrm rot="5400000" flipH="false" flipV="false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6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6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6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E2328B29-69DA-442B-B55E-BF232F43205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Office 主题​​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1" id="1"/>
          <p:cNvSpPr/>
          <p:nvPr>
            <p:ph idx="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2" id="2"/>
          <p:cNvSpPr/>
          <p:nvPr>
            <p:ph idx="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3" id="3"/>
          <p:cNvSpPr/>
          <p:nvPr>
            <p:ph idx="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B99EBBD-B61C-45CA-BD84-CCB153DD23F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489200"/>
            <a:ext cx="10566400" cy="685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512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 · 至 021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管运行，墨攻管进企业——15 项补强已按 SDD 落地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2032000"/>
            <a:ext cx="3251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438400"/>
            <a:ext cx="3251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7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3860800"/>
            <a:ext cx="32512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029200" y="1778000"/>
            <a:ext cx="635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5257800" y="22606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867400" y="22606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257800" y="30480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67400" y="30480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257800" y="38354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867400" y="38354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5257800" y="46228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5867400" y="46228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'2 / 16'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414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414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228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6228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042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2042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228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228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042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042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414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414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042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042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'3 / 16'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272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962400" y="17272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4638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962400" y="24638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2004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3962400" y="32004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66800" y="39370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962400" y="39370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6736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3962400" y="46736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66800" y="5537200"/>
            <a:ext cx="1524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2540000" y="5537200"/>
            <a:ext cx="863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'4 / 16'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 · GAP — 六大缺口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缺口分级：P0 合规刚需 → P1 可靠协作 → P2 生态自进化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7780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482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3594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296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9408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414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0414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414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414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228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6228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46228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46228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042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042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042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2042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2042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2042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486400"/>
            <a:ext cx="10566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最新进展：15 项 + 020/021 已按 SDD 落地，库代码 + 单测全绿，接线与 UI 触点闭合；specs/ 21 个特性（17 份 tasks.md / 354 项）已归档。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'5 / 16'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510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812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22860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4892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39624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1656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6388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420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3152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5184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9916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9194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6800" y="29972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66800" y="33020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578600" y="29972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578600" y="33020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1066800" y="43688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66800" y="46736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578600" y="43688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578600" y="46736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134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489200" y="56134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'6 / 16'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1930400"/>
            <a:ext cx="4597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2235200"/>
            <a:ext cx="4597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269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24000" y="266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524000" y="292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92200" y="332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524000" y="330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524000" y="355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92200" y="396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524000" y="393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524000" y="419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92200" y="459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524000" y="457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524000" y="482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604000" y="1930400"/>
            <a:ext cx="4495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2235200"/>
            <a:ext cx="4495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604000" y="26670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061200" y="26670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7061200" y="29210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604000" y="33274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7061200" y="33274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7061200" y="35814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6604000" y="39878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7061200" y="39878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7061200" y="42418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6604000" y="46482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7061200" y="46482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7061200" y="49022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1066800" y="56642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2489200" y="56642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'7 / 16'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446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244600" y="34036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44600" y="42672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6482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826000" y="2590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826000" y="3352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826000" y="4114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2296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2296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4074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407400" y="34290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407400" y="42672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64200"/>
            <a:ext cx="152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692400" y="5664200"/>
            <a:ext cx="8559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'8 / 16'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764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21590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73200" y="21590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473200" y="24384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251200" y="29464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3528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473200" y="33528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73200" y="36322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3251200" y="41402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66800" y="45466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473200" y="45466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473200" y="48260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23000" y="1676400"/>
            <a:ext cx="5156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400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9067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400800" y="27432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9067800" y="27432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400800" y="3479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9067800" y="3479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8890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400800" y="4216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6400800" y="4953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1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9067800" y="4953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1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021 统一上下文地址（清单外新增）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9067800" y="4216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66800" y="5613400"/>
            <a:ext cx="1397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2489200" y="5613400"/>
            <a:ext cx="8763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'9 / 16'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项 + 020/021 已按 SDD 落地，库代码 + 单测全绿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446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244600" y="32512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44600" y="38100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244600" y="45720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244600" y="4800600"/>
            <a:ext cx="25146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2070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8260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8260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8260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260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8260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296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7884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4074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4074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4074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4074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4074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5880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'10 / 16'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项 + 020/021 已按 SDD 落地，库代码 + 单测全绿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03400"/>
            <a:ext cx="304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17 项全绿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625600" y="20828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P0/P1/P2 共 15 项 + 清单外 020/021，已按 SDD 落地为库代码 + 单测，全部通过（chat-api 2229 / admin-api 433，2026-10 基线）。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25654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625600" y="2667000"/>
            <a:ext cx="330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625600" y="29464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34290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625600" y="35306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625600" y="38100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2926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625600" y="4394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625600" y="46736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66800" y="51562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625600" y="5257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625600" y="55372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'11 / 16'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标杆场景验证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9766" flipH="false" flipV="false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1176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1176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2667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2667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2164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2164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1176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6040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6040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9766" flipH="false" flipV="false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/>
          <p:nvPr/>
        </p:nvSpPr>
        <p:spPr>
          <a:xfrm rot="0" flipH="false" flipV="false">
            <a:off x="6604000" y="3556000"/>
            <a:ext cx="1651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604000" y="4089400"/>
            <a:ext cx="1651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382000" y="3556000"/>
            <a:ext cx="127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82000" y="4089400"/>
            <a:ext cx="127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9779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9779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12 / 16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标杆场景一 · 单智能体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19812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260600"/>
            <a:ext cx="2997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4566" flipH="false" flipV="false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92200" y="35814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38608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92200" y="41910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92200" y="45212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4978400"/>
            <a:ext cx="29972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724400" y="1778000"/>
            <a:ext cx="665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768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3340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3340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804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7376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768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53340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53340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804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7376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7376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48768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53340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53340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2804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87376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7376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7" id="47"/>
          <p:cNvSpPr/>
          <p:nvPr/>
        </p:nvSpPr>
        <p:spPr>
          <a:xfrm rot="0" flipH="false" flipV="false"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8" id="48"/>
          <p:cNvSpPr/>
          <p:nvPr/>
        </p:nvSpPr>
        <p:spPr>
          <a:xfrm rot="0" flipH="false" flipV="false">
            <a:off x="48768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 rot="0" flipH="false" flipV="false">
            <a:off x="53340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 rot="0" flipH="false" flipV="false">
            <a:off x="53340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name="AutoShape 51" id="51"/>
          <p:cNvSpPr/>
          <p:nvPr/>
        </p:nvSpPr>
        <p:spPr>
          <a:xfrm rot="0" flipH="false" flipV="false"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2" id="52"/>
          <p:cNvSpPr/>
          <p:nvPr/>
        </p:nvSpPr>
        <p:spPr>
          <a:xfrm rot="0" flipH="false" flipV="false"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3" id="53"/>
          <p:cNvSpPr/>
          <p:nvPr/>
        </p:nvSpPr>
        <p:spPr>
          <a:xfrm rot="0" flipH="false" flipV="false">
            <a:off x="82804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name="AutoShape 54" id="54"/>
          <p:cNvSpPr/>
          <p:nvPr/>
        </p:nvSpPr>
        <p:spPr>
          <a:xfrm rot="0" flipH="false" flipV="false">
            <a:off x="87376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name="AutoShape 55" id="55"/>
          <p:cNvSpPr/>
          <p:nvPr/>
        </p:nvSpPr>
        <p:spPr>
          <a:xfrm rot="0" flipH="false" flipV="false">
            <a:off x="87376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16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标杆场景二 · 多智能体 DAG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4318000" y="1651000"/>
            <a:ext cx="355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5267844" flipH="false" flipV="false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9" id="9"/>
          <p:cNvCxnSpPr/>
          <p:nvPr/>
        </p:nvCxnSpPr>
        <p:spPr>
          <a:xfrm rot="-5617" flipH="false" flipV="false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0" id="10"/>
          <p:cNvCxnSpPr/>
          <p:nvPr/>
        </p:nvCxnSpPr>
        <p:spPr>
          <a:xfrm rot="5267844" flipH="false" flipV="false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1" id="11"/>
          <p:cNvCxnSpPr/>
          <p:nvPr/>
        </p:nvCxnSpPr>
        <p:spPr>
          <a:xfrm rot="5267844" flipH="false" flipV="false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2" id="12"/>
          <p:cNvCxnSpPr/>
          <p:nvPr/>
        </p:nvCxnSpPr>
        <p:spPr>
          <a:xfrm rot="5267844" flipH="false" flipV="false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3" id="13"/>
          <p:cNvCxnSpPr/>
          <p:nvPr/>
        </p:nvCxnSpPr>
        <p:spPr>
          <a:xfrm rot="5267844" flipH="false" flipV="false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652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9652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35560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35560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1468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146800" y="3302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146800" y="3556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7376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name="Connector 27" id="27"/>
          <p:cNvCxnSpPr/>
          <p:nvPr/>
        </p:nvCxnSpPr>
        <p:spPr>
          <a:xfrm rot="5267844" flipH="false" flipV="false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8" id="28"/>
          <p:cNvCxnSpPr/>
          <p:nvPr/>
        </p:nvCxnSpPr>
        <p:spPr>
          <a:xfrm rot="5267844" flipH="false" flipV="false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9" id="29"/>
          <p:cNvCxnSpPr/>
          <p:nvPr/>
        </p:nvCxnSpPr>
        <p:spPr>
          <a:xfrm rot="5267844" flipH="false" flipV="false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0" id="30"/>
          <p:cNvCxnSpPr/>
          <p:nvPr/>
        </p:nvCxnSpPr>
        <p:spPr>
          <a:xfrm rot="5267844" flipH="false" flipV="false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1" id="31"/>
          <p:cNvCxnSpPr/>
          <p:nvPr/>
        </p:nvCxnSpPr>
        <p:spPr>
          <a:xfrm rot="-5617" flipH="false" flipV="false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2" id="32"/>
          <p:cNvCxnSpPr/>
          <p:nvPr/>
        </p:nvCxnSpPr>
        <p:spPr>
          <a:xfrm rot="5256843" flipH="false" flipV="false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3" id="33"/>
          <p:cNvSpPr/>
          <p:nvPr/>
        </p:nvSpPr>
        <p:spPr>
          <a:xfrm rot="0" flipH="false" flipV="false"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4191000" y="4470400"/>
            <a:ext cx="3810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128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4450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077200" y="5283200"/>
            <a:ext cx="330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16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· 生产部署扩展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 runtime-host 水平扩展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117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117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673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673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673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673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229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229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29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29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5283200"/>
            <a:ext cx="5207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99200" y="5283200"/>
            <a:ext cx="508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16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1854200"/>
            <a:ext cx="105664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 + 单测全绿，生产接线与 UI 触点全部闭合（15 项 + 020/021 的 SDD 全流程），从能力走进生产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76600"/>
            <a:ext cx="10566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E2E8F0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下一步：以 020 与 021 收尾的 SDD 全流程已就绪，可进入 PR 评审与版本发布——库能力、生产接线与治理资产齐备。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16 / 16</a:t>
            </a:r>
            <a:endParaRPr lang="en-US" sz="1100"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
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firstSlideNum="1">
  <p:sldMasterIdLst>
    <p:sldMasterId id="2147483659" r:id="rId4"/>
    <p:sldMasterId id="2147483660" r:id="rId8"/>
    <p:sldMasterId id="2147483661" r:id="rId9"/>
  </p:sldMasterIdLst>
  <p:notesMasterIdLst>
    <p:notesMasterId r:id="rId6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theme" Target="theme/theme2.xml"/><Relationship Id="rId8" Type="http://schemas.openxmlformats.org/officeDocument/2006/relationships/slideMaster" Target="slideMasters/slideMaster2.xml"/><Relationship Id="rId9" Type="http://schemas.openxmlformats.org/officeDocument/2006/relationships/slideMaster" Target="slideMasters/slideMaster3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notesSlide" Target="notesSlides/notesSlide1.xml"/><Relationship Id="rId27" Type="http://schemas.openxmlformats.org/officeDocument/2006/relationships/notesSlide" Target="notesSlides/notesSlide2.xml"/><Relationship Id="rId28" Type="http://schemas.openxmlformats.org/officeDocument/2006/relationships/notesSlide" Target="notesSlides/notesSlide3.xml"/><Relationship Id="rId29" Type="http://schemas.openxmlformats.org/officeDocument/2006/relationships/notesSlide" Target="notesSlides/notesSlide4.xml"/><Relationship Id="rId30" Type="http://schemas.openxmlformats.org/officeDocument/2006/relationships/notesSlide" Target="notesSlides/notesSlide5.xml"/><Relationship Id="rId31" Type="http://schemas.openxmlformats.org/officeDocument/2006/relationships/notesSlide" Target="notesSlides/notesSlide6.xml"/><Relationship Id="rId32" Type="http://schemas.openxmlformats.org/officeDocument/2006/relationships/notesSlide" Target="notesSlides/notesSlide7.xml"/><Relationship Id="rId33" Type="http://schemas.openxmlformats.org/officeDocument/2006/relationships/notesSlide" Target="notesSlides/notesSlide8.xml"/><Relationship Id="rId34" Type="http://schemas.openxmlformats.org/officeDocument/2006/relationships/notesSlide" Target="notesSlides/notesSlide9.xml"/><Relationship Id="rId35" Type="http://schemas.openxmlformats.org/officeDocument/2006/relationships/notesSlide" Target="notesSlides/notesSlide10.xml"/><Relationship Id="rId36" Type="http://schemas.openxmlformats.org/officeDocument/2006/relationships/notesSlide" Target="notesSlides/notesSlide11.xml"/><Relationship Id="rId37" Type="http://schemas.openxmlformats.org/officeDocument/2006/relationships/notesSlide" Target="notesSlides/notesSlide12.xml"/><Relationship Id="rId38" Type="http://schemas.openxmlformats.org/officeDocument/2006/relationships/notesSlide" Target="notesSlides/notesSlide13.xml"/><Relationship Id="rId39" Type="http://schemas.openxmlformats.org/officeDocument/2006/relationships/notesSlide" Target="notesSlides/notesSlide14.xml"/><Relationship Id="rId40" Type="http://schemas.openxmlformats.org/officeDocument/2006/relationships/notesSlide" Target="notesSlides/notesSlide15.xml"/><Relationship Id="rId41" Type="http://schemas.openxmlformats.org/officeDocument/2006/relationships/notesSlide" Target="notesSlides/notes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开场。本规划依据知识库 7 篇核心文章、与 EntAgent 开源方案的代码级对比，以及 AgentGit 会话级实践。主线是 DSH 管运行、MOGONG 管进企业，聚焦企业级补强的缺口与三阶段路线。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一句话：MOGONG 是 DSH 执行底座加企业层。本材料按已有基线、六大缺口、分级补强、三阶段落地四步展开。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MOGONG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已有九大能力域，从执行底座、知识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RAG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、多模态理解到部署桌面都已成型。这是后续补强的坚实基线。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与对标方案反向确认，这五块 MOGONG 已经领先，不应重复投入。它们同时也是后续补强的挂载点与安全边界。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六大缺口按优先级分三档。P0 三件是企业入场券，P1 三件解决可靠协作与会话交接，P2 是规模化生态，工作量最大可后置。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治理风控是 MOGONG 当前最大缺口。Gatekeeper 六层门禁串行放行，配合风险矩阵和细粒度权限码，PII 脱敏同时覆盖运行时和保存分享两个场景。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P0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后两件是生产底座：网关韧性解决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LLM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单点，驾驶舱让成本、使用、质量、趋势四维可观测。两者改动集中、复用现有模块，收益直接。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P1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三件套：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Hooks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先单事件低成本切入，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DAG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通用化现有编排，会话与工作流双版本化让工作可交接、可回放。会话级是贯穿多条补强的横切维度。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P2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是规模化生态。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Dream Cycle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把会话沉淀成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Skill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让平台越用越聪明；右侧清单是其余高阶能力，工作量最大可后置。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三阶段：1-2 月先把生产底座做扎实，3-6 月做可靠协作与会话交接，6-12 月以上做规模化生态。全程复用现有底座，不推倒重来。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落地从 P0 风控开始，网关韧性改动小收益大，Hooks 先单事件验证，用一个标杆场景同时打通 P0 与 P1，始终守住自托管与数据自主。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这一页用两个真实业务场景收口前面的能力规划。左边是单智能体场景：客户反馈分诊，任务是顺序依赖的，一批上下文共享，所以不需要多智能体，单 Skill 单会话就能覆盖，把人工每天四到六小时压到三分钟以内。右边是多智能体场景：竞品调研，四个维度数据源互不依赖，可以并行，用 DAG graph 编排，人工两到三周压到十五分钟。两个场景分别验证 P0 治理能力和 P1 编排能力。底部一句话点选型原则：顺序依赖用单 Agent，静态并行用 graph，运行时动态依赖才用 hybrid。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案例一是单智能体的标杆。左边讲痛点和产出：每天两三百到五百条反馈，人工要四到六小时，一次交互直接出分诊报告、跟进清单，P0 达到三条以上自动触发 R1 审批。右边是八个顺序步骤：读取、规范化、严重度分级、归类、PII 脱敏、排序、写报告、最后一步按 P0 数量决定是否触发审批。最后一步用 teal 描边突出，因为它是条件分支——P0 不够三条就跳过。底部点题：这个场景为什么不用多智能体，因为所有步骤共享同一批上下文，并行拆出去反而要重建上下文，得不偿失。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案例二是多智能体 DAG 的标杆。顶部 supervisor 协调节点，往下扇出四个可并行的分析子 Agent：市场情报、产品分析、财务分析、舆情监测。财务节点特意画成虚线框并标注"私有公司则跳过"，对应条件跳过能力——竞品是私有或子公司没有独立财报时自动跳过。四个节点全部完成后汇聚到报告合成节点，产出带证据追溯的深度报告。底部三列讲工程容错：节点失败指数退避重试、合成节点看完成数决定正常出报告还是降级、以及为什么这里用 graph 而不是 sequential 或 hybrid。整份报告人工两到三周，压到十五分钟以内。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这页讲生产部署的扩展路线，分三层。层 A 是本轮真正交付的：多个 dsh-runtime-host 实例，前面加一个 sticky 负载均衡，按 kernel_session_id 做一致性哈希，保证同一会话总落到同一台 host；chat-api 自己还是单实例，所以改动面很小、风险低。层 B 是后续——等业务真的需要多 chat-api 实例时，再把进程内的 session、runtime 和凭据锁外置到 Redis，这一层目前 Mongo 的乐观锁已经准备好了。层 C 更靠后，涉及桌面端浏览器 Agent 的 WebSocket 跨实例路由，因为客户端是闭源的，重连能力还要先向维护方调研。底部讲两条底线：一是绝不允许同一会话被两个实例同时处理，二是本轮不引入 Celery。验收标准是压测、滚动升级和实例切换续聊。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收尾：能力与治理一起补齐，MOGONG 就能从 Demo 走进生产。欢迎通过 GitHub 或邮箱联系，支持私有化部署。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6" type="body" sz="quarter" hasCustomPrompt="true"/>
          </p:nvPr>
        </p:nvSpPr>
        <p:spPr>
          <a:xfrm rot="0" flipH="false" flipV="false">
            <a:off x="1143000" y="841772"/>
            <a:ext cx="6858000" cy="1790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ctr">
              <a:lnSpc>
                <a:spcPct val="91666"/>
              </a:lnSpc>
              <a:defRPr sz="45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91666"/>
              </a:lnSpc>
            </a:pPr>
            <a:r>
              <a:rPr lang="en-US" b="false" i="false" strike="noStrike" u="none" sz="4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7" type="body" sz="quarter" hasCustomPrompt="true"/>
          </p:nvPr>
        </p:nvSpPr>
        <p:spPr>
          <a:xfrm rot="0" flipH="false" flipV="false">
            <a:off x="1143000" y="2701528"/>
            <a:ext cx="6858000" cy="12418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ctr">
              <a:lnSpc>
                <a:spcPct val="91666"/>
              </a:lnSpc>
              <a:defRPr sz="18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457200" indent="-36195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subtitle</a:t>
            </a:r>
          </a:p>
        </p:txBody>
      </p:sp>
      <p:sp>
        <p:nvSpPr>
          <p:cNvPr name="AutoShape 4" id="4"/>
          <p:cNvSpPr/>
          <p:nvPr>
            <p:ph idx="8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9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10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F15BA87E-0511-403F-8208-00DFF90F47E3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1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12" type="body" sz="quarter" hasCustomPrompt="true"/>
          </p:nvPr>
        </p:nvSpPr>
        <p:spPr>
          <a:xfrm rot="0" flipH="false" flipV="false"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13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14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15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B85030D2-7057-4DDF-ADB6-784244A9F46D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16" type="body" sz="quarter" hasCustomPrompt="true"/>
          </p:nvPr>
        </p:nvSpPr>
        <p:spPr>
          <a:xfrm rot="0" flipH="false" flipV="false">
            <a:off x="623888" y="1282304"/>
            <a:ext cx="7886700" cy="213955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45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4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17" type="body" sz="quarter" hasCustomPrompt="true"/>
          </p:nvPr>
        </p:nvSpPr>
        <p:spPr>
          <a:xfrm rot="0" flipH="false" flipV="false">
            <a:off x="623888" y="3442097"/>
            <a:ext cx="7886700" cy="11251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18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19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20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2BC57320-2551-4BE9-A720-62A40845B097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2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22" type="body" sz="quarter" hasCustomPrompt="true"/>
          </p:nvPr>
        </p:nvSpPr>
        <p:spPr>
          <a:xfrm rot="0" flipH="false" flipV="false">
            <a:off x="6286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23" type="body" sz="quarter" hasCustomPrompt="true"/>
          </p:nvPr>
        </p:nvSpPr>
        <p:spPr>
          <a:xfrm rot="0" flipH="false" flipV="false">
            <a:off x="46291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24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25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26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DC39A48B-50F7-4D84-82CD-399437939692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27" type="body" sz="quarter" hasCustomPrompt="true"/>
          </p:nvPr>
        </p:nvSpPr>
        <p:spPr>
          <a:xfrm rot="0" flipH="false" flipV="false">
            <a:off x="629841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28" type="body" sz="quarter" hasCustomPrompt="true"/>
          </p:nvPr>
        </p:nvSpPr>
        <p:spPr>
          <a:xfrm rot="0" flipH="false" flipV="false">
            <a:off x="629841" y="1260872"/>
            <a:ext cx="3868340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tru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29" type="body" sz="quarter" hasCustomPrompt="true"/>
          </p:nvPr>
        </p:nvSpPr>
        <p:spPr>
          <a:xfrm rot="0" flipH="false" flipV="false">
            <a:off x="629841" y="1878806"/>
            <a:ext cx="3868340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30" type="body" sz="quarter" hasCustomPrompt="true"/>
          </p:nvPr>
        </p:nvSpPr>
        <p:spPr>
          <a:xfrm rot="0" flipH="false" flipV="false">
            <a:off x="4629150" y="1260872"/>
            <a:ext cx="3887391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tru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6" id="6"/>
          <p:cNvSpPr/>
          <p:nvPr>
            <p:ph idx="31" type="body" sz="quarter" hasCustomPrompt="true"/>
          </p:nvPr>
        </p:nvSpPr>
        <p:spPr>
          <a:xfrm rot="0" flipH="false" flipV="false">
            <a:off x="4629150" y="1878806"/>
            <a:ext cx="3887391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7" id="7"/>
          <p:cNvSpPr/>
          <p:nvPr>
            <p:ph idx="32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8" id="8"/>
          <p:cNvSpPr/>
          <p:nvPr>
            <p:ph idx="33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9" id="9"/>
          <p:cNvSpPr/>
          <p:nvPr>
            <p:ph idx="34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9FA9FBFF-0D92-41E1-B35A-E21CA4CFE281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35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36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4" id="4"/>
          <p:cNvSpPr/>
          <p:nvPr>
            <p:ph idx="37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5" id="5"/>
          <p:cNvSpPr/>
          <p:nvPr>
            <p:ph idx="38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5338049-1806-452C-A362-26701BAB893B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39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3" id="3"/>
          <p:cNvSpPr/>
          <p:nvPr>
            <p:ph idx="40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4" id="4"/>
          <p:cNvSpPr/>
          <p:nvPr>
            <p:ph idx="41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8D52007-29D0-447E-9725-1CE814C31172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42" type="body" sz="quarter" hasCustomPrompt="true"/>
          </p:nvPr>
        </p:nvSpPr>
        <p:spPr>
          <a:xfrm rot="0" flipH="false" flipV="false"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43" type="body" sz="quarter" hasCustomPrompt="true"/>
          </p:nvPr>
        </p:nvSpPr>
        <p:spPr>
          <a:xfrm rot="0" flipH="false" flipV="false"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810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44" type="body" sz="quarter" hasCustomPrompt="true"/>
          </p:nvPr>
        </p:nvSpPr>
        <p:spPr>
          <a:xfrm rot="0" flipH="false" flipV="false"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45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46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47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502DCA6F-A194-4080-9006-BB4DBB3F9D28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48" type="body" sz="quarter" hasCustomPrompt="true"/>
          </p:nvPr>
        </p:nvSpPr>
        <p:spPr>
          <a:xfrm rot="0" flipH="false" flipV="false"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49" type="pic" sz="quarter"/>
          </p:nvPr>
        </p:nvSpPr>
        <p:spPr>
          <a:xfrm rot="0" flipH="false" flipV="false"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lIns="63500" rIns="63500" tIns="63500" bIns="63500"/>
          <a:lstStyle>
            <a:lvl1pPr algn="ctr">
              <a:defRPr sz="16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name="AutoShape 4" id="4"/>
          <p:cNvSpPr/>
          <p:nvPr>
            <p:ph idx="50" type="body" sz="quarter" hasCustomPrompt="true"/>
          </p:nvPr>
        </p:nvSpPr>
        <p:spPr>
          <a:xfrm rot="0" flipH="false" flipV="false"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51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52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53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582A30D4-F5E0-497D-B220-A50D264F9C03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54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55" type="body" sz="quarter" hasCustomPrompt="true"/>
          </p:nvPr>
        </p:nvSpPr>
        <p:spPr>
          <a:xfrm rot="5400000" flipH="false" flipV="false">
            <a:off x="2940248" y="-942379"/>
            <a:ext cx="3263504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56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57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58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388FBF1B-F6B4-419F-BC46-C3FC20252815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59" type="body" sz="quarter" hasCustomPrompt="true"/>
          </p:nvPr>
        </p:nvSpPr>
        <p:spPr>
          <a:xfrm rot="5400000" flipH="false" flipV="false">
            <a:off x="5350073" y="1467445"/>
            <a:ext cx="4358879" cy="19716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60" type="body" sz="quarter" hasCustomPrompt="true"/>
          </p:nvPr>
        </p:nvSpPr>
        <p:spPr>
          <a:xfrm rot="5400000" flipH="false" flipV="false">
            <a:off x="1349573" y="-447080"/>
            <a:ext cx="4358879" cy="58007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61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62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63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E2328B29-69DA-442B-B55E-BF232F432050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1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Office 主题​​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1" id="1"/>
          <p:cNvSpPr/>
          <p:nvPr>
            <p:ph idx="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100000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2" id="2"/>
          <p:cNvSpPr/>
          <p:nvPr>
            <p:ph idx="2" type="body" sz="quarter" hasCustomPrompt="true"/>
          </p:nvPr>
        </p:nvSpPr>
        <p:spPr>
          <a:xfrm rot="0" flipH="false" flipV="false"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100000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3" id="3"/>
          <p:cNvSpPr/>
          <p:nvPr>
            <p:ph idx="3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4" id="4"/>
          <p:cNvSpPr/>
          <p:nvPr>
            <p:ph idx="4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5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B99EBBD-B61C-45CA-BD84-CCB153DD23F0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57483700" r:id="rId2"/>
    <p:sldLayoutId id="2157483701" r:id="rId3"/>
    <p:sldLayoutId id="2157483702" r:id="rId4"/>
    <p:sldLayoutId id="2157483703" r:id="rId5"/>
    <p:sldLayoutId id="2157483704" r:id="rId6"/>
    <p:sldLayoutId id="2157483705" r:id="rId7"/>
    <p:sldLayoutId id="2157483706" r:id="rId8"/>
    <p:sldLayoutId id="2157483707" r:id="rId9"/>
    <p:sldLayoutId id="2157483708" r:id="rId10"/>
    <p:sldLayoutId id="2157483709" r:id="rId11"/>
    <p:sldLayoutId id="215748371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D1221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name="Connector 2" id="2"/>
          <p:cNvCxnSpPr/>
          <p:nvPr/>
        </p:nvCxnSpPr>
        <p:spPr>
          <a:xfrm rot="-3579" flipH="false" flipV="false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" id="3"/>
          <p:cNvCxnSpPr/>
          <p:nvPr/>
        </p:nvCxnSpPr>
        <p:spPr>
          <a:xfrm rot="-3579" flipH="false" flipV="false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4" id="4"/>
          <p:cNvCxnSpPr/>
          <p:nvPr/>
        </p:nvCxnSpPr>
        <p:spPr>
          <a:xfrm rot="-3579" flipH="false" flipV="false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5" id="5"/>
          <p:cNvCxnSpPr/>
          <p:nvPr/>
        </p:nvCxnSpPr>
        <p:spPr>
          <a:xfrm rot="5393633" flipH="false" flipV="false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6" id="6"/>
          <p:cNvCxnSpPr/>
          <p:nvPr/>
        </p:nvCxnSpPr>
        <p:spPr>
          <a:xfrm rot="5393633" flipH="false" flipV="false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7" id="7"/>
          <p:cNvCxnSpPr/>
          <p:nvPr/>
        </p:nvCxnSpPr>
        <p:spPr>
          <a:xfrm rot="5393633" flipH="false" flipV="false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>
            <a:noAutofit/>
          </a:bodyPr>
          <a:lstStyle/>
          <a:p>
            <a:pPr algn="ctr" marL="0" indent="0">
              <a:lnSpc>
                <a:spcPct val="100000"/>
              </a:lnSpc>
              <a:defRPr/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939800"/>
            <a:ext cx="533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基于DSH的企业级智能体平台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2489200"/>
            <a:ext cx="10566400" cy="685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0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从能力底座到生产就绪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812800" y="3251200"/>
            <a:ext cx="105664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企业级智能体功能补强 · 落地进展与剩余接线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41910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>
            <a:noAutofit/>
          </a:bodyPr>
          <a:lstStyle/>
          <a:p>
            <a:pPr algn="ctr" marL="0" indent="0">
              <a:lnSpc>
                <a:spcPct val="100000"/>
              </a:lnSpc>
              <a:defRPr/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9652000" y="6248400"/>
            <a:ext cx="1727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FFFFFF">
                    <a:alpha val="4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2026-09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01 · 定位与主线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DSH 管运行，MOGONG 管进企业——15 项补强已按 SDD 落地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78000"/>
            <a:ext cx="3810000" cy="3556000"/>
          </a:xfrm>
          <a:prstGeom prst="roundRect">
            <a:avLst>
              <a:gd name="adj" fmla="val 3571"/>
            </a:avLst>
          </a:prstGeom>
          <a:solidFill>
            <a:srgbClr val="0F172A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92200" y="2032000"/>
            <a:ext cx="3251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一句话定位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2438400"/>
            <a:ext cx="32512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7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= DSH Runtime（执行底座）+ MOGONG 企业层（进入生产）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92200" y="3657600"/>
            <a:ext cx="508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92200" y="3860800"/>
            <a:ext cx="32512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E2E8F0">
                    <a:alpha val="7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在执行底座、文档与内容生成、多形态 Agent、SkillHub、自托管部署上已是较完整起点；本次不推倒重来，只补缺口。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5029200" y="1778000"/>
            <a:ext cx="635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本材料按四步回答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5029200" y="22606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5257800" y="22606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5867400" y="22606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已有哪些能力，哪些已领先、不重复投入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5029200" y="30480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5257800" y="30480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5867400" y="30480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与 EntAgent / AgentGit 对比，缺哪六处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5029200" y="38354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5257800" y="38354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867400" y="38354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按 P0 / P1 / P2 优先级逐项补强什么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5029200" y="46228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5257800" y="46228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5867400" y="46228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三阶段多久落地、各交付什么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'2 / 16'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02 · 现状 — 已有基线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已具备九大能力域，执行与内容生成完整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414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Agent Runtime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414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DSH 原生：任务规划、工具调用、Skill、子智能体、受控执行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3942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46228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企业知识 / RAG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46228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内部+公开检索、多轮研究、保留引用、可分享个人知识库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9756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2042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多模态理解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2042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PDF/DOCX/XLSX/PPTX/CSV/MD，含文档内图片与图表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414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内容生成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414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报告 / 文章 / PPTX / 表格 / PDF / MD 交付物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3942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228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集成（MCP）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46228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工作流型 Skill、HTTP / MCP 连接业务系统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79756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042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自动化与治理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042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定时任务、敏感工具审批、执行追踪、产物留存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414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管理后台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10414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组织/用户/角色/模型/知识/Skill/工具/审计、RBAC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3942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6228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部署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6228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Compose 一键 12 服务、自托管、模型数据自主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79756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2042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桌面扩展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042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Desktop 连接浏览器 / Code Agent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'3 / 16'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02 · 现状 — 已领先边界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五块能力已强于对标，作为"不重复造轮子"的边界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272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容器化自托管部署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3962400" y="17272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Compose 一键 12 服务 + CLI 启动器 + 备份/恢复，生产运维底座已就绪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24638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24638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Docling 多格式解析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3962400" y="24638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PDF/DOCX/XLSX/PPTX/CSV + LibreOffice 预览，文档理解强于对标方案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32004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2004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内容与文件生成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3962400" y="32004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报告/文章/PPTX/表格/PDF/翻译/表单——对标几乎空白，MOGONG 差异化强项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39370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66800" y="39370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多形态 Agent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3962400" y="39370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浏览器 Agent、代码 Agent、子智能体（桌面端），执行形态丰富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46736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66800" y="46736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SkillHub 生态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3962400" y="46736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企业知识研究、引用证据、Skill 市场 + ZIP 安装，知识闭环与分发成型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" y="5537200"/>
            <a:ext cx="10566400" cy="558800"/>
          </a:xfrm>
          <a:prstGeom prst="roundRect">
            <a:avLst>
              <a:gd name="adj" fmla="val 18180"/>
            </a:avLst>
          </a:prstGeom>
          <a:solidFill>
            <a:srgbClr val="F0F9F7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66800" y="5537200"/>
            <a:ext cx="1524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结论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2540000" y="5537200"/>
            <a:ext cx="863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这五块是后续补强的"不重复造轮子"边界，所有新增能力只做加法、不推倒重来。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'4 / 16'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03 · GAP — 六大缺口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缺口分级：P0 合规刚需 → P1 可靠协作 → P2 生态自进化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P0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7780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企业入场券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3942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46482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P1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53594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可靠性与协作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9756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2296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P2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9408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自进化与生态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414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治理与风控层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414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六层门禁 · 风险分级 · RBAC 码 · 脱敏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414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LLM 网关韧性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0414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故障转移 · 降级链 · 退避重试 · 计量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414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运营驾驶舱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414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成本 / 使用 / 质量 / 趋势 四维看板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3942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6228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Hooks 拦截机制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6228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五事件钩子 · 声明式规则 · fail-closed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3942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6228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DAG 通用编排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6228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四模式 · 拓扑排序 · 环检测 · 节点重试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43942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46228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会话/工作流双版本化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46228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commit / resume / share + GraphSpec 契约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79756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2042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Dream 自进化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2042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会话 → 经验 → Skill 闭环 · 自动淘汰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79756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2042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会话级与生态清单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2042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秘密不上链 · A2A · 多 IM · 知识图谱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79756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82042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Skill 市场强化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2042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三范围 Memory · 能力资产化 · 厚/薄 Harness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486400"/>
            <a:ext cx="10566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现状：P0/P1/P2 共 15 项已按 SDD 落地为库代码 + 单测（全绿），剩余为生产接线与 UI（详见后页）。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'5 / 16'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P0 — 治理与风控层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六层串行门禁 + 风险矩阵 + 权限码 + 脱敏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6510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Gatekeeper 六层串行门禁（R4 红线不可覆盖）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8128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身份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22860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24892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24892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RBAC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39624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1656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41656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脱敏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56388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58420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58420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审批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73152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75184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75184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配额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9916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9194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91948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审计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28448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6800" y="2997200"/>
            <a:ext cx="4648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R0–R4 风险分级 × L1–L5 自主矩阵（25 格）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1066800" y="3302000"/>
            <a:ext cx="46482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把"敏感工具审批"升级为系统化分级放权：按风险等级决定自主级别。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324600" y="28448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578600" y="2997200"/>
            <a:ext cx="4546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RBAC 权限码 &lt;resource&gt;:&lt;action&gt;[:&lt;target&gt;]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578600" y="3302000"/>
            <a:ext cx="45466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三级隔离、fail-closed 默认拒绝，替代当前粗粒度的"岗位角色"。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12800" y="42164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1066800" y="4368800"/>
            <a:ext cx="4648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PII 脱敏层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1066800" y="4673600"/>
            <a:ext cx="46482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私钥 / 身份证 / 银行卡 / 手机号 × mask / remove / hash / abstract 策略。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6324600" y="42164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6578600" y="4368800"/>
            <a:ext cx="4546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会话保存/分享秘密过滤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6578600" y="4673600"/>
            <a:ext cx="45466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发布时低熵秘密过滤、敏感内容换可逆占位符、clone 默认只读，与运行时拦截形成双保险。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12800" y="56134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1066800" y="5613400"/>
            <a:ext cx="1397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挂载点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2489200" y="5613400"/>
            <a:ext cx="8763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复用 MOGONG 已有审批/配额/审计作门禁链挂载点，预留四类门禁可插拔接入，不推倒现有实现。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'6 / 16'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P0 — 生产可靠与可观测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网关韧性避免单点中断，驾驶舱让运营可观测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51562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727200"/>
            <a:ext cx="5156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1930400"/>
            <a:ext cx="4597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LLM 网关韧性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92200" y="2235200"/>
            <a:ext cx="4597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主→备供应商故障转移，避免 LLM 单点中断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92200" y="269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92200" y="2692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524000" y="2667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主→备故障转移 failover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524000" y="2921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供应商自动切换，服务不中断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92200" y="332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92200" y="3327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524000" y="3302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降级链 degradation_chain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524000" y="3556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主模型失败逐级降档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092200" y="396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92200" y="3962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524000" y="3937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指数退避重试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1524000" y="4191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瞬时故障自恢复，避免雪崩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92200" y="459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92200" y="4597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1524000" y="4572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用量 / 成本计量上报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524000" y="4826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按模型与部门归集，支撑账单与配额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324600" y="1727200"/>
            <a:ext cx="50546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324600" y="1727200"/>
            <a:ext cx="50546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604000" y="1930400"/>
            <a:ext cx="4495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总览数据统计驾驶舱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604000" y="2235200"/>
            <a:ext cx="4495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管理后台扩展"运营驾驶舱"，复用已有运行数据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6604000" y="26670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7061200" y="26670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成本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7061200" y="29210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Token 总量 · 模型占比 · 部门/智能体分摊 · 预测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6604000" y="33274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7061200" y="33274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使用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7061200" y="35814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调用量 · 活跃用户 · Skill/检索频次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6604000" y="39878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7061200" y="39878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质量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7061200" y="42418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成功率 · 响应时长 · 异常率 · 人工介入率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6604000" y="46482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7061200" y="46482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趋势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7061200" y="49022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环比同比 · 瓶颈识别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1066800" y="5664200"/>
            <a:ext cx="1397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影响可控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2489200" y="5664200"/>
            <a:ext cx="8763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网关韧性改动集中在 llm/model_router.py 与 providers 模块；驾驶舱复用现有运行数据，直接作用于生产可用性。</a:t>
            </a:r>
            <a:endParaRPr lang="en-US" sz="1100"/>
          </a:p>
        </p:txBody>
      </p:sp>
      <p:sp>
        <p:nvSpPr>
          <p:cNvPr name="AutoShape 45" id="45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'7 / 16'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05 · P1 — 可靠执行与会话交接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Hooks 拦截 · DAG 编排 · 会话/工作流双版本化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668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① Hooks 拦截机制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668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低成本高扩展的合规扩展点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26924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244600" y="2590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五事件：SessionStart / PreToolUse / PostToolUse / SessionEnd / MemoryCommit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066800" y="35052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244600" y="34036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超时保护 · fail-closed · 声明式规则 deny_tool / require_field / observe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66800" y="43688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244600" y="42672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切入点：先 PreToolUse 单事件，快速获得合规拦截与字段校验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3942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3942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6482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② DAG 通用编排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482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从"规划/研究"到通用编排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4826000" y="25908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四模式：sequential / supervisor / hybrid / graph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4648200" y="3454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4826000" y="33528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DAG 拓扑排序 + 环检测，杜绝依赖回路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648200" y="4216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826000" y="4114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条件跳过（表达式求值）+ 节点级指数退避重试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79756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79756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82296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③ 会话/工作流双版本化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82296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解决"换个人从头来""工作即沉没"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407400" y="2590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会话级：commit 存进度 · log 回看 · resume 续写不分支 · share 交接上下文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29600" y="35306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407400" y="34290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工作流级：GraphSpec 可执行契约，版本发布 / 灰度 / 回滚 / 轨迹回放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229600" y="4368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407400" y="42672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二者互补：会话管上下文，工作流管流程定义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1066800" y="5664200"/>
            <a:ext cx="152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会话级是横切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2692400" y="5664200"/>
            <a:ext cx="8559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会话级与脱敏（保存时）、Hooks（生命周期事件）、自进化（会话→经验→Skill）交叉，也与现有 Workspace/组织打通多人协同。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'8 / 16'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E293B"/>
                </a:solidFill>
                <a:latin typeface="Noto Sans SC"/>
                <a:ea typeface="Noto Sans SC"/>
                <a:cs typeface="Noto Sans SC"/>
                <a:sym typeface="Noto Sans SC"/>
              </a:rPr>
              <a:t>06 · P2 — 自进化与生态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把"会话 → 经验 → Skill"串成主线，越用越聪明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6764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Dream Cycle 三层自进化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20066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66800" y="21590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473200" y="21590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经验沉淀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473200" y="24384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friction 触发，记录高价值实践（Agent 越用越聪明）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3251200" y="2946400"/>
            <a:ext cx="203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⇣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32004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3528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473200" y="33528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自动发现 → 生成 Skill 草稿 + 自动建 MR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473200" y="36322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周期扫描重复模式，产出可复用 Skill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3251200" y="4140200"/>
            <a:ext cx="203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⇣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812800" y="43942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066800" y="45466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473200" y="45466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低采纳率自动淘汰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473200" y="48260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未验证的经验自动下线，保持生态质量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223000" y="1676400"/>
            <a:ext cx="5156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 + 生态清单（P2 其余项）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223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400800" y="20066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A2A Agent 互通网关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890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9067800" y="20066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多 IM 入口（飞书/钉钉/企微）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223000" y="2794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400800" y="27940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业务系统语义索引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8890000" y="2794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9067800" y="27940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知识图谱层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6223000" y="3581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6400800" y="35814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 市场强化（版本/监控）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890000" y="3581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9067800" y="35814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三范围 Memory（个人/组织）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6223000" y="4368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6400800" y="43688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能力资产化「发现→注册」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890000" y="4368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9067800" y="43688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厚 / 薄 Harness 弹性配置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12800" y="5613400"/>
            <a:ext cx="10566400" cy="533400"/>
          </a:xfrm>
          <a:prstGeom prst="roundRect">
            <a:avLst>
              <a:gd name="adj" fmla="val 19047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1066800" y="5613400"/>
            <a:ext cx="1397000" cy="533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目标形态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2489200" y="5613400"/>
            <a:ext cx="8763000" cy="533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组织级「数字组织」：一个人的会话成为团队与后续自动化的起点——工作量最大，故后置到阶段三。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'9 / 16'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07 · 实施路线图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SDD 落地进展：P0/P1/P2 库代码 + 单测全部全绿，剩余为生产接线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P0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6256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生产底座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66800" y="26924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2446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风控引擎：Gatekeeper · R0–R4 · RBAC 码 · PII 脱敏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66800" y="33528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244600" y="3251200"/>
            <a:ext cx="2844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LLM 网关韧性：failover · 降级链 · 退避重试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9116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244600" y="3810000"/>
            <a:ext cx="2844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运营驾驶舱：成本 / 使用 / 质量 / 趋势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66800" y="4470400"/>
            <a:ext cx="2870200" cy="838200"/>
          </a:xfrm>
          <a:prstGeom prst="roundRect">
            <a:avLst>
              <a:gd name="adj" fmla="val 12120"/>
            </a:avLst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244600" y="45720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交付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244600" y="4800600"/>
            <a:ext cx="25146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✅ 已落地（库+单测）：合规入场券 · 生产可用性 · 可观测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3942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482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P1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2070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可靠性与协作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48260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Hooks 拦截：五事件 + 会话生命周期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4648200" y="33528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826000" y="32512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DAG 编排：四模式 · 拓扑 · 环检测 · 条件跳过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648200" y="40132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826000" y="39116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双版本化：版本 / 交接 / 多人协同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6482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826000" y="46736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交付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826000" y="4902200"/>
            <a:ext cx="2514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✅ 已落地（库+单测）：多步骤可靠 · 合规扩展 · 工作可交接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79756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2296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P2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7884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自进化与生态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4074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Dream 自进化 · 会话→经验→Skill 闭环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229600" y="3352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407400" y="32512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A2A · 多 IM · 业务索引 · 知识图谱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229600" y="40132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407400" y="39116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 市场 · 三范围 Memory · 资产化 / Harness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2296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8407400" y="46736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1E293B"/>
                </a:solidFill>
                <a:latin typeface="Noto Sans SC"/>
                <a:ea typeface="Noto Sans SC"/>
                <a:cs typeface="Noto Sans SC"/>
                <a:sym typeface="Noto Sans SC"/>
              </a:rPr>
              <a:t>交付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407400" y="4902200"/>
            <a:ext cx="2514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✅ 已落地（库+单测）：组织级「数字组织」· 越用越聪明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588000"/>
            <a:ext cx="105664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贯穿原则：复用 DSH Runtime / RBAC / MCP / 自托管与审批·配额·审计挂载点，不重复造底座；守住既有优势边界。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'10 / 16'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08 · 落地进展与剩余接线项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15 项已按 SDD 落地为库代码 + 单测（全绿），剩余 5 项生产接线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018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018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625600" y="1803400"/>
            <a:ext cx="304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已完成 · 15 项全绿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625600" y="20828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P0/P1/P2 共 15 项已按 SDD 落地为库代码 + 单测，全部通过（chat-api 1562 / admin-api 236 项）。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25654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66800" y="25654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625600" y="2667000"/>
            <a:ext cx="330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已完成 · 2 案例可运行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625600" y="29464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客户反馈分诊 + 竞品深度调研，共 40 项离线端到端测试通过，无需外部 LLM / 网络。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12800" y="34290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66800" y="34290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625600" y="35306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剩余 · 生产接线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625600" y="38100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007 网关韧性 / 009 钩子挂载 + 规则页 / 002 会话版本化端点 + UI：库能力已绿，运行时挂载为后续。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42926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66800" y="42926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625600" y="43942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剩余 · 审计与门禁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1625600" y="46736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T999 横切审计业务模块未接线；001 六层门禁 chat-api 运行时侧未接线（gate_adapter 已预留开关）。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12800" y="51562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66800" y="51562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5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1625600" y="5257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不变 · 既有优势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625600" y="55372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坚持模型与数据自主管控，生产环境自行加固，不可裸用（既有优势边界不变）。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'11 / 16'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09 · 标杆场景验证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两个标杆场景，验证从单 Agent 到多 Agent 的完整能力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117600" y="2006600"/>
            <a:ext cx="4470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案例一 · 单 Skill / 单会话 / 单智能体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117600" y="2286000"/>
            <a:ext cx="44704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9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客户反馈智能分诊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117600" y="2717800"/>
            <a:ext cx="4470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每天 200–500 条反馈一次交互完成分级聚类、P0 识别与审批触发，输出结构化分诊报告。</a:t>
            </a:r>
            <a:endParaRPr lang="en-US" sz="1100"/>
          </a:p>
        </p:txBody>
      </p:sp>
      <p:cxnSp>
        <p:nvCxnSpPr>
          <p:cNvPr name="Connector 10" id="10"/>
          <p:cNvCxnSpPr/>
          <p:nvPr/>
        </p:nvCxnSpPr>
        <p:spPr>
          <a:xfrm rot="-9766" flipH="false" flipV="false">
            <a:off x="11176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1" id="11"/>
          <p:cNvSpPr/>
          <p:nvPr/>
        </p:nvSpPr>
        <p:spPr>
          <a:xfrm rot="0" flipH="false" flipV="false">
            <a:off x="11176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≤3 分钟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1176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500 条端到端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26670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≥95%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26670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P0 识别召回率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2164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2164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PII 泄漏率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117600" y="4724400"/>
            <a:ext cx="44704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验证能力：文档解析 · Spreadsheet · RAG · PII 脱敏 · RBAC 审批 · 审计 · 成本驾驶舱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62992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6604000" y="2006600"/>
            <a:ext cx="4470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案例二 · 多 Skill / 多智能体 / DAG graph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6604000" y="2286000"/>
            <a:ext cx="44704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9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竞品深度调研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604000" y="2717800"/>
            <a:ext cx="4470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输入一个竞品名，4 个分析子 Agent 并行产出市场/产品/财务/舆情四章，再合成可追溯报告。</a:t>
            </a:r>
            <a:endParaRPr lang="en-US" sz="1100"/>
          </a:p>
        </p:txBody>
      </p:sp>
      <p:cxnSp>
        <p:nvCxnSpPr>
          <p:cNvPr name="Connector 22" id="22"/>
          <p:cNvCxnSpPr/>
          <p:nvPr/>
        </p:nvCxnSpPr>
        <p:spPr>
          <a:xfrm rot="-9766" flipH="false" flipV="false">
            <a:off x="66040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3" id="23"/>
          <p:cNvSpPr/>
          <p:nvPr/>
        </p:nvSpPr>
        <p:spPr>
          <a:xfrm rot="0" flipH="false" flipV="false">
            <a:off x="6604000" y="3556000"/>
            <a:ext cx="1651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≤15 分钟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6604000" y="4089400"/>
            <a:ext cx="1651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标准深度端到端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382000" y="3556000"/>
            <a:ext cx="127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4 路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382000" y="4089400"/>
            <a:ext cx="127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分析节点并行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97790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全追溯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97790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evidence.json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604000" y="4724400"/>
            <a:ext cx="44704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验证能力：DAG 编排(010) · 条件跳过 · 失败传播 · 浏览器 Agent · 研究模式 · 成本分项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12800" y="5791200"/>
            <a:ext cx="10566400" cy="406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选型原则：</a:t>
            </a: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任务顺序依赖、共享同一批上下文 → 单 Agent（案例一）；维度可并行、依赖静态 → DAG graph（案例二）；依赖需运行时动态决定 → 才上 hybrid。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企业级智能体功能补强规划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12 / 16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09 · 标杆场景一 · 单智能体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客户反馈分诊：单 Agent 顺序流水线，P0 自动触发审批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556000" cy="3810000"/>
          </a:xfrm>
          <a:prstGeom prst="roundRect">
            <a:avLst>
              <a:gd name="adj" fmla="val 4285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92200" y="1981200"/>
            <a:ext cx="299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痛点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2260600"/>
            <a:ext cx="29972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每天 200–500 条反馈来自工单、邮件、社群、应用内；人工分诊 4–6 小时/日，P0 紧急问题容易被埋没。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rot="-14566" flipH="false" flipV="false">
            <a:off x="1092213" y="3422650"/>
            <a:ext cx="299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1092200" y="3581400"/>
            <a:ext cx="299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一次交互产出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92200" y="38608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· triage_report.md 分诊报告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092200" y="41910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· action_items.csv 跟进清单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92200" y="45212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· P0≥3 自动触发 R1 审批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92200" y="4978400"/>
            <a:ext cx="29972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P0 关键词：无法登录 / 数据丢失 / 服务不可用 / 支付失败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724400" y="1778000"/>
            <a:ext cx="665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8 个顺序 Step · 共享同一批反馈上下文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7244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8768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876800" y="22860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5334000" y="2235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load_feedback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334000" y="2489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读取 xlsx / csv / pdf / 文本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804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80400" y="22860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737600" y="2235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normalize_batch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737600" y="2489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去重、剔除空条目、字段规范化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7244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8768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876800" y="31496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5334000" y="3098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classify_severity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5334000" y="3352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逐条打 P0–P3 严重度标签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1280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804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280400" y="31496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737600" y="3098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categorize_issue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737600" y="3352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归入登录/数据/计费等 8 大类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47244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48768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4876800" y="40132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5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5334000" y="3962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detect_pii_and_redact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5334000" y="4216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手机号/身份证/银行卡脱敏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1280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2804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280400" y="40132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6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8737600" y="3962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rank_action_items</a:t>
            </a:r>
            <a:endParaRPr lang="en-US" sz="1100"/>
          </a:p>
        </p:txBody>
      </p:sp>
      <p:sp>
        <p:nvSpPr>
          <p:cNvPr name="AutoShape 45" id="45"/>
          <p:cNvSpPr/>
          <p:nvPr/>
        </p:nvSpPr>
        <p:spPr>
          <a:xfrm rot="0" flipH="false" flipV="false">
            <a:off x="8737600" y="4216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P0+P1 按紧迫度打分排序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 rot="0" flipH="false" flipV="false">
            <a:off x="47244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7" id="47"/>
          <p:cNvSpPr/>
          <p:nvPr/>
        </p:nvSpPr>
        <p:spPr>
          <a:xfrm rot="0" flipH="false" flipV="false">
            <a:off x="48768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8" id="48"/>
          <p:cNvSpPr/>
          <p:nvPr/>
        </p:nvSpPr>
        <p:spPr>
          <a:xfrm rot="0" flipH="false" flipV="false">
            <a:off x="4876800" y="48768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7</a:t>
            </a:r>
            <a:endParaRPr lang="en-US" sz="1100"/>
          </a:p>
        </p:txBody>
      </p:sp>
      <p:sp>
        <p:nvSpPr>
          <p:cNvPr name="AutoShape 49" id="49"/>
          <p:cNvSpPr/>
          <p:nvPr/>
        </p:nvSpPr>
        <p:spPr>
          <a:xfrm rot="0" flipH="false" flipV="false">
            <a:off x="5334000" y="4826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compose_report</a:t>
            </a:r>
            <a:endParaRPr lang="en-US" sz="1100"/>
          </a:p>
        </p:txBody>
      </p:sp>
      <p:sp>
        <p:nvSpPr>
          <p:cNvPr name="AutoShape 50" id="50"/>
          <p:cNvSpPr/>
          <p:nvPr/>
        </p:nvSpPr>
        <p:spPr>
          <a:xfrm rot="0" flipH="false" flipV="false">
            <a:off x="5334000" y="5080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生成摘要/P0清单/趋势/建议</a:t>
            </a:r>
            <a:endParaRPr lang="en-US" sz="1100"/>
          </a:p>
        </p:txBody>
      </p:sp>
      <p:sp>
        <p:nvSpPr>
          <p:cNvPr name="AutoShape 51" id="51"/>
          <p:cNvSpPr/>
          <p:nvPr/>
        </p:nvSpPr>
        <p:spPr>
          <a:xfrm rot="0" flipH="false" flipV="false">
            <a:off x="81280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ECFDF5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2" id="52"/>
          <p:cNvSpPr/>
          <p:nvPr/>
        </p:nvSpPr>
        <p:spPr>
          <a:xfrm rot="0" flipH="false" flipV="false">
            <a:off x="82804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3" id="53"/>
          <p:cNvSpPr/>
          <p:nvPr/>
        </p:nvSpPr>
        <p:spPr>
          <a:xfrm rot="0" flipH="false" flipV="false">
            <a:off x="8280400" y="48768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8</a:t>
            </a:r>
            <a:endParaRPr lang="en-US" sz="1100"/>
          </a:p>
        </p:txBody>
      </p:sp>
      <p:sp>
        <p:nvSpPr>
          <p:cNvPr name="AutoShape 54" id="54"/>
          <p:cNvSpPr/>
          <p:nvPr/>
        </p:nvSpPr>
        <p:spPr>
          <a:xfrm rot="0" flipH="false" flipV="false">
            <a:off x="8737600" y="4826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trigger_approval_if_p0</a:t>
            </a:r>
            <a:endParaRPr lang="en-US" sz="1100"/>
          </a:p>
        </p:txBody>
      </p:sp>
      <p:sp>
        <p:nvSpPr>
          <p:cNvPr name="AutoShape 55" id="55"/>
          <p:cNvSpPr/>
          <p:nvPr/>
        </p:nvSpPr>
        <p:spPr>
          <a:xfrm rot="0" flipH="false" flipV="false">
            <a:off x="8737600" y="5080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P0≥3 触发 R1 审批，否则跳过</a:t>
            </a:r>
            <a:endParaRPr lang="en-US" sz="1100"/>
          </a:p>
        </p:txBody>
      </p:sp>
      <p:sp>
        <p:nvSpPr>
          <p:cNvPr name="AutoShape 56" id="56"/>
          <p:cNvSpPr/>
          <p:nvPr/>
        </p:nvSpPr>
        <p:spPr>
          <a:xfrm rot="0" flipH="false" flipV="false">
            <a:off x="812800" y="5791200"/>
            <a:ext cx="10566400" cy="406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为什么不用多智能体：</a:t>
            </a: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所有 step 共享同一份"批次上下文"，任何并行拆分都会导致上下文重建成本大于并行收益——这是单 Agent 顺序流水线的典型场景。</a:t>
            </a:r>
            <a:endParaRPr lang="en-US" sz="1100"/>
          </a:p>
        </p:txBody>
      </p:sp>
      <p:sp>
        <p:nvSpPr>
          <p:cNvPr name="AutoShape 57" id="57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企业级智能体功能补强规划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13 / 16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09 · 标杆场景二 · 多智能体 DAG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竞品深度调研：4 路并行分析，合成可追溯报告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4318000" y="1651000"/>
            <a:ext cx="3556000" cy="558800"/>
          </a:xfrm>
          <a:prstGeom prst="roundRect">
            <a:avLst>
              <a:gd name="adj" fmla="val 18181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4318000" y="1651000"/>
            <a:ext cx="355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supervisor 协调（planner + aggregator）</a:t>
            </a:r>
            <a:endParaRPr lang="en-US" sz="1100"/>
          </a:p>
        </p:txBody>
      </p:sp>
      <p:cxnSp>
        <p:nvCxnSpPr>
          <p:cNvPr name="Connector 8" id="8"/>
          <p:cNvCxnSpPr/>
          <p:nvPr/>
        </p:nvCxnSpPr>
        <p:spPr>
          <a:xfrm rot="5267844" flipH="false" flipV="false">
            <a:off x="5930900" y="2368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9" id="9"/>
          <p:cNvCxnSpPr/>
          <p:nvPr/>
        </p:nvCxnSpPr>
        <p:spPr>
          <a:xfrm rot="-5617" flipH="false" flipV="false">
            <a:off x="2032005" y="25336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0" id="10"/>
          <p:cNvCxnSpPr/>
          <p:nvPr/>
        </p:nvCxnSpPr>
        <p:spPr>
          <a:xfrm rot="5267844" flipH="false" flipV="false">
            <a:off x="18669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1" id="11"/>
          <p:cNvCxnSpPr/>
          <p:nvPr/>
        </p:nvCxnSpPr>
        <p:spPr>
          <a:xfrm rot="5267844" flipH="false" flipV="false">
            <a:off x="44577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2" id="12"/>
          <p:cNvCxnSpPr/>
          <p:nvPr/>
        </p:nvCxnSpPr>
        <p:spPr>
          <a:xfrm rot="5267844" flipH="false" flipV="false">
            <a:off x="70485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3" id="13"/>
          <p:cNvCxnSpPr/>
          <p:nvPr/>
        </p:nvCxnSpPr>
        <p:spPr>
          <a:xfrm rot="5267844" flipH="false" flipV="false">
            <a:off x="96393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4" id="14"/>
          <p:cNvSpPr/>
          <p:nvPr/>
        </p:nvSpPr>
        <p:spPr>
          <a:xfrm rot="0" flipH="false" flipV="false">
            <a:off x="8128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9652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市场情报员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9652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检索 + 时间线新闻、融资、份额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34036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35560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产品分析师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35560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浏览器抓取官网、功能对比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9944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1468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财务分析师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146800" y="3302000"/>
            <a:ext cx="2133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定量 + 估值模型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146800" y="3556000"/>
            <a:ext cx="2133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私有公司则条件跳过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5852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7376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舆情监测员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7376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微博/知乎/Reddit 情感聚类</a:t>
            </a:r>
            <a:endParaRPr lang="en-US" sz="1100"/>
          </a:p>
        </p:txBody>
      </p:sp>
      <p:cxnSp>
        <p:nvCxnSpPr>
          <p:cNvPr name="Connector 27" id="27"/>
          <p:cNvCxnSpPr/>
          <p:nvPr/>
        </p:nvCxnSpPr>
        <p:spPr>
          <a:xfrm rot="5267844" flipH="false" flipV="false">
            <a:off x="18669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28" id="28"/>
          <p:cNvCxnSpPr/>
          <p:nvPr/>
        </p:nvCxnSpPr>
        <p:spPr>
          <a:xfrm rot="5267844" flipH="false" flipV="false">
            <a:off x="44577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29" id="29"/>
          <p:cNvCxnSpPr/>
          <p:nvPr/>
        </p:nvCxnSpPr>
        <p:spPr>
          <a:xfrm rot="5267844" flipH="false" flipV="false">
            <a:off x="70485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0" id="30"/>
          <p:cNvCxnSpPr/>
          <p:nvPr/>
        </p:nvCxnSpPr>
        <p:spPr>
          <a:xfrm rot="5267844" flipH="false" flipV="false">
            <a:off x="96393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1" id="31"/>
          <p:cNvCxnSpPr/>
          <p:nvPr/>
        </p:nvCxnSpPr>
        <p:spPr>
          <a:xfrm rot="-5617" flipH="false" flipV="false">
            <a:off x="2032005" y="41592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2" id="32"/>
          <p:cNvCxnSpPr/>
          <p:nvPr/>
        </p:nvCxnSpPr>
        <p:spPr>
          <a:xfrm rot="5256843" flipH="false" flipV="false">
            <a:off x="5943600" y="43117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33" id="33"/>
          <p:cNvSpPr/>
          <p:nvPr/>
        </p:nvSpPr>
        <p:spPr>
          <a:xfrm rot="0" flipH="false" flipV="false">
            <a:off x="4191000" y="4470400"/>
            <a:ext cx="3810000" cy="584200"/>
          </a:xfrm>
          <a:prstGeom prst="roundRect">
            <a:avLst>
              <a:gd name="adj" fmla="val 17391"/>
            </a:avLst>
          </a:prstGeom>
          <a:solidFill>
            <a:srgbClr val="ECFDF5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4191000" y="4470400"/>
            <a:ext cx="3810000" cy="584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report_synthesis 引用四节点 + 综合判断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12800" y="5283200"/>
            <a:ext cx="342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失败容错</a:t>
            </a: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节点指数退避重试 2 次（5s→10s），总超时 30 分钟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4445000" y="5283200"/>
            <a:ext cx="342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降级策略</a:t>
            </a: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≥3 子节点完成正常合成；&lt;3 则输出数据不足降级报告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077200" y="5283200"/>
            <a:ext cx="3302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为什么用 graph</a:t>
            </a: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4 维度静态可并行；sequential 太慢，hybrid 徒增监督开销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企业级智能体功能补强规划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14 / 16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10 · 生产部署扩展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多实例运行改造：本轮先做 runtime-host 水平扩展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254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117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117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层 A · 本轮主交付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117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runtime-host 水平扩展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117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多 dsh-runtime-host 实例共享命名空间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前置 sticky LB，按 kernel_session_id 一致性哈希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chat-api 保持单实例，改动面最小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117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复杂度：低 · 无阻塞依赖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4368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673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4673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层 B · 后续 P4–P5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673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chat-api 无状态化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673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_sessions / _runtimes / 凭据锁外置 Redis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按 conversation_id 一致性哈希路由实例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Mongo claim_turn 乐观锁已就绪</a:t>
            </a:r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673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复杂度：中高 · 触发于需要多实例时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7924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8229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8229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层 C · 后续 P6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229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Agent WS 集群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29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agent_registry 跨实例改 Redis pub/sub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闭源客户端 WS 重连能力待调研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滚动升级容忍 5–30 秒命令闪断</a:t>
            </a:r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29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复杂度：高 · 依赖层 B 与调研结论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5283200"/>
            <a:ext cx="5207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硬约束：</a:t>
            </a: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不做同一会话跨实例并发处理，避免 kernel session 双写与事件顺序错乱；本轮不引入 Celery，路由走同步 HTTP。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299200" y="5283200"/>
            <a:ext cx="5080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验收：</a:t>
            </a: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200 并发 P99 与单实例偏差 ±20%；滚动升级进行中会话不丢；实例切换后第二实例可 attach 续聊。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企业级智能体功能补强规划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15 / 16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221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name="Connector 2" id="2"/>
          <p:cNvCxnSpPr/>
          <p:nvPr/>
        </p:nvCxnSpPr>
        <p:spPr>
          <a:xfrm rot="-3579" flipH="false" flipV="false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" id="3"/>
          <p:cNvCxnSpPr/>
          <p:nvPr/>
        </p:nvCxnSpPr>
        <p:spPr>
          <a:xfrm rot="-3579" flipH="false" flipV="false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4" id="4"/>
          <p:cNvCxnSpPr/>
          <p:nvPr/>
        </p:nvCxnSpPr>
        <p:spPr>
          <a:xfrm rot="-3579" flipH="false" flipV="false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5" id="5"/>
          <p:cNvCxnSpPr/>
          <p:nvPr/>
        </p:nvCxnSpPr>
        <p:spPr>
          <a:xfrm rot="5393633" flipH="false" flipV="false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6" id="6"/>
          <p:cNvCxnSpPr/>
          <p:nvPr/>
        </p:nvCxnSpPr>
        <p:spPr>
          <a:xfrm rot="5393633" flipH="false" flipV="false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7" id="7"/>
          <p:cNvCxnSpPr/>
          <p:nvPr/>
        </p:nvCxnSpPr>
        <p:spPr>
          <a:xfrm rot="5393633" flipH="false" flipV="false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939800"/>
            <a:ext cx="533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1854200"/>
            <a:ext cx="105664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3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库代码 + 单测全部落地（15 项全绿），剩余生产接线，从能力走进生产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812800" y="3276600"/>
            <a:ext cx="10566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E2E8F0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下一步：007/009/002 生产接线 + T999 审计接入 + 001 运行时切换——库能力已就绪，接线即生产可用。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51816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9652000" y="6248400"/>
            <a:ext cx="1727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FFFFFF">
                    <a:alpha val="4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16 / 16</a:t>
            </a:r>
            <a:endParaRPr lang="en-US" sz="1100"/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
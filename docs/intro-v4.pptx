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notesSlides/notesSlide1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Layouts/slideLayout19.xml" ContentType="application/vnd.openxmlformats-officedocument.presentationml.slideLayout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theme/theme4.xml" ContentType="application/vnd.openxmlformats-officedocument.theme+xml"/>
  <Override PartName="/ppt/tableStyles.xml" ContentType="application/vnd.openxmlformats-officedocument.presentationml.tableStyles+xml"/>
  <Override PartName="/ppt/notesSlides/notesSlide12.xml" ContentType="application/vnd.openxmlformats-officedocument.presentationml.notesSlide+xml"/>
  <Override PartName="/ppt/slides/slide5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Layouts/slideLayout21.xml" ContentType="application/vnd.openxmlformats-officedocument.presentationml.slideLayout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4.xml" ContentType="application/vnd.openxmlformats-officedocument.presentationml.notesSlide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  <Override PartName="/ppt/notesSlides/notesSlide4.xml" ContentType="application/vnd.openxmlformats-officedocument.presentationml.notesSlide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notesSlides/notesSlide11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3.xml" ContentType="application/vnd.openxmlformats-officedocument.presentationml.slideMaster+xml"/>
  <Override PartName="/ppt/theme/theme2.xml" ContentType="application/vnd.openxmlformats-officedocument.theme+xml"/>
  <Override PartName="/ppt/slideMasters/slideMaster2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p15="http://schemas.microsoft.com/office/powerpoint/2012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firstSlideNum="1" mc:Ignorable="p15">
  <p:sldMasterIdLst>
    <p:sldMasterId id="2147483648" r:id="rId0"/>
    <p:sldMasterId id="2147483660" r:id="rId1"/>
    <p:sldMasterId id="214748366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4.xml" /><Relationship Id="rId5" Type="http://schemas.openxmlformats.org/officeDocument/2006/relationships/slide" Target="slides/slide3.xml" /><Relationship Id="rId17" Type="http://schemas.openxmlformats.org/officeDocument/2006/relationships/slide" Target="slides/slide15.xml" /><Relationship Id="rId4" Type="http://schemas.openxmlformats.org/officeDocument/2006/relationships/slide" Target="slides/slide2.xml" /><Relationship Id="rId22" Type="http://schemas.openxmlformats.org/officeDocument/2006/relationships/presProps" Target="presProps.xml" /><Relationship Id="rId11" Type="http://schemas.openxmlformats.org/officeDocument/2006/relationships/slide" Target="slides/slide9.xml" /><Relationship Id="rId21" Type="http://schemas.openxmlformats.org/officeDocument/2006/relationships/notesMaster" Target="notesMasters/notesMaster1.xml" /><Relationship Id="rId7" Type="http://schemas.openxmlformats.org/officeDocument/2006/relationships/slide" Target="slides/slide5.xml" /><Relationship Id="rId3" Type="http://schemas.openxmlformats.org/officeDocument/2006/relationships/slide" Target="slides/slide1.xml" /><Relationship Id="rId20" Type="http://schemas.openxmlformats.org/officeDocument/2006/relationships/slide" Target="slides/slide18.xml" /><Relationship Id="rId2" Type="http://schemas.openxmlformats.org/officeDocument/2006/relationships/slideMaster" Target="slideMasters/slideMaster3.xml" /><Relationship Id="rId16" Type="http://schemas.openxmlformats.org/officeDocument/2006/relationships/slide" Target="slides/slide14.xml" /><Relationship Id="rId12" Type="http://schemas.openxmlformats.org/officeDocument/2006/relationships/slide" Target="slides/slide10.xml" /><Relationship Id="rId9" Type="http://schemas.openxmlformats.org/officeDocument/2006/relationships/slide" Target="slides/slide7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2.xml" /><Relationship Id="rId13" Type="http://schemas.openxmlformats.org/officeDocument/2006/relationships/slide" Target="slides/slide11.xml" /><Relationship Id="rId19" Type="http://schemas.openxmlformats.org/officeDocument/2006/relationships/slide" Target="slides/slide17.xml" /><Relationship Id="rId15" Type="http://schemas.openxmlformats.org/officeDocument/2006/relationships/slide" Target="slides/slide13.xml" /><Relationship Id="rId10" Type="http://schemas.openxmlformats.org/officeDocument/2006/relationships/slide" Target="slides/slide8.xml" /><Relationship Id="rId18" Type="http://schemas.openxmlformats.org/officeDocument/2006/relationships/slide" Target="slides/slide16.xml" /><Relationship Id="rId8" Type="http://schemas.openxmlformats.org/officeDocument/2006/relationships/slide" Target="slides/slide6.xml" /><Relationship Id="rId1" Type="http://schemas.openxmlformats.org/officeDocument/2006/relationships/slideMaster" Target="slideMasters/slideMaster2.xml" /><Relationship Id="rId24" Type="http://schemas.openxmlformats.org/officeDocument/2006/relationships/viewProps" Target="viewProps.xml" /><Relationship Id="rId23" Type="http://schemas.openxmlformats.org/officeDocument/2006/relationships/tableStyles" Target="tableStyles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3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B7268E1E-0E44-426D-905E-8AD9B19D2182}" type="datetimeFigureOut">
              <a:rPr lang="cs-CZ" smtClean="0"/>
              <a:t>08.10.2026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9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3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4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6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7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后两件是生产底座：网关韧性解决 LLM 单点，驾驶舱让成本、使用、质量、趋势四维可观测。两者改动集中、复用现有模块，收益直接。</a:t>
            </a:r>
            <a:endParaRPr/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三件套：Hooks 先单事件低成本切入，DAG 通用化现有编排，会话与工作流双版本化让工作可交接、可回放。会话级是贯穿多条补强的横切维度。</a:t>
            </a:r>
            <a:endParaRPr/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2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2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P2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是规模化生态。Dream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Cycle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Skill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/>
          </a:p>
        </p:txBody>
      </p:sp>
      <p:sp>
        <p:nvSpPr>
          <p:cNvPr id="2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3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  <a:endParaRPr/>
          </a:p>
        </p:txBody>
      </p:sp>
      <p:sp>
        <p:nvSpPr>
          <p:cNvPr id="3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  <a:endParaRPr/>
          </a:p>
        </p:txBody>
      </p:sp>
      <p:sp>
        <p:nvSpPr>
          <p:cNvPr id="4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5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6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7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  <a:endParaRPr/>
          </a:p>
        </p:txBody>
      </p:sp>
      <p:sp>
        <p:nvSpPr>
          <p:cNvPr id="48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2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53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4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  <a:endParaRPr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9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  <a:endParaRPr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6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7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8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  <a:endParaRPr/>
          </a:p>
        </p:txBody>
      </p:sp>
      <p:sp>
        <p:nvSpPr>
          <p:cNvPr id="69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0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7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7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  <a:endParaRPr/>
          </a:p>
        </p:txBody>
      </p:sp>
      <p:sp>
        <p:nvSpPr>
          <p:cNvPr id="7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  <a:endParaRPr/>
          </a:p>
        </p:txBody>
      </p:sp>
      <p:sp>
        <p:nvSpPr>
          <p:cNvPr id="8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  <a:endParaRPr/>
          </a:p>
        </p:txBody>
      </p:sp>
      <p:sp>
        <p:nvSpPr>
          <p:cNvPr id="9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9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9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MOGONG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已有九大能力域，从执行底座、知识RAG、多模态理解到部署桌面都已成型。这是后续补强的坚实基线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dirty="0"/>
          </a:p>
        </p:txBody>
      </p:sp>
      <p:sp>
        <p:nvSpPr>
          <p:cNvPr id="9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0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  <a:endParaRPr/>
          </a:p>
        </p:txBody>
      </p:sp>
      <p:sp>
        <p:nvSpPr>
          <p:cNvPr id="10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1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  <a:endParaRPr/>
          </a:p>
        </p:txBody>
      </p:sp>
      <p:sp>
        <p:nvSpPr>
          <p:cNvPr id="11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1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2.xml" /></Relationships>
</file>

<file path=ppt/slideLayouts/_rels/slideLayout1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/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obj">
  <p:cSld name="OBJEC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Obj">
  <p:cSld name="TWO_OBJECTS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woTxTwoObj">
  <p:cSld name="TWO_OBJECTS_WITH_TEXT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type="objTx">
  <p:cSld name="OBJECT_WITH_CAPTION_TEXT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/>
            <a:endParaRPr/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type="picTx">
  <p:cSld name="PICTURE_WITH_CAPTION_TEXT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type="vertTx">
  <p:cSld name="VERTICAL_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vertTitleAndTx">
  <p:cSld name="VERTICAL_TITLE_AND_VERTICAL_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a="http://schemas.openxmlformats.org/drawingml/2006/main" type="title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1666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61950" algn="ctr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  <a:endParaRPr/>
          </a:p>
        </p:txBody>
      </p:sp>
      <p:sp>
        <p:nvSpPr>
          <p:cNvPr id="7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7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7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15BA87E-0511-403F-8208-00DFF90F47E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a="http://schemas.openxmlformats.org/drawingml/2006/main" type="title">
  <p:cSld name="OBJECT"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9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0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1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2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85030D2-7057-4DDF-ADB6-784244A9F46D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p="http://schemas.openxmlformats.org/presentationml/2006/main" xmlns:a="http://schemas.openxmlformats.org/drawingml/2006/main" type="title">
  <p:cSld name="SECTION_HEADER"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1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2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93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94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BC57320-2551-4BE9-A720-62A40845B097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p="http://schemas.openxmlformats.org/presentationml/2006/main" xmlns:a="http://schemas.openxmlformats.org/drawingml/2006/main" type="title">
  <p:cSld name="TWO_OBJECTS"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7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8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9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0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01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C39A48B-50F7-4D84-82CD-39943793969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p="http://schemas.openxmlformats.org/presentationml/2006/main" xmlns:a="http://schemas.openxmlformats.org/drawingml/2006/main" type="title">
  <p:cSld name="TWO_OBJECTS_WITH_TEXT"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4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5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6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7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8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9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0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9FA9FBFF-0D92-41E1-B35A-E21CA4CFE281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p="http://schemas.openxmlformats.org/presentationml/2006/main" xmlns:a="http://schemas.openxmlformats.org/drawingml/2006/main" type="title">
  <p:cSld name="TITLE_ONLY"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1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5338049-1806-452C-A362-26701BAB893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p="http://schemas.openxmlformats.org/presentationml/2006/main" xmlns:a="http://schemas.openxmlformats.org/drawingml/2006/main" type="title">
  <p:cSld name="BLANK"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8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9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8D52007-29D0-447E-9725-1CE814C3117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p="http://schemas.openxmlformats.org/presentationml/2006/main" xmlns:a="http://schemas.openxmlformats.org/drawingml/2006/main" type="title">
  <p:cSld name="OBJECT_WITH_CAPTION_TEXT"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2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81000" algn="l">
              <a:lnSpc>
                <a:spcPct val="91666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3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4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5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26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02DCA6F-A194-4080-9006-BB4DBB3F9D28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p="http://schemas.openxmlformats.org/presentationml/2006/main" xmlns:a="http://schemas.openxmlformats.org/drawingml/2006/main" type="title">
  <p:cSld name="PICTURE_WITH_CAPTION_TEXT"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9" name="AutoShape 3"/>
          <p:cNvSpPr>
            <a:spLocks noGrp="1"/>
          </p:cNvSpPr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0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1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2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3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82A30D4-F5E0-497D-B220-A50D264F9C0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p="http://schemas.openxmlformats.org/presentationml/2006/main" xmlns:a="http://schemas.openxmlformats.org/drawingml/2006/main" type="title">
  <p:cSld name="VERTICAL_TEXT"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36" name="AutoShape 3"/>
          <p:cNvSpPr>
            <a:spLocks noGrp="1"/>
          </p:cNvSpPr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7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8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9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88FBF1B-F6B4-419F-BC46-C3FC20252815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p="http://schemas.openxmlformats.org/presentationml/2006/main" xmlns:a="http://schemas.openxmlformats.org/drawingml/2006/main" type="title">
  <p:cSld name="VERTICAL_TITLE_AND_VERTICAL_TEXT"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2"/>
          <p:cNvSpPr>
            <a:spLocks noGrp="1"/>
          </p:cNvSpPr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85" name="AutoShape 3"/>
          <p:cNvSpPr>
            <a:spLocks noGrp="1"/>
          </p:cNvSpPr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6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7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8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2328B29-69DA-442B-B55E-BF232F43205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8" Type="http://schemas.openxmlformats.org/officeDocument/2006/relationships/slideLayout" Target="../slideLayouts/slideLayout9.xml" /><Relationship Id="rId7" Type="http://schemas.openxmlformats.org/officeDocument/2006/relationships/slideLayout" Target="../slideLayouts/slideLayout8.xml" /><Relationship Id="rId5" Type="http://schemas.openxmlformats.org/officeDocument/2006/relationships/slideLayout" Target="../slideLayouts/slideLayout6.xml" /><Relationship Id="rId3" Type="http://schemas.openxmlformats.org/officeDocument/2006/relationships/slideLayout" Target="../slideLayouts/slideLayout4.xml" /><Relationship Id="rId2" Type="http://schemas.openxmlformats.org/officeDocument/2006/relationships/slideLayout" Target="../slideLayouts/slideLayout3.xml" /><Relationship Id="rId11" Type="http://schemas.openxmlformats.org/officeDocument/2006/relationships/theme" Target="../theme/theme1.xml" /><Relationship Id="rId6" Type="http://schemas.openxmlformats.org/officeDocument/2006/relationships/slideLayout" Target="../slideLayouts/slideLayout7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Relationship Id="rId4" Type="http://schemas.openxmlformats.org/officeDocument/2006/relationships/slideLayout" Target="../slideLayouts/slideLayout5.xml" /><Relationship Id="rId0" Type="http://schemas.openxmlformats.org/officeDocument/2006/relationships/slideLayout" Target="../slideLayouts/slideLayout1.xml" 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 /><Relationship Id="rId0" Type="http://schemas.openxmlformats.org/officeDocument/2006/relationships/slideLayout" Target="../slideLayouts/slideLayout12.xml" /></Relationships>
</file>

<file path=ppt/slideMasters/_rels/slideMaster3.xml.rels><?xml version="1.0" encoding="UTF-8" standalone="yes"?><Relationships xmlns="http://schemas.openxmlformats.org/package/2006/relationships"><Relationship Id="rId8" Type="http://schemas.openxmlformats.org/officeDocument/2006/relationships/slideLayout" Target="../slideLayouts/slideLayout21.xml" /><Relationship Id="rId6" Type="http://schemas.openxmlformats.org/officeDocument/2006/relationships/slideLayout" Target="../slideLayouts/slideLayout19.xml" /><Relationship Id="rId7" Type="http://schemas.openxmlformats.org/officeDocument/2006/relationships/slideLayout" Target="../slideLayouts/slideLayout20.xml" /><Relationship Id="rId5" Type="http://schemas.openxmlformats.org/officeDocument/2006/relationships/slideLayout" Target="../slideLayouts/slideLayout18.xml" /><Relationship Id="rId0" Type="http://schemas.openxmlformats.org/officeDocument/2006/relationships/slideLayout" Target="../slideLayouts/slideLayout13.xml" /><Relationship Id="rId4" Type="http://schemas.openxmlformats.org/officeDocument/2006/relationships/slideLayout" Target="../slideLayouts/slideLayout17.xml" /><Relationship Id="rId3" Type="http://schemas.openxmlformats.org/officeDocument/2006/relationships/slideLayout" Target="../slideLayouts/slideLayout16.xml" /><Relationship Id="rId2" Type="http://schemas.openxmlformats.org/officeDocument/2006/relationships/slideLayout" Target="../slideLayouts/slideLayout15.xml" /><Relationship Id="rId11" Type="http://schemas.openxmlformats.org/officeDocument/2006/relationships/theme" Target="../theme/theme4.xml" /><Relationship Id="rId10" Type="http://schemas.openxmlformats.org/officeDocument/2006/relationships/slideLayout" Target="../slideLayouts/slideLayout23.xml" /><Relationship Id="rId9" Type="http://schemas.openxmlformats.org/officeDocument/2006/relationships/slideLayout" Target="../slideLayouts/slideLayout22.xml" /><Relationship Id="rId1" Type="http://schemas.openxmlformats.org/officeDocument/2006/relationships/slideLayout" Target="../slideLayouts/slideLayout14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/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1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B99EBBD-B61C-45CA-BD84-CCB153DD23F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0"/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1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3.xml" /><Relationship Id="rId0" Type="http://schemas.openxmlformats.org/officeDocument/2006/relationships/slideLayout" Target="../slideLayouts/slideLayout12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4.xml" /><Relationship Id="rId0" Type="http://schemas.openxmlformats.org/officeDocument/2006/relationships/slideLayout" Target="../slideLayouts/slideLayout1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5.xml" /><Relationship Id="rId0" Type="http://schemas.openxmlformats.org/officeDocument/2006/relationships/slideLayout" Target="../slideLayouts/slideLayout1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1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2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1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12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12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1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12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12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12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12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12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12.xml" 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4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7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8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0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1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id="422" name="AutoShape 10"/>
          <p:cNvSpPr/>
          <p:nvPr/>
        </p:nvSpPr>
        <p:spPr>
          <a:xfrm>
            <a:off x="812800" y="2489200"/>
            <a:ext cx="10566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id="423" name="AutoShape 11"/>
          <p:cNvSpPr/>
          <p:nvPr/>
        </p:nvSpPr>
        <p:spPr>
          <a:xfrm>
            <a:off x="812800" y="32512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id="424" name="AutoShape 12"/>
          <p:cNvSpPr/>
          <p:nvPr/>
        </p:nvSpPr>
        <p:spPr>
          <a:xfrm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5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3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2026-10-23 · v0.2.5 已发布</a:t>
            </a:r>
            <a:endParaRPr lang="zh-CN" sz="1300" b="0" i="0" u="none" strike="noStrike">
              <a:solidFill>
                <a:srgbClr val="FFFFFF">
                  <a:alpha val="45098"/>
                </a:srgbClr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28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id="429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DSH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管运行，墨攻管进企业</a:t>
            </a:r>
            <a:endParaRPr lang="en-US" sz="1100" dirty="0"/>
          </a:p>
        </p:txBody>
      </p:sp>
      <p:cxnSp>
        <p:nvCxnSpPr>
          <p:cNvPr id="430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1" name="AutoShape 6"/>
          <p:cNvSpPr/>
          <p:nvPr/>
        </p:nvSpPr>
        <p:spPr>
          <a:xfrm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2" name="AutoShape 7"/>
          <p:cNvSpPr/>
          <p:nvPr/>
        </p:nvSpPr>
        <p:spPr>
          <a:xfrm>
            <a:off x="1092200" y="2032000"/>
            <a:ext cx="3251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id="433" name="AutoShape 8"/>
          <p:cNvSpPr/>
          <p:nvPr/>
        </p:nvSpPr>
        <p:spPr>
          <a:xfrm>
            <a:off x="1092200" y="2438400"/>
            <a:ext cx="3251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7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id="434" name="AutoShape 9"/>
          <p:cNvSpPr/>
          <p:nvPr/>
        </p:nvSpPr>
        <p:spPr>
          <a:xfrm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5" name="AutoShape 10"/>
          <p:cNvSpPr/>
          <p:nvPr/>
        </p:nvSpPr>
        <p:spPr>
          <a:xfrm>
            <a:off x="1092200" y="3860800"/>
            <a:ext cx="3251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id="436" name="AutoShape 11"/>
          <p:cNvSpPr/>
          <p:nvPr/>
        </p:nvSpPr>
        <p:spPr>
          <a:xfrm>
            <a:off x="5029200" y="1778000"/>
            <a:ext cx="635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id="437" name="AutoShape 12"/>
          <p:cNvSpPr/>
          <p:nvPr/>
        </p:nvSpPr>
        <p:spPr>
          <a:xfrm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8" name="AutoShape 13"/>
          <p:cNvSpPr/>
          <p:nvPr/>
        </p:nvSpPr>
        <p:spPr>
          <a:xfrm>
            <a:off x="5257800" y="22606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id="439" name="AutoShape 14"/>
          <p:cNvSpPr/>
          <p:nvPr/>
        </p:nvSpPr>
        <p:spPr>
          <a:xfrm>
            <a:off x="5867400" y="22606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id="440" name="AutoShape 15"/>
          <p:cNvSpPr/>
          <p:nvPr/>
        </p:nvSpPr>
        <p:spPr>
          <a:xfrm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1" name="AutoShape 16"/>
          <p:cNvSpPr/>
          <p:nvPr/>
        </p:nvSpPr>
        <p:spPr>
          <a:xfrm>
            <a:off x="5257800" y="30480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id="442" name="AutoShape 17"/>
          <p:cNvSpPr/>
          <p:nvPr/>
        </p:nvSpPr>
        <p:spPr>
          <a:xfrm>
            <a:off x="5867400" y="30480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id="443" name="AutoShape 18"/>
          <p:cNvSpPr/>
          <p:nvPr/>
        </p:nvSpPr>
        <p:spPr>
          <a:xfrm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4" name="AutoShape 19"/>
          <p:cNvSpPr/>
          <p:nvPr/>
        </p:nvSpPr>
        <p:spPr>
          <a:xfrm>
            <a:off x="5257800" y="38354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id="445" name="AutoShape 20"/>
          <p:cNvSpPr/>
          <p:nvPr/>
        </p:nvSpPr>
        <p:spPr>
          <a:xfrm>
            <a:off x="5867400" y="38354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id="446" name="AutoShape 21"/>
          <p:cNvSpPr/>
          <p:nvPr/>
        </p:nvSpPr>
        <p:spPr>
          <a:xfrm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7" name="AutoShape 22"/>
          <p:cNvSpPr/>
          <p:nvPr/>
        </p:nvSpPr>
        <p:spPr>
          <a:xfrm>
            <a:off x="5257800" y="46228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id="448" name="AutoShape 23"/>
          <p:cNvSpPr/>
          <p:nvPr/>
        </p:nvSpPr>
        <p:spPr>
          <a:xfrm>
            <a:off x="5867400" y="46228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id="449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50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 / 18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圆角矩形 343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3" name="矩形 344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4" name="圆角矩形 345"/>
          <p:cNvSpPr/>
          <p:nvPr/>
        </p:nvSpPr>
        <p:spPr>
          <a:xfrm>
            <a:off x="812800" y="1676400"/>
            <a:ext cx="10566400" cy="3632200"/>
          </a:xfrm>
          <a:prstGeom prst="roundRect">
            <a:avLst>
              <a:gd name="adj" fmla="val 437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5" name="圆角矩形 346"/>
          <p:cNvSpPr/>
          <p:nvPr/>
        </p:nvSpPr>
        <p:spPr>
          <a:xfrm>
            <a:off x="1016000" y="1879600"/>
            <a:ext cx="1600200" cy="2794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6" name="圆角矩形 347"/>
          <p:cNvSpPr/>
          <p:nvPr/>
        </p:nvSpPr>
        <p:spPr>
          <a:xfrm>
            <a:off x="812800" y="2489200"/>
            <a:ext cx="2006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7" name="圆角矩形 348"/>
          <p:cNvSpPr/>
          <p:nvPr/>
        </p:nvSpPr>
        <p:spPr>
          <a:xfrm>
            <a:off x="1016000" y="3378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8" name="圆角矩形 349"/>
          <p:cNvSpPr/>
          <p:nvPr/>
        </p:nvSpPr>
        <p:spPr>
          <a:xfrm>
            <a:off x="1016000" y="3759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9" name="圆角矩形 350"/>
          <p:cNvSpPr/>
          <p:nvPr/>
        </p:nvSpPr>
        <p:spPr>
          <a:xfrm>
            <a:off x="1016000" y="4140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0" name="圆角矩形 351"/>
          <p:cNvSpPr/>
          <p:nvPr/>
        </p:nvSpPr>
        <p:spPr>
          <a:xfrm>
            <a:off x="1016000" y="4521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1" name="圆角矩形 352"/>
          <p:cNvSpPr/>
          <p:nvPr/>
        </p:nvSpPr>
        <p:spPr>
          <a:xfrm>
            <a:off x="31750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2" name="圆角矩形 353"/>
          <p:cNvSpPr/>
          <p:nvPr/>
        </p:nvSpPr>
        <p:spPr>
          <a:xfrm>
            <a:off x="33782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3" name="圆角矩形 354"/>
          <p:cNvSpPr/>
          <p:nvPr/>
        </p:nvSpPr>
        <p:spPr>
          <a:xfrm>
            <a:off x="33782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4" name="圆角矩形 355"/>
          <p:cNvSpPr/>
          <p:nvPr/>
        </p:nvSpPr>
        <p:spPr>
          <a:xfrm>
            <a:off x="33782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5" name="圆角矩形 356"/>
          <p:cNvSpPr/>
          <p:nvPr/>
        </p:nvSpPr>
        <p:spPr>
          <a:xfrm>
            <a:off x="33782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6" name="圆角矩形 357"/>
          <p:cNvSpPr/>
          <p:nvPr/>
        </p:nvSpPr>
        <p:spPr>
          <a:xfrm>
            <a:off x="60198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7" name="圆角矩形 358"/>
          <p:cNvSpPr/>
          <p:nvPr/>
        </p:nvSpPr>
        <p:spPr>
          <a:xfrm>
            <a:off x="62230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8" name="圆角矩形 359"/>
          <p:cNvSpPr/>
          <p:nvPr/>
        </p:nvSpPr>
        <p:spPr>
          <a:xfrm>
            <a:off x="62230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9" name="圆角矩形 360"/>
          <p:cNvSpPr/>
          <p:nvPr/>
        </p:nvSpPr>
        <p:spPr>
          <a:xfrm>
            <a:off x="62230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0" name="圆角矩形 361"/>
          <p:cNvSpPr/>
          <p:nvPr/>
        </p:nvSpPr>
        <p:spPr>
          <a:xfrm>
            <a:off x="62230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1" name="圆角矩形 362"/>
          <p:cNvSpPr/>
          <p:nvPr/>
        </p:nvSpPr>
        <p:spPr>
          <a:xfrm>
            <a:off x="8864600" y="2489200"/>
            <a:ext cx="2514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2" name="圆角矩形 363"/>
          <p:cNvSpPr/>
          <p:nvPr/>
        </p:nvSpPr>
        <p:spPr>
          <a:xfrm>
            <a:off x="9067800" y="2641600"/>
            <a:ext cx="21082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3" name="圆角矩形 364"/>
          <p:cNvSpPr/>
          <p:nvPr/>
        </p:nvSpPr>
        <p:spPr>
          <a:xfrm>
            <a:off x="9067800" y="2946400"/>
            <a:ext cx="2108200" cy="7366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4" name="圆角矩形 365"/>
          <p:cNvSpPr/>
          <p:nvPr/>
        </p:nvSpPr>
        <p:spPr>
          <a:xfrm>
            <a:off x="9067800" y="3835400"/>
            <a:ext cx="2108200" cy="5588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5" name="圆角矩形 366"/>
          <p:cNvSpPr/>
          <p:nvPr/>
        </p:nvSpPr>
        <p:spPr>
          <a:xfrm>
            <a:off x="9067800" y="4521200"/>
            <a:ext cx="2108200" cy="381000"/>
          </a:xfrm>
          <a:prstGeom prst="roundRect">
            <a:avLst>
              <a:gd name="adj" fmla="val 437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6" name="圆角矩形 367"/>
          <p:cNvSpPr/>
          <p:nvPr/>
        </p:nvSpPr>
        <p:spPr>
          <a:xfrm>
            <a:off x="812800" y="5511800"/>
            <a:ext cx="10566400" cy="660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7" name="圆角矩形 368"/>
          <p:cNvSpPr/>
          <p:nvPr/>
        </p:nvSpPr>
        <p:spPr>
          <a:xfrm>
            <a:off x="1066800" y="5664200"/>
            <a:ext cx="1422400" cy="355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8" name="直线连接符 369"/>
          <p:cNvSpPr/>
          <p:nvPr/>
        </p:nvSpPr>
        <p:spPr>
          <a:xfrm>
            <a:off x="28448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9" name="直线连接符 370"/>
          <p:cNvSpPr/>
          <p:nvPr/>
        </p:nvSpPr>
        <p:spPr>
          <a:xfrm>
            <a:off x="56896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0" name="直线连接符 371"/>
          <p:cNvSpPr/>
          <p:nvPr/>
        </p:nvSpPr>
        <p:spPr>
          <a:xfrm>
            <a:off x="85344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1" name="直线连接符 372"/>
          <p:cNvSpPr/>
          <p:nvPr/>
        </p:nvSpPr>
        <p:spPr>
          <a:xfrm>
            <a:off x="2819400" y="2159000"/>
            <a:ext cx="0" cy="2794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2" name="直线连接符 373"/>
          <p:cNvSpPr/>
          <p:nvPr/>
        </p:nvSpPr>
        <p:spPr>
          <a:xfrm>
            <a:off x="4419600" y="5130800"/>
            <a:ext cx="0" cy="3302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3" name="矩形 374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>
                <a:solidFill>
                  <a:srgbClr val="0D9488"/>
                </a:solidFill>
                <a:latin typeface="Hiragino Sans GB"/>
                <a:ea typeface="Hiragino Sans GB"/>
              </a:rPr>
              <a:t>02 · 架构总览</a:t>
            </a:r>
            <a:endParaRPr/>
          </a:p>
        </p:txBody>
      </p:sp>
      <p:sp>
        <p:nvSpPr>
          <p:cNvPr id="484" name="矩形 375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DSH 执行底座 + 墨攻企业层，四层分工与关键挂载点</a:t>
            </a:r>
            <a:endParaRPr/>
          </a:p>
        </p:txBody>
      </p:sp>
      <p:sp>
        <p:nvSpPr>
          <p:cNvPr id="485" name="矩形 376"/>
          <p:cNvSpPr/>
          <p:nvPr/>
        </p:nvSpPr>
        <p:spPr>
          <a:xfrm>
            <a:off x="1016000" y="18796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接入层</a:t>
            </a:r>
            <a:endParaRPr/>
          </a:p>
        </p:txBody>
      </p:sp>
      <p:sp>
        <p:nvSpPr>
          <p:cNvPr id="486" name="矩形 377"/>
          <p:cNvSpPr/>
          <p:nvPr/>
        </p:nvSpPr>
        <p:spPr>
          <a:xfrm>
            <a:off x="1016000" y="2209800"/>
            <a:ext cx="1600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谁在用</a:t>
            </a:r>
            <a:endParaRPr/>
          </a:p>
        </p:txBody>
      </p:sp>
      <p:sp>
        <p:nvSpPr>
          <p:cNvPr id="487" name="矩形 378"/>
          <p:cNvSpPr/>
          <p:nvPr/>
        </p:nvSpPr>
        <p:spPr>
          <a:xfrm>
            <a:off x="1016000" y="3378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user-web</a:t>
            </a:r>
            <a:endParaRPr dirty="0"/>
          </a:p>
        </p:txBody>
      </p:sp>
      <p:sp>
        <p:nvSpPr>
          <p:cNvPr id="488" name="矩形 379"/>
          <p:cNvSpPr/>
          <p:nvPr/>
        </p:nvSpPr>
        <p:spPr>
          <a:xfrm>
            <a:off x="1016000" y="3759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admin-web</a:t>
            </a:r>
            <a:endParaRPr/>
          </a:p>
        </p:txBody>
      </p:sp>
      <p:sp>
        <p:nvSpPr>
          <p:cNvPr id="489" name="矩形 380"/>
          <p:cNvSpPr/>
          <p:nvPr/>
        </p:nvSpPr>
        <p:spPr>
          <a:xfrm>
            <a:off x="1016000" y="4140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Desktop</a:t>
            </a:r>
            <a:endParaRPr/>
          </a:p>
        </p:txBody>
      </p:sp>
      <p:sp>
        <p:nvSpPr>
          <p:cNvPr id="490" name="矩形 381"/>
          <p:cNvSpPr/>
          <p:nvPr/>
        </p:nvSpPr>
        <p:spPr>
          <a:xfrm>
            <a:off x="1016000" y="4521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多 IM / A2A</a:t>
            </a:r>
            <a:endParaRPr/>
          </a:p>
        </p:txBody>
      </p:sp>
      <p:sp>
        <p:nvSpPr>
          <p:cNvPr id="491" name="矩形 382"/>
          <p:cNvSpPr/>
          <p:nvPr/>
        </p:nvSpPr>
        <p:spPr>
          <a:xfrm>
            <a:off x="33782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编排层  chat-api</a:t>
            </a:r>
            <a:endParaRPr dirty="0"/>
          </a:p>
        </p:txBody>
      </p:sp>
      <p:sp>
        <p:nvSpPr>
          <p:cNvPr id="492" name="矩形 383"/>
          <p:cNvSpPr/>
          <p:nvPr/>
        </p:nvSpPr>
        <p:spPr>
          <a:xfrm>
            <a:off x="33782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FastAPI · 会话 / DAG 编排</a:t>
            </a:r>
            <a:endParaRPr/>
          </a:p>
        </p:txBody>
      </p:sp>
      <p:sp>
        <p:nvSpPr>
          <p:cNvPr id="493" name="矩形 384"/>
          <p:cNvSpPr/>
          <p:nvPr/>
        </p:nvSpPr>
        <p:spPr>
          <a:xfrm>
            <a:off x="33782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Hooks 五事件 · 任务准入
多智能体与子智能体调度</a:t>
            </a:r>
            <a:endParaRPr/>
          </a:p>
        </p:txBody>
      </p:sp>
      <p:sp>
        <p:nvSpPr>
          <p:cNvPr id="494" name="矩形 385"/>
          <p:cNvSpPr/>
          <p:nvPr/>
        </p:nvSpPr>
        <p:spPr>
          <a:xfrm>
            <a:off x="33782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LLM 网关（故障转移 · 降级 · 计量）</a:t>
            </a:r>
            <a:endParaRPr/>
          </a:p>
        </p:txBody>
      </p:sp>
      <p:sp>
        <p:nvSpPr>
          <p:cNvPr id="495" name="矩形 386"/>
          <p:cNvSpPr/>
          <p:nvPr/>
        </p:nvSpPr>
        <p:spPr>
          <a:xfrm>
            <a:off x="3378200" y="4533900"/>
            <a:ext cx="2082800" cy="381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047857"/>
                </a:solidFill>
                <a:latin typeface="Hiragino Sans GB"/>
                <a:ea typeface="Hiragino Sans GB"/>
              </a:rPr>
              <a:t>挂载：RBAC 码 · 审批 · 配额 · 审计</a:t>
            </a:r>
            <a:endParaRPr dirty="0"/>
          </a:p>
        </p:txBody>
      </p:sp>
      <p:sp>
        <p:nvSpPr>
          <p:cNvPr id="496" name="矩形 387"/>
          <p:cNvSpPr/>
          <p:nvPr/>
        </p:nvSpPr>
        <p:spPr>
          <a:xfrm>
            <a:off x="62230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治理层  admin-api</a:t>
            </a:r>
            <a:endParaRPr dirty="0"/>
          </a:p>
        </p:txBody>
      </p:sp>
      <p:sp>
        <p:nvSpPr>
          <p:cNvPr id="497" name="矩形 388"/>
          <p:cNvSpPr/>
          <p:nvPr/>
        </p:nvSpPr>
        <p:spPr>
          <a:xfrm>
            <a:off x="62230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Gatekeeper 六层串行门禁</a:t>
            </a:r>
            <a:endParaRPr/>
          </a:p>
        </p:txBody>
      </p:sp>
      <p:sp>
        <p:nvSpPr>
          <p:cNvPr id="498" name="矩形 389"/>
          <p:cNvSpPr/>
          <p:nvPr/>
        </p:nvSpPr>
        <p:spPr>
          <a:xfrm>
            <a:off x="62230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身份 → RBAC → 脱敏 → 审批
→ 配额 → 审计（R4 红线不可覆盖）</a:t>
            </a:r>
            <a:endParaRPr/>
          </a:p>
        </p:txBody>
      </p:sp>
      <p:sp>
        <p:nvSpPr>
          <p:cNvPr id="499" name="矩形 390"/>
          <p:cNvSpPr/>
          <p:nvPr/>
        </p:nvSpPr>
        <p:spPr>
          <a:xfrm>
            <a:off x="62230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R0–R4 风险 × L1–L5 自主矩阵</a:t>
            </a:r>
            <a:endParaRPr/>
          </a:p>
        </p:txBody>
      </p:sp>
      <p:sp>
        <p:nvSpPr>
          <p:cNvPr id="500" name="矩形 391"/>
          <p:cNvSpPr/>
          <p:nvPr/>
        </p:nvSpPr>
        <p:spPr>
          <a:xfrm>
            <a:off x="6223000" y="4521200"/>
            <a:ext cx="2082800" cy="393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1D4ED8"/>
                </a:solidFill>
                <a:latin typeface="Hiragino Sans GB"/>
                <a:ea typeface="Hiragino Sans GB"/>
              </a:rPr>
              <a:t>fail-closed 默认拒绝</a:t>
            </a:r>
            <a:endParaRPr dirty="0"/>
          </a:p>
        </p:txBody>
      </p:sp>
      <p:sp>
        <p:nvSpPr>
          <p:cNvPr id="501" name="矩形 392"/>
          <p:cNvSpPr/>
          <p:nvPr/>
        </p:nvSpPr>
        <p:spPr>
          <a:xfrm>
            <a:off x="9067800" y="26797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执行底座  DSH</a:t>
            </a:r>
            <a:endParaRPr/>
          </a:p>
        </p:txBody>
      </p:sp>
      <p:sp>
        <p:nvSpPr>
          <p:cNvPr id="502" name="矩形 393"/>
          <p:cNvSpPr/>
          <p:nvPr/>
        </p:nvSpPr>
        <p:spPr>
          <a:xfrm>
            <a:off x="9067800" y="3073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dsh-runtime-host（Node）</a:t>
            </a:r>
            <a:endParaRPr/>
          </a:p>
        </p:txBody>
      </p:sp>
      <p:sp>
        <p:nvSpPr>
          <p:cNvPr id="503" name="矩形 394"/>
          <p:cNvSpPr/>
          <p:nvPr/>
        </p:nvSpPr>
        <p:spPr>
          <a:xfrm>
            <a:off x="9067800" y="3276600"/>
            <a:ext cx="21082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任务规划 · 工具调用 · Skill
子智能体 · 受控执行</a:t>
            </a:r>
            <a:endParaRPr/>
          </a:p>
        </p:txBody>
      </p:sp>
      <p:sp>
        <p:nvSpPr>
          <p:cNvPr id="504" name="矩形 395"/>
          <p:cNvSpPr/>
          <p:nvPr/>
        </p:nvSpPr>
        <p:spPr>
          <a:xfrm>
            <a:off x="9067800" y="3962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MCP 工具桥 · 模型网关</a:t>
            </a:r>
            <a:endParaRPr/>
          </a:p>
        </p:txBody>
      </p:sp>
      <p:sp>
        <p:nvSpPr>
          <p:cNvPr id="505" name="矩形 396"/>
          <p:cNvSpPr/>
          <p:nvPr/>
        </p:nvSpPr>
        <p:spPr>
          <a:xfrm>
            <a:off x="9067800" y="4648200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6D28D9"/>
                </a:solidFill>
                <a:latin typeface="Hiragino Sans GB"/>
                <a:ea typeface="Hiragino Sans GB"/>
              </a:rPr>
              <a:t>水平扩展：sticky 路由</a:t>
            </a:r>
            <a:endParaRPr/>
          </a:p>
        </p:txBody>
      </p:sp>
      <p:sp>
        <p:nvSpPr>
          <p:cNvPr id="506" name="矩形 397"/>
          <p:cNvSpPr/>
          <p:nvPr/>
        </p:nvSpPr>
        <p:spPr>
          <a:xfrm>
            <a:off x="1066800" y="5664200"/>
            <a:ext cx="14224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数据与知识</a:t>
            </a:r>
            <a:endParaRPr dirty="0"/>
          </a:p>
        </p:txBody>
      </p:sp>
      <p:sp>
        <p:nvSpPr>
          <p:cNvPr id="507" name="矩形 398"/>
          <p:cNvSpPr/>
          <p:nvPr/>
        </p:nvSpPr>
        <p:spPr>
          <a:xfrm>
            <a:off x="2692400" y="5524500"/>
            <a:ext cx="1905000" cy="647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200" dirty="0">
                <a:solidFill>
                  <a:srgbClr val="0F172A"/>
                </a:solidFill>
                <a:latin typeface="Hiragino Sans GB"/>
                <a:ea typeface="Hiragino Sans GB"/>
              </a:rPr>
              <a:t>MongoDB · Redis · Weaviate</a:t>
            </a:r>
            <a:endParaRPr dirty="0"/>
          </a:p>
        </p:txBody>
      </p:sp>
      <p:sp>
        <p:nvSpPr>
          <p:cNvPr id="508" name="矩形 399"/>
          <p:cNvSpPr/>
          <p:nvPr/>
        </p:nvSpPr>
        <p:spPr>
          <a:xfrm>
            <a:off x="5080000" y="5765800"/>
            <a:ext cx="61468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 dirty="0">
                <a:solidFill>
                  <a:srgbClr val="64748B"/>
                </a:solidFill>
                <a:latin typeface="Hiragino Sans GB"/>
                <a:ea typeface="Hiragino Sans GB"/>
              </a:rPr>
              <a:t>会话与绑定 · 凭据 · 事件流 · 多租户隔离· 上下文寻址· 向量检索与知识图谱</a:t>
            </a:r>
            <a:endParaRPr dirty="0"/>
          </a:p>
        </p:txBody>
      </p:sp>
      <p:sp>
        <p:nvSpPr>
          <p:cNvPr id="509" name="矩形 400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510" name="矩形 401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3 / 18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id="51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id="51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6" name="AutoShape 6"/>
          <p:cNvSpPr/>
          <p:nvPr/>
        </p:nvSpPr>
        <p:spPr>
          <a:xfrm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7" name="AutoShape 7"/>
          <p:cNvSpPr/>
          <p:nvPr/>
        </p:nvSpPr>
        <p:spPr>
          <a:xfrm>
            <a:off x="10414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id="518" name="AutoShape 8"/>
          <p:cNvSpPr/>
          <p:nvPr/>
        </p:nvSpPr>
        <p:spPr>
          <a:xfrm>
            <a:off x="10414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id="519" name="AutoShape 9"/>
          <p:cNvSpPr/>
          <p:nvPr/>
        </p:nvSpPr>
        <p:spPr>
          <a:xfrm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0" name="AutoShape 10"/>
          <p:cNvSpPr/>
          <p:nvPr/>
        </p:nvSpPr>
        <p:spPr>
          <a:xfrm>
            <a:off x="46228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id="521" name="AutoShape 11"/>
          <p:cNvSpPr/>
          <p:nvPr/>
        </p:nvSpPr>
        <p:spPr>
          <a:xfrm>
            <a:off x="46228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id="522" name="AutoShape 12"/>
          <p:cNvSpPr/>
          <p:nvPr/>
        </p:nvSpPr>
        <p:spPr>
          <a:xfrm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3" name="AutoShape 13"/>
          <p:cNvSpPr/>
          <p:nvPr/>
        </p:nvSpPr>
        <p:spPr>
          <a:xfrm>
            <a:off x="82042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id="524" name="AutoShape 14"/>
          <p:cNvSpPr/>
          <p:nvPr/>
        </p:nvSpPr>
        <p:spPr>
          <a:xfrm>
            <a:off x="82042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id="525" name="AutoShape 15"/>
          <p:cNvSpPr/>
          <p:nvPr/>
        </p:nvSpPr>
        <p:spPr>
          <a:xfrm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6" name="AutoShape 16"/>
          <p:cNvSpPr/>
          <p:nvPr/>
        </p:nvSpPr>
        <p:spPr>
          <a:xfrm>
            <a:off x="10414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id="527" name="AutoShape 17"/>
          <p:cNvSpPr/>
          <p:nvPr/>
        </p:nvSpPr>
        <p:spPr>
          <a:xfrm>
            <a:off x="10414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id="528" name="AutoShape 18"/>
          <p:cNvSpPr/>
          <p:nvPr/>
        </p:nvSpPr>
        <p:spPr>
          <a:xfrm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9" name="AutoShape 19"/>
          <p:cNvSpPr/>
          <p:nvPr/>
        </p:nvSpPr>
        <p:spPr>
          <a:xfrm>
            <a:off x="46228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id="530" name="AutoShape 20"/>
          <p:cNvSpPr/>
          <p:nvPr/>
        </p:nvSpPr>
        <p:spPr>
          <a:xfrm>
            <a:off x="46228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id="531" name="AutoShape 21"/>
          <p:cNvSpPr/>
          <p:nvPr/>
        </p:nvSpPr>
        <p:spPr>
          <a:xfrm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2" name="AutoShape 22"/>
          <p:cNvSpPr/>
          <p:nvPr/>
        </p:nvSpPr>
        <p:spPr>
          <a:xfrm>
            <a:off x="82042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id="533" name="AutoShape 23"/>
          <p:cNvSpPr/>
          <p:nvPr/>
        </p:nvSpPr>
        <p:spPr>
          <a:xfrm>
            <a:off x="82042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id="534" name="AutoShape 24"/>
          <p:cNvSpPr/>
          <p:nvPr/>
        </p:nvSpPr>
        <p:spPr>
          <a:xfrm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5" name="AutoShape 25"/>
          <p:cNvSpPr/>
          <p:nvPr/>
        </p:nvSpPr>
        <p:spPr>
          <a:xfrm>
            <a:off x="10414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id="536" name="AutoShape 26"/>
          <p:cNvSpPr/>
          <p:nvPr/>
        </p:nvSpPr>
        <p:spPr>
          <a:xfrm>
            <a:off x="10414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id="537" name="AutoShape 27"/>
          <p:cNvSpPr/>
          <p:nvPr/>
        </p:nvSpPr>
        <p:spPr>
          <a:xfrm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8" name="AutoShape 28"/>
          <p:cNvSpPr/>
          <p:nvPr/>
        </p:nvSpPr>
        <p:spPr>
          <a:xfrm>
            <a:off x="46228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id="539" name="AutoShape 29"/>
          <p:cNvSpPr/>
          <p:nvPr/>
        </p:nvSpPr>
        <p:spPr>
          <a:xfrm>
            <a:off x="46228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服务、自托管、模型数据自主</a:t>
            </a:r>
            <a:endParaRPr lang="en-US" sz="1100"/>
          </a:p>
        </p:txBody>
      </p:sp>
      <p:sp>
        <p:nvSpPr>
          <p:cNvPr id="540" name="AutoShape 30"/>
          <p:cNvSpPr/>
          <p:nvPr/>
        </p:nvSpPr>
        <p:spPr>
          <a:xfrm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1" name="AutoShape 31"/>
          <p:cNvSpPr/>
          <p:nvPr/>
        </p:nvSpPr>
        <p:spPr>
          <a:xfrm>
            <a:off x="82042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id="542" name="AutoShape 32"/>
          <p:cNvSpPr/>
          <p:nvPr/>
        </p:nvSpPr>
        <p:spPr>
          <a:xfrm>
            <a:off x="82042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id="543" name="AutoShape 3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44" name="AutoShape 3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/ 18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7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id="548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id="549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0" name="AutoShape 6"/>
          <p:cNvSpPr/>
          <p:nvPr/>
        </p:nvSpPr>
        <p:spPr>
          <a:xfrm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1" name="AutoShape 7"/>
          <p:cNvSpPr/>
          <p:nvPr/>
        </p:nvSpPr>
        <p:spPr>
          <a:xfrm>
            <a:off x="1066800" y="17272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id="552" name="AutoShape 8"/>
          <p:cNvSpPr/>
          <p:nvPr/>
        </p:nvSpPr>
        <p:spPr>
          <a:xfrm>
            <a:off x="3962400" y="17272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 + CLI 启动器 + 备份/恢复，生产运维底座已就绪</a:t>
            </a:r>
            <a:endParaRPr lang="en-US" sz="1100"/>
          </a:p>
        </p:txBody>
      </p:sp>
      <p:sp>
        <p:nvSpPr>
          <p:cNvPr id="553" name="AutoShape 9"/>
          <p:cNvSpPr/>
          <p:nvPr/>
        </p:nvSpPr>
        <p:spPr>
          <a:xfrm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4" name="AutoShape 10"/>
          <p:cNvSpPr/>
          <p:nvPr/>
        </p:nvSpPr>
        <p:spPr>
          <a:xfrm>
            <a:off x="1066800" y="24638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id="555" name="AutoShape 11"/>
          <p:cNvSpPr/>
          <p:nvPr/>
        </p:nvSpPr>
        <p:spPr>
          <a:xfrm>
            <a:off x="3962400" y="24638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id="556" name="AutoShape 12"/>
          <p:cNvSpPr/>
          <p:nvPr/>
        </p:nvSpPr>
        <p:spPr>
          <a:xfrm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7" name="AutoShape 13"/>
          <p:cNvSpPr/>
          <p:nvPr/>
        </p:nvSpPr>
        <p:spPr>
          <a:xfrm>
            <a:off x="1066800" y="32004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id="558" name="AutoShape 14"/>
          <p:cNvSpPr/>
          <p:nvPr/>
        </p:nvSpPr>
        <p:spPr>
          <a:xfrm>
            <a:off x="3962400" y="32004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id="559" name="AutoShape 15"/>
          <p:cNvSpPr/>
          <p:nvPr/>
        </p:nvSpPr>
        <p:spPr>
          <a:xfrm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0" name="AutoShape 16"/>
          <p:cNvSpPr/>
          <p:nvPr/>
        </p:nvSpPr>
        <p:spPr>
          <a:xfrm>
            <a:off x="1066800" y="39370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id="561" name="AutoShape 17"/>
          <p:cNvSpPr/>
          <p:nvPr/>
        </p:nvSpPr>
        <p:spPr>
          <a:xfrm>
            <a:off x="3962400" y="39370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id="562" name="AutoShape 18"/>
          <p:cNvSpPr/>
          <p:nvPr/>
        </p:nvSpPr>
        <p:spPr>
          <a:xfrm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3" name="AutoShape 19"/>
          <p:cNvSpPr/>
          <p:nvPr/>
        </p:nvSpPr>
        <p:spPr>
          <a:xfrm>
            <a:off x="1066800" y="46736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id="564" name="AutoShape 20"/>
          <p:cNvSpPr/>
          <p:nvPr/>
        </p:nvSpPr>
        <p:spPr>
          <a:xfrm>
            <a:off x="3962400" y="46736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id="565" name="AutoShape 21"/>
          <p:cNvSpPr/>
          <p:nvPr/>
        </p:nvSpPr>
        <p:spPr>
          <a:xfrm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6" name="AutoShape 22"/>
          <p:cNvSpPr/>
          <p:nvPr/>
        </p:nvSpPr>
        <p:spPr>
          <a:xfrm>
            <a:off x="1066800" y="5537200"/>
            <a:ext cx="152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id="567" name="AutoShape 23"/>
          <p:cNvSpPr/>
          <p:nvPr/>
        </p:nvSpPr>
        <p:spPr>
          <a:xfrm>
            <a:off x="2540000" y="5537200"/>
            <a:ext cx="863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id="568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69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 / 18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2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 dirty="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03 · GAP — </a:t>
            </a:r>
            <a:r>
              <a:rPr lang="en-US" sz="1200" b="1" i="0" u="none" strike="noStrike" dirty="0" err="1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六大补强</a:t>
            </a:r>
            <a:endParaRPr lang="en-US" sz="1100" dirty="0"/>
          </a:p>
        </p:txBody>
      </p:sp>
      <p:sp>
        <p:nvSpPr>
          <p:cNvPr id="573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补强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分级：P0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合规刚需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P1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可靠协作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P2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生态自进化</a:t>
            </a:r>
            <a:endParaRPr lang="en-US" sz="1100" dirty="0"/>
          </a:p>
        </p:txBody>
      </p:sp>
      <p:cxnSp>
        <p:nvCxnSpPr>
          <p:cNvPr id="574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5" name="AutoShape 6"/>
          <p:cNvSpPr/>
          <p:nvPr/>
        </p:nvSpPr>
        <p:spPr>
          <a:xfrm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6" name="AutoShape 7"/>
          <p:cNvSpPr/>
          <p:nvPr/>
        </p:nvSpPr>
        <p:spPr>
          <a:xfrm>
            <a:off x="10668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577" name="AutoShape 8"/>
          <p:cNvSpPr/>
          <p:nvPr/>
        </p:nvSpPr>
        <p:spPr>
          <a:xfrm>
            <a:off x="17780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id="578" name="AutoShape 9"/>
          <p:cNvSpPr/>
          <p:nvPr/>
        </p:nvSpPr>
        <p:spPr>
          <a:xfrm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9" name="AutoShape 10"/>
          <p:cNvSpPr/>
          <p:nvPr/>
        </p:nvSpPr>
        <p:spPr>
          <a:xfrm>
            <a:off x="46482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580" name="AutoShape 11"/>
          <p:cNvSpPr/>
          <p:nvPr/>
        </p:nvSpPr>
        <p:spPr>
          <a:xfrm>
            <a:off x="53594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581" name="AutoShape 12"/>
          <p:cNvSpPr/>
          <p:nvPr/>
        </p:nvSpPr>
        <p:spPr>
          <a:xfrm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2" name="AutoShape 13"/>
          <p:cNvSpPr/>
          <p:nvPr/>
        </p:nvSpPr>
        <p:spPr>
          <a:xfrm>
            <a:off x="82296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583" name="AutoShape 14"/>
          <p:cNvSpPr/>
          <p:nvPr/>
        </p:nvSpPr>
        <p:spPr>
          <a:xfrm>
            <a:off x="89408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584" name="AutoShape 15"/>
          <p:cNvSpPr/>
          <p:nvPr/>
        </p:nvSpPr>
        <p:spPr>
          <a:xfrm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5" name="AutoShape 16"/>
          <p:cNvSpPr/>
          <p:nvPr/>
        </p:nvSpPr>
        <p:spPr>
          <a:xfrm>
            <a:off x="10414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id="586" name="AutoShape 17"/>
          <p:cNvSpPr/>
          <p:nvPr/>
        </p:nvSpPr>
        <p:spPr>
          <a:xfrm>
            <a:off x="10414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id="587" name="AutoShape 18"/>
          <p:cNvSpPr/>
          <p:nvPr/>
        </p:nvSpPr>
        <p:spPr>
          <a:xfrm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8" name="AutoShape 19"/>
          <p:cNvSpPr/>
          <p:nvPr/>
        </p:nvSpPr>
        <p:spPr>
          <a:xfrm>
            <a:off x="10414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589" name="AutoShape 20"/>
          <p:cNvSpPr/>
          <p:nvPr/>
        </p:nvSpPr>
        <p:spPr>
          <a:xfrm>
            <a:off x="10414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id="590" name="AutoShape 21"/>
          <p:cNvSpPr/>
          <p:nvPr/>
        </p:nvSpPr>
        <p:spPr>
          <a:xfrm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1" name="AutoShape 22"/>
          <p:cNvSpPr/>
          <p:nvPr/>
        </p:nvSpPr>
        <p:spPr>
          <a:xfrm>
            <a:off x="10414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id="592" name="AutoShape 23"/>
          <p:cNvSpPr/>
          <p:nvPr/>
        </p:nvSpPr>
        <p:spPr>
          <a:xfrm>
            <a:off x="10414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id="593" name="AutoShape 24"/>
          <p:cNvSpPr/>
          <p:nvPr/>
        </p:nvSpPr>
        <p:spPr>
          <a:xfrm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4" name="AutoShape 25"/>
          <p:cNvSpPr/>
          <p:nvPr/>
        </p:nvSpPr>
        <p:spPr>
          <a:xfrm>
            <a:off x="46228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id="595" name="AutoShape 26"/>
          <p:cNvSpPr/>
          <p:nvPr/>
        </p:nvSpPr>
        <p:spPr>
          <a:xfrm>
            <a:off x="46228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id="596" name="AutoShape 27"/>
          <p:cNvSpPr/>
          <p:nvPr/>
        </p:nvSpPr>
        <p:spPr>
          <a:xfrm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7" name="AutoShape 28"/>
          <p:cNvSpPr/>
          <p:nvPr/>
        </p:nvSpPr>
        <p:spPr>
          <a:xfrm>
            <a:off x="46228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id="598" name="AutoShape 29"/>
          <p:cNvSpPr/>
          <p:nvPr/>
        </p:nvSpPr>
        <p:spPr>
          <a:xfrm>
            <a:off x="46228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id="599" name="AutoShape 30"/>
          <p:cNvSpPr/>
          <p:nvPr/>
        </p:nvSpPr>
        <p:spPr>
          <a:xfrm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0" name="AutoShape 31"/>
          <p:cNvSpPr/>
          <p:nvPr/>
        </p:nvSpPr>
        <p:spPr>
          <a:xfrm>
            <a:off x="46228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id="601" name="AutoShape 32"/>
          <p:cNvSpPr/>
          <p:nvPr/>
        </p:nvSpPr>
        <p:spPr>
          <a:xfrm>
            <a:off x="46228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id="602" name="AutoShape 33"/>
          <p:cNvSpPr/>
          <p:nvPr/>
        </p:nvSpPr>
        <p:spPr>
          <a:xfrm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3" name="AutoShape 34"/>
          <p:cNvSpPr/>
          <p:nvPr/>
        </p:nvSpPr>
        <p:spPr>
          <a:xfrm>
            <a:off x="82042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id="604" name="AutoShape 35"/>
          <p:cNvSpPr/>
          <p:nvPr/>
        </p:nvSpPr>
        <p:spPr>
          <a:xfrm>
            <a:off x="82042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id="605" name="AutoShape 36"/>
          <p:cNvSpPr/>
          <p:nvPr/>
        </p:nvSpPr>
        <p:spPr>
          <a:xfrm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6" name="AutoShape 37"/>
          <p:cNvSpPr/>
          <p:nvPr/>
        </p:nvSpPr>
        <p:spPr>
          <a:xfrm>
            <a:off x="82042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id="607" name="AutoShape 38"/>
          <p:cNvSpPr/>
          <p:nvPr/>
        </p:nvSpPr>
        <p:spPr>
          <a:xfrm>
            <a:off x="82042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id="608" name="AutoShape 39"/>
          <p:cNvSpPr/>
          <p:nvPr/>
        </p:nvSpPr>
        <p:spPr>
          <a:xfrm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9" name="AutoShape 40"/>
          <p:cNvSpPr/>
          <p:nvPr/>
        </p:nvSpPr>
        <p:spPr>
          <a:xfrm>
            <a:off x="82042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id="610" name="AutoShape 41"/>
          <p:cNvSpPr/>
          <p:nvPr/>
        </p:nvSpPr>
        <p:spPr>
          <a:xfrm>
            <a:off x="82042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id="611" name="AutoShape 42"/>
          <p:cNvSpPr/>
          <p:nvPr/>
        </p:nvSpPr>
        <p:spPr>
          <a:xfrm>
            <a:off x="812800" y="5486400"/>
            <a:ext cx="10566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2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最新进展：44 个特性已按 SDD 落地，库代码 + 单测全绿，接线与 UI 触点闭合；specs/ 44 个特性（44 份 tasks.md · 1044 项）已归档。</a:t>
            </a:r>
            <a:endParaRPr lang="zh-CN" sz="12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612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613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 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6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圆角矩形 158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6" name="矩形 159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7" name="圆角矩形 160"/>
          <p:cNvSpPr/>
          <p:nvPr/>
        </p:nvSpPr>
        <p:spPr>
          <a:xfrm>
            <a:off x="8128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8" name="圆角矩形 161"/>
          <p:cNvSpPr/>
          <p:nvPr/>
        </p:nvSpPr>
        <p:spPr>
          <a:xfrm>
            <a:off x="62484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19" name="圆角矩形 162"/>
          <p:cNvSpPr/>
          <p:nvPr/>
        </p:nvSpPr>
        <p:spPr>
          <a:xfrm>
            <a:off x="8128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0" name="圆角矩形 163"/>
          <p:cNvSpPr/>
          <p:nvPr/>
        </p:nvSpPr>
        <p:spPr>
          <a:xfrm>
            <a:off x="34544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1" name="圆角矩形 164"/>
          <p:cNvSpPr/>
          <p:nvPr/>
        </p:nvSpPr>
        <p:spPr>
          <a:xfrm>
            <a:off x="60960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2" name="圆角矩形 165"/>
          <p:cNvSpPr/>
          <p:nvPr/>
        </p:nvSpPr>
        <p:spPr>
          <a:xfrm>
            <a:off x="8737600" y="2235200"/>
            <a:ext cx="26416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3" name="圆角矩形 166"/>
          <p:cNvSpPr/>
          <p:nvPr/>
        </p:nvSpPr>
        <p:spPr>
          <a:xfrm>
            <a:off x="8128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4" name="圆角矩形 167"/>
          <p:cNvSpPr/>
          <p:nvPr/>
        </p:nvSpPr>
        <p:spPr>
          <a:xfrm>
            <a:off x="34544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5" name="圆角矩形 168"/>
          <p:cNvSpPr/>
          <p:nvPr/>
        </p:nvSpPr>
        <p:spPr>
          <a:xfrm>
            <a:off x="60960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6" name="圆角矩形 169"/>
          <p:cNvSpPr/>
          <p:nvPr/>
        </p:nvSpPr>
        <p:spPr>
          <a:xfrm>
            <a:off x="8737600" y="2235200"/>
            <a:ext cx="26416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7" name="圆角矩形 170"/>
          <p:cNvSpPr/>
          <p:nvPr/>
        </p:nvSpPr>
        <p:spPr>
          <a:xfrm>
            <a:off x="812800" y="5537200"/>
            <a:ext cx="10566400" cy="635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8" name="圆角矩形 171"/>
          <p:cNvSpPr/>
          <p:nvPr/>
        </p:nvSpPr>
        <p:spPr>
          <a:xfrm>
            <a:off x="1066800" y="5689600"/>
            <a:ext cx="1422400" cy="3302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9" name="矩形 172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en-US" altLang="zh-CN" b="1" dirty="0">
                <a:solidFill>
                  <a:srgbClr val="0D9488"/>
                </a:solidFill>
                <a:latin typeface="Hiragino Sans GB"/>
                <a:ea typeface="Hiragino Sans GB"/>
              </a:rPr>
              <a:t>03 · Spec</a:t>
            </a:r>
            <a:r>
              <a:rPr lang="zh-CN" altLang="en-US" b="1" dirty="0">
                <a:solidFill>
                  <a:srgbClr val="0D9488"/>
                </a:solidFill>
                <a:latin typeface="Hiragino Sans GB"/>
                <a:ea typeface="Hiragino Sans GB"/>
              </a:rPr>
              <a:t xml:space="preserve"> 清单</a:t>
            </a:r>
            <a:endParaRPr lang="en-US" altLang="zh-CN" sz="1200" dirty="0"/>
          </a:p>
          <a:p>
            <a:pPr/>
            <a:endParaRPr dirty="0"/>
          </a:p>
        </p:txBody>
      </p:sp>
      <p:sp>
        <p:nvSpPr>
          <p:cNvPr id="630" name="矩形 173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44 个特性规约：spec / plan / checklist / tasks 四层齐备</a:t>
            </a:r>
            <a:endParaRPr lang="zh-CN" sz="26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1" name="矩形 174"/>
          <p:cNvSpPr/>
          <p:nvPr/>
        </p:nvSpPr>
        <p:spPr>
          <a:xfrm>
            <a:off x="8128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FFFFFF"/>
                </a:solidFill>
                <a:latin typeface="Hiragino Sans GB"/>
                <a:ea typeface="Hiragino Sans GB"/>
              </a:rPr>
              <a:t>44 份 spec.md + 44 份 plan.md  ·  全部完成</a:t>
            </a:r>
            <a:endParaRPr lang="zh-CN" sz="1300">
              <a:solidFill>
                <a:srgbClr val="FFFFFF"/>
              </a:solidFill>
              <a:latin typeface="Hiragino Sans GB"/>
              <a:ea typeface="Hiragino Sans GB"/>
            </a:endParaRPr>
          </a:p>
        </p:txBody>
      </p:sp>
      <p:sp>
        <p:nvSpPr>
          <p:cNvPr id="632" name="矩形 175"/>
          <p:cNvSpPr/>
          <p:nvPr/>
        </p:nvSpPr>
        <p:spPr>
          <a:xfrm>
            <a:off x="62484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44 份 tasks.md  ·  1044 项全部勾选</a:t>
            </a:r>
            <a:endParaRPr lang="zh-CN" sz="13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3" name="矩形 176"/>
          <p:cNvSpPr/>
          <p:nvPr/>
        </p:nvSpPr>
        <p:spPr>
          <a:xfrm>
            <a:off x="10160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既有能力回溯</a:t>
            </a:r>
            <a:endParaRPr/>
          </a:p>
        </p:txBody>
      </p:sp>
      <p:sp>
        <p:nvSpPr>
          <p:cNvPr id="634" name="矩形 177"/>
          <p:cNvSpPr/>
          <p:nvPr/>
        </p:nvSpPr>
        <p:spPr>
          <a:xfrm>
            <a:off x="10160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003–006 · 4 项</a:t>
            </a:r>
            <a:endParaRPr/>
          </a:p>
        </p:txBody>
      </p:sp>
      <p:sp>
        <p:nvSpPr>
          <p:cNvPr id="635" name="矩形 178"/>
          <p:cNvSpPr/>
          <p:nvPr/>
        </p:nvSpPr>
        <p:spPr>
          <a:xfrm>
            <a:off x="10160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003  文档接入与内容交付</a:t>
            </a:r>
            <a:endParaRPr/>
          </a:p>
        </p:txBody>
      </p:sp>
      <p:sp>
        <p:nvSpPr>
          <p:cNvPr id="636" name="矩形 179"/>
          <p:cNvSpPr/>
          <p:nvPr/>
        </p:nvSpPr>
        <p:spPr>
          <a:xfrm>
            <a:off x="10160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004  SkillHub 生命周期</a:t>
            </a:r>
            <a:endParaRPr/>
          </a:p>
        </p:txBody>
      </p:sp>
      <p:sp>
        <p:nvSpPr>
          <p:cNvPr id="637" name="矩形 180"/>
          <p:cNvSpPr/>
          <p:nvPr/>
        </p:nvSpPr>
        <p:spPr>
          <a:xfrm>
            <a:off x="10160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005  企业知识 RAG 与研究</a:t>
            </a:r>
            <a:endParaRPr/>
          </a:p>
        </p:txBody>
      </p:sp>
      <p:sp>
        <p:nvSpPr>
          <p:cNvPr id="638" name="矩形 181"/>
          <p:cNvSpPr/>
          <p:nvPr/>
        </p:nvSpPr>
        <p:spPr>
          <a:xfrm>
            <a:off x="10160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006  组织用户与岗位 RBAC</a:t>
            </a:r>
            <a:endParaRPr/>
          </a:p>
        </p:txBody>
      </p:sp>
      <p:sp>
        <p:nvSpPr>
          <p:cNvPr id="639" name="矩形 182"/>
          <p:cNvSpPr/>
          <p:nvPr/>
        </p:nvSpPr>
        <p:spPr>
          <a:xfrm>
            <a:off x="10160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spec / plan / checklist 原始保留
tasks.md 已于 2026-10-11 补齐（141 项）</a:t>
            </a:r>
            <a:endParaRPr/>
          </a:p>
        </p:txBody>
      </p:sp>
      <p:sp>
        <p:nvSpPr>
          <p:cNvPr id="640" name="矩形 183"/>
          <p:cNvSpPr/>
          <p:nvPr/>
        </p:nvSpPr>
        <p:spPr>
          <a:xfrm>
            <a:off x="36576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P0 · 企业入场券</a:t>
            </a:r>
            <a:endParaRPr/>
          </a:p>
        </p:txBody>
      </p:sp>
      <p:sp>
        <p:nvSpPr>
          <p:cNvPr id="641" name="矩形 184"/>
          <p:cNvSpPr/>
          <p:nvPr/>
        </p:nvSpPr>
        <p:spPr>
          <a:xfrm>
            <a:off x="36576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001 / 007 / 008 / 020</a:t>
            </a:r>
            <a:endParaRPr/>
          </a:p>
        </p:txBody>
      </p:sp>
      <p:sp>
        <p:nvSpPr>
          <p:cNvPr id="642" name="矩形 185"/>
          <p:cNvSpPr/>
          <p:nvPr/>
        </p:nvSpPr>
        <p:spPr>
          <a:xfrm>
            <a:off x="36576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001  治理与风控层</a:t>
            </a:r>
            <a:endParaRPr/>
          </a:p>
        </p:txBody>
      </p:sp>
      <p:sp>
        <p:nvSpPr>
          <p:cNvPr id="643" name="矩形 186"/>
          <p:cNvSpPr/>
          <p:nvPr/>
        </p:nvSpPr>
        <p:spPr>
          <a:xfrm>
            <a:off x="36576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007  LLM 网关韧性</a:t>
            </a:r>
            <a:endParaRPr/>
          </a:p>
        </p:txBody>
      </p:sp>
      <p:sp>
        <p:nvSpPr>
          <p:cNvPr id="644" name="矩形 187"/>
          <p:cNvSpPr/>
          <p:nvPr/>
        </p:nvSpPr>
        <p:spPr>
          <a:xfrm>
            <a:off x="36576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008  总览数据驾驶舱</a:t>
            </a:r>
            <a:endParaRPr/>
          </a:p>
        </p:txBody>
      </p:sp>
      <p:sp>
        <p:nvSpPr>
          <p:cNvPr id="645" name="矩形 188"/>
          <p:cNvSpPr/>
          <p:nvPr/>
        </p:nvSpPr>
        <p:spPr>
          <a:xfrm>
            <a:off x="36576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020  平台化多租户</a:t>
            </a:r>
            <a:endParaRPr/>
          </a:p>
        </p:txBody>
      </p:sp>
      <p:sp>
        <p:nvSpPr>
          <p:cNvPr id="646" name="矩形 189"/>
          <p:cNvSpPr/>
          <p:nvPr/>
        </p:nvSpPr>
        <p:spPr>
          <a:xfrm>
            <a:off x="36576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门禁 · 韧性 · 可观测 · 租户供给
合规入场与生产可用性</a:t>
            </a:r>
            <a:endParaRPr/>
          </a:p>
        </p:txBody>
      </p:sp>
      <p:sp>
        <p:nvSpPr>
          <p:cNvPr id="647" name="矩形 190"/>
          <p:cNvSpPr/>
          <p:nvPr/>
        </p:nvSpPr>
        <p:spPr>
          <a:xfrm>
            <a:off x="62992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P1 · 可靠协作</a:t>
            </a:r>
            <a:endParaRPr/>
          </a:p>
        </p:txBody>
      </p:sp>
      <p:sp>
        <p:nvSpPr>
          <p:cNvPr id="648" name="矩形 191"/>
          <p:cNvSpPr/>
          <p:nvPr/>
        </p:nvSpPr>
        <p:spPr>
          <a:xfrm>
            <a:off x="62992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002 / 009 / 010 / 011</a:t>
            </a:r>
            <a:endParaRPr/>
          </a:p>
        </p:txBody>
      </p:sp>
      <p:sp>
        <p:nvSpPr>
          <p:cNvPr id="649" name="矩形 192"/>
          <p:cNvSpPr/>
          <p:nvPr/>
        </p:nvSpPr>
        <p:spPr>
          <a:xfrm>
            <a:off x="62992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002  会话级版本化与交接</a:t>
            </a:r>
            <a:endParaRPr/>
          </a:p>
        </p:txBody>
      </p:sp>
      <p:sp>
        <p:nvSpPr>
          <p:cNvPr id="650" name="矩形 193"/>
          <p:cNvSpPr/>
          <p:nvPr/>
        </p:nvSpPr>
        <p:spPr>
          <a:xfrm>
            <a:off x="62992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009  五事件 Hooks 拦截</a:t>
            </a:r>
            <a:endParaRPr/>
          </a:p>
        </p:txBody>
      </p:sp>
      <p:sp>
        <p:nvSpPr>
          <p:cNvPr id="651" name="矩形 194"/>
          <p:cNvSpPr/>
          <p:nvPr/>
        </p:nvSpPr>
        <p:spPr>
          <a:xfrm>
            <a:off x="62992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010  DAG 通用编排引擎</a:t>
            </a:r>
            <a:endParaRPr/>
          </a:p>
        </p:txBody>
      </p:sp>
      <p:sp>
        <p:nvSpPr>
          <p:cNvPr id="652" name="矩形 195"/>
          <p:cNvSpPr/>
          <p:nvPr/>
        </p:nvSpPr>
        <p:spPr>
          <a:xfrm>
            <a:off x="62992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011  Dream 自进化</a:t>
            </a:r>
            <a:endParaRPr/>
          </a:p>
        </p:txBody>
      </p:sp>
      <p:sp>
        <p:nvSpPr>
          <p:cNvPr id="653" name="矩形 196"/>
          <p:cNvSpPr/>
          <p:nvPr/>
        </p:nvSpPr>
        <p:spPr>
          <a:xfrm>
            <a:off x="62992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多步骤可靠 · 合规扩展 · 可交接
越用越聪明</a:t>
            </a:r>
            <a:endParaRPr/>
          </a:p>
        </p:txBody>
      </p:sp>
      <p:sp>
        <p:nvSpPr>
          <p:cNvPr id="654" name="矩形 197"/>
          <p:cNvSpPr/>
          <p:nvPr/>
        </p:nvSpPr>
        <p:spPr>
          <a:xfrm>
            <a:off x="8940800" y="243840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P2 · 生态与自进化</a:t>
            </a:r>
            <a:endParaRPr/>
          </a:p>
        </p:txBody>
      </p:sp>
      <p:sp>
        <p:nvSpPr>
          <p:cNvPr id="655" name="矩形 198"/>
          <p:cNvSpPr/>
          <p:nvPr/>
        </p:nvSpPr>
        <p:spPr>
          <a:xfrm>
            <a:off x="8940800" y="26924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012–019 / 021 · 9 项</a:t>
            </a:r>
            <a:endParaRPr/>
          </a:p>
        </p:txBody>
      </p:sp>
      <p:sp>
        <p:nvSpPr>
          <p:cNvPr id="656" name="矩形 199"/>
          <p:cNvSpPr/>
          <p:nvPr/>
        </p:nvSpPr>
        <p:spPr>
          <a:xfrm>
            <a:off x="8940800" y="30226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012  A2A Agent 互通网关</a:t>
            </a:r>
            <a:endParaRPr/>
          </a:p>
        </p:txBody>
      </p:sp>
      <p:sp>
        <p:nvSpPr>
          <p:cNvPr id="657" name="矩形 200"/>
          <p:cNvSpPr/>
          <p:nvPr/>
        </p:nvSpPr>
        <p:spPr>
          <a:xfrm>
            <a:off x="8940800" y="32639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013  多 IM 入口</a:t>
            </a:r>
            <a:endParaRPr/>
          </a:p>
        </p:txBody>
      </p:sp>
      <p:sp>
        <p:nvSpPr>
          <p:cNvPr id="658" name="矩形 201"/>
          <p:cNvSpPr/>
          <p:nvPr/>
        </p:nvSpPr>
        <p:spPr>
          <a:xfrm>
            <a:off x="8940800" y="35052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014  业务系统语义索引</a:t>
            </a:r>
            <a:endParaRPr/>
          </a:p>
        </p:txBody>
      </p:sp>
      <p:sp>
        <p:nvSpPr>
          <p:cNvPr id="659" name="矩形 202"/>
          <p:cNvSpPr/>
          <p:nvPr/>
        </p:nvSpPr>
        <p:spPr>
          <a:xfrm>
            <a:off x="8940800" y="37465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015  知识图谱层</a:t>
            </a:r>
            <a:endParaRPr/>
          </a:p>
        </p:txBody>
      </p:sp>
      <p:sp>
        <p:nvSpPr>
          <p:cNvPr id="660" name="矩形 203"/>
          <p:cNvSpPr/>
          <p:nvPr/>
        </p:nvSpPr>
        <p:spPr>
          <a:xfrm>
            <a:off x="8940800" y="39878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016  Skill 市场强化</a:t>
            </a:r>
            <a:endParaRPr/>
          </a:p>
        </p:txBody>
      </p:sp>
      <p:sp>
        <p:nvSpPr>
          <p:cNvPr id="661" name="矩形 204"/>
          <p:cNvSpPr/>
          <p:nvPr/>
        </p:nvSpPr>
        <p:spPr>
          <a:xfrm>
            <a:off x="8940800" y="42291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017  三范围 Memory（020/021 优化）</a:t>
            </a:r>
            <a:endParaRPr/>
          </a:p>
        </p:txBody>
      </p:sp>
      <p:sp>
        <p:nvSpPr>
          <p:cNvPr id="662" name="矩形 205"/>
          <p:cNvSpPr/>
          <p:nvPr/>
        </p:nvSpPr>
        <p:spPr>
          <a:xfrm>
            <a:off x="8940800" y="44704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018  能力资产化注册</a:t>
            </a:r>
            <a:endParaRPr/>
          </a:p>
        </p:txBody>
      </p:sp>
      <p:sp>
        <p:nvSpPr>
          <p:cNvPr id="663" name="矩形 206"/>
          <p:cNvSpPr/>
          <p:nvPr/>
        </p:nvSpPr>
        <p:spPr>
          <a:xfrm>
            <a:off x="8940800" y="47117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019  厚 / 薄 Harness 弹性</a:t>
            </a:r>
            <a:endParaRPr/>
          </a:p>
        </p:txBody>
      </p:sp>
      <p:sp>
        <p:nvSpPr>
          <p:cNvPr id="664" name="矩形 207"/>
          <p:cNvSpPr/>
          <p:nvPr/>
        </p:nvSpPr>
        <p:spPr>
          <a:xfrm>
            <a:off x="8940800" y="49530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021  统一上下文地址空间</a:t>
            </a:r>
            <a:endParaRPr/>
          </a:p>
        </p:txBody>
      </p:sp>
      <p:sp>
        <p:nvSpPr>
          <p:cNvPr id="665" name="矩形 208"/>
          <p:cNvSpPr/>
          <p:nvPr/>
        </p:nvSpPr>
        <p:spPr>
          <a:xfrm>
            <a:off x="1066800" y="5689600"/>
            <a:ext cx="1422400" cy="330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落地审计 · 质量加固</a:t>
            </a:r>
            <a:endParaRPr/>
          </a:p>
        </p:txBody>
      </p:sp>
      <p:sp>
        <p:nvSpPr>
          <p:cNvPr id="666" name="矩形 209"/>
          <p:cNvSpPr/>
          <p:nvPr/>
        </p:nvSpPr>
        <p:spPr>
          <a:xfrm>
            <a:off x="2692400" y="5740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0F172A"/>
                </a:solidFill>
                <a:latin typeface="Hiragino Sans GB"/>
                <a:ea typeface="Hiragino Sans GB"/>
              </a:rPr>
              <a:t>2026-10-03 重检：landed 0 / partial 10 / hollow 9</a:t>
            </a:r>
            <a:endParaRPr/>
          </a:p>
        </p:txBody>
      </p:sp>
      <p:sp>
        <p:nvSpPr>
          <p:cNvPr id="667" name="矩形 210"/>
          <p:cNvSpPr/>
          <p:nvPr/>
        </p:nvSpPr>
        <p:spPr>
          <a:xfrm>
            <a:off x="5283200" y="5791200"/>
            <a:ext cx="5969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022–026 质量加固 10-11 新增（覆盖 QF 审计 283 项 P0/P1）；017/021 于 10-05 完整实现</a:t>
            </a:r>
            <a:endParaRPr/>
          </a:p>
        </p:txBody>
      </p:sp>
      <p:sp>
        <p:nvSpPr>
          <p:cNvPr id="668" name="矩形 21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669" name="矩形 212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7 / 18</a:t>
            </a:r>
            <a:endParaRPr/>
          </a:p>
        </p:txBody>
      </p:sp>
      <p:sp>
        <p:nvSpPr>
          <p:cNvPr id="670" name=""/>
          <p:cNvSpPr/>
          <p:nvPr/>
        </p:nvSpPr>
        <p:spPr>
          <a:xfrm>
            <a:off x="609600" y="6235700"/>
            <a:ext cx="10477500" cy="152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027–031 数据后端迁移 · 轨迹 Tab · SSO 接收 · 本体数据权限 · 模型供应商发现（2026-10-13 ~ 10-18 新增，回溯补规约）；032–044 AgentOS 整合批次（2026-10-23 新增，2026-10-24 代码落地）</a:t>
            </a:r>
            <a:endParaRPr lang="zh-CN" sz="900">
              <a:solidFill>
                <a:srgbClr val="64748B"/>
              </a:solidFill>
              <a:latin typeface="Hiragino Sans GB"/>
              <a:ea typeface="Hiragino Sans GB"/>
            </a:endParaR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812800" y="16510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12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2860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24892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9624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1656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6388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8420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3152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5184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916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9194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6800" y="29972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066800" y="33020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578600" y="29972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78600" y="33020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1066800" y="43688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066800" y="46736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6578600" y="43688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78600" y="46736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066800" y="56134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2489200" y="56134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/ 18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id="4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id="4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6"/>
          <p:cNvSpPr/>
          <p:nvPr/>
        </p:nvSpPr>
        <p:spPr>
          <a:xfrm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" name="AutoShape 7"/>
          <p:cNvSpPr/>
          <p:nvPr/>
        </p:nvSpPr>
        <p:spPr>
          <a:xfrm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" name="AutoShape 8"/>
          <p:cNvSpPr/>
          <p:nvPr/>
        </p:nvSpPr>
        <p:spPr>
          <a:xfrm>
            <a:off x="1092200" y="1930400"/>
            <a:ext cx="4597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49" name="AutoShape 9"/>
          <p:cNvSpPr/>
          <p:nvPr/>
        </p:nvSpPr>
        <p:spPr>
          <a:xfrm>
            <a:off x="1092200" y="2235200"/>
            <a:ext cx="4597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id="50" name="AutoShape 10"/>
          <p:cNvSpPr/>
          <p:nvPr/>
        </p:nvSpPr>
        <p:spPr>
          <a:xfrm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" name="AutoShape 11"/>
          <p:cNvSpPr/>
          <p:nvPr/>
        </p:nvSpPr>
        <p:spPr>
          <a:xfrm>
            <a:off x="1092200" y="269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52" name="AutoShape 12"/>
          <p:cNvSpPr/>
          <p:nvPr/>
        </p:nvSpPr>
        <p:spPr>
          <a:xfrm>
            <a:off x="1524000" y="266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id="53" name="AutoShape 13"/>
          <p:cNvSpPr/>
          <p:nvPr/>
        </p:nvSpPr>
        <p:spPr>
          <a:xfrm>
            <a:off x="1524000" y="292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id="54" name="AutoShape 14"/>
          <p:cNvSpPr/>
          <p:nvPr/>
        </p:nvSpPr>
        <p:spPr>
          <a:xfrm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" name="AutoShape 15"/>
          <p:cNvSpPr/>
          <p:nvPr/>
        </p:nvSpPr>
        <p:spPr>
          <a:xfrm>
            <a:off x="1092200" y="332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56" name="AutoShape 16"/>
          <p:cNvSpPr/>
          <p:nvPr/>
        </p:nvSpPr>
        <p:spPr>
          <a:xfrm>
            <a:off x="1524000" y="330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id="57" name="AutoShape 17"/>
          <p:cNvSpPr/>
          <p:nvPr/>
        </p:nvSpPr>
        <p:spPr>
          <a:xfrm>
            <a:off x="1524000" y="355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id="58" name="AutoShape 18"/>
          <p:cNvSpPr/>
          <p:nvPr/>
        </p:nvSpPr>
        <p:spPr>
          <a:xfrm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" name="AutoShape 19"/>
          <p:cNvSpPr/>
          <p:nvPr/>
        </p:nvSpPr>
        <p:spPr>
          <a:xfrm>
            <a:off x="1092200" y="396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60" name="AutoShape 20"/>
          <p:cNvSpPr/>
          <p:nvPr/>
        </p:nvSpPr>
        <p:spPr>
          <a:xfrm>
            <a:off x="1524000" y="393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id="61" name="AutoShape 21"/>
          <p:cNvSpPr/>
          <p:nvPr/>
        </p:nvSpPr>
        <p:spPr>
          <a:xfrm>
            <a:off x="1524000" y="419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id="62" name="AutoShape 22"/>
          <p:cNvSpPr/>
          <p:nvPr/>
        </p:nvSpPr>
        <p:spPr>
          <a:xfrm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" name="AutoShape 23"/>
          <p:cNvSpPr/>
          <p:nvPr/>
        </p:nvSpPr>
        <p:spPr>
          <a:xfrm>
            <a:off x="1092200" y="459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64" name="AutoShape 24"/>
          <p:cNvSpPr/>
          <p:nvPr/>
        </p:nvSpPr>
        <p:spPr>
          <a:xfrm>
            <a:off x="1524000" y="457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id="65" name="AutoShape 25"/>
          <p:cNvSpPr/>
          <p:nvPr/>
        </p:nvSpPr>
        <p:spPr>
          <a:xfrm>
            <a:off x="1524000" y="482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id="66" name="AutoShape 26"/>
          <p:cNvSpPr/>
          <p:nvPr/>
        </p:nvSpPr>
        <p:spPr>
          <a:xfrm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7" name="AutoShape 27"/>
          <p:cNvSpPr/>
          <p:nvPr/>
        </p:nvSpPr>
        <p:spPr>
          <a:xfrm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8" name="AutoShape 28"/>
          <p:cNvSpPr/>
          <p:nvPr/>
        </p:nvSpPr>
        <p:spPr>
          <a:xfrm>
            <a:off x="6604000" y="1930400"/>
            <a:ext cx="4495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id="69" name="AutoShape 29"/>
          <p:cNvSpPr/>
          <p:nvPr/>
        </p:nvSpPr>
        <p:spPr>
          <a:xfrm>
            <a:off x="6604000" y="2235200"/>
            <a:ext cx="449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id="70" name="AutoShape 30"/>
          <p:cNvSpPr/>
          <p:nvPr/>
        </p:nvSpPr>
        <p:spPr>
          <a:xfrm>
            <a:off x="6604000" y="26670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71" name="AutoShape 31"/>
          <p:cNvSpPr/>
          <p:nvPr/>
        </p:nvSpPr>
        <p:spPr>
          <a:xfrm>
            <a:off x="7061200" y="26670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id="72" name="AutoShape 32"/>
          <p:cNvSpPr/>
          <p:nvPr/>
        </p:nvSpPr>
        <p:spPr>
          <a:xfrm>
            <a:off x="7061200" y="29210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id="73" name="AutoShape 33"/>
          <p:cNvSpPr/>
          <p:nvPr/>
        </p:nvSpPr>
        <p:spPr>
          <a:xfrm>
            <a:off x="6604000" y="33274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74" name="AutoShape 34"/>
          <p:cNvSpPr/>
          <p:nvPr/>
        </p:nvSpPr>
        <p:spPr>
          <a:xfrm>
            <a:off x="7061200" y="33274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id="75" name="AutoShape 35"/>
          <p:cNvSpPr/>
          <p:nvPr/>
        </p:nvSpPr>
        <p:spPr>
          <a:xfrm>
            <a:off x="7061200" y="35814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id="76" name="AutoShape 36"/>
          <p:cNvSpPr/>
          <p:nvPr/>
        </p:nvSpPr>
        <p:spPr>
          <a:xfrm>
            <a:off x="6604000" y="39878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77" name="AutoShape 37"/>
          <p:cNvSpPr/>
          <p:nvPr/>
        </p:nvSpPr>
        <p:spPr>
          <a:xfrm>
            <a:off x="7061200" y="39878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id="78" name="AutoShape 38"/>
          <p:cNvSpPr/>
          <p:nvPr/>
        </p:nvSpPr>
        <p:spPr>
          <a:xfrm>
            <a:off x="7061200" y="42418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id="79" name="AutoShape 39"/>
          <p:cNvSpPr/>
          <p:nvPr/>
        </p:nvSpPr>
        <p:spPr>
          <a:xfrm>
            <a:off x="6604000" y="46482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80" name="AutoShape 40"/>
          <p:cNvSpPr/>
          <p:nvPr/>
        </p:nvSpPr>
        <p:spPr>
          <a:xfrm>
            <a:off x="7061200" y="46482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id="81" name="AutoShape 41"/>
          <p:cNvSpPr/>
          <p:nvPr/>
        </p:nvSpPr>
        <p:spPr>
          <a:xfrm>
            <a:off x="7061200" y="49022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id="82" name="AutoShape 42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3" name="AutoShape 43"/>
          <p:cNvSpPr/>
          <p:nvPr/>
        </p:nvSpPr>
        <p:spPr>
          <a:xfrm>
            <a:off x="1066800" y="56642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id="84" name="AutoShape 44"/>
          <p:cNvSpPr/>
          <p:nvPr/>
        </p:nvSpPr>
        <p:spPr>
          <a:xfrm>
            <a:off x="2489200" y="56642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id="85" name="AutoShape 45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86" name="AutoShape 46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9 / 18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id="9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id="9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AutoShape 6"/>
          <p:cNvSpPr/>
          <p:nvPr/>
        </p:nvSpPr>
        <p:spPr>
          <a:xfrm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3" name="AutoShape 7"/>
          <p:cNvSpPr/>
          <p:nvPr/>
        </p:nvSpPr>
        <p:spPr>
          <a:xfrm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4" name="AutoShape 8"/>
          <p:cNvSpPr/>
          <p:nvPr/>
        </p:nvSpPr>
        <p:spPr>
          <a:xfrm>
            <a:off x="10668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id="95" name="AutoShape 9"/>
          <p:cNvSpPr/>
          <p:nvPr/>
        </p:nvSpPr>
        <p:spPr>
          <a:xfrm>
            <a:off x="10668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id="96" name="AutoShape 10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7" name="AutoShape 11"/>
          <p:cNvSpPr/>
          <p:nvPr/>
        </p:nvSpPr>
        <p:spPr>
          <a:xfrm>
            <a:off x="12446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id="98" name="AutoShape 12"/>
          <p:cNvSpPr/>
          <p:nvPr/>
        </p:nvSpPr>
        <p:spPr>
          <a:xfrm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9" name="AutoShape 13"/>
          <p:cNvSpPr/>
          <p:nvPr/>
        </p:nvSpPr>
        <p:spPr>
          <a:xfrm>
            <a:off x="1244600" y="34036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id="100" name="AutoShape 14"/>
          <p:cNvSpPr/>
          <p:nvPr/>
        </p:nvSpPr>
        <p:spPr>
          <a:xfrm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1" name="AutoShape 15"/>
          <p:cNvSpPr/>
          <p:nvPr/>
        </p:nvSpPr>
        <p:spPr>
          <a:xfrm>
            <a:off x="1244600" y="42672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id="102" name="AutoShape 16"/>
          <p:cNvSpPr/>
          <p:nvPr/>
        </p:nvSpPr>
        <p:spPr>
          <a:xfrm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3" name="AutoShape 17"/>
          <p:cNvSpPr/>
          <p:nvPr/>
        </p:nvSpPr>
        <p:spPr>
          <a:xfrm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4" name="AutoShape 18"/>
          <p:cNvSpPr/>
          <p:nvPr/>
        </p:nvSpPr>
        <p:spPr>
          <a:xfrm>
            <a:off x="46482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id="105" name="AutoShape 19"/>
          <p:cNvSpPr/>
          <p:nvPr/>
        </p:nvSpPr>
        <p:spPr>
          <a:xfrm>
            <a:off x="46482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id="106" name="AutoShape 20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7" name="AutoShape 21"/>
          <p:cNvSpPr/>
          <p:nvPr/>
        </p:nvSpPr>
        <p:spPr>
          <a:xfrm>
            <a:off x="4826000" y="2590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id="108" name="AutoShape 22"/>
          <p:cNvSpPr/>
          <p:nvPr/>
        </p:nvSpPr>
        <p:spPr>
          <a:xfrm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9" name="AutoShape 23"/>
          <p:cNvSpPr/>
          <p:nvPr/>
        </p:nvSpPr>
        <p:spPr>
          <a:xfrm>
            <a:off x="4826000" y="3352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id="110" name="AutoShape 24"/>
          <p:cNvSpPr/>
          <p:nvPr/>
        </p:nvSpPr>
        <p:spPr>
          <a:xfrm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1" name="AutoShape 25"/>
          <p:cNvSpPr/>
          <p:nvPr/>
        </p:nvSpPr>
        <p:spPr>
          <a:xfrm>
            <a:off x="4826000" y="4114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id="112" name="AutoShape 26"/>
          <p:cNvSpPr/>
          <p:nvPr/>
        </p:nvSpPr>
        <p:spPr>
          <a:xfrm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3" name="AutoShape 27"/>
          <p:cNvSpPr/>
          <p:nvPr/>
        </p:nvSpPr>
        <p:spPr>
          <a:xfrm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4" name="AutoShape 28"/>
          <p:cNvSpPr/>
          <p:nvPr/>
        </p:nvSpPr>
        <p:spPr>
          <a:xfrm>
            <a:off x="82296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id="115" name="AutoShape 29"/>
          <p:cNvSpPr/>
          <p:nvPr/>
        </p:nvSpPr>
        <p:spPr>
          <a:xfrm>
            <a:off x="82296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id="116" name="AutoShape 30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7" name="AutoShape 31"/>
          <p:cNvSpPr/>
          <p:nvPr/>
        </p:nvSpPr>
        <p:spPr>
          <a:xfrm>
            <a:off x="84074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id="118" name="AutoShape 32"/>
          <p:cNvSpPr/>
          <p:nvPr/>
        </p:nvSpPr>
        <p:spPr>
          <a:xfrm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9" name="AutoShape 33"/>
          <p:cNvSpPr/>
          <p:nvPr/>
        </p:nvSpPr>
        <p:spPr>
          <a:xfrm>
            <a:off x="8407400" y="34290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id="120" name="AutoShape 34"/>
          <p:cNvSpPr/>
          <p:nvPr/>
        </p:nvSpPr>
        <p:spPr>
          <a:xfrm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1" name="AutoShape 35"/>
          <p:cNvSpPr/>
          <p:nvPr/>
        </p:nvSpPr>
        <p:spPr>
          <a:xfrm>
            <a:off x="8407400" y="42672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id="122" name="AutoShape 36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3" name="AutoShape 37"/>
          <p:cNvSpPr/>
          <p:nvPr/>
        </p:nvSpPr>
        <p:spPr>
          <a:xfrm>
            <a:off x="1066800" y="5664200"/>
            <a:ext cx="152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id="124" name="AutoShape 38"/>
          <p:cNvSpPr/>
          <p:nvPr/>
        </p:nvSpPr>
        <p:spPr>
          <a:xfrm>
            <a:off x="2692400" y="5664200"/>
            <a:ext cx="8559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id="125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26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/ 18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id="13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id="13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" name="AutoShape 6"/>
          <p:cNvSpPr/>
          <p:nvPr/>
        </p:nvSpPr>
        <p:spPr>
          <a:xfrm>
            <a:off x="812800" y="16764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id="133" name="AutoShape 7"/>
          <p:cNvSpPr/>
          <p:nvPr/>
        </p:nvSpPr>
        <p:spPr>
          <a:xfrm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4" name="AutoShape 8"/>
          <p:cNvSpPr/>
          <p:nvPr/>
        </p:nvSpPr>
        <p:spPr>
          <a:xfrm>
            <a:off x="1066800" y="2159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135" name="AutoShape 9"/>
          <p:cNvSpPr/>
          <p:nvPr/>
        </p:nvSpPr>
        <p:spPr>
          <a:xfrm>
            <a:off x="1473200" y="21590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id="136" name="AutoShape 10"/>
          <p:cNvSpPr/>
          <p:nvPr/>
        </p:nvSpPr>
        <p:spPr>
          <a:xfrm>
            <a:off x="1473200" y="24384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id="137" name="AutoShape 11"/>
          <p:cNvSpPr/>
          <p:nvPr/>
        </p:nvSpPr>
        <p:spPr>
          <a:xfrm>
            <a:off x="3251200" y="29464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38" name="AutoShape 12"/>
          <p:cNvSpPr/>
          <p:nvPr/>
        </p:nvSpPr>
        <p:spPr>
          <a:xfrm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9" name="AutoShape 13"/>
          <p:cNvSpPr/>
          <p:nvPr/>
        </p:nvSpPr>
        <p:spPr>
          <a:xfrm>
            <a:off x="10668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140" name="AutoShape 14"/>
          <p:cNvSpPr/>
          <p:nvPr/>
        </p:nvSpPr>
        <p:spPr>
          <a:xfrm>
            <a:off x="1473200" y="33528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id="141" name="AutoShape 15"/>
          <p:cNvSpPr/>
          <p:nvPr/>
        </p:nvSpPr>
        <p:spPr>
          <a:xfrm>
            <a:off x="1473200" y="36322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id="142" name="AutoShape 16"/>
          <p:cNvSpPr/>
          <p:nvPr/>
        </p:nvSpPr>
        <p:spPr>
          <a:xfrm>
            <a:off x="3251200" y="41402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43" name="AutoShape 17"/>
          <p:cNvSpPr/>
          <p:nvPr/>
        </p:nvSpPr>
        <p:spPr>
          <a:xfrm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4" name="AutoShape 18"/>
          <p:cNvSpPr/>
          <p:nvPr/>
        </p:nvSpPr>
        <p:spPr>
          <a:xfrm>
            <a:off x="1066800" y="45466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145" name="AutoShape 19"/>
          <p:cNvSpPr/>
          <p:nvPr/>
        </p:nvSpPr>
        <p:spPr>
          <a:xfrm>
            <a:off x="1473200" y="45466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id="146" name="AutoShape 20"/>
          <p:cNvSpPr/>
          <p:nvPr/>
        </p:nvSpPr>
        <p:spPr>
          <a:xfrm>
            <a:off x="1473200" y="48260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id="147" name="AutoShape 21"/>
          <p:cNvSpPr/>
          <p:nvPr/>
        </p:nvSpPr>
        <p:spPr>
          <a:xfrm>
            <a:off x="6223000" y="1676400"/>
            <a:ext cx="5156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id="148" name="AutoShape 22"/>
          <p:cNvSpPr/>
          <p:nvPr/>
        </p:nvSpPr>
        <p:spPr>
          <a:xfrm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9" name="AutoShape 23"/>
          <p:cNvSpPr/>
          <p:nvPr/>
        </p:nvSpPr>
        <p:spPr>
          <a:xfrm>
            <a:off x="6400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id="150" name="AutoShape 24"/>
          <p:cNvSpPr/>
          <p:nvPr/>
        </p:nvSpPr>
        <p:spPr>
          <a:xfrm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1" name="AutoShape 25"/>
          <p:cNvSpPr/>
          <p:nvPr/>
        </p:nvSpPr>
        <p:spPr>
          <a:xfrm>
            <a:off x="9067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id="152" name="AutoShape 26"/>
          <p:cNvSpPr/>
          <p:nvPr/>
        </p:nvSpPr>
        <p:spPr>
          <a:xfrm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3" name="AutoShape 27"/>
          <p:cNvSpPr/>
          <p:nvPr/>
        </p:nvSpPr>
        <p:spPr>
          <a:xfrm>
            <a:off x="6400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id="154" name="AutoShape 28"/>
          <p:cNvSpPr/>
          <p:nvPr/>
        </p:nvSpPr>
        <p:spPr>
          <a:xfrm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5" name="AutoShape 29"/>
          <p:cNvSpPr/>
          <p:nvPr/>
        </p:nvSpPr>
        <p:spPr>
          <a:xfrm>
            <a:off x="9067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id="156" name="AutoShape 30"/>
          <p:cNvSpPr/>
          <p:nvPr/>
        </p:nvSpPr>
        <p:spPr>
          <a:xfrm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7" name="AutoShape 31"/>
          <p:cNvSpPr/>
          <p:nvPr/>
        </p:nvSpPr>
        <p:spPr>
          <a:xfrm>
            <a:off x="6400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id="158" name="AutoShape 32"/>
          <p:cNvSpPr/>
          <p:nvPr/>
        </p:nvSpPr>
        <p:spPr>
          <a:xfrm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9" name="AutoShape 33"/>
          <p:cNvSpPr/>
          <p:nvPr/>
        </p:nvSpPr>
        <p:spPr>
          <a:xfrm>
            <a:off x="9067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id="160" name="AutoShape 34"/>
          <p:cNvSpPr/>
          <p:nvPr/>
        </p:nvSpPr>
        <p:spPr>
          <a:xfrm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1" name="AutoShape 43"/>
          <p:cNvSpPr/>
          <p:nvPr/>
        </p:nvSpPr>
        <p:spPr>
          <a:xfrm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2" name="AutoShape 44"/>
          <p:cNvSpPr/>
          <p:nvPr/>
        </p:nvSpPr>
        <p:spPr>
          <a:xfrm>
            <a:off x="8890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3" name="AutoShape 35"/>
          <p:cNvSpPr/>
          <p:nvPr/>
        </p:nvSpPr>
        <p:spPr>
          <a:xfrm>
            <a:off x="6400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id="164" name="AutoShape 45"/>
          <p:cNvSpPr/>
          <p:nvPr/>
        </p:nvSpPr>
        <p:spPr>
          <a:xfrm>
            <a:off x="6400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id="165" name="AutoShape 46"/>
          <p:cNvSpPr/>
          <p:nvPr/>
        </p:nvSpPr>
        <p:spPr>
          <a:xfrm>
            <a:off x="9067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021 统一上下文地址（清单外新增）</a:t>
            </a:r>
            <a:endParaRPr lang="en-US" sz="1100"/>
          </a:p>
        </p:txBody>
      </p:sp>
      <p:sp>
        <p:nvSpPr>
          <p:cNvPr id="166" name="AutoShape 36"/>
          <p:cNvSpPr/>
          <p:nvPr/>
        </p:nvSpPr>
        <p:spPr>
          <a:xfrm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7" name="AutoShape 37"/>
          <p:cNvSpPr/>
          <p:nvPr/>
        </p:nvSpPr>
        <p:spPr>
          <a:xfrm>
            <a:off x="9067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id="168" name="AutoShape 38"/>
          <p:cNvSpPr/>
          <p:nvPr/>
        </p:nvSpPr>
        <p:spPr>
          <a:xfrm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9" name="AutoShape 39"/>
          <p:cNvSpPr/>
          <p:nvPr/>
        </p:nvSpPr>
        <p:spPr>
          <a:xfrm>
            <a:off x="1066800" y="5613400"/>
            <a:ext cx="1397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id="170" name="AutoShape 40"/>
          <p:cNvSpPr/>
          <p:nvPr/>
        </p:nvSpPr>
        <p:spPr>
          <a:xfrm>
            <a:off x="2489200" y="5613400"/>
            <a:ext cx="8763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id="171" name="AutoShape 41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72" name="AutoShape 42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11 / 18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5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id="17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 已按 SDD 落地，库代码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17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" name="AutoShape 6"/>
          <p:cNvSpPr/>
          <p:nvPr/>
        </p:nvSpPr>
        <p:spPr>
          <a:xfrm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9" name="AutoShape 7"/>
          <p:cNvSpPr/>
          <p:nvPr/>
        </p:nvSpPr>
        <p:spPr>
          <a:xfrm>
            <a:off x="10668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180" name="AutoShape 8"/>
          <p:cNvSpPr/>
          <p:nvPr/>
        </p:nvSpPr>
        <p:spPr>
          <a:xfrm>
            <a:off x="16256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id="181" name="AutoShape 9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2" name="AutoShape 10"/>
          <p:cNvSpPr/>
          <p:nvPr/>
        </p:nvSpPr>
        <p:spPr>
          <a:xfrm>
            <a:off x="12446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id="183" name="AutoShape 11"/>
          <p:cNvSpPr/>
          <p:nvPr/>
        </p:nvSpPr>
        <p:spPr>
          <a:xfrm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4" name="AutoShape 12"/>
          <p:cNvSpPr/>
          <p:nvPr/>
        </p:nvSpPr>
        <p:spPr>
          <a:xfrm>
            <a:off x="1244600" y="32512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id="185" name="AutoShape 13"/>
          <p:cNvSpPr/>
          <p:nvPr/>
        </p:nvSpPr>
        <p:spPr>
          <a:xfrm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6" name="AutoShape 14"/>
          <p:cNvSpPr/>
          <p:nvPr/>
        </p:nvSpPr>
        <p:spPr>
          <a:xfrm>
            <a:off x="1244600" y="38100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id="187" name="AutoShape 15"/>
          <p:cNvSpPr/>
          <p:nvPr/>
        </p:nvSpPr>
        <p:spPr>
          <a:xfrm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8" name="AutoShape 16"/>
          <p:cNvSpPr/>
          <p:nvPr/>
        </p:nvSpPr>
        <p:spPr>
          <a:xfrm>
            <a:off x="1244600" y="45720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89" name="AutoShape 17"/>
          <p:cNvSpPr/>
          <p:nvPr/>
        </p:nvSpPr>
        <p:spPr>
          <a:xfrm>
            <a:off x="1244600" y="4800600"/>
            <a:ext cx="2514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id="190" name="AutoShape 18"/>
          <p:cNvSpPr/>
          <p:nvPr/>
        </p:nvSpPr>
        <p:spPr>
          <a:xfrm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1" name="AutoShape 19"/>
          <p:cNvSpPr/>
          <p:nvPr/>
        </p:nvSpPr>
        <p:spPr>
          <a:xfrm>
            <a:off x="46482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192" name="AutoShape 20"/>
          <p:cNvSpPr/>
          <p:nvPr/>
        </p:nvSpPr>
        <p:spPr>
          <a:xfrm>
            <a:off x="52070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193" name="AutoShape 21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4" name="AutoShape 22"/>
          <p:cNvSpPr/>
          <p:nvPr/>
        </p:nvSpPr>
        <p:spPr>
          <a:xfrm>
            <a:off x="48260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id="195" name="AutoShape 23"/>
          <p:cNvSpPr/>
          <p:nvPr/>
        </p:nvSpPr>
        <p:spPr>
          <a:xfrm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6" name="AutoShape 24"/>
          <p:cNvSpPr/>
          <p:nvPr/>
        </p:nvSpPr>
        <p:spPr>
          <a:xfrm>
            <a:off x="48260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id="197" name="AutoShape 25"/>
          <p:cNvSpPr/>
          <p:nvPr/>
        </p:nvSpPr>
        <p:spPr>
          <a:xfrm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8" name="AutoShape 26"/>
          <p:cNvSpPr/>
          <p:nvPr/>
        </p:nvSpPr>
        <p:spPr>
          <a:xfrm>
            <a:off x="48260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id="199" name="AutoShape 27"/>
          <p:cNvSpPr/>
          <p:nvPr/>
        </p:nvSpPr>
        <p:spPr>
          <a:xfrm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0" name="AutoShape 28"/>
          <p:cNvSpPr/>
          <p:nvPr/>
        </p:nvSpPr>
        <p:spPr>
          <a:xfrm>
            <a:off x="48260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01" name="AutoShape 29"/>
          <p:cNvSpPr/>
          <p:nvPr/>
        </p:nvSpPr>
        <p:spPr>
          <a:xfrm>
            <a:off x="48260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id="202" name="AutoShape 30"/>
          <p:cNvSpPr/>
          <p:nvPr/>
        </p:nvSpPr>
        <p:spPr>
          <a:xfrm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3" name="AutoShape 31"/>
          <p:cNvSpPr/>
          <p:nvPr/>
        </p:nvSpPr>
        <p:spPr>
          <a:xfrm>
            <a:off x="82296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204" name="AutoShape 32"/>
          <p:cNvSpPr/>
          <p:nvPr/>
        </p:nvSpPr>
        <p:spPr>
          <a:xfrm>
            <a:off x="87884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205" name="AutoShape 33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6" name="AutoShape 34"/>
          <p:cNvSpPr/>
          <p:nvPr/>
        </p:nvSpPr>
        <p:spPr>
          <a:xfrm>
            <a:off x="84074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id="207" name="AutoShape 35"/>
          <p:cNvSpPr/>
          <p:nvPr/>
        </p:nvSpPr>
        <p:spPr>
          <a:xfrm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8" name="AutoShape 36"/>
          <p:cNvSpPr/>
          <p:nvPr/>
        </p:nvSpPr>
        <p:spPr>
          <a:xfrm>
            <a:off x="84074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id="209" name="AutoShape 37"/>
          <p:cNvSpPr/>
          <p:nvPr/>
        </p:nvSpPr>
        <p:spPr>
          <a:xfrm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0" name="AutoShape 38"/>
          <p:cNvSpPr/>
          <p:nvPr/>
        </p:nvSpPr>
        <p:spPr>
          <a:xfrm>
            <a:off x="84074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id="211" name="AutoShape 39"/>
          <p:cNvSpPr/>
          <p:nvPr/>
        </p:nvSpPr>
        <p:spPr>
          <a:xfrm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2" name="AutoShape 40"/>
          <p:cNvSpPr/>
          <p:nvPr/>
        </p:nvSpPr>
        <p:spPr>
          <a:xfrm>
            <a:off x="84074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13" name="AutoShape 41"/>
          <p:cNvSpPr/>
          <p:nvPr/>
        </p:nvSpPr>
        <p:spPr>
          <a:xfrm>
            <a:off x="84074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id="214" name="AutoShape 42"/>
          <p:cNvSpPr/>
          <p:nvPr/>
        </p:nvSpPr>
        <p:spPr>
          <a:xfrm>
            <a:off x="812800" y="55880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id="215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16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12 / 18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id="22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 已按 SDD 落地，库代码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22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AutoShape 6"/>
          <p:cNvSpPr/>
          <p:nvPr/>
        </p:nvSpPr>
        <p:spPr>
          <a:xfrm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3" name="AutoShape 7"/>
          <p:cNvSpPr/>
          <p:nvPr/>
        </p:nvSpPr>
        <p:spPr>
          <a:xfrm>
            <a:off x="1066800" y="17018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224" name="AutoShape 8"/>
          <p:cNvSpPr/>
          <p:nvPr/>
        </p:nvSpPr>
        <p:spPr>
          <a:xfrm>
            <a:off x="1625600" y="18034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44 个特性全绿</a:t>
            </a:r>
            <a:endParaRPr lang="zh-CN" sz="135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5" name="AutoShape 9"/>
          <p:cNvSpPr/>
          <p:nvPr/>
        </p:nvSpPr>
        <p:spPr>
          <a:xfrm>
            <a:off x="1625600" y="20828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个特性（含 022–031 质量加固与数据/体验、032–044 AgentOS 整合批次）已按 SDD 落地为库代码 + 单测，全部通过（2026-10-23 基线）。</a:t>
            </a:r>
            <a:endParaRPr lang="zh-CN" sz="11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6" name="AutoShape 10"/>
          <p:cNvSpPr/>
          <p:nvPr/>
        </p:nvSpPr>
        <p:spPr>
          <a:xfrm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7" name="AutoShape 11"/>
          <p:cNvSpPr/>
          <p:nvPr/>
        </p:nvSpPr>
        <p:spPr>
          <a:xfrm>
            <a:off x="1066800" y="25654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228" name="AutoShape 12"/>
          <p:cNvSpPr/>
          <p:nvPr/>
        </p:nvSpPr>
        <p:spPr>
          <a:xfrm>
            <a:off x="1625600" y="2667000"/>
            <a:ext cx="330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id="229" name="AutoShape 13"/>
          <p:cNvSpPr/>
          <p:nvPr/>
        </p:nvSpPr>
        <p:spPr>
          <a:xfrm>
            <a:off x="1625600" y="29464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id="230" name="AutoShape 14"/>
          <p:cNvSpPr/>
          <p:nvPr/>
        </p:nvSpPr>
        <p:spPr>
          <a:xfrm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1" name="AutoShape 15"/>
          <p:cNvSpPr/>
          <p:nvPr/>
        </p:nvSpPr>
        <p:spPr>
          <a:xfrm>
            <a:off x="1066800" y="34290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232" name="AutoShape 16"/>
          <p:cNvSpPr/>
          <p:nvPr/>
        </p:nvSpPr>
        <p:spPr>
          <a:xfrm>
            <a:off x="1625600" y="35306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id="233" name="AutoShape 17"/>
          <p:cNvSpPr/>
          <p:nvPr/>
        </p:nvSpPr>
        <p:spPr>
          <a:xfrm>
            <a:off x="1625600" y="38100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id="234" name="AutoShape 18"/>
          <p:cNvSpPr/>
          <p:nvPr/>
        </p:nvSpPr>
        <p:spPr>
          <a:xfrm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5" name="AutoShape 19"/>
          <p:cNvSpPr/>
          <p:nvPr/>
        </p:nvSpPr>
        <p:spPr>
          <a:xfrm>
            <a:off x="1066800" y="42926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236" name="AutoShape 20"/>
          <p:cNvSpPr/>
          <p:nvPr/>
        </p:nvSpPr>
        <p:spPr>
          <a:xfrm>
            <a:off x="1625600" y="43942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id="237" name="AutoShape 21"/>
          <p:cNvSpPr/>
          <p:nvPr/>
        </p:nvSpPr>
        <p:spPr>
          <a:xfrm>
            <a:off x="1625600" y="46736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id="238" name="AutoShape 22"/>
          <p:cNvSpPr/>
          <p:nvPr/>
        </p:nvSpPr>
        <p:spPr>
          <a:xfrm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9" name="AutoShape 23"/>
          <p:cNvSpPr/>
          <p:nvPr/>
        </p:nvSpPr>
        <p:spPr>
          <a:xfrm>
            <a:off x="1066800" y="51562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240" name="AutoShape 24"/>
          <p:cNvSpPr/>
          <p:nvPr/>
        </p:nvSpPr>
        <p:spPr>
          <a:xfrm>
            <a:off x="1625600" y="5257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id="241" name="AutoShape 25"/>
          <p:cNvSpPr/>
          <p:nvPr/>
        </p:nvSpPr>
        <p:spPr>
          <a:xfrm>
            <a:off x="1625600" y="55372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id="242" name="AutoShape 26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43" name="AutoShape 27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6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生产部署扩展</a:t>
            </a:r>
            <a:endParaRPr lang="en-US" sz="1100" dirty="0"/>
          </a:p>
        </p:txBody>
      </p:sp>
      <p:sp>
        <p:nvSpPr>
          <p:cNvPr id="247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runtime-host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水平扩展</a:t>
            </a:r>
            <a:endParaRPr lang="en-US" sz="1100" dirty="0"/>
          </a:p>
        </p:txBody>
      </p:sp>
      <p:cxnSp>
        <p:nvCxnSpPr>
          <p:cNvPr id="248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AutoShape 6"/>
          <p:cNvSpPr/>
          <p:nvPr/>
        </p:nvSpPr>
        <p:spPr>
          <a:xfrm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0" name="AutoShape 7"/>
          <p:cNvSpPr/>
          <p:nvPr/>
        </p:nvSpPr>
        <p:spPr>
          <a:xfrm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1" name="AutoShape 8"/>
          <p:cNvSpPr/>
          <p:nvPr/>
        </p:nvSpPr>
        <p:spPr>
          <a:xfrm>
            <a:off x="1117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id="252" name="AutoShape 9"/>
          <p:cNvSpPr/>
          <p:nvPr/>
        </p:nvSpPr>
        <p:spPr>
          <a:xfrm>
            <a:off x="1117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id="253" name="AutoShape 10"/>
          <p:cNvSpPr/>
          <p:nvPr/>
        </p:nvSpPr>
        <p:spPr>
          <a:xfrm>
            <a:off x="1117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  <a:endParaRPr/>
          </a:p>
        </p:txBody>
      </p:sp>
      <p:sp>
        <p:nvSpPr>
          <p:cNvPr id="254" name="AutoShape 11"/>
          <p:cNvSpPr/>
          <p:nvPr/>
        </p:nvSpPr>
        <p:spPr>
          <a:xfrm>
            <a:off x="1117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id="255" name="AutoShape 12"/>
          <p:cNvSpPr/>
          <p:nvPr/>
        </p:nvSpPr>
        <p:spPr>
          <a:xfrm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6" name="AutoShape 13"/>
          <p:cNvSpPr/>
          <p:nvPr/>
        </p:nvSpPr>
        <p:spPr>
          <a:xfrm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7" name="AutoShape 14"/>
          <p:cNvSpPr/>
          <p:nvPr/>
        </p:nvSpPr>
        <p:spPr>
          <a:xfrm>
            <a:off x="4673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id="258" name="AutoShape 15"/>
          <p:cNvSpPr/>
          <p:nvPr/>
        </p:nvSpPr>
        <p:spPr>
          <a:xfrm>
            <a:off x="4673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id="259" name="AutoShape 16"/>
          <p:cNvSpPr/>
          <p:nvPr/>
        </p:nvSpPr>
        <p:spPr>
          <a:xfrm>
            <a:off x="4673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  <a:endParaRPr/>
          </a:p>
        </p:txBody>
      </p:sp>
      <p:sp>
        <p:nvSpPr>
          <p:cNvPr id="260" name="AutoShape 17"/>
          <p:cNvSpPr/>
          <p:nvPr/>
        </p:nvSpPr>
        <p:spPr>
          <a:xfrm>
            <a:off x="4673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id="261" name="AutoShape 18"/>
          <p:cNvSpPr/>
          <p:nvPr/>
        </p:nvSpPr>
        <p:spPr>
          <a:xfrm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" name="AutoShape 19"/>
          <p:cNvSpPr/>
          <p:nvPr/>
        </p:nvSpPr>
        <p:spPr>
          <a:xfrm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3" name="AutoShape 20"/>
          <p:cNvSpPr/>
          <p:nvPr/>
        </p:nvSpPr>
        <p:spPr>
          <a:xfrm>
            <a:off x="8229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id="264" name="AutoShape 21"/>
          <p:cNvSpPr/>
          <p:nvPr/>
        </p:nvSpPr>
        <p:spPr>
          <a:xfrm>
            <a:off x="8229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id="265" name="AutoShape 22"/>
          <p:cNvSpPr/>
          <p:nvPr/>
        </p:nvSpPr>
        <p:spPr>
          <a:xfrm>
            <a:off x="8229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  <a:endParaRPr/>
          </a:p>
        </p:txBody>
      </p:sp>
      <p:sp>
        <p:nvSpPr>
          <p:cNvPr id="266" name="AutoShape 23"/>
          <p:cNvSpPr/>
          <p:nvPr/>
        </p:nvSpPr>
        <p:spPr>
          <a:xfrm>
            <a:off x="8229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id="267" name="AutoShape 24"/>
          <p:cNvSpPr/>
          <p:nvPr/>
        </p:nvSpPr>
        <p:spPr>
          <a:xfrm>
            <a:off x="812800" y="5283200"/>
            <a:ext cx="5207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id="268" name="AutoShape 25"/>
          <p:cNvSpPr/>
          <p:nvPr/>
        </p:nvSpPr>
        <p:spPr>
          <a:xfrm>
            <a:off x="6299200" y="5283200"/>
            <a:ext cx="5080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id="269" name="AutoShape 26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270" name="AutoShape 27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标杆场景验证</a:t>
            </a:r>
            <a:endParaRPr lang="en-US" sz="1100" dirty="0"/>
          </a:p>
        </p:txBody>
      </p:sp>
      <p:sp>
        <p:nvSpPr>
          <p:cNvPr id="27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id="27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AutoShape 6"/>
          <p:cNvSpPr/>
          <p:nvPr/>
        </p:nvSpPr>
        <p:spPr>
          <a:xfrm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7" name="AutoShape 7"/>
          <p:cNvSpPr/>
          <p:nvPr/>
        </p:nvSpPr>
        <p:spPr>
          <a:xfrm>
            <a:off x="11176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id="278" name="AutoShape 8"/>
          <p:cNvSpPr/>
          <p:nvPr/>
        </p:nvSpPr>
        <p:spPr>
          <a:xfrm>
            <a:off x="11176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id="279" name="AutoShape 9"/>
          <p:cNvSpPr/>
          <p:nvPr/>
        </p:nvSpPr>
        <p:spPr>
          <a:xfrm>
            <a:off x="11176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id="280" name="Connector 10"/>
          <p:cNvCxnSpPr/>
          <p:nvPr/>
        </p:nvCxnSpPr>
        <p:spPr>
          <a:xfrm rot="-9766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1" name="AutoShape 11"/>
          <p:cNvSpPr/>
          <p:nvPr/>
        </p:nvSpPr>
        <p:spPr>
          <a:xfrm>
            <a:off x="11176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id="282" name="AutoShape 12"/>
          <p:cNvSpPr/>
          <p:nvPr/>
        </p:nvSpPr>
        <p:spPr>
          <a:xfrm>
            <a:off x="11176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id="283" name="AutoShape 13"/>
          <p:cNvSpPr/>
          <p:nvPr/>
        </p:nvSpPr>
        <p:spPr>
          <a:xfrm>
            <a:off x="2667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id="284" name="AutoShape 14"/>
          <p:cNvSpPr/>
          <p:nvPr/>
        </p:nvSpPr>
        <p:spPr>
          <a:xfrm>
            <a:off x="2667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id="285" name="AutoShape 15"/>
          <p:cNvSpPr/>
          <p:nvPr/>
        </p:nvSpPr>
        <p:spPr>
          <a:xfrm>
            <a:off x="42164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id="286" name="AutoShape 16"/>
          <p:cNvSpPr/>
          <p:nvPr/>
        </p:nvSpPr>
        <p:spPr>
          <a:xfrm>
            <a:off x="42164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id="287" name="AutoShape 17"/>
          <p:cNvSpPr/>
          <p:nvPr/>
        </p:nvSpPr>
        <p:spPr>
          <a:xfrm>
            <a:off x="11176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id="288" name="AutoShape 18"/>
          <p:cNvSpPr/>
          <p:nvPr/>
        </p:nvSpPr>
        <p:spPr>
          <a:xfrm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9" name="AutoShape 19"/>
          <p:cNvSpPr/>
          <p:nvPr/>
        </p:nvSpPr>
        <p:spPr>
          <a:xfrm>
            <a:off x="66040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id="290" name="AutoShape 20"/>
          <p:cNvSpPr/>
          <p:nvPr/>
        </p:nvSpPr>
        <p:spPr>
          <a:xfrm>
            <a:off x="66040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id="291" name="AutoShape 21"/>
          <p:cNvSpPr/>
          <p:nvPr/>
        </p:nvSpPr>
        <p:spPr>
          <a:xfrm>
            <a:off x="66040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id="292" name="Connector 22"/>
          <p:cNvCxnSpPr/>
          <p:nvPr/>
        </p:nvCxnSpPr>
        <p:spPr>
          <a:xfrm rot="-9766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3" name="AutoShape 23"/>
          <p:cNvSpPr/>
          <p:nvPr/>
        </p:nvSpPr>
        <p:spPr>
          <a:xfrm>
            <a:off x="6604000" y="3556000"/>
            <a:ext cx="165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id="294" name="AutoShape 24"/>
          <p:cNvSpPr/>
          <p:nvPr/>
        </p:nvSpPr>
        <p:spPr>
          <a:xfrm>
            <a:off x="6604000" y="4089400"/>
            <a:ext cx="1651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id="295" name="AutoShape 25"/>
          <p:cNvSpPr/>
          <p:nvPr/>
        </p:nvSpPr>
        <p:spPr>
          <a:xfrm>
            <a:off x="8382000" y="3556000"/>
            <a:ext cx="127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id="296" name="AutoShape 26"/>
          <p:cNvSpPr/>
          <p:nvPr/>
        </p:nvSpPr>
        <p:spPr>
          <a:xfrm>
            <a:off x="8382000" y="4089400"/>
            <a:ext cx="127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id="297" name="AutoShape 27"/>
          <p:cNvSpPr/>
          <p:nvPr/>
        </p:nvSpPr>
        <p:spPr>
          <a:xfrm>
            <a:off x="9779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id="298" name="AutoShape 28"/>
          <p:cNvSpPr/>
          <p:nvPr/>
        </p:nvSpPr>
        <p:spPr>
          <a:xfrm>
            <a:off x="9779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id="299" name="AutoShape 29"/>
          <p:cNvSpPr/>
          <p:nvPr/>
        </p:nvSpPr>
        <p:spPr>
          <a:xfrm>
            <a:off x="66040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id="300" name="AutoShape 30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id="301" name="AutoShape 3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02" name="AutoShape 32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5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标杆场景一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单智能体</a:t>
            </a:r>
            <a:endParaRPr lang="en-US" sz="1100" dirty="0"/>
          </a:p>
        </p:txBody>
      </p:sp>
      <p:sp>
        <p:nvSpPr>
          <p:cNvPr id="30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id="30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8" name="AutoShape 6"/>
          <p:cNvSpPr/>
          <p:nvPr/>
        </p:nvSpPr>
        <p:spPr>
          <a:xfrm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9" name="AutoShape 7"/>
          <p:cNvSpPr/>
          <p:nvPr/>
        </p:nvSpPr>
        <p:spPr>
          <a:xfrm>
            <a:off x="1092200" y="19812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id="310" name="AutoShape 8"/>
          <p:cNvSpPr/>
          <p:nvPr/>
        </p:nvSpPr>
        <p:spPr>
          <a:xfrm>
            <a:off x="1092200" y="226060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id="311" name="Connector 9"/>
          <p:cNvCxnSpPr/>
          <p:nvPr/>
        </p:nvCxnSpPr>
        <p:spPr>
          <a:xfrm rot="-14566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2" name="AutoShape 10"/>
          <p:cNvSpPr/>
          <p:nvPr/>
        </p:nvSpPr>
        <p:spPr>
          <a:xfrm>
            <a:off x="1092200" y="35814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id="313" name="AutoShape 11"/>
          <p:cNvSpPr/>
          <p:nvPr/>
        </p:nvSpPr>
        <p:spPr>
          <a:xfrm>
            <a:off x="1092200" y="38608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id="314" name="AutoShape 12"/>
          <p:cNvSpPr/>
          <p:nvPr/>
        </p:nvSpPr>
        <p:spPr>
          <a:xfrm>
            <a:off x="1092200" y="41910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id="315" name="AutoShape 13"/>
          <p:cNvSpPr/>
          <p:nvPr/>
        </p:nvSpPr>
        <p:spPr>
          <a:xfrm>
            <a:off x="1092200" y="45212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id="316" name="AutoShape 14"/>
          <p:cNvSpPr/>
          <p:nvPr/>
        </p:nvSpPr>
        <p:spPr>
          <a:xfrm>
            <a:off x="1092200" y="4978400"/>
            <a:ext cx="29972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id="317" name="AutoShape 15"/>
          <p:cNvSpPr/>
          <p:nvPr/>
        </p:nvSpPr>
        <p:spPr>
          <a:xfrm>
            <a:off x="4724400" y="1778000"/>
            <a:ext cx="665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id="318" name="AutoShape 16"/>
          <p:cNvSpPr/>
          <p:nvPr/>
        </p:nvSpPr>
        <p:spPr>
          <a:xfrm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9" name="AutoShape 17"/>
          <p:cNvSpPr/>
          <p:nvPr/>
        </p:nvSpPr>
        <p:spPr>
          <a:xfrm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0" name="AutoShape 18"/>
          <p:cNvSpPr/>
          <p:nvPr/>
        </p:nvSpPr>
        <p:spPr>
          <a:xfrm>
            <a:off x="48768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321" name="AutoShape 19"/>
          <p:cNvSpPr/>
          <p:nvPr/>
        </p:nvSpPr>
        <p:spPr>
          <a:xfrm>
            <a:off x="53340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id="322" name="AutoShape 20"/>
          <p:cNvSpPr/>
          <p:nvPr/>
        </p:nvSpPr>
        <p:spPr>
          <a:xfrm>
            <a:off x="53340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id="323" name="AutoShape 21"/>
          <p:cNvSpPr/>
          <p:nvPr/>
        </p:nvSpPr>
        <p:spPr>
          <a:xfrm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4" name="AutoShape 22"/>
          <p:cNvSpPr/>
          <p:nvPr/>
        </p:nvSpPr>
        <p:spPr>
          <a:xfrm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" name="AutoShape 23"/>
          <p:cNvSpPr/>
          <p:nvPr/>
        </p:nvSpPr>
        <p:spPr>
          <a:xfrm>
            <a:off x="82804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326" name="AutoShape 24"/>
          <p:cNvSpPr/>
          <p:nvPr/>
        </p:nvSpPr>
        <p:spPr>
          <a:xfrm>
            <a:off x="87376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id="327" name="AutoShape 25"/>
          <p:cNvSpPr/>
          <p:nvPr/>
        </p:nvSpPr>
        <p:spPr>
          <a:xfrm>
            <a:off x="87376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id="328" name="AutoShape 26"/>
          <p:cNvSpPr/>
          <p:nvPr/>
        </p:nvSpPr>
        <p:spPr>
          <a:xfrm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" name="AutoShape 27"/>
          <p:cNvSpPr/>
          <p:nvPr/>
        </p:nvSpPr>
        <p:spPr>
          <a:xfrm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" name="AutoShape 28"/>
          <p:cNvSpPr/>
          <p:nvPr/>
        </p:nvSpPr>
        <p:spPr>
          <a:xfrm>
            <a:off x="48768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331" name="AutoShape 29"/>
          <p:cNvSpPr/>
          <p:nvPr/>
        </p:nvSpPr>
        <p:spPr>
          <a:xfrm>
            <a:off x="53340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id="332" name="AutoShape 30"/>
          <p:cNvSpPr/>
          <p:nvPr/>
        </p:nvSpPr>
        <p:spPr>
          <a:xfrm>
            <a:off x="53340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id="333" name="AutoShape 31"/>
          <p:cNvSpPr/>
          <p:nvPr/>
        </p:nvSpPr>
        <p:spPr>
          <a:xfrm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4" name="AutoShape 32"/>
          <p:cNvSpPr/>
          <p:nvPr/>
        </p:nvSpPr>
        <p:spPr>
          <a:xfrm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" name="AutoShape 33"/>
          <p:cNvSpPr/>
          <p:nvPr/>
        </p:nvSpPr>
        <p:spPr>
          <a:xfrm>
            <a:off x="82804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336" name="AutoShape 34"/>
          <p:cNvSpPr/>
          <p:nvPr/>
        </p:nvSpPr>
        <p:spPr>
          <a:xfrm>
            <a:off x="87376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id="337" name="AutoShape 35"/>
          <p:cNvSpPr/>
          <p:nvPr/>
        </p:nvSpPr>
        <p:spPr>
          <a:xfrm>
            <a:off x="87376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id="338" name="AutoShape 36"/>
          <p:cNvSpPr/>
          <p:nvPr/>
        </p:nvSpPr>
        <p:spPr>
          <a:xfrm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9" name="AutoShape 37"/>
          <p:cNvSpPr/>
          <p:nvPr/>
        </p:nvSpPr>
        <p:spPr>
          <a:xfrm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0" name="AutoShape 38"/>
          <p:cNvSpPr/>
          <p:nvPr/>
        </p:nvSpPr>
        <p:spPr>
          <a:xfrm>
            <a:off x="48768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341" name="AutoShape 39"/>
          <p:cNvSpPr/>
          <p:nvPr/>
        </p:nvSpPr>
        <p:spPr>
          <a:xfrm>
            <a:off x="53340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id="342" name="AutoShape 40"/>
          <p:cNvSpPr/>
          <p:nvPr/>
        </p:nvSpPr>
        <p:spPr>
          <a:xfrm>
            <a:off x="53340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id="343" name="AutoShape 41"/>
          <p:cNvSpPr/>
          <p:nvPr/>
        </p:nvSpPr>
        <p:spPr>
          <a:xfrm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4" name="AutoShape 42"/>
          <p:cNvSpPr/>
          <p:nvPr/>
        </p:nvSpPr>
        <p:spPr>
          <a:xfrm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5" name="AutoShape 43"/>
          <p:cNvSpPr/>
          <p:nvPr/>
        </p:nvSpPr>
        <p:spPr>
          <a:xfrm>
            <a:off x="82804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id="346" name="AutoShape 44"/>
          <p:cNvSpPr/>
          <p:nvPr/>
        </p:nvSpPr>
        <p:spPr>
          <a:xfrm>
            <a:off x="87376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id="347" name="AutoShape 45"/>
          <p:cNvSpPr/>
          <p:nvPr/>
        </p:nvSpPr>
        <p:spPr>
          <a:xfrm>
            <a:off x="87376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id="348" name="AutoShape 46"/>
          <p:cNvSpPr/>
          <p:nvPr/>
        </p:nvSpPr>
        <p:spPr>
          <a:xfrm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9" name="AutoShape 47"/>
          <p:cNvSpPr/>
          <p:nvPr/>
        </p:nvSpPr>
        <p:spPr>
          <a:xfrm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0" name="AutoShape 48"/>
          <p:cNvSpPr/>
          <p:nvPr/>
        </p:nvSpPr>
        <p:spPr>
          <a:xfrm>
            <a:off x="48768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id="351" name="AutoShape 49"/>
          <p:cNvSpPr/>
          <p:nvPr/>
        </p:nvSpPr>
        <p:spPr>
          <a:xfrm>
            <a:off x="53340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id="352" name="AutoShape 50"/>
          <p:cNvSpPr/>
          <p:nvPr/>
        </p:nvSpPr>
        <p:spPr>
          <a:xfrm>
            <a:off x="53340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id="353" name="AutoShape 51"/>
          <p:cNvSpPr/>
          <p:nvPr/>
        </p:nvSpPr>
        <p:spPr>
          <a:xfrm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4" name="AutoShape 52"/>
          <p:cNvSpPr/>
          <p:nvPr/>
        </p:nvSpPr>
        <p:spPr>
          <a:xfrm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5" name="AutoShape 53"/>
          <p:cNvSpPr/>
          <p:nvPr/>
        </p:nvSpPr>
        <p:spPr>
          <a:xfrm>
            <a:off x="82804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id="356" name="AutoShape 54"/>
          <p:cNvSpPr/>
          <p:nvPr/>
        </p:nvSpPr>
        <p:spPr>
          <a:xfrm>
            <a:off x="87376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id="357" name="AutoShape 55"/>
          <p:cNvSpPr/>
          <p:nvPr/>
        </p:nvSpPr>
        <p:spPr>
          <a:xfrm>
            <a:off x="87376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id="358" name="AutoShape 56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id="359" name="AutoShape 57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60" name="AutoShape 58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16 / 18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标杆场景二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多智能体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DAG</a:t>
            </a:r>
            <a:endParaRPr lang="en-US" sz="1100" dirty="0"/>
          </a:p>
        </p:txBody>
      </p:sp>
      <p:sp>
        <p:nvSpPr>
          <p:cNvPr id="36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id="36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6" name="AutoShape 6"/>
          <p:cNvSpPr/>
          <p:nvPr/>
        </p:nvSpPr>
        <p:spPr>
          <a:xfrm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7" name="AutoShape 7"/>
          <p:cNvSpPr/>
          <p:nvPr/>
        </p:nvSpPr>
        <p:spPr>
          <a:xfrm>
            <a:off x="4318000" y="1651000"/>
            <a:ext cx="355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id="368" name="Connector 8"/>
          <p:cNvCxnSpPr/>
          <p:nvPr/>
        </p:nvCxnSpPr>
        <p:spPr>
          <a:xfrm rot="5267844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9" name="Connector 9"/>
          <p:cNvCxnSpPr/>
          <p:nvPr/>
        </p:nvCxnSpPr>
        <p:spPr>
          <a:xfrm rot="-5617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Connector 10"/>
          <p:cNvCxnSpPr/>
          <p:nvPr/>
        </p:nvCxnSpPr>
        <p:spPr>
          <a:xfrm rot="5267844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1" name="Connector 11"/>
          <p:cNvCxnSpPr/>
          <p:nvPr/>
        </p:nvCxnSpPr>
        <p:spPr>
          <a:xfrm rot="5267844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Connector 12"/>
          <p:cNvCxnSpPr/>
          <p:nvPr/>
        </p:nvCxnSpPr>
        <p:spPr>
          <a:xfrm rot="5267844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Connector 13"/>
          <p:cNvCxnSpPr/>
          <p:nvPr/>
        </p:nvCxnSpPr>
        <p:spPr>
          <a:xfrm rot="5267844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4" name="AutoShape 14"/>
          <p:cNvSpPr/>
          <p:nvPr/>
        </p:nvSpPr>
        <p:spPr>
          <a:xfrm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5" name="AutoShape 15"/>
          <p:cNvSpPr/>
          <p:nvPr/>
        </p:nvSpPr>
        <p:spPr>
          <a:xfrm>
            <a:off x="9652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id="376" name="AutoShape 16"/>
          <p:cNvSpPr/>
          <p:nvPr/>
        </p:nvSpPr>
        <p:spPr>
          <a:xfrm>
            <a:off x="9652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id="377" name="AutoShape 17"/>
          <p:cNvSpPr/>
          <p:nvPr/>
        </p:nvSpPr>
        <p:spPr>
          <a:xfrm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8" name="AutoShape 18"/>
          <p:cNvSpPr/>
          <p:nvPr/>
        </p:nvSpPr>
        <p:spPr>
          <a:xfrm>
            <a:off x="35560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id="379" name="AutoShape 19"/>
          <p:cNvSpPr/>
          <p:nvPr/>
        </p:nvSpPr>
        <p:spPr>
          <a:xfrm>
            <a:off x="35560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id="380" name="AutoShape 20"/>
          <p:cNvSpPr/>
          <p:nvPr/>
        </p:nvSpPr>
        <p:spPr>
          <a:xfrm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" name="AutoShape 21"/>
          <p:cNvSpPr/>
          <p:nvPr/>
        </p:nvSpPr>
        <p:spPr>
          <a:xfrm>
            <a:off x="61468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id="382" name="AutoShape 22"/>
          <p:cNvSpPr/>
          <p:nvPr/>
        </p:nvSpPr>
        <p:spPr>
          <a:xfrm>
            <a:off x="6146800" y="3302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id="383" name="AutoShape 23"/>
          <p:cNvSpPr/>
          <p:nvPr/>
        </p:nvSpPr>
        <p:spPr>
          <a:xfrm>
            <a:off x="6146800" y="3556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id="384" name="AutoShape 24"/>
          <p:cNvSpPr/>
          <p:nvPr/>
        </p:nvSpPr>
        <p:spPr>
          <a:xfrm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5" name="AutoShape 25"/>
          <p:cNvSpPr/>
          <p:nvPr/>
        </p:nvSpPr>
        <p:spPr>
          <a:xfrm>
            <a:off x="87376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id="386" name="AutoShape 26"/>
          <p:cNvSpPr/>
          <p:nvPr/>
        </p:nvSpPr>
        <p:spPr>
          <a:xfrm>
            <a:off x="87376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id="387" name="Connector 27"/>
          <p:cNvCxnSpPr/>
          <p:nvPr/>
        </p:nvCxnSpPr>
        <p:spPr>
          <a:xfrm rot="5267844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8" name="Connector 28"/>
          <p:cNvCxnSpPr/>
          <p:nvPr/>
        </p:nvCxnSpPr>
        <p:spPr>
          <a:xfrm rot="5267844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9" name="Connector 29"/>
          <p:cNvCxnSpPr/>
          <p:nvPr/>
        </p:nvCxnSpPr>
        <p:spPr>
          <a:xfrm rot="5267844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Connector 30"/>
          <p:cNvCxnSpPr/>
          <p:nvPr/>
        </p:nvCxnSpPr>
        <p:spPr>
          <a:xfrm rot="5267844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1" name="Connector 31"/>
          <p:cNvCxnSpPr/>
          <p:nvPr/>
        </p:nvCxnSpPr>
        <p:spPr>
          <a:xfrm rot="-5617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2" name="Connector 32"/>
          <p:cNvCxnSpPr/>
          <p:nvPr/>
        </p:nvCxnSpPr>
        <p:spPr>
          <a:xfrm rot="5256843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AutoShape 33"/>
          <p:cNvSpPr/>
          <p:nvPr/>
        </p:nvSpPr>
        <p:spPr>
          <a:xfrm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4" name="AutoShape 34"/>
          <p:cNvSpPr/>
          <p:nvPr/>
        </p:nvSpPr>
        <p:spPr>
          <a:xfrm>
            <a:off x="4191000" y="4470400"/>
            <a:ext cx="381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id="395" name="AutoShape 35"/>
          <p:cNvSpPr/>
          <p:nvPr/>
        </p:nvSpPr>
        <p:spPr>
          <a:xfrm>
            <a:off x="8128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id="396" name="AutoShape 36"/>
          <p:cNvSpPr/>
          <p:nvPr/>
        </p:nvSpPr>
        <p:spPr>
          <a:xfrm>
            <a:off x="44450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id="397" name="AutoShape 37"/>
          <p:cNvSpPr/>
          <p:nvPr/>
        </p:nvSpPr>
        <p:spPr>
          <a:xfrm>
            <a:off x="8077200" y="52832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id="398" name="AutoShape 38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99" name="AutoShape 39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17 / 18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2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5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08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9" name="AutoShape 10"/>
          <p:cNvSpPr/>
          <p:nvPr/>
        </p:nvSpPr>
        <p:spPr>
          <a:xfrm>
            <a:off x="812800" y="1854200"/>
            <a:ext cx="1056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+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单测全绿，生产接线与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UI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触点全部闭合从能力走进生产</a:t>
            </a:r>
            <a:endParaRPr lang="en-US" sz="1100" dirty="0"/>
          </a:p>
        </p:txBody>
      </p:sp>
      <p:sp>
        <p:nvSpPr>
          <p:cNvPr id="410" name="AutoShape 11"/>
          <p:cNvSpPr/>
          <p:nvPr/>
        </p:nvSpPr>
        <p:spPr>
          <a:xfrm>
            <a:off x="812800" y="3276600"/>
            <a:ext cx="10566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11" name="AutoShape 12"/>
          <p:cNvSpPr/>
          <p:nvPr/>
        </p:nvSpPr>
        <p:spPr>
          <a:xfrm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12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sz="12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18 / 18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2026-10-24T08:52:14Z</dcterms:created>
  <dcterms:modified xsi:type="dcterms:W3CDTF">2026-10-24T08:52:14Z</dcterms:modified>
</cp:coreProperties>
</file>
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  <p:sldMasterId id="2147483662" r:id="rId3"/>
  </p:sldMasterIdLst>
  <p:notesMasterIdLst>
    <p:notesMasterId r:id="rId22"/>
  </p:notesMasterIdLst>
  <p:sldIdLst>
    <p:sldId id="256" r:id="rId4"/>
    <p:sldId id="257" r:id="rId5"/>
    <p:sldId id="271" r:id="rId6"/>
    <p:sldId id="258" r:id="rId7"/>
    <p:sldId id="259" r:id="rId8"/>
    <p:sldId id="260" r:id="rId9"/>
    <p:sldId id="267" r:id="rId10"/>
    <p:sldId id="261" r:id="rId11"/>
    <p:sldId id="262" r:id="rId12"/>
    <p:sldId id="263" r:id="rId13"/>
    <p:sldId id="264" r:id="rId14"/>
    <p:sldId id="265" r:id="rId15"/>
    <p:sldId id="266" r:id="rId16"/>
    <p:sldId id="272" r:id="rId17"/>
    <p:sldId id="268" r:id="rId18"/>
    <p:sldId id="269" r:id="rId19"/>
    <p:sldId id="270" r:id="rId20"/>
    <p:sldId id="273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5"/>
  </p:normalViewPr>
  <p:slideViewPr>
    <p:cSldViewPr snapToGrid="0">
      <p:cViewPr varScale="1">
        <p:scale>
          <a:sx n="100" d="100"/>
          <a:sy n="100" d="100"/>
        </p:scale>
        <p:origin x="904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08.10.2026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66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67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68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  <a:endParaRPr/>
          </a:p>
        </p:txBody>
      </p:sp>
      <p:sp>
        <p:nvSpPr>
          <p:cNvPr id="69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0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7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7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  <a:endParaRPr/>
          </a:p>
        </p:txBody>
      </p:sp>
      <p:sp>
        <p:nvSpPr>
          <p:cNvPr id="7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8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8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8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MOGONG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已有九大能力域，从执行底座、知识RAG、多模态理解到部署桌面都已成型。这是后续补强的坚实基线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dirty="0"/>
          </a:p>
        </p:txBody>
      </p:sp>
      <p:sp>
        <p:nvSpPr>
          <p:cNvPr id="8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8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8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8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8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  <a:endParaRPr/>
          </a:p>
        </p:txBody>
      </p:sp>
      <p:sp>
        <p:nvSpPr>
          <p:cNvPr id="9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9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9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9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9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  <a:endParaRPr/>
          </a:p>
        </p:txBody>
      </p:sp>
      <p:sp>
        <p:nvSpPr>
          <p:cNvPr id="9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9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0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0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0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  <a:endParaRPr/>
          </a:p>
        </p:txBody>
      </p:sp>
      <p:sp>
        <p:nvSpPr>
          <p:cNvPr id="10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0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0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0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1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后两件是生产底座：网关韧性解决 LLM 单点，驾驶舱让成本、使用、质量、趋势四维可观测。两者改动集中、复用现有模块，收益直接。</a:t>
            </a:r>
            <a:endParaRPr/>
          </a:p>
        </p:txBody>
      </p:sp>
      <p:sp>
        <p:nvSpPr>
          <p:cNvPr id="11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1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三件套：Hooks 先单事件低成本切入，DAG 通用化现有编排，会话与工作流双版本化让工作可交接、可回放。会话级是贯穿多条补强的横切维度。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P2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是规模化生态。Dream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Cycle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Skill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/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  <a:endParaRPr/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2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2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  <a:endParaRPr/>
          </a:p>
        </p:txBody>
      </p:sp>
      <p:sp>
        <p:nvSpPr>
          <p:cNvPr id="2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2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53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4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  <a:endParaRPr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3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3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  <a:endParaRPr/>
          </a:p>
        </p:txBody>
      </p:sp>
      <p:sp>
        <p:nvSpPr>
          <p:cNvPr id="3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3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4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  <a:endParaRPr/>
          </a:p>
        </p:txBody>
      </p:sp>
      <p:sp>
        <p:nvSpPr>
          <p:cNvPr id="4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4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45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46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47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  <a:endParaRPr/>
          </a:p>
        </p:txBody>
      </p:sp>
      <p:sp>
        <p:nvSpPr>
          <p:cNvPr id="48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9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6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6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  <a:endParaRPr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8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9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5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7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9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0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5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3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4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5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1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7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9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6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ctr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ctr">
              <a:lnSpc>
                <a:spcPct val="91666"/>
              </a:lnSpc>
              <a:defRPr sz="1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61950" algn="ctr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  <a:endParaRPr/>
          </a:p>
        </p:txBody>
      </p:sp>
      <p:sp>
        <p:nvSpPr>
          <p:cNvPr id="7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7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7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F15BA87E-0511-403F-8208-00DFF90F47E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9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0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1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2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85030D2-7057-4DDF-ADB6-784244A9F46D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1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2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93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94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2BC57320-2551-4BE9-A720-62A40845B097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7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8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9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0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01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DC39A48B-50F7-4D84-82CD-39943793969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4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5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6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7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8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9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0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9FA9FBFF-0D92-41E1-B35A-E21CA4CFE281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1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5338049-1806-452C-A362-26701BAB893B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8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9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8D52007-29D0-447E-9725-1CE814C3117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2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4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81000" algn="l">
              <a:lnSpc>
                <a:spcPct val="91666"/>
              </a:lnSpc>
              <a:spcBef>
                <a:spcPts val="8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3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4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5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26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02DCA6F-A194-4080-9006-BB4DBB3F9D28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9" name="AutoShape 3"/>
          <p:cNvSpPr>
            <a:spLocks noGrp="1"/>
          </p:cNvSpPr>
          <p:nvPr>
            <p:ph type="pic" sz="quarter" idx="49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30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1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2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3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82A30D4-F5E0-497D-B220-A50D264F9C0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36" name="AutoShape 3"/>
          <p:cNvSpPr>
            <a:spLocks noGrp="1"/>
          </p:cNvSpPr>
          <p:nvPr>
            <p:ph type="body" sz="quarter" idx="55" hasCustomPrompt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7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8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9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388FBF1B-F6B4-419F-BC46-C3FC20252815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2"/>
          <p:cNvSpPr>
            <a:spLocks noGrp="1"/>
          </p:cNvSpPr>
          <p:nvPr>
            <p:ph type="body" sz="quarter" idx="59" hasCustomPrompt="1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85" name="AutoShape 3"/>
          <p:cNvSpPr>
            <a:spLocks noGrp="1"/>
          </p:cNvSpPr>
          <p:nvPr>
            <p:ph type="body" sz="quarter" idx="60" hasCustomPrompt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6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7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8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E2328B29-69DA-442B-B55E-BF232F43205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3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100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100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1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B99EBBD-B61C-45CA-BD84-CCB153DD23F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5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7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8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9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0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1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2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墨攻基于DSH的企业级智能体平台</a:t>
            </a:r>
            <a:endParaRPr lang="en-US" sz="1100"/>
          </a:p>
        </p:txBody>
      </p:sp>
      <p:sp>
        <p:nvSpPr>
          <p:cNvPr id="453" name="AutoShape 10"/>
          <p:cNvSpPr/>
          <p:nvPr/>
        </p:nvSpPr>
        <p:spPr>
          <a:xfrm>
            <a:off x="812800" y="2489200"/>
            <a:ext cx="10566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从能力底座到生产就绪</a:t>
            </a:r>
            <a:endParaRPr lang="en-US" sz="1100"/>
          </a:p>
        </p:txBody>
      </p:sp>
      <p:sp>
        <p:nvSpPr>
          <p:cNvPr id="454" name="AutoShape 11"/>
          <p:cNvSpPr/>
          <p:nvPr/>
        </p:nvSpPr>
        <p:spPr>
          <a:xfrm>
            <a:off x="812800" y="32512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FFFFFF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企业级智能体功能补强 · 按 SDD 全流程落地进展</a:t>
            </a:r>
            <a:endParaRPr lang="en-US" sz="1100"/>
          </a:p>
        </p:txBody>
      </p:sp>
      <p:sp>
        <p:nvSpPr>
          <p:cNvPr id="455" name="AutoShape 12"/>
          <p:cNvSpPr/>
          <p:nvPr/>
        </p:nvSpPr>
        <p:spPr>
          <a:xfrm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6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 dirty="0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2026-10 ·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5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 · 定位与主线</a:t>
            </a:r>
            <a:endParaRPr lang="en-US" sz="1100"/>
          </a:p>
        </p:txBody>
      </p:sp>
      <p:sp>
        <p:nvSpPr>
          <p:cNvPr id="46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管运行，墨攻管进企业</a:t>
            </a:r>
            <a:endParaRPr lang="en-US" sz="1100" dirty="0"/>
          </a:p>
        </p:txBody>
      </p:sp>
      <p:cxnSp>
        <p:nvCxnSpPr>
          <p:cNvPr id="46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2" name="AutoShape 6"/>
          <p:cNvSpPr/>
          <p:nvPr/>
        </p:nvSpPr>
        <p:spPr>
          <a:xfrm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63" name="AutoShape 7"/>
          <p:cNvSpPr/>
          <p:nvPr/>
        </p:nvSpPr>
        <p:spPr>
          <a:xfrm>
            <a:off x="1092200" y="2032000"/>
            <a:ext cx="3251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DD4B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一句话定位</a:t>
            </a:r>
            <a:endParaRPr lang="en-US" sz="1100"/>
          </a:p>
        </p:txBody>
      </p:sp>
      <p:sp>
        <p:nvSpPr>
          <p:cNvPr id="464" name="AutoShape 8"/>
          <p:cNvSpPr/>
          <p:nvPr/>
        </p:nvSpPr>
        <p:spPr>
          <a:xfrm>
            <a:off x="1092200" y="2438400"/>
            <a:ext cx="3251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7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= DSH Runtime（执行底座）+ 墨攻企业层（进入生产）</a:t>
            </a:r>
            <a:endParaRPr lang="en-US" sz="1100"/>
          </a:p>
        </p:txBody>
      </p:sp>
      <p:sp>
        <p:nvSpPr>
          <p:cNvPr id="465" name="AutoShape 9"/>
          <p:cNvSpPr/>
          <p:nvPr/>
        </p:nvSpPr>
        <p:spPr>
          <a:xfrm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66" name="AutoShape 10"/>
          <p:cNvSpPr/>
          <p:nvPr/>
        </p:nvSpPr>
        <p:spPr>
          <a:xfrm>
            <a:off x="1092200" y="3860800"/>
            <a:ext cx="3251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E2E8F0">
                    <a:alpha val="74902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id="467" name="AutoShape 11"/>
          <p:cNvSpPr/>
          <p:nvPr/>
        </p:nvSpPr>
        <p:spPr>
          <a:xfrm>
            <a:off x="5029200" y="1778000"/>
            <a:ext cx="635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本材料按四步回答</a:t>
            </a:r>
            <a:endParaRPr lang="en-US" sz="1100"/>
          </a:p>
        </p:txBody>
      </p:sp>
      <p:sp>
        <p:nvSpPr>
          <p:cNvPr id="468" name="AutoShape 12"/>
          <p:cNvSpPr/>
          <p:nvPr/>
        </p:nvSpPr>
        <p:spPr>
          <a:xfrm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69" name="AutoShape 13"/>
          <p:cNvSpPr/>
          <p:nvPr/>
        </p:nvSpPr>
        <p:spPr>
          <a:xfrm>
            <a:off x="5257800" y="22606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</a:t>
            </a:r>
            <a:endParaRPr lang="en-US" sz="1100"/>
          </a:p>
        </p:txBody>
      </p:sp>
      <p:sp>
        <p:nvSpPr>
          <p:cNvPr id="470" name="AutoShape 14"/>
          <p:cNvSpPr/>
          <p:nvPr/>
        </p:nvSpPr>
        <p:spPr>
          <a:xfrm>
            <a:off x="5867400" y="22606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已有哪些能力，哪些已领先、不重复投入</a:t>
            </a:r>
            <a:endParaRPr lang="en-US" sz="1100"/>
          </a:p>
        </p:txBody>
      </p:sp>
      <p:sp>
        <p:nvSpPr>
          <p:cNvPr id="471" name="AutoShape 15"/>
          <p:cNvSpPr/>
          <p:nvPr/>
        </p:nvSpPr>
        <p:spPr>
          <a:xfrm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72" name="AutoShape 16"/>
          <p:cNvSpPr/>
          <p:nvPr/>
        </p:nvSpPr>
        <p:spPr>
          <a:xfrm>
            <a:off x="5257800" y="30480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</a:t>
            </a:r>
            <a:endParaRPr lang="en-US" sz="1100"/>
          </a:p>
        </p:txBody>
      </p:sp>
      <p:sp>
        <p:nvSpPr>
          <p:cNvPr id="473" name="AutoShape 17"/>
          <p:cNvSpPr/>
          <p:nvPr/>
        </p:nvSpPr>
        <p:spPr>
          <a:xfrm>
            <a:off x="5867400" y="30480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与 EntAgent / AgentGit 对比，缺哪六处</a:t>
            </a:r>
            <a:endParaRPr lang="en-US" sz="1100"/>
          </a:p>
        </p:txBody>
      </p:sp>
      <p:sp>
        <p:nvSpPr>
          <p:cNvPr id="474" name="AutoShape 18"/>
          <p:cNvSpPr/>
          <p:nvPr/>
        </p:nvSpPr>
        <p:spPr>
          <a:xfrm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75" name="AutoShape 19"/>
          <p:cNvSpPr/>
          <p:nvPr/>
        </p:nvSpPr>
        <p:spPr>
          <a:xfrm>
            <a:off x="5257800" y="38354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</a:t>
            </a:r>
            <a:endParaRPr lang="en-US" sz="1100"/>
          </a:p>
        </p:txBody>
      </p:sp>
      <p:sp>
        <p:nvSpPr>
          <p:cNvPr id="476" name="AutoShape 20"/>
          <p:cNvSpPr/>
          <p:nvPr/>
        </p:nvSpPr>
        <p:spPr>
          <a:xfrm>
            <a:off x="5867400" y="38354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P0 / P1 / P2 优先级逐项补强什么</a:t>
            </a:r>
            <a:endParaRPr lang="en-US" sz="1100"/>
          </a:p>
        </p:txBody>
      </p:sp>
      <p:sp>
        <p:nvSpPr>
          <p:cNvPr id="477" name="AutoShape 21"/>
          <p:cNvSpPr/>
          <p:nvPr/>
        </p:nvSpPr>
        <p:spPr>
          <a:xfrm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78" name="AutoShape 22"/>
          <p:cNvSpPr/>
          <p:nvPr/>
        </p:nvSpPr>
        <p:spPr>
          <a:xfrm>
            <a:off x="5257800" y="46228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</a:t>
            </a:r>
            <a:endParaRPr lang="en-US" sz="1100"/>
          </a:p>
        </p:txBody>
      </p:sp>
      <p:sp>
        <p:nvSpPr>
          <p:cNvPr id="479" name="AutoShape 23"/>
          <p:cNvSpPr/>
          <p:nvPr/>
        </p:nvSpPr>
        <p:spPr>
          <a:xfrm>
            <a:off x="5867400" y="46228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三阶段多久落地、各交付什么</a:t>
            </a:r>
            <a:endParaRPr lang="en-US" sz="1100"/>
          </a:p>
        </p:txBody>
      </p:sp>
      <p:sp>
        <p:nvSpPr>
          <p:cNvPr id="480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81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圆角矩形 343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5" name="矩形 344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6" name="圆角矩形 345"/>
          <p:cNvSpPr/>
          <p:nvPr/>
        </p:nvSpPr>
        <p:spPr>
          <a:xfrm>
            <a:off x="812800" y="1676400"/>
            <a:ext cx="10566400" cy="3632200"/>
          </a:xfrm>
          <a:prstGeom prst="roundRect">
            <a:avLst>
              <a:gd name="adj" fmla="val 437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47" name="圆角矩形 346"/>
          <p:cNvSpPr/>
          <p:nvPr/>
        </p:nvSpPr>
        <p:spPr>
          <a:xfrm>
            <a:off x="1016000" y="1879600"/>
            <a:ext cx="1600200" cy="2794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48" name="圆角矩形 347"/>
          <p:cNvSpPr/>
          <p:nvPr/>
        </p:nvSpPr>
        <p:spPr>
          <a:xfrm>
            <a:off x="812800" y="2489200"/>
            <a:ext cx="2006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49" name="圆角矩形 348"/>
          <p:cNvSpPr/>
          <p:nvPr/>
        </p:nvSpPr>
        <p:spPr>
          <a:xfrm>
            <a:off x="1016000" y="3378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50" name="圆角矩形 349"/>
          <p:cNvSpPr/>
          <p:nvPr/>
        </p:nvSpPr>
        <p:spPr>
          <a:xfrm>
            <a:off x="1016000" y="3759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51" name="圆角矩形 350"/>
          <p:cNvSpPr/>
          <p:nvPr/>
        </p:nvSpPr>
        <p:spPr>
          <a:xfrm>
            <a:off x="1016000" y="4140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52" name="圆角矩形 351"/>
          <p:cNvSpPr/>
          <p:nvPr/>
        </p:nvSpPr>
        <p:spPr>
          <a:xfrm>
            <a:off x="1016000" y="4521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53" name="圆角矩形 352"/>
          <p:cNvSpPr/>
          <p:nvPr/>
        </p:nvSpPr>
        <p:spPr>
          <a:xfrm>
            <a:off x="31750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54" name="圆角矩形 353"/>
          <p:cNvSpPr/>
          <p:nvPr/>
        </p:nvSpPr>
        <p:spPr>
          <a:xfrm>
            <a:off x="33782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55" name="圆角矩形 354"/>
          <p:cNvSpPr/>
          <p:nvPr/>
        </p:nvSpPr>
        <p:spPr>
          <a:xfrm>
            <a:off x="33782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56" name="圆角矩形 355"/>
          <p:cNvSpPr/>
          <p:nvPr/>
        </p:nvSpPr>
        <p:spPr>
          <a:xfrm>
            <a:off x="33782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57" name="圆角矩形 356"/>
          <p:cNvSpPr/>
          <p:nvPr/>
        </p:nvSpPr>
        <p:spPr>
          <a:xfrm>
            <a:off x="33782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58" name="圆角矩形 357"/>
          <p:cNvSpPr/>
          <p:nvPr/>
        </p:nvSpPr>
        <p:spPr>
          <a:xfrm>
            <a:off x="60198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59" name="圆角矩形 358"/>
          <p:cNvSpPr/>
          <p:nvPr/>
        </p:nvSpPr>
        <p:spPr>
          <a:xfrm>
            <a:off x="62230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60" name="圆角矩形 359"/>
          <p:cNvSpPr/>
          <p:nvPr/>
        </p:nvSpPr>
        <p:spPr>
          <a:xfrm>
            <a:off x="62230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1" name="圆角矩形 360"/>
          <p:cNvSpPr/>
          <p:nvPr/>
        </p:nvSpPr>
        <p:spPr>
          <a:xfrm>
            <a:off x="62230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2" name="圆角矩形 361"/>
          <p:cNvSpPr/>
          <p:nvPr/>
        </p:nvSpPr>
        <p:spPr>
          <a:xfrm>
            <a:off x="62230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3" name="圆角矩形 362"/>
          <p:cNvSpPr/>
          <p:nvPr/>
        </p:nvSpPr>
        <p:spPr>
          <a:xfrm>
            <a:off x="8864600" y="2489200"/>
            <a:ext cx="2514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4" name="圆角矩形 363"/>
          <p:cNvSpPr/>
          <p:nvPr/>
        </p:nvSpPr>
        <p:spPr>
          <a:xfrm>
            <a:off x="9067800" y="2641600"/>
            <a:ext cx="21082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65" name="圆角矩形 364"/>
          <p:cNvSpPr/>
          <p:nvPr/>
        </p:nvSpPr>
        <p:spPr>
          <a:xfrm>
            <a:off x="9067800" y="2946400"/>
            <a:ext cx="2108200" cy="7366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6" name="圆角矩形 365"/>
          <p:cNvSpPr/>
          <p:nvPr/>
        </p:nvSpPr>
        <p:spPr>
          <a:xfrm>
            <a:off x="9067800" y="3835400"/>
            <a:ext cx="2108200" cy="5588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7" name="圆角矩形 366"/>
          <p:cNvSpPr/>
          <p:nvPr/>
        </p:nvSpPr>
        <p:spPr>
          <a:xfrm>
            <a:off x="9067800" y="4521200"/>
            <a:ext cx="2108200" cy="381000"/>
          </a:xfrm>
          <a:prstGeom prst="roundRect">
            <a:avLst>
              <a:gd name="adj" fmla="val 4376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8" name="圆角矩形 367"/>
          <p:cNvSpPr/>
          <p:nvPr/>
        </p:nvSpPr>
        <p:spPr>
          <a:xfrm>
            <a:off x="812800" y="5511800"/>
            <a:ext cx="10566400" cy="660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endParaRPr/>
          </a:p>
        </p:txBody>
      </p:sp>
      <p:sp>
        <p:nvSpPr>
          <p:cNvPr id="369" name="圆角矩形 368"/>
          <p:cNvSpPr/>
          <p:nvPr/>
        </p:nvSpPr>
        <p:spPr>
          <a:xfrm>
            <a:off x="1066800" y="5664200"/>
            <a:ext cx="1422400" cy="355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370" name="直线连接符 369"/>
          <p:cNvSpPr/>
          <p:nvPr/>
        </p:nvSpPr>
        <p:spPr>
          <a:xfrm>
            <a:off x="28448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endParaRPr/>
          </a:p>
        </p:txBody>
      </p:sp>
      <p:sp>
        <p:nvSpPr>
          <p:cNvPr id="371" name="直线连接符 370"/>
          <p:cNvSpPr/>
          <p:nvPr/>
        </p:nvSpPr>
        <p:spPr>
          <a:xfrm>
            <a:off x="56896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endParaRPr/>
          </a:p>
        </p:txBody>
      </p:sp>
      <p:sp>
        <p:nvSpPr>
          <p:cNvPr id="372" name="直线连接符 371"/>
          <p:cNvSpPr/>
          <p:nvPr/>
        </p:nvSpPr>
        <p:spPr>
          <a:xfrm>
            <a:off x="85344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endParaRPr/>
          </a:p>
        </p:txBody>
      </p:sp>
      <p:sp>
        <p:nvSpPr>
          <p:cNvPr id="373" name="直线连接符 372"/>
          <p:cNvSpPr/>
          <p:nvPr/>
        </p:nvSpPr>
        <p:spPr>
          <a:xfrm>
            <a:off x="2819400" y="2159000"/>
            <a:ext cx="0" cy="2794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endParaRPr/>
          </a:p>
        </p:txBody>
      </p:sp>
      <p:sp>
        <p:nvSpPr>
          <p:cNvPr id="374" name="直线连接符 373"/>
          <p:cNvSpPr/>
          <p:nvPr/>
        </p:nvSpPr>
        <p:spPr>
          <a:xfrm>
            <a:off x="4419600" y="5130800"/>
            <a:ext cx="0" cy="3302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endParaRPr/>
          </a:p>
        </p:txBody>
      </p:sp>
      <p:sp>
        <p:nvSpPr>
          <p:cNvPr id="375" name="矩形 374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200">
                <a:solidFill>
                  <a:srgbClr val="0D9488"/>
                </a:solidFill>
                <a:latin typeface="Hiragino Sans GB"/>
                <a:ea typeface="Hiragino Sans GB"/>
              </a:rPr>
              <a:t>02 · 架构总览</a:t>
            </a:r>
            <a:endParaRPr/>
          </a:p>
        </p:txBody>
      </p:sp>
      <p:sp>
        <p:nvSpPr>
          <p:cNvPr id="376" name="矩形 375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DSH 执行底座 + 墨攻企业层，四层分工与关键挂载点</a:t>
            </a:r>
            <a:endParaRPr/>
          </a:p>
        </p:txBody>
      </p:sp>
      <p:sp>
        <p:nvSpPr>
          <p:cNvPr id="377" name="矩形 376"/>
          <p:cNvSpPr/>
          <p:nvPr/>
        </p:nvSpPr>
        <p:spPr>
          <a:xfrm>
            <a:off x="1016000" y="18796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接入层</a:t>
            </a:r>
            <a:endParaRPr/>
          </a:p>
        </p:txBody>
      </p:sp>
      <p:sp>
        <p:nvSpPr>
          <p:cNvPr id="378" name="矩形 377"/>
          <p:cNvSpPr/>
          <p:nvPr/>
        </p:nvSpPr>
        <p:spPr>
          <a:xfrm>
            <a:off x="1016000" y="2209800"/>
            <a:ext cx="1600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谁在用</a:t>
            </a:r>
            <a:endParaRPr/>
          </a:p>
        </p:txBody>
      </p:sp>
      <p:sp>
        <p:nvSpPr>
          <p:cNvPr id="379" name="矩形 378"/>
          <p:cNvSpPr/>
          <p:nvPr/>
        </p:nvSpPr>
        <p:spPr>
          <a:xfrm>
            <a:off x="1016000" y="3378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user-web</a:t>
            </a:r>
            <a:endParaRPr dirty="0"/>
          </a:p>
        </p:txBody>
      </p:sp>
      <p:sp>
        <p:nvSpPr>
          <p:cNvPr id="380" name="矩形 379"/>
          <p:cNvSpPr/>
          <p:nvPr/>
        </p:nvSpPr>
        <p:spPr>
          <a:xfrm>
            <a:off x="1016000" y="3759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admin-web</a:t>
            </a:r>
            <a:endParaRPr/>
          </a:p>
        </p:txBody>
      </p:sp>
      <p:sp>
        <p:nvSpPr>
          <p:cNvPr id="381" name="矩形 380"/>
          <p:cNvSpPr/>
          <p:nvPr/>
        </p:nvSpPr>
        <p:spPr>
          <a:xfrm>
            <a:off x="1016000" y="4140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Desktop</a:t>
            </a:r>
            <a:endParaRPr/>
          </a:p>
        </p:txBody>
      </p:sp>
      <p:sp>
        <p:nvSpPr>
          <p:cNvPr id="382" name="矩形 381"/>
          <p:cNvSpPr/>
          <p:nvPr/>
        </p:nvSpPr>
        <p:spPr>
          <a:xfrm>
            <a:off x="1016000" y="4521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多 IM / A2A</a:t>
            </a:r>
            <a:endParaRPr/>
          </a:p>
        </p:txBody>
      </p:sp>
      <p:sp>
        <p:nvSpPr>
          <p:cNvPr id="383" name="矩形 382"/>
          <p:cNvSpPr/>
          <p:nvPr/>
        </p:nvSpPr>
        <p:spPr>
          <a:xfrm>
            <a:off x="33782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编排层  chat-api</a:t>
            </a:r>
            <a:endParaRPr dirty="0"/>
          </a:p>
        </p:txBody>
      </p:sp>
      <p:sp>
        <p:nvSpPr>
          <p:cNvPr id="384" name="矩形 383"/>
          <p:cNvSpPr/>
          <p:nvPr/>
        </p:nvSpPr>
        <p:spPr>
          <a:xfrm>
            <a:off x="33782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FastAPI · 会话 / DAG 编排</a:t>
            </a:r>
            <a:endParaRPr/>
          </a:p>
        </p:txBody>
      </p:sp>
      <p:sp>
        <p:nvSpPr>
          <p:cNvPr id="385" name="矩形 384"/>
          <p:cNvSpPr/>
          <p:nvPr/>
        </p:nvSpPr>
        <p:spPr>
          <a:xfrm>
            <a:off x="33782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Hooks 五事件 · 任务准入
多智能体与子智能体调度</a:t>
            </a:r>
            <a:endParaRPr/>
          </a:p>
        </p:txBody>
      </p:sp>
      <p:sp>
        <p:nvSpPr>
          <p:cNvPr id="386" name="矩形 385"/>
          <p:cNvSpPr/>
          <p:nvPr/>
        </p:nvSpPr>
        <p:spPr>
          <a:xfrm>
            <a:off x="33782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LLM 网关（故障转移 · 降级 · 计量）</a:t>
            </a:r>
            <a:endParaRPr/>
          </a:p>
        </p:txBody>
      </p:sp>
      <p:sp>
        <p:nvSpPr>
          <p:cNvPr id="387" name="矩形 386"/>
          <p:cNvSpPr/>
          <p:nvPr/>
        </p:nvSpPr>
        <p:spPr>
          <a:xfrm>
            <a:off x="3378200" y="4533900"/>
            <a:ext cx="2082800" cy="381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900" dirty="0">
                <a:solidFill>
                  <a:srgbClr val="047857"/>
                </a:solidFill>
                <a:latin typeface="Hiragino Sans GB"/>
                <a:ea typeface="Hiragino Sans GB"/>
              </a:rPr>
              <a:t>挂载：RBAC 码 · 审批 · 配额 · 审计</a:t>
            </a:r>
            <a:endParaRPr dirty="0"/>
          </a:p>
        </p:txBody>
      </p:sp>
      <p:sp>
        <p:nvSpPr>
          <p:cNvPr id="388" name="矩形 387"/>
          <p:cNvSpPr/>
          <p:nvPr/>
        </p:nvSpPr>
        <p:spPr>
          <a:xfrm>
            <a:off x="62230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治理层  admin-api</a:t>
            </a:r>
            <a:endParaRPr dirty="0"/>
          </a:p>
        </p:txBody>
      </p:sp>
      <p:sp>
        <p:nvSpPr>
          <p:cNvPr id="389" name="矩形 388"/>
          <p:cNvSpPr/>
          <p:nvPr/>
        </p:nvSpPr>
        <p:spPr>
          <a:xfrm>
            <a:off x="62230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Gatekeeper 六层串行门禁</a:t>
            </a:r>
            <a:endParaRPr/>
          </a:p>
        </p:txBody>
      </p:sp>
      <p:sp>
        <p:nvSpPr>
          <p:cNvPr id="390" name="矩形 389"/>
          <p:cNvSpPr/>
          <p:nvPr/>
        </p:nvSpPr>
        <p:spPr>
          <a:xfrm>
            <a:off x="62230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身份 → RBAC → 脱敏 → 审批
→ 配额 → 审计（R4 红线不可覆盖）</a:t>
            </a:r>
            <a:endParaRPr/>
          </a:p>
        </p:txBody>
      </p:sp>
      <p:sp>
        <p:nvSpPr>
          <p:cNvPr id="391" name="矩形 390"/>
          <p:cNvSpPr/>
          <p:nvPr/>
        </p:nvSpPr>
        <p:spPr>
          <a:xfrm>
            <a:off x="62230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R0–R4 风险 × L1–L5 自主矩阵</a:t>
            </a:r>
            <a:endParaRPr/>
          </a:p>
        </p:txBody>
      </p:sp>
      <p:sp>
        <p:nvSpPr>
          <p:cNvPr id="392" name="矩形 391"/>
          <p:cNvSpPr/>
          <p:nvPr/>
        </p:nvSpPr>
        <p:spPr>
          <a:xfrm>
            <a:off x="6223000" y="4521200"/>
            <a:ext cx="2082800" cy="393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900" dirty="0">
                <a:solidFill>
                  <a:srgbClr val="1D4ED8"/>
                </a:solidFill>
                <a:latin typeface="Hiragino Sans GB"/>
                <a:ea typeface="Hiragino Sans GB"/>
              </a:rPr>
              <a:t>fail-closed 默认拒绝</a:t>
            </a:r>
            <a:endParaRPr dirty="0"/>
          </a:p>
        </p:txBody>
      </p:sp>
      <p:sp>
        <p:nvSpPr>
          <p:cNvPr id="393" name="矩形 392"/>
          <p:cNvSpPr/>
          <p:nvPr/>
        </p:nvSpPr>
        <p:spPr>
          <a:xfrm>
            <a:off x="9067800" y="26797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执行底座  DSH</a:t>
            </a:r>
            <a:endParaRPr/>
          </a:p>
        </p:txBody>
      </p:sp>
      <p:sp>
        <p:nvSpPr>
          <p:cNvPr id="394" name="矩形 393"/>
          <p:cNvSpPr/>
          <p:nvPr/>
        </p:nvSpPr>
        <p:spPr>
          <a:xfrm>
            <a:off x="9067800" y="3073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dsh-runtime-host（Node）</a:t>
            </a:r>
            <a:endParaRPr/>
          </a:p>
        </p:txBody>
      </p:sp>
      <p:sp>
        <p:nvSpPr>
          <p:cNvPr id="395" name="矩形 394"/>
          <p:cNvSpPr/>
          <p:nvPr/>
        </p:nvSpPr>
        <p:spPr>
          <a:xfrm>
            <a:off x="9067800" y="3276600"/>
            <a:ext cx="21082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任务规划 · 工具调用 · Skill
子智能体 · 受控执行</a:t>
            </a:r>
            <a:endParaRPr/>
          </a:p>
        </p:txBody>
      </p:sp>
      <p:sp>
        <p:nvSpPr>
          <p:cNvPr id="396" name="矩形 395"/>
          <p:cNvSpPr/>
          <p:nvPr/>
        </p:nvSpPr>
        <p:spPr>
          <a:xfrm>
            <a:off x="9067800" y="3962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MCP 工具桥 · 模型网关</a:t>
            </a:r>
            <a:endParaRPr/>
          </a:p>
        </p:txBody>
      </p:sp>
      <p:sp>
        <p:nvSpPr>
          <p:cNvPr id="397" name="矩形 396"/>
          <p:cNvSpPr/>
          <p:nvPr/>
        </p:nvSpPr>
        <p:spPr>
          <a:xfrm>
            <a:off x="9067800" y="4648200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900">
                <a:solidFill>
                  <a:srgbClr val="6D28D9"/>
                </a:solidFill>
                <a:latin typeface="Hiragino Sans GB"/>
                <a:ea typeface="Hiragino Sans GB"/>
              </a:rPr>
              <a:t>水平扩展：sticky 路由</a:t>
            </a:r>
            <a:endParaRPr/>
          </a:p>
        </p:txBody>
      </p:sp>
      <p:sp>
        <p:nvSpPr>
          <p:cNvPr id="398" name="矩形 397"/>
          <p:cNvSpPr/>
          <p:nvPr/>
        </p:nvSpPr>
        <p:spPr>
          <a:xfrm>
            <a:off x="1066800" y="5664200"/>
            <a:ext cx="14224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数据与知识</a:t>
            </a:r>
            <a:endParaRPr dirty="0"/>
          </a:p>
        </p:txBody>
      </p:sp>
      <p:sp>
        <p:nvSpPr>
          <p:cNvPr id="399" name="矩形 398"/>
          <p:cNvSpPr/>
          <p:nvPr/>
        </p:nvSpPr>
        <p:spPr>
          <a:xfrm>
            <a:off x="2692400" y="5524500"/>
            <a:ext cx="1905000" cy="647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200" dirty="0">
                <a:solidFill>
                  <a:srgbClr val="0F172A"/>
                </a:solidFill>
                <a:latin typeface="Hiragino Sans GB"/>
                <a:ea typeface="Hiragino Sans GB"/>
              </a:rPr>
              <a:t>MongoDB · Redis · Weaviate</a:t>
            </a:r>
            <a:endParaRPr dirty="0"/>
          </a:p>
        </p:txBody>
      </p:sp>
      <p:sp>
        <p:nvSpPr>
          <p:cNvPr id="400" name="矩形 399"/>
          <p:cNvSpPr/>
          <p:nvPr/>
        </p:nvSpPr>
        <p:spPr>
          <a:xfrm>
            <a:off x="5080000" y="5765800"/>
            <a:ext cx="61468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zh-CN" sz="1000" dirty="0">
                <a:solidFill>
                  <a:srgbClr val="64748B"/>
                </a:solidFill>
                <a:latin typeface="Hiragino Sans GB"/>
                <a:ea typeface="Hiragino Sans GB"/>
              </a:rPr>
              <a:t>会话与绑定 · 凭据 · 事件流 · 多租户隔离· 上下文寻址· 向量检索与知识图谱</a:t>
            </a:r>
            <a:endParaRPr dirty="0"/>
          </a:p>
        </p:txBody>
      </p:sp>
      <p:sp>
        <p:nvSpPr>
          <p:cNvPr id="401" name="矩形 400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402" name="矩形 401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16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84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已有基线</a:t>
            </a:r>
            <a:endParaRPr lang="en-US" sz="1100"/>
          </a:p>
        </p:txBody>
      </p:sp>
      <p:sp>
        <p:nvSpPr>
          <p:cNvPr id="485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墨攻已具备九大能力域，执行与内容生成完整</a:t>
            </a:r>
            <a:endParaRPr lang="en-US" sz="1100"/>
          </a:p>
        </p:txBody>
      </p:sp>
      <p:cxnSp>
        <p:nvCxnSpPr>
          <p:cNvPr id="486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7" name="AutoShape 6"/>
          <p:cNvSpPr/>
          <p:nvPr/>
        </p:nvSpPr>
        <p:spPr>
          <a:xfrm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88" name="AutoShape 7"/>
          <p:cNvSpPr/>
          <p:nvPr/>
        </p:nvSpPr>
        <p:spPr>
          <a:xfrm>
            <a:off x="10414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 Runtime</a:t>
            </a:r>
            <a:endParaRPr lang="en-US" sz="1100"/>
          </a:p>
        </p:txBody>
      </p:sp>
      <p:sp>
        <p:nvSpPr>
          <p:cNvPr id="489" name="AutoShape 8"/>
          <p:cNvSpPr/>
          <p:nvPr/>
        </p:nvSpPr>
        <p:spPr>
          <a:xfrm>
            <a:off x="10414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id="490" name="AutoShape 9"/>
          <p:cNvSpPr/>
          <p:nvPr/>
        </p:nvSpPr>
        <p:spPr>
          <a:xfrm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91" name="AutoShape 10"/>
          <p:cNvSpPr/>
          <p:nvPr/>
        </p:nvSpPr>
        <p:spPr>
          <a:xfrm>
            <a:off x="46228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 / RAG</a:t>
            </a:r>
            <a:endParaRPr lang="en-US" sz="1100"/>
          </a:p>
        </p:txBody>
      </p:sp>
      <p:sp>
        <p:nvSpPr>
          <p:cNvPr id="492" name="AutoShape 11"/>
          <p:cNvSpPr/>
          <p:nvPr/>
        </p:nvSpPr>
        <p:spPr>
          <a:xfrm>
            <a:off x="46228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id="493" name="AutoShape 12"/>
          <p:cNvSpPr/>
          <p:nvPr/>
        </p:nvSpPr>
        <p:spPr>
          <a:xfrm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94" name="AutoShape 13"/>
          <p:cNvSpPr/>
          <p:nvPr/>
        </p:nvSpPr>
        <p:spPr>
          <a:xfrm>
            <a:off x="82042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多模态理解</a:t>
            </a:r>
            <a:endParaRPr lang="en-US" sz="1100"/>
          </a:p>
        </p:txBody>
      </p:sp>
      <p:sp>
        <p:nvSpPr>
          <p:cNvPr id="495" name="AutoShape 14"/>
          <p:cNvSpPr/>
          <p:nvPr/>
        </p:nvSpPr>
        <p:spPr>
          <a:xfrm>
            <a:off x="82042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id="496" name="AutoShape 15"/>
          <p:cNvSpPr/>
          <p:nvPr/>
        </p:nvSpPr>
        <p:spPr>
          <a:xfrm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97" name="AutoShape 16"/>
          <p:cNvSpPr/>
          <p:nvPr/>
        </p:nvSpPr>
        <p:spPr>
          <a:xfrm>
            <a:off x="10414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内容生成</a:t>
            </a:r>
            <a:endParaRPr lang="en-US" sz="1100"/>
          </a:p>
        </p:txBody>
      </p:sp>
      <p:sp>
        <p:nvSpPr>
          <p:cNvPr id="498" name="AutoShape 17"/>
          <p:cNvSpPr/>
          <p:nvPr/>
        </p:nvSpPr>
        <p:spPr>
          <a:xfrm>
            <a:off x="10414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 / 文章 / PPTX / 表格 / PDF / MD 交付物</a:t>
            </a:r>
            <a:endParaRPr lang="en-US" sz="1100"/>
          </a:p>
        </p:txBody>
      </p:sp>
      <p:sp>
        <p:nvSpPr>
          <p:cNvPr id="499" name="AutoShape 18"/>
          <p:cNvSpPr/>
          <p:nvPr/>
        </p:nvSpPr>
        <p:spPr>
          <a:xfrm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00" name="AutoShape 19"/>
          <p:cNvSpPr/>
          <p:nvPr/>
        </p:nvSpPr>
        <p:spPr>
          <a:xfrm>
            <a:off x="46228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集成（MCP）</a:t>
            </a:r>
            <a:endParaRPr lang="en-US" sz="1100"/>
          </a:p>
        </p:txBody>
      </p:sp>
      <p:sp>
        <p:nvSpPr>
          <p:cNvPr id="501" name="AutoShape 20"/>
          <p:cNvSpPr/>
          <p:nvPr/>
        </p:nvSpPr>
        <p:spPr>
          <a:xfrm>
            <a:off x="46228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工作流型 Skill、HTTP / MCP 连接业务系统</a:t>
            </a:r>
            <a:endParaRPr lang="en-US" sz="1100"/>
          </a:p>
        </p:txBody>
      </p:sp>
      <p:sp>
        <p:nvSpPr>
          <p:cNvPr id="502" name="AutoShape 21"/>
          <p:cNvSpPr/>
          <p:nvPr/>
        </p:nvSpPr>
        <p:spPr>
          <a:xfrm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03" name="AutoShape 22"/>
          <p:cNvSpPr/>
          <p:nvPr/>
        </p:nvSpPr>
        <p:spPr>
          <a:xfrm>
            <a:off x="82042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自动化与治理</a:t>
            </a:r>
            <a:endParaRPr lang="en-US" sz="1100"/>
          </a:p>
        </p:txBody>
      </p:sp>
      <p:sp>
        <p:nvSpPr>
          <p:cNvPr id="504" name="AutoShape 23"/>
          <p:cNvSpPr/>
          <p:nvPr/>
        </p:nvSpPr>
        <p:spPr>
          <a:xfrm>
            <a:off x="82042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id="505" name="AutoShape 24"/>
          <p:cNvSpPr/>
          <p:nvPr/>
        </p:nvSpPr>
        <p:spPr>
          <a:xfrm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06" name="AutoShape 25"/>
          <p:cNvSpPr/>
          <p:nvPr/>
        </p:nvSpPr>
        <p:spPr>
          <a:xfrm>
            <a:off x="10414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</a:t>
            </a:r>
            <a:endParaRPr lang="en-US" sz="1100"/>
          </a:p>
        </p:txBody>
      </p:sp>
      <p:sp>
        <p:nvSpPr>
          <p:cNvPr id="507" name="AutoShape 26"/>
          <p:cNvSpPr/>
          <p:nvPr/>
        </p:nvSpPr>
        <p:spPr>
          <a:xfrm>
            <a:off x="10414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id="508" name="AutoShape 27"/>
          <p:cNvSpPr/>
          <p:nvPr/>
        </p:nvSpPr>
        <p:spPr>
          <a:xfrm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09" name="AutoShape 28"/>
          <p:cNvSpPr/>
          <p:nvPr/>
        </p:nvSpPr>
        <p:spPr>
          <a:xfrm>
            <a:off x="46228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部署</a:t>
            </a:r>
            <a:endParaRPr lang="en-US" sz="1100"/>
          </a:p>
        </p:txBody>
      </p:sp>
      <p:sp>
        <p:nvSpPr>
          <p:cNvPr id="510" name="AutoShape 29"/>
          <p:cNvSpPr/>
          <p:nvPr/>
        </p:nvSpPr>
        <p:spPr>
          <a:xfrm>
            <a:off x="46228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12 服务、自托管、模型数据自主</a:t>
            </a:r>
            <a:endParaRPr lang="en-US" sz="1100"/>
          </a:p>
        </p:txBody>
      </p:sp>
      <p:sp>
        <p:nvSpPr>
          <p:cNvPr id="511" name="AutoShape 30"/>
          <p:cNvSpPr/>
          <p:nvPr/>
        </p:nvSpPr>
        <p:spPr>
          <a:xfrm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2" name="AutoShape 31"/>
          <p:cNvSpPr/>
          <p:nvPr/>
        </p:nvSpPr>
        <p:spPr>
          <a:xfrm>
            <a:off x="82042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桌面扩展</a:t>
            </a:r>
            <a:endParaRPr lang="en-US" sz="1100"/>
          </a:p>
        </p:txBody>
      </p:sp>
      <p:sp>
        <p:nvSpPr>
          <p:cNvPr id="513" name="AutoShape 32"/>
          <p:cNvSpPr/>
          <p:nvPr/>
        </p:nvSpPr>
        <p:spPr>
          <a:xfrm>
            <a:off x="82042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Desktop 连接浏览器 / Code Agent</a:t>
            </a:r>
            <a:endParaRPr lang="en-US" sz="1100"/>
          </a:p>
        </p:txBody>
      </p:sp>
      <p:sp>
        <p:nvSpPr>
          <p:cNvPr id="514" name="AutoShape 3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15" name="AutoShape 3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8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已领先边界</a:t>
            </a:r>
            <a:endParaRPr lang="en-US" sz="1100"/>
          </a:p>
        </p:txBody>
      </p:sp>
      <p:sp>
        <p:nvSpPr>
          <p:cNvPr id="519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id="520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1" name="AutoShape 6"/>
          <p:cNvSpPr/>
          <p:nvPr/>
        </p:nvSpPr>
        <p:spPr>
          <a:xfrm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2" name="AutoShape 7"/>
          <p:cNvSpPr/>
          <p:nvPr/>
        </p:nvSpPr>
        <p:spPr>
          <a:xfrm>
            <a:off x="1066800" y="17272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容器化自托管部署</a:t>
            </a:r>
            <a:endParaRPr lang="en-US" sz="1100"/>
          </a:p>
        </p:txBody>
      </p:sp>
      <p:sp>
        <p:nvSpPr>
          <p:cNvPr id="523" name="AutoShape 8"/>
          <p:cNvSpPr/>
          <p:nvPr/>
        </p:nvSpPr>
        <p:spPr>
          <a:xfrm>
            <a:off x="3962400" y="17272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12 服务 + CLI 启动器 + 备份/恢复，生产运维底座已就绪</a:t>
            </a:r>
            <a:endParaRPr lang="en-US" sz="1100"/>
          </a:p>
        </p:txBody>
      </p:sp>
      <p:sp>
        <p:nvSpPr>
          <p:cNvPr id="524" name="AutoShape 9"/>
          <p:cNvSpPr/>
          <p:nvPr/>
        </p:nvSpPr>
        <p:spPr>
          <a:xfrm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5" name="AutoShape 10"/>
          <p:cNvSpPr/>
          <p:nvPr/>
        </p:nvSpPr>
        <p:spPr>
          <a:xfrm>
            <a:off x="1066800" y="24638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Docling 多格式解析</a:t>
            </a:r>
            <a:endParaRPr lang="en-US" sz="1100"/>
          </a:p>
        </p:txBody>
      </p:sp>
      <p:sp>
        <p:nvSpPr>
          <p:cNvPr id="526" name="AutoShape 11"/>
          <p:cNvSpPr/>
          <p:nvPr/>
        </p:nvSpPr>
        <p:spPr>
          <a:xfrm>
            <a:off x="3962400" y="24638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id="527" name="AutoShape 12"/>
          <p:cNvSpPr/>
          <p:nvPr/>
        </p:nvSpPr>
        <p:spPr>
          <a:xfrm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8" name="AutoShape 13"/>
          <p:cNvSpPr/>
          <p:nvPr/>
        </p:nvSpPr>
        <p:spPr>
          <a:xfrm>
            <a:off x="1066800" y="32004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内容与文件生成</a:t>
            </a:r>
            <a:endParaRPr lang="en-US" sz="1100"/>
          </a:p>
        </p:txBody>
      </p:sp>
      <p:sp>
        <p:nvSpPr>
          <p:cNvPr id="529" name="AutoShape 14"/>
          <p:cNvSpPr/>
          <p:nvPr/>
        </p:nvSpPr>
        <p:spPr>
          <a:xfrm>
            <a:off x="3962400" y="32004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报告/文章/PPTX/表格/PDF/翻译/表单——对标几乎空白，墨攻差异化强项</a:t>
            </a:r>
            <a:endParaRPr lang="en-US" sz="1100"/>
          </a:p>
        </p:txBody>
      </p:sp>
      <p:sp>
        <p:nvSpPr>
          <p:cNvPr id="530" name="AutoShape 15"/>
          <p:cNvSpPr/>
          <p:nvPr/>
        </p:nvSpPr>
        <p:spPr>
          <a:xfrm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1" name="AutoShape 16"/>
          <p:cNvSpPr/>
          <p:nvPr/>
        </p:nvSpPr>
        <p:spPr>
          <a:xfrm>
            <a:off x="1066800" y="39370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多形态 Agent</a:t>
            </a:r>
            <a:endParaRPr lang="en-US" sz="1100"/>
          </a:p>
        </p:txBody>
      </p:sp>
      <p:sp>
        <p:nvSpPr>
          <p:cNvPr id="532" name="AutoShape 17"/>
          <p:cNvSpPr/>
          <p:nvPr/>
        </p:nvSpPr>
        <p:spPr>
          <a:xfrm>
            <a:off x="3962400" y="39370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id="533" name="AutoShape 18"/>
          <p:cNvSpPr/>
          <p:nvPr/>
        </p:nvSpPr>
        <p:spPr>
          <a:xfrm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4" name="AutoShape 19"/>
          <p:cNvSpPr/>
          <p:nvPr/>
        </p:nvSpPr>
        <p:spPr>
          <a:xfrm>
            <a:off x="1066800" y="46736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SkillHub 生态</a:t>
            </a:r>
            <a:endParaRPr lang="en-US" sz="1100"/>
          </a:p>
        </p:txBody>
      </p:sp>
      <p:sp>
        <p:nvSpPr>
          <p:cNvPr id="535" name="AutoShape 20"/>
          <p:cNvSpPr/>
          <p:nvPr/>
        </p:nvSpPr>
        <p:spPr>
          <a:xfrm>
            <a:off x="3962400" y="46736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id="536" name="AutoShape 21"/>
          <p:cNvSpPr/>
          <p:nvPr/>
        </p:nvSpPr>
        <p:spPr>
          <a:xfrm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7" name="AutoShape 22"/>
          <p:cNvSpPr/>
          <p:nvPr/>
        </p:nvSpPr>
        <p:spPr>
          <a:xfrm>
            <a:off x="1066800" y="5537200"/>
            <a:ext cx="152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结论</a:t>
            </a:r>
            <a:endParaRPr lang="en-US" sz="1100"/>
          </a:p>
        </p:txBody>
      </p:sp>
      <p:sp>
        <p:nvSpPr>
          <p:cNvPr id="538" name="AutoShape 23"/>
          <p:cNvSpPr/>
          <p:nvPr/>
        </p:nvSpPr>
        <p:spPr>
          <a:xfrm>
            <a:off x="2540000" y="5537200"/>
            <a:ext cx="863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id="539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40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 dirty="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 · GAP — </a:t>
            </a:r>
            <a:r>
              <a:rPr lang="en-US" sz="1200" b="1" i="0" u="none" strike="noStrike" dirty="0" err="1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六大补强</a:t>
            </a:r>
            <a:endParaRPr lang="en-US" sz="1100" dirty="0"/>
          </a:p>
        </p:txBody>
      </p:sp>
      <p:sp>
        <p:nvSpPr>
          <p:cNvPr id="54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补强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分级：P0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合规刚需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→ P1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可靠协作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→ P2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生态自进化</a:t>
            </a:r>
            <a:endParaRPr lang="en-US" sz="1100" dirty="0"/>
          </a:p>
        </p:txBody>
      </p:sp>
      <p:cxnSp>
        <p:nvCxnSpPr>
          <p:cNvPr id="54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6" name="AutoShape 6"/>
          <p:cNvSpPr/>
          <p:nvPr/>
        </p:nvSpPr>
        <p:spPr>
          <a:xfrm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7" name="AutoShape 7"/>
          <p:cNvSpPr/>
          <p:nvPr/>
        </p:nvSpPr>
        <p:spPr>
          <a:xfrm>
            <a:off x="10668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548" name="AutoShape 8"/>
          <p:cNvSpPr/>
          <p:nvPr/>
        </p:nvSpPr>
        <p:spPr>
          <a:xfrm>
            <a:off x="17780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企业入场券</a:t>
            </a:r>
            <a:endParaRPr lang="en-US" sz="1100"/>
          </a:p>
        </p:txBody>
      </p:sp>
      <p:sp>
        <p:nvSpPr>
          <p:cNvPr id="549" name="AutoShape 9"/>
          <p:cNvSpPr/>
          <p:nvPr/>
        </p:nvSpPr>
        <p:spPr>
          <a:xfrm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0" name="AutoShape 10"/>
          <p:cNvSpPr/>
          <p:nvPr/>
        </p:nvSpPr>
        <p:spPr>
          <a:xfrm>
            <a:off x="46482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551" name="AutoShape 11"/>
          <p:cNvSpPr/>
          <p:nvPr/>
        </p:nvSpPr>
        <p:spPr>
          <a:xfrm>
            <a:off x="53594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552" name="AutoShape 12"/>
          <p:cNvSpPr/>
          <p:nvPr/>
        </p:nvSpPr>
        <p:spPr>
          <a:xfrm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3" name="AutoShape 13"/>
          <p:cNvSpPr/>
          <p:nvPr/>
        </p:nvSpPr>
        <p:spPr>
          <a:xfrm>
            <a:off x="82296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554" name="AutoShape 14"/>
          <p:cNvSpPr/>
          <p:nvPr/>
        </p:nvSpPr>
        <p:spPr>
          <a:xfrm>
            <a:off x="89408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555" name="AutoShape 15"/>
          <p:cNvSpPr/>
          <p:nvPr/>
        </p:nvSpPr>
        <p:spPr>
          <a:xfrm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6" name="AutoShape 16"/>
          <p:cNvSpPr/>
          <p:nvPr/>
        </p:nvSpPr>
        <p:spPr>
          <a:xfrm>
            <a:off x="10414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治理与风控层</a:t>
            </a:r>
            <a:endParaRPr lang="en-US" sz="1100"/>
          </a:p>
        </p:txBody>
      </p:sp>
      <p:sp>
        <p:nvSpPr>
          <p:cNvPr id="557" name="AutoShape 17"/>
          <p:cNvSpPr/>
          <p:nvPr/>
        </p:nvSpPr>
        <p:spPr>
          <a:xfrm>
            <a:off x="10414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六层门禁 · 风险分级 · RBAC 码 · 脱敏</a:t>
            </a:r>
            <a:endParaRPr lang="en-US" sz="1100"/>
          </a:p>
        </p:txBody>
      </p:sp>
      <p:sp>
        <p:nvSpPr>
          <p:cNvPr id="558" name="AutoShape 18"/>
          <p:cNvSpPr/>
          <p:nvPr/>
        </p:nvSpPr>
        <p:spPr>
          <a:xfrm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9" name="AutoShape 19"/>
          <p:cNvSpPr/>
          <p:nvPr/>
        </p:nvSpPr>
        <p:spPr>
          <a:xfrm>
            <a:off x="10414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560" name="AutoShape 20"/>
          <p:cNvSpPr/>
          <p:nvPr/>
        </p:nvSpPr>
        <p:spPr>
          <a:xfrm>
            <a:off x="10414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故障转移 · 降级链 · 退避重试 · 计量</a:t>
            </a:r>
            <a:endParaRPr lang="en-US" sz="1100"/>
          </a:p>
        </p:txBody>
      </p:sp>
      <p:sp>
        <p:nvSpPr>
          <p:cNvPr id="561" name="AutoShape 21"/>
          <p:cNvSpPr/>
          <p:nvPr/>
        </p:nvSpPr>
        <p:spPr>
          <a:xfrm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2" name="AutoShape 22"/>
          <p:cNvSpPr/>
          <p:nvPr/>
        </p:nvSpPr>
        <p:spPr>
          <a:xfrm>
            <a:off x="10414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</a:t>
            </a:r>
            <a:endParaRPr lang="en-US" sz="1100"/>
          </a:p>
        </p:txBody>
      </p:sp>
      <p:sp>
        <p:nvSpPr>
          <p:cNvPr id="563" name="AutoShape 23"/>
          <p:cNvSpPr/>
          <p:nvPr/>
        </p:nvSpPr>
        <p:spPr>
          <a:xfrm>
            <a:off x="10414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 / 使用 / 质量 / 趋势 四维看板</a:t>
            </a:r>
            <a:endParaRPr lang="en-US" sz="1100"/>
          </a:p>
        </p:txBody>
      </p:sp>
      <p:sp>
        <p:nvSpPr>
          <p:cNvPr id="564" name="AutoShape 24"/>
          <p:cNvSpPr/>
          <p:nvPr/>
        </p:nvSpPr>
        <p:spPr>
          <a:xfrm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5" name="AutoShape 25"/>
          <p:cNvSpPr/>
          <p:nvPr/>
        </p:nvSpPr>
        <p:spPr>
          <a:xfrm>
            <a:off x="46228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拦截机制</a:t>
            </a:r>
            <a:endParaRPr lang="en-US" sz="1100"/>
          </a:p>
        </p:txBody>
      </p:sp>
      <p:sp>
        <p:nvSpPr>
          <p:cNvPr id="566" name="AutoShape 26"/>
          <p:cNvSpPr/>
          <p:nvPr/>
        </p:nvSpPr>
        <p:spPr>
          <a:xfrm>
            <a:off x="46228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五事件钩子 · 声明式规则 · fail-closed</a:t>
            </a:r>
            <a:endParaRPr lang="en-US" sz="1100"/>
          </a:p>
        </p:txBody>
      </p:sp>
      <p:sp>
        <p:nvSpPr>
          <p:cNvPr id="567" name="AutoShape 27"/>
          <p:cNvSpPr/>
          <p:nvPr/>
        </p:nvSpPr>
        <p:spPr>
          <a:xfrm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8" name="AutoShape 28"/>
          <p:cNvSpPr/>
          <p:nvPr/>
        </p:nvSpPr>
        <p:spPr>
          <a:xfrm>
            <a:off x="46228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通用编排</a:t>
            </a:r>
            <a:endParaRPr lang="en-US" sz="1100"/>
          </a:p>
        </p:txBody>
      </p:sp>
      <p:sp>
        <p:nvSpPr>
          <p:cNvPr id="569" name="AutoShape 29"/>
          <p:cNvSpPr/>
          <p:nvPr/>
        </p:nvSpPr>
        <p:spPr>
          <a:xfrm>
            <a:off x="46228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 · 拓扑排序 · 环检测 · 节点重试</a:t>
            </a:r>
            <a:endParaRPr lang="en-US" sz="1100"/>
          </a:p>
        </p:txBody>
      </p:sp>
      <p:sp>
        <p:nvSpPr>
          <p:cNvPr id="570" name="AutoShape 30"/>
          <p:cNvSpPr/>
          <p:nvPr/>
        </p:nvSpPr>
        <p:spPr>
          <a:xfrm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1" name="AutoShape 31"/>
          <p:cNvSpPr/>
          <p:nvPr/>
        </p:nvSpPr>
        <p:spPr>
          <a:xfrm>
            <a:off x="46228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会话/工作流双版本化</a:t>
            </a:r>
            <a:endParaRPr lang="en-US" sz="1100"/>
          </a:p>
        </p:txBody>
      </p:sp>
      <p:sp>
        <p:nvSpPr>
          <p:cNvPr id="572" name="AutoShape 32"/>
          <p:cNvSpPr/>
          <p:nvPr/>
        </p:nvSpPr>
        <p:spPr>
          <a:xfrm>
            <a:off x="46228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commit / resume / share + GraphSpec 契约</a:t>
            </a:r>
            <a:endParaRPr lang="en-US" sz="1100"/>
          </a:p>
        </p:txBody>
      </p:sp>
      <p:sp>
        <p:nvSpPr>
          <p:cNvPr id="573" name="AutoShape 33"/>
          <p:cNvSpPr/>
          <p:nvPr/>
        </p:nvSpPr>
        <p:spPr>
          <a:xfrm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4" name="AutoShape 34"/>
          <p:cNvSpPr/>
          <p:nvPr/>
        </p:nvSpPr>
        <p:spPr>
          <a:xfrm>
            <a:off x="82042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</a:t>
            </a:r>
            <a:endParaRPr lang="en-US" sz="1100"/>
          </a:p>
        </p:txBody>
      </p:sp>
      <p:sp>
        <p:nvSpPr>
          <p:cNvPr id="575" name="AutoShape 35"/>
          <p:cNvSpPr/>
          <p:nvPr/>
        </p:nvSpPr>
        <p:spPr>
          <a:xfrm>
            <a:off x="82042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 → 经验 → Skill 闭环 · 自动淘汰</a:t>
            </a:r>
            <a:endParaRPr lang="en-US" sz="1100"/>
          </a:p>
        </p:txBody>
      </p:sp>
      <p:sp>
        <p:nvSpPr>
          <p:cNvPr id="576" name="AutoShape 36"/>
          <p:cNvSpPr/>
          <p:nvPr/>
        </p:nvSpPr>
        <p:spPr>
          <a:xfrm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7" name="AutoShape 37"/>
          <p:cNvSpPr/>
          <p:nvPr/>
        </p:nvSpPr>
        <p:spPr>
          <a:xfrm>
            <a:off x="82042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会话级与生态清单</a:t>
            </a:r>
            <a:endParaRPr lang="en-US" sz="1100"/>
          </a:p>
        </p:txBody>
      </p:sp>
      <p:sp>
        <p:nvSpPr>
          <p:cNvPr id="578" name="AutoShape 38"/>
          <p:cNvSpPr/>
          <p:nvPr/>
        </p:nvSpPr>
        <p:spPr>
          <a:xfrm>
            <a:off x="82042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秘密不上链 · A2A · 多 IM · 知识图谱</a:t>
            </a:r>
            <a:endParaRPr lang="en-US" sz="1100"/>
          </a:p>
        </p:txBody>
      </p:sp>
      <p:sp>
        <p:nvSpPr>
          <p:cNvPr id="579" name="AutoShape 39"/>
          <p:cNvSpPr/>
          <p:nvPr/>
        </p:nvSpPr>
        <p:spPr>
          <a:xfrm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0" name="AutoShape 40"/>
          <p:cNvSpPr/>
          <p:nvPr/>
        </p:nvSpPr>
        <p:spPr>
          <a:xfrm>
            <a:off x="82042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</a:t>
            </a:r>
            <a:endParaRPr lang="en-US" sz="1100"/>
          </a:p>
        </p:txBody>
      </p:sp>
      <p:sp>
        <p:nvSpPr>
          <p:cNvPr id="581" name="AutoShape 41"/>
          <p:cNvSpPr/>
          <p:nvPr/>
        </p:nvSpPr>
        <p:spPr>
          <a:xfrm>
            <a:off x="82042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 · 能力资产化 · 厚/薄 Harness</a:t>
            </a:r>
            <a:endParaRPr lang="en-US" sz="1100"/>
          </a:p>
        </p:txBody>
      </p:sp>
      <p:sp>
        <p:nvSpPr>
          <p:cNvPr id="582" name="AutoShape 42"/>
          <p:cNvSpPr/>
          <p:nvPr/>
        </p:nvSpPr>
        <p:spPr>
          <a:xfrm>
            <a:off x="812800" y="5486400"/>
            <a:ext cx="10566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最新进展：1</a:t>
            </a:r>
            <a:r>
              <a:rPr lang="en-US" altLang="zh-CN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项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已按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SDD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落地，库代码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+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单测全绿，接线与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UI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触点闭合；specs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/ 21 个特性（17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份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tasks.md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/ 354 </a:t>
            </a:r>
            <a:r>
              <a:rPr lang="en-US" sz="1250" b="0" i="0" u="none" strike="noStrike" dirty="0" err="1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项）已归档</a:t>
            </a:r>
            <a:r>
              <a:rPr lang="en-US" sz="1250" b="0" i="0" u="none" strike="noStrike" dirty="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。</a:t>
            </a:r>
            <a:endParaRPr lang="en-US" sz="1100" dirty="0"/>
          </a:p>
        </p:txBody>
      </p:sp>
      <p:sp>
        <p:nvSpPr>
          <p:cNvPr id="583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84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圆角矩形 158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0" name="矩形 159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1" name="圆角矩形 160"/>
          <p:cNvSpPr/>
          <p:nvPr/>
        </p:nvSpPr>
        <p:spPr>
          <a:xfrm>
            <a:off x="8128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2" name="圆角矩形 161"/>
          <p:cNvSpPr/>
          <p:nvPr/>
        </p:nvSpPr>
        <p:spPr>
          <a:xfrm>
            <a:off x="62484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3" name="圆角矩形 162"/>
          <p:cNvSpPr/>
          <p:nvPr/>
        </p:nvSpPr>
        <p:spPr>
          <a:xfrm>
            <a:off x="8128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4" name="圆角矩形 163"/>
          <p:cNvSpPr/>
          <p:nvPr/>
        </p:nvSpPr>
        <p:spPr>
          <a:xfrm>
            <a:off x="34544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5" name="圆角矩形 164"/>
          <p:cNvSpPr/>
          <p:nvPr/>
        </p:nvSpPr>
        <p:spPr>
          <a:xfrm>
            <a:off x="60960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6" name="圆角矩形 165"/>
          <p:cNvSpPr/>
          <p:nvPr/>
        </p:nvSpPr>
        <p:spPr>
          <a:xfrm>
            <a:off x="8737600" y="2235200"/>
            <a:ext cx="26416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7" name="圆角矩形 166"/>
          <p:cNvSpPr/>
          <p:nvPr/>
        </p:nvSpPr>
        <p:spPr>
          <a:xfrm>
            <a:off x="8128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8" name="圆角矩形 167"/>
          <p:cNvSpPr/>
          <p:nvPr/>
        </p:nvSpPr>
        <p:spPr>
          <a:xfrm>
            <a:off x="34544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9" name="圆角矩形 168"/>
          <p:cNvSpPr/>
          <p:nvPr/>
        </p:nvSpPr>
        <p:spPr>
          <a:xfrm>
            <a:off x="60960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" name="圆角矩形 169"/>
          <p:cNvSpPr/>
          <p:nvPr/>
        </p:nvSpPr>
        <p:spPr>
          <a:xfrm>
            <a:off x="8737600" y="2235200"/>
            <a:ext cx="26416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1" name="圆角矩形 170"/>
          <p:cNvSpPr/>
          <p:nvPr/>
        </p:nvSpPr>
        <p:spPr>
          <a:xfrm>
            <a:off x="812800" y="5537200"/>
            <a:ext cx="10566400" cy="6350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2" name="圆角矩形 171"/>
          <p:cNvSpPr/>
          <p:nvPr/>
        </p:nvSpPr>
        <p:spPr>
          <a:xfrm>
            <a:off x="1066800" y="5689600"/>
            <a:ext cx="1422400" cy="3302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3" name="矩形 172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altLang="zh-CN" b="1" dirty="0">
                <a:solidFill>
                  <a:srgbClr val="0D9488"/>
                </a:solidFill>
                <a:latin typeface="Hiragino Sans GB"/>
                <a:ea typeface="Hiragino Sans GB"/>
              </a:rPr>
              <a:t>03 · Spec</a:t>
            </a:r>
            <a:r>
              <a:rPr lang="zh-CN" altLang="en-US" b="1" dirty="0">
                <a:solidFill>
                  <a:srgbClr val="0D9488"/>
                </a:solidFill>
                <a:latin typeface="Hiragino Sans GB"/>
                <a:ea typeface="Hiragino Sans GB"/>
              </a:rPr>
              <a:t> 清单</a:t>
            </a:r>
            <a:endParaRPr lang="en-US" altLang="zh-CN" sz="1200" dirty="0"/>
          </a:p>
          <a:p>
            <a:endParaRPr dirty="0"/>
          </a:p>
        </p:txBody>
      </p:sp>
      <p:sp>
        <p:nvSpPr>
          <p:cNvPr id="174" name="矩形 173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21 个特性规约：spec / plan / checklist / tasks 四层齐备</a:t>
            </a:r>
            <a:endParaRPr/>
          </a:p>
        </p:txBody>
      </p:sp>
      <p:sp>
        <p:nvSpPr>
          <p:cNvPr id="175" name="矩形 174"/>
          <p:cNvSpPr/>
          <p:nvPr/>
        </p:nvSpPr>
        <p:spPr>
          <a:xfrm>
            <a:off x="8128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300">
                <a:solidFill>
                  <a:srgbClr val="FFFFFF"/>
                </a:solidFill>
                <a:latin typeface="Hiragino Sans GB"/>
                <a:ea typeface="Hiragino Sans GB"/>
              </a:rPr>
              <a:t>21 份 spec.md + 21 份 plan.md  ·  全部完成</a:t>
            </a:r>
            <a:endParaRPr/>
          </a:p>
        </p:txBody>
      </p:sp>
      <p:sp>
        <p:nvSpPr>
          <p:cNvPr id="176" name="矩形 175"/>
          <p:cNvSpPr/>
          <p:nvPr/>
        </p:nvSpPr>
        <p:spPr>
          <a:xfrm>
            <a:off x="62484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17 份 tasks.md  ·  354 项全部勾选</a:t>
            </a:r>
            <a:endParaRPr/>
          </a:p>
        </p:txBody>
      </p:sp>
      <p:sp>
        <p:nvSpPr>
          <p:cNvPr id="177" name="矩形 176"/>
          <p:cNvSpPr/>
          <p:nvPr/>
        </p:nvSpPr>
        <p:spPr>
          <a:xfrm>
            <a:off x="10160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既有能力回溯</a:t>
            </a:r>
            <a:endParaRPr/>
          </a:p>
        </p:txBody>
      </p:sp>
      <p:sp>
        <p:nvSpPr>
          <p:cNvPr id="178" name="矩形 177"/>
          <p:cNvSpPr/>
          <p:nvPr/>
        </p:nvSpPr>
        <p:spPr>
          <a:xfrm>
            <a:off x="10160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003–006 · 4 项</a:t>
            </a:r>
            <a:endParaRPr/>
          </a:p>
        </p:txBody>
      </p:sp>
      <p:sp>
        <p:nvSpPr>
          <p:cNvPr id="179" name="矩形 178"/>
          <p:cNvSpPr/>
          <p:nvPr/>
        </p:nvSpPr>
        <p:spPr>
          <a:xfrm>
            <a:off x="10160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003  文档接入与内容交付</a:t>
            </a:r>
            <a:endParaRPr/>
          </a:p>
        </p:txBody>
      </p:sp>
      <p:sp>
        <p:nvSpPr>
          <p:cNvPr id="180" name="矩形 179"/>
          <p:cNvSpPr/>
          <p:nvPr/>
        </p:nvSpPr>
        <p:spPr>
          <a:xfrm>
            <a:off x="10160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004  SkillHub 生命周期</a:t>
            </a:r>
            <a:endParaRPr/>
          </a:p>
        </p:txBody>
      </p:sp>
      <p:sp>
        <p:nvSpPr>
          <p:cNvPr id="181" name="矩形 180"/>
          <p:cNvSpPr/>
          <p:nvPr/>
        </p:nvSpPr>
        <p:spPr>
          <a:xfrm>
            <a:off x="10160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005  企业知识 RAG 与研究</a:t>
            </a:r>
            <a:endParaRPr/>
          </a:p>
        </p:txBody>
      </p:sp>
      <p:sp>
        <p:nvSpPr>
          <p:cNvPr id="182" name="矩形 181"/>
          <p:cNvSpPr/>
          <p:nvPr/>
        </p:nvSpPr>
        <p:spPr>
          <a:xfrm>
            <a:off x="10160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006  组织用户与岗位 RBAC</a:t>
            </a:r>
            <a:endParaRPr/>
          </a:p>
        </p:txBody>
      </p:sp>
      <p:sp>
        <p:nvSpPr>
          <p:cNvPr id="183" name="矩形 182"/>
          <p:cNvSpPr/>
          <p:nvPr/>
        </p:nvSpPr>
        <p:spPr>
          <a:xfrm>
            <a:off x="10160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保留原始状态：spec / plan / checklist，
不补 tasks.md</a:t>
            </a:r>
            <a:endParaRPr/>
          </a:p>
        </p:txBody>
      </p:sp>
      <p:sp>
        <p:nvSpPr>
          <p:cNvPr id="184" name="矩形 183"/>
          <p:cNvSpPr/>
          <p:nvPr/>
        </p:nvSpPr>
        <p:spPr>
          <a:xfrm>
            <a:off x="36576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P0 · 企业入场券</a:t>
            </a:r>
            <a:endParaRPr/>
          </a:p>
        </p:txBody>
      </p:sp>
      <p:sp>
        <p:nvSpPr>
          <p:cNvPr id="185" name="矩形 184"/>
          <p:cNvSpPr/>
          <p:nvPr/>
        </p:nvSpPr>
        <p:spPr>
          <a:xfrm>
            <a:off x="36576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001 / 007 / 008 / 020</a:t>
            </a:r>
            <a:endParaRPr/>
          </a:p>
        </p:txBody>
      </p:sp>
      <p:sp>
        <p:nvSpPr>
          <p:cNvPr id="186" name="矩形 185"/>
          <p:cNvSpPr/>
          <p:nvPr/>
        </p:nvSpPr>
        <p:spPr>
          <a:xfrm>
            <a:off x="36576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001  治理与风控层</a:t>
            </a:r>
            <a:endParaRPr/>
          </a:p>
        </p:txBody>
      </p:sp>
      <p:sp>
        <p:nvSpPr>
          <p:cNvPr id="187" name="矩形 186"/>
          <p:cNvSpPr/>
          <p:nvPr/>
        </p:nvSpPr>
        <p:spPr>
          <a:xfrm>
            <a:off x="36576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007  LLM 网关韧性</a:t>
            </a:r>
            <a:endParaRPr/>
          </a:p>
        </p:txBody>
      </p:sp>
      <p:sp>
        <p:nvSpPr>
          <p:cNvPr id="188" name="矩形 187"/>
          <p:cNvSpPr/>
          <p:nvPr/>
        </p:nvSpPr>
        <p:spPr>
          <a:xfrm>
            <a:off x="36576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008  总览数据驾驶舱</a:t>
            </a:r>
            <a:endParaRPr/>
          </a:p>
        </p:txBody>
      </p:sp>
      <p:sp>
        <p:nvSpPr>
          <p:cNvPr id="189" name="矩形 188"/>
          <p:cNvSpPr/>
          <p:nvPr/>
        </p:nvSpPr>
        <p:spPr>
          <a:xfrm>
            <a:off x="36576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020  平台化多租户</a:t>
            </a:r>
            <a:endParaRPr/>
          </a:p>
        </p:txBody>
      </p:sp>
      <p:sp>
        <p:nvSpPr>
          <p:cNvPr id="190" name="矩形 189"/>
          <p:cNvSpPr/>
          <p:nvPr/>
        </p:nvSpPr>
        <p:spPr>
          <a:xfrm>
            <a:off x="36576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门禁 · 韧性 · 可观测 · 租户供给
合规入场与生产可用性</a:t>
            </a:r>
            <a:endParaRPr/>
          </a:p>
        </p:txBody>
      </p:sp>
      <p:sp>
        <p:nvSpPr>
          <p:cNvPr id="191" name="矩形 190"/>
          <p:cNvSpPr/>
          <p:nvPr/>
        </p:nvSpPr>
        <p:spPr>
          <a:xfrm>
            <a:off x="62992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P1 · 可靠协作</a:t>
            </a:r>
            <a:endParaRPr/>
          </a:p>
        </p:txBody>
      </p:sp>
      <p:sp>
        <p:nvSpPr>
          <p:cNvPr id="192" name="矩形 191"/>
          <p:cNvSpPr/>
          <p:nvPr/>
        </p:nvSpPr>
        <p:spPr>
          <a:xfrm>
            <a:off x="62992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002 / 009 / 010 / 011</a:t>
            </a:r>
            <a:endParaRPr/>
          </a:p>
        </p:txBody>
      </p:sp>
      <p:sp>
        <p:nvSpPr>
          <p:cNvPr id="193" name="矩形 192"/>
          <p:cNvSpPr/>
          <p:nvPr/>
        </p:nvSpPr>
        <p:spPr>
          <a:xfrm>
            <a:off x="62992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002  会话级版本化与交接</a:t>
            </a:r>
            <a:endParaRPr/>
          </a:p>
        </p:txBody>
      </p:sp>
      <p:sp>
        <p:nvSpPr>
          <p:cNvPr id="194" name="矩形 193"/>
          <p:cNvSpPr/>
          <p:nvPr/>
        </p:nvSpPr>
        <p:spPr>
          <a:xfrm>
            <a:off x="62992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009  五事件 Hooks 拦截</a:t>
            </a:r>
            <a:endParaRPr/>
          </a:p>
        </p:txBody>
      </p:sp>
      <p:sp>
        <p:nvSpPr>
          <p:cNvPr id="195" name="矩形 194"/>
          <p:cNvSpPr/>
          <p:nvPr/>
        </p:nvSpPr>
        <p:spPr>
          <a:xfrm>
            <a:off x="62992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010  DAG 通用编排引擎</a:t>
            </a:r>
            <a:endParaRPr/>
          </a:p>
        </p:txBody>
      </p:sp>
      <p:sp>
        <p:nvSpPr>
          <p:cNvPr id="196" name="矩形 195"/>
          <p:cNvSpPr/>
          <p:nvPr/>
        </p:nvSpPr>
        <p:spPr>
          <a:xfrm>
            <a:off x="62992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011  Dream 自进化</a:t>
            </a:r>
            <a:endParaRPr/>
          </a:p>
        </p:txBody>
      </p:sp>
      <p:sp>
        <p:nvSpPr>
          <p:cNvPr id="197" name="矩形 196"/>
          <p:cNvSpPr/>
          <p:nvPr/>
        </p:nvSpPr>
        <p:spPr>
          <a:xfrm>
            <a:off x="62992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多步骤可靠 · 合规扩展 · 可交接
越用越聪明</a:t>
            </a:r>
            <a:endParaRPr/>
          </a:p>
        </p:txBody>
      </p:sp>
      <p:sp>
        <p:nvSpPr>
          <p:cNvPr id="198" name="矩形 197"/>
          <p:cNvSpPr/>
          <p:nvPr/>
        </p:nvSpPr>
        <p:spPr>
          <a:xfrm>
            <a:off x="8940800" y="243840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P2 · 生态与自进化</a:t>
            </a:r>
            <a:endParaRPr/>
          </a:p>
        </p:txBody>
      </p:sp>
      <p:sp>
        <p:nvSpPr>
          <p:cNvPr id="199" name="矩形 198"/>
          <p:cNvSpPr/>
          <p:nvPr/>
        </p:nvSpPr>
        <p:spPr>
          <a:xfrm>
            <a:off x="8940800" y="2692400"/>
            <a:ext cx="22352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012–019 / 021 · 9 项</a:t>
            </a:r>
            <a:endParaRPr/>
          </a:p>
        </p:txBody>
      </p:sp>
      <p:sp>
        <p:nvSpPr>
          <p:cNvPr id="200" name="矩形 199"/>
          <p:cNvSpPr/>
          <p:nvPr/>
        </p:nvSpPr>
        <p:spPr>
          <a:xfrm>
            <a:off x="8940800" y="30226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012  A2A Agent 互通网关</a:t>
            </a:r>
            <a:endParaRPr/>
          </a:p>
        </p:txBody>
      </p:sp>
      <p:sp>
        <p:nvSpPr>
          <p:cNvPr id="201" name="矩形 200"/>
          <p:cNvSpPr/>
          <p:nvPr/>
        </p:nvSpPr>
        <p:spPr>
          <a:xfrm>
            <a:off x="8940800" y="32639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013  多 IM 入口</a:t>
            </a:r>
            <a:endParaRPr/>
          </a:p>
        </p:txBody>
      </p:sp>
      <p:sp>
        <p:nvSpPr>
          <p:cNvPr id="202" name="矩形 201"/>
          <p:cNvSpPr/>
          <p:nvPr/>
        </p:nvSpPr>
        <p:spPr>
          <a:xfrm>
            <a:off x="8940800" y="35052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014  业务系统语义索引</a:t>
            </a:r>
            <a:endParaRPr/>
          </a:p>
        </p:txBody>
      </p:sp>
      <p:sp>
        <p:nvSpPr>
          <p:cNvPr id="203" name="矩形 202"/>
          <p:cNvSpPr/>
          <p:nvPr/>
        </p:nvSpPr>
        <p:spPr>
          <a:xfrm>
            <a:off x="8940800" y="37465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015  知识图谱层</a:t>
            </a:r>
            <a:endParaRPr/>
          </a:p>
        </p:txBody>
      </p:sp>
      <p:sp>
        <p:nvSpPr>
          <p:cNvPr id="204" name="矩形 203"/>
          <p:cNvSpPr/>
          <p:nvPr/>
        </p:nvSpPr>
        <p:spPr>
          <a:xfrm>
            <a:off x="8940800" y="39878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016  Skill 市场强化</a:t>
            </a:r>
            <a:endParaRPr/>
          </a:p>
        </p:txBody>
      </p:sp>
      <p:sp>
        <p:nvSpPr>
          <p:cNvPr id="205" name="矩形 204"/>
          <p:cNvSpPr/>
          <p:nvPr/>
        </p:nvSpPr>
        <p:spPr>
          <a:xfrm>
            <a:off x="8940800" y="42291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017  三范围 Memory（020/021 优化）</a:t>
            </a:r>
            <a:endParaRPr/>
          </a:p>
        </p:txBody>
      </p:sp>
      <p:sp>
        <p:nvSpPr>
          <p:cNvPr id="206" name="矩形 205"/>
          <p:cNvSpPr/>
          <p:nvPr/>
        </p:nvSpPr>
        <p:spPr>
          <a:xfrm>
            <a:off x="8940800" y="44704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018  能力资产化注册</a:t>
            </a:r>
            <a:endParaRPr/>
          </a:p>
        </p:txBody>
      </p:sp>
      <p:sp>
        <p:nvSpPr>
          <p:cNvPr id="207" name="矩形 206"/>
          <p:cNvSpPr/>
          <p:nvPr/>
        </p:nvSpPr>
        <p:spPr>
          <a:xfrm>
            <a:off x="8940800" y="47117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019  厚 / 薄 Harness 弹性</a:t>
            </a:r>
            <a:endParaRPr/>
          </a:p>
        </p:txBody>
      </p:sp>
      <p:sp>
        <p:nvSpPr>
          <p:cNvPr id="208" name="矩形 207"/>
          <p:cNvSpPr/>
          <p:nvPr/>
        </p:nvSpPr>
        <p:spPr>
          <a:xfrm>
            <a:off x="8940800" y="49530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021  统一上下文地址空间</a:t>
            </a:r>
            <a:endParaRPr/>
          </a:p>
        </p:txBody>
      </p:sp>
      <p:sp>
        <p:nvSpPr>
          <p:cNvPr id="209" name="矩形 208"/>
          <p:cNvSpPr/>
          <p:nvPr/>
        </p:nvSpPr>
        <p:spPr>
          <a:xfrm>
            <a:off x="1066800" y="5689600"/>
            <a:ext cx="1422400" cy="330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落地审计</a:t>
            </a:r>
            <a:endParaRPr/>
          </a:p>
        </p:txBody>
      </p:sp>
      <p:sp>
        <p:nvSpPr>
          <p:cNvPr id="210" name="矩形 209"/>
          <p:cNvSpPr/>
          <p:nvPr/>
        </p:nvSpPr>
        <p:spPr>
          <a:xfrm>
            <a:off x="2692400" y="5740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100">
                <a:solidFill>
                  <a:srgbClr val="0F172A"/>
                </a:solidFill>
                <a:latin typeface="Hiragino Sans GB"/>
                <a:ea typeface="Hiragino Sans GB"/>
              </a:rPr>
              <a:t>2026-10-03 重检：landed 0 / partial 10 / hollow 9</a:t>
            </a:r>
            <a:endParaRPr/>
          </a:p>
        </p:txBody>
      </p:sp>
      <p:sp>
        <p:nvSpPr>
          <p:cNvPr id="211" name="矩形 210"/>
          <p:cNvSpPr/>
          <p:nvPr/>
        </p:nvSpPr>
        <p:spPr>
          <a:xfrm>
            <a:off x="5283200" y="5791200"/>
            <a:ext cx="5969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高危缺口 ≥60 条已于 2026-10-03～10-05 全部修复；017/021 于 10-05 优化轮完整实现</a:t>
            </a:r>
            <a:endParaRPr/>
          </a:p>
        </p:txBody>
      </p:sp>
      <p:sp>
        <p:nvSpPr>
          <p:cNvPr id="212" name="矩形 21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213" name="矩形 212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12 / 18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7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治理与风控层</a:t>
            </a:r>
            <a:endParaRPr lang="en-US" sz="1100"/>
          </a:p>
        </p:txBody>
      </p:sp>
      <p:sp>
        <p:nvSpPr>
          <p:cNvPr id="588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id="589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0" name="AutoShape 6"/>
          <p:cNvSpPr/>
          <p:nvPr/>
        </p:nvSpPr>
        <p:spPr>
          <a:xfrm>
            <a:off x="812800" y="16510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id="591" name="AutoShape 7"/>
          <p:cNvSpPr/>
          <p:nvPr/>
        </p:nvSpPr>
        <p:spPr>
          <a:xfrm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2" name="AutoShape 8"/>
          <p:cNvSpPr/>
          <p:nvPr/>
        </p:nvSpPr>
        <p:spPr>
          <a:xfrm>
            <a:off x="812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身份</a:t>
            </a:r>
            <a:endParaRPr lang="en-US" sz="1100"/>
          </a:p>
        </p:txBody>
      </p:sp>
      <p:sp>
        <p:nvSpPr>
          <p:cNvPr id="593" name="AutoShape 9"/>
          <p:cNvSpPr/>
          <p:nvPr/>
        </p:nvSpPr>
        <p:spPr>
          <a:xfrm>
            <a:off x="22860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594" name="AutoShape 10"/>
          <p:cNvSpPr/>
          <p:nvPr/>
        </p:nvSpPr>
        <p:spPr>
          <a:xfrm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5" name="AutoShape 11"/>
          <p:cNvSpPr/>
          <p:nvPr/>
        </p:nvSpPr>
        <p:spPr>
          <a:xfrm>
            <a:off x="24892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</a:t>
            </a:r>
            <a:endParaRPr lang="en-US" sz="1100"/>
          </a:p>
        </p:txBody>
      </p:sp>
      <p:sp>
        <p:nvSpPr>
          <p:cNvPr id="596" name="AutoShape 12"/>
          <p:cNvSpPr/>
          <p:nvPr/>
        </p:nvSpPr>
        <p:spPr>
          <a:xfrm>
            <a:off x="39624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597" name="AutoShape 13"/>
          <p:cNvSpPr/>
          <p:nvPr/>
        </p:nvSpPr>
        <p:spPr>
          <a:xfrm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8" name="AutoShape 14"/>
          <p:cNvSpPr/>
          <p:nvPr/>
        </p:nvSpPr>
        <p:spPr>
          <a:xfrm>
            <a:off x="41656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脱敏</a:t>
            </a:r>
            <a:endParaRPr lang="en-US" sz="1100"/>
          </a:p>
        </p:txBody>
      </p:sp>
      <p:sp>
        <p:nvSpPr>
          <p:cNvPr id="599" name="AutoShape 15"/>
          <p:cNvSpPr/>
          <p:nvPr/>
        </p:nvSpPr>
        <p:spPr>
          <a:xfrm>
            <a:off x="56388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600" name="AutoShape 16"/>
          <p:cNvSpPr/>
          <p:nvPr/>
        </p:nvSpPr>
        <p:spPr>
          <a:xfrm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1" name="AutoShape 17"/>
          <p:cNvSpPr/>
          <p:nvPr/>
        </p:nvSpPr>
        <p:spPr>
          <a:xfrm>
            <a:off x="58420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审批</a:t>
            </a:r>
            <a:endParaRPr lang="en-US" sz="1100"/>
          </a:p>
        </p:txBody>
      </p:sp>
      <p:sp>
        <p:nvSpPr>
          <p:cNvPr id="602" name="AutoShape 18"/>
          <p:cNvSpPr/>
          <p:nvPr/>
        </p:nvSpPr>
        <p:spPr>
          <a:xfrm>
            <a:off x="73152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603" name="AutoShape 19"/>
          <p:cNvSpPr/>
          <p:nvPr/>
        </p:nvSpPr>
        <p:spPr>
          <a:xfrm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4" name="AutoShape 20"/>
          <p:cNvSpPr/>
          <p:nvPr/>
        </p:nvSpPr>
        <p:spPr>
          <a:xfrm>
            <a:off x="75184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配额</a:t>
            </a:r>
            <a:endParaRPr lang="en-US" sz="1100"/>
          </a:p>
        </p:txBody>
      </p:sp>
      <p:sp>
        <p:nvSpPr>
          <p:cNvPr id="605" name="AutoShape 21"/>
          <p:cNvSpPr/>
          <p:nvPr/>
        </p:nvSpPr>
        <p:spPr>
          <a:xfrm>
            <a:off x="89916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606" name="AutoShape 22"/>
          <p:cNvSpPr/>
          <p:nvPr/>
        </p:nvSpPr>
        <p:spPr>
          <a:xfrm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7" name="AutoShape 23"/>
          <p:cNvSpPr/>
          <p:nvPr/>
        </p:nvSpPr>
        <p:spPr>
          <a:xfrm>
            <a:off x="9194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审计</a:t>
            </a:r>
            <a:endParaRPr lang="en-US" sz="1100"/>
          </a:p>
        </p:txBody>
      </p:sp>
      <p:sp>
        <p:nvSpPr>
          <p:cNvPr id="608" name="AutoShape 24"/>
          <p:cNvSpPr/>
          <p:nvPr/>
        </p:nvSpPr>
        <p:spPr>
          <a:xfrm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9" name="AutoShape 25"/>
          <p:cNvSpPr/>
          <p:nvPr/>
        </p:nvSpPr>
        <p:spPr>
          <a:xfrm>
            <a:off x="1066800" y="29972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id="610" name="AutoShape 26"/>
          <p:cNvSpPr/>
          <p:nvPr/>
        </p:nvSpPr>
        <p:spPr>
          <a:xfrm>
            <a:off x="1066800" y="33020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id="611" name="AutoShape 27"/>
          <p:cNvSpPr/>
          <p:nvPr/>
        </p:nvSpPr>
        <p:spPr>
          <a:xfrm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12" name="AutoShape 28"/>
          <p:cNvSpPr/>
          <p:nvPr/>
        </p:nvSpPr>
        <p:spPr>
          <a:xfrm>
            <a:off x="6578600" y="29972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id="613" name="AutoShape 29"/>
          <p:cNvSpPr/>
          <p:nvPr/>
        </p:nvSpPr>
        <p:spPr>
          <a:xfrm>
            <a:off x="6578600" y="33020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id="614" name="AutoShape 30"/>
          <p:cNvSpPr/>
          <p:nvPr/>
        </p:nvSpPr>
        <p:spPr>
          <a:xfrm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15" name="AutoShape 31"/>
          <p:cNvSpPr/>
          <p:nvPr/>
        </p:nvSpPr>
        <p:spPr>
          <a:xfrm>
            <a:off x="1066800" y="43688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脱敏层</a:t>
            </a:r>
            <a:endParaRPr lang="en-US" sz="1100"/>
          </a:p>
        </p:txBody>
      </p:sp>
      <p:sp>
        <p:nvSpPr>
          <p:cNvPr id="616" name="AutoShape 32"/>
          <p:cNvSpPr/>
          <p:nvPr/>
        </p:nvSpPr>
        <p:spPr>
          <a:xfrm>
            <a:off x="1066800" y="46736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id="617" name="AutoShape 33"/>
          <p:cNvSpPr/>
          <p:nvPr/>
        </p:nvSpPr>
        <p:spPr>
          <a:xfrm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18" name="AutoShape 34"/>
          <p:cNvSpPr/>
          <p:nvPr/>
        </p:nvSpPr>
        <p:spPr>
          <a:xfrm>
            <a:off x="6578600" y="43688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会话保存/分享秘密过滤</a:t>
            </a:r>
            <a:endParaRPr lang="en-US" sz="1100"/>
          </a:p>
        </p:txBody>
      </p:sp>
      <p:sp>
        <p:nvSpPr>
          <p:cNvPr id="619" name="AutoShape 35"/>
          <p:cNvSpPr/>
          <p:nvPr/>
        </p:nvSpPr>
        <p:spPr>
          <a:xfrm>
            <a:off x="6578600" y="46736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id="620" name="AutoShape 36"/>
          <p:cNvSpPr/>
          <p:nvPr/>
        </p:nvSpPr>
        <p:spPr>
          <a:xfrm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21" name="AutoShape 37"/>
          <p:cNvSpPr/>
          <p:nvPr/>
        </p:nvSpPr>
        <p:spPr>
          <a:xfrm>
            <a:off x="1066800" y="56134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挂载点</a:t>
            </a:r>
            <a:endParaRPr lang="en-US" sz="1100"/>
          </a:p>
        </p:txBody>
      </p:sp>
      <p:sp>
        <p:nvSpPr>
          <p:cNvPr id="622" name="AutoShape 38"/>
          <p:cNvSpPr/>
          <p:nvPr/>
        </p:nvSpPr>
        <p:spPr>
          <a:xfrm>
            <a:off x="2489200" y="56134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复用墨攻已有审批/配额/审计作门禁链挂载点，预留四类门禁可插拔接入，不推倒现有实现。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id="623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624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27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生产可靠与可观测</a:t>
            </a:r>
            <a:endParaRPr lang="en-US" sz="1100"/>
          </a:p>
        </p:txBody>
      </p:sp>
      <p:sp>
        <p:nvSpPr>
          <p:cNvPr id="628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id="629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0" name="AutoShape 6"/>
          <p:cNvSpPr/>
          <p:nvPr/>
        </p:nvSpPr>
        <p:spPr>
          <a:xfrm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1" name="AutoShape 7"/>
          <p:cNvSpPr/>
          <p:nvPr/>
        </p:nvSpPr>
        <p:spPr>
          <a:xfrm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2" name="AutoShape 8"/>
          <p:cNvSpPr/>
          <p:nvPr/>
        </p:nvSpPr>
        <p:spPr>
          <a:xfrm>
            <a:off x="1092200" y="1930400"/>
            <a:ext cx="4597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633" name="AutoShape 9"/>
          <p:cNvSpPr/>
          <p:nvPr/>
        </p:nvSpPr>
        <p:spPr>
          <a:xfrm>
            <a:off x="1092200" y="2235200"/>
            <a:ext cx="4597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id="634" name="AutoShape 10"/>
          <p:cNvSpPr/>
          <p:nvPr/>
        </p:nvSpPr>
        <p:spPr>
          <a:xfrm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5" name="AutoShape 11"/>
          <p:cNvSpPr/>
          <p:nvPr/>
        </p:nvSpPr>
        <p:spPr>
          <a:xfrm>
            <a:off x="1092200" y="269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636" name="AutoShape 12"/>
          <p:cNvSpPr/>
          <p:nvPr/>
        </p:nvSpPr>
        <p:spPr>
          <a:xfrm>
            <a:off x="1524000" y="266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主→备故障转移 failover</a:t>
            </a:r>
            <a:endParaRPr lang="en-US" sz="1100"/>
          </a:p>
        </p:txBody>
      </p:sp>
      <p:sp>
        <p:nvSpPr>
          <p:cNvPr id="637" name="AutoShape 13"/>
          <p:cNvSpPr/>
          <p:nvPr/>
        </p:nvSpPr>
        <p:spPr>
          <a:xfrm>
            <a:off x="1524000" y="292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供应商自动切换，服务不中断</a:t>
            </a:r>
            <a:endParaRPr lang="en-US" sz="1100"/>
          </a:p>
        </p:txBody>
      </p:sp>
      <p:sp>
        <p:nvSpPr>
          <p:cNvPr id="638" name="AutoShape 14"/>
          <p:cNvSpPr/>
          <p:nvPr/>
        </p:nvSpPr>
        <p:spPr>
          <a:xfrm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9" name="AutoShape 15"/>
          <p:cNvSpPr/>
          <p:nvPr/>
        </p:nvSpPr>
        <p:spPr>
          <a:xfrm>
            <a:off x="1092200" y="332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640" name="AutoShape 16"/>
          <p:cNvSpPr/>
          <p:nvPr/>
        </p:nvSpPr>
        <p:spPr>
          <a:xfrm>
            <a:off x="1524000" y="330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降级链 degradation_chain</a:t>
            </a:r>
            <a:endParaRPr lang="en-US" sz="1100"/>
          </a:p>
        </p:txBody>
      </p:sp>
      <p:sp>
        <p:nvSpPr>
          <p:cNvPr id="641" name="AutoShape 17"/>
          <p:cNvSpPr/>
          <p:nvPr/>
        </p:nvSpPr>
        <p:spPr>
          <a:xfrm>
            <a:off x="1524000" y="355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主模型失败逐级降档</a:t>
            </a:r>
            <a:endParaRPr lang="en-US" sz="1100"/>
          </a:p>
        </p:txBody>
      </p:sp>
      <p:sp>
        <p:nvSpPr>
          <p:cNvPr id="642" name="AutoShape 18"/>
          <p:cNvSpPr/>
          <p:nvPr/>
        </p:nvSpPr>
        <p:spPr>
          <a:xfrm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43" name="AutoShape 19"/>
          <p:cNvSpPr/>
          <p:nvPr/>
        </p:nvSpPr>
        <p:spPr>
          <a:xfrm>
            <a:off x="1092200" y="396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644" name="AutoShape 20"/>
          <p:cNvSpPr/>
          <p:nvPr/>
        </p:nvSpPr>
        <p:spPr>
          <a:xfrm>
            <a:off x="1524000" y="393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指数退避重试</a:t>
            </a:r>
            <a:endParaRPr lang="en-US" sz="1100"/>
          </a:p>
        </p:txBody>
      </p:sp>
      <p:sp>
        <p:nvSpPr>
          <p:cNvPr id="645" name="AutoShape 21"/>
          <p:cNvSpPr/>
          <p:nvPr/>
        </p:nvSpPr>
        <p:spPr>
          <a:xfrm>
            <a:off x="1524000" y="419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瞬时故障自恢复，避免雪崩</a:t>
            </a:r>
            <a:endParaRPr lang="en-US" sz="1100"/>
          </a:p>
        </p:txBody>
      </p:sp>
      <p:sp>
        <p:nvSpPr>
          <p:cNvPr id="646" name="AutoShape 22"/>
          <p:cNvSpPr/>
          <p:nvPr/>
        </p:nvSpPr>
        <p:spPr>
          <a:xfrm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47" name="AutoShape 23"/>
          <p:cNvSpPr/>
          <p:nvPr/>
        </p:nvSpPr>
        <p:spPr>
          <a:xfrm>
            <a:off x="1092200" y="459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648" name="AutoShape 24"/>
          <p:cNvSpPr/>
          <p:nvPr/>
        </p:nvSpPr>
        <p:spPr>
          <a:xfrm>
            <a:off x="1524000" y="457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用量 / 成本计量上报</a:t>
            </a:r>
            <a:endParaRPr lang="en-US" sz="1100"/>
          </a:p>
        </p:txBody>
      </p:sp>
      <p:sp>
        <p:nvSpPr>
          <p:cNvPr id="649" name="AutoShape 25"/>
          <p:cNvSpPr/>
          <p:nvPr/>
        </p:nvSpPr>
        <p:spPr>
          <a:xfrm>
            <a:off x="1524000" y="482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按模型与部门归集，支撑账单与配额</a:t>
            </a:r>
            <a:endParaRPr lang="en-US" sz="1100"/>
          </a:p>
        </p:txBody>
      </p:sp>
      <p:sp>
        <p:nvSpPr>
          <p:cNvPr id="650" name="AutoShape 26"/>
          <p:cNvSpPr/>
          <p:nvPr/>
        </p:nvSpPr>
        <p:spPr>
          <a:xfrm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51" name="AutoShape 27"/>
          <p:cNvSpPr/>
          <p:nvPr/>
        </p:nvSpPr>
        <p:spPr>
          <a:xfrm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52" name="AutoShape 28"/>
          <p:cNvSpPr/>
          <p:nvPr/>
        </p:nvSpPr>
        <p:spPr>
          <a:xfrm>
            <a:off x="6604000" y="1930400"/>
            <a:ext cx="4495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总览数据统计驾驶舱</a:t>
            </a:r>
            <a:endParaRPr lang="en-US" sz="1100"/>
          </a:p>
        </p:txBody>
      </p:sp>
      <p:sp>
        <p:nvSpPr>
          <p:cNvPr id="653" name="AutoShape 29"/>
          <p:cNvSpPr/>
          <p:nvPr/>
        </p:nvSpPr>
        <p:spPr>
          <a:xfrm>
            <a:off x="6604000" y="2235200"/>
            <a:ext cx="4495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id="654" name="AutoShape 30"/>
          <p:cNvSpPr/>
          <p:nvPr/>
        </p:nvSpPr>
        <p:spPr>
          <a:xfrm>
            <a:off x="6604000" y="26670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655" name="AutoShape 31"/>
          <p:cNvSpPr/>
          <p:nvPr/>
        </p:nvSpPr>
        <p:spPr>
          <a:xfrm>
            <a:off x="7061200" y="26670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</a:t>
            </a:r>
            <a:endParaRPr lang="en-US" sz="1100"/>
          </a:p>
        </p:txBody>
      </p:sp>
      <p:sp>
        <p:nvSpPr>
          <p:cNvPr id="656" name="AutoShape 32"/>
          <p:cNvSpPr/>
          <p:nvPr/>
        </p:nvSpPr>
        <p:spPr>
          <a:xfrm>
            <a:off x="7061200" y="29210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id="657" name="AutoShape 33"/>
          <p:cNvSpPr/>
          <p:nvPr/>
        </p:nvSpPr>
        <p:spPr>
          <a:xfrm>
            <a:off x="6604000" y="33274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658" name="AutoShape 34"/>
          <p:cNvSpPr/>
          <p:nvPr/>
        </p:nvSpPr>
        <p:spPr>
          <a:xfrm>
            <a:off x="7061200" y="33274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使用</a:t>
            </a:r>
            <a:endParaRPr lang="en-US" sz="1100"/>
          </a:p>
        </p:txBody>
      </p:sp>
      <p:sp>
        <p:nvSpPr>
          <p:cNvPr id="659" name="AutoShape 35"/>
          <p:cNvSpPr/>
          <p:nvPr/>
        </p:nvSpPr>
        <p:spPr>
          <a:xfrm>
            <a:off x="7061200" y="35814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调用量 · 活跃用户 · Skill/检索频次</a:t>
            </a:r>
            <a:endParaRPr lang="en-US" sz="1100"/>
          </a:p>
        </p:txBody>
      </p:sp>
      <p:sp>
        <p:nvSpPr>
          <p:cNvPr id="660" name="AutoShape 36"/>
          <p:cNvSpPr/>
          <p:nvPr/>
        </p:nvSpPr>
        <p:spPr>
          <a:xfrm>
            <a:off x="6604000" y="39878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661" name="AutoShape 37"/>
          <p:cNvSpPr/>
          <p:nvPr/>
        </p:nvSpPr>
        <p:spPr>
          <a:xfrm>
            <a:off x="7061200" y="39878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质量</a:t>
            </a:r>
            <a:endParaRPr lang="en-US" sz="1100"/>
          </a:p>
        </p:txBody>
      </p:sp>
      <p:sp>
        <p:nvSpPr>
          <p:cNvPr id="662" name="AutoShape 38"/>
          <p:cNvSpPr/>
          <p:nvPr/>
        </p:nvSpPr>
        <p:spPr>
          <a:xfrm>
            <a:off x="7061200" y="42418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id="663" name="AutoShape 39"/>
          <p:cNvSpPr/>
          <p:nvPr/>
        </p:nvSpPr>
        <p:spPr>
          <a:xfrm>
            <a:off x="6604000" y="46482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664" name="AutoShape 40"/>
          <p:cNvSpPr/>
          <p:nvPr/>
        </p:nvSpPr>
        <p:spPr>
          <a:xfrm>
            <a:off x="7061200" y="46482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趋势</a:t>
            </a:r>
            <a:endParaRPr lang="en-US" sz="1100"/>
          </a:p>
        </p:txBody>
      </p:sp>
      <p:sp>
        <p:nvSpPr>
          <p:cNvPr id="665" name="AutoShape 41"/>
          <p:cNvSpPr/>
          <p:nvPr/>
        </p:nvSpPr>
        <p:spPr>
          <a:xfrm>
            <a:off x="7061200" y="49022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环比同比 · 瓶颈识别</a:t>
            </a:r>
            <a:endParaRPr lang="en-US" sz="1100"/>
          </a:p>
        </p:txBody>
      </p:sp>
      <p:sp>
        <p:nvSpPr>
          <p:cNvPr id="666" name="AutoShape 42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67" name="AutoShape 43"/>
          <p:cNvSpPr/>
          <p:nvPr/>
        </p:nvSpPr>
        <p:spPr>
          <a:xfrm>
            <a:off x="1066800" y="56642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影响可控</a:t>
            </a:r>
            <a:endParaRPr lang="en-US" sz="1100"/>
          </a:p>
        </p:txBody>
      </p:sp>
      <p:sp>
        <p:nvSpPr>
          <p:cNvPr id="668" name="AutoShape 44"/>
          <p:cNvSpPr/>
          <p:nvPr/>
        </p:nvSpPr>
        <p:spPr>
          <a:xfrm>
            <a:off x="2489200" y="56642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id="669" name="AutoShape 45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670" name="AutoShape 46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05 · P1 — 可靠执行与会话交接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668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① Hooks 拦截机制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668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低成本高扩展的合规扩展点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2446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1244600" y="34036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1244600" y="42672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46482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② DAG 通用编排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482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从"规划/研究"到通用编排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4826000" y="2590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四模式：sequential / supervisor / hybrid / graph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4826000" y="3352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拓扑排序 + 环检测，杜绝依赖回路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4826000" y="4114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82296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③ 会话/工作流双版本化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2296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解决"换个人从头来""工作即沉没"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84074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>
            <a:off x="8407400" y="34290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8407400" y="42672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1066800" y="5664200"/>
            <a:ext cx="152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会话级是横切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2692400" y="5664200"/>
            <a:ext cx="8559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06 · P2 — 自进化与生态</a:t>
            </a:r>
            <a:endParaRPr lang="en-US" sz="1100"/>
          </a:p>
        </p:txBody>
      </p:sp>
      <p:sp>
        <p:nvSpPr>
          <p:cNvPr id="4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id="4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AutoShape 6"/>
          <p:cNvSpPr/>
          <p:nvPr/>
        </p:nvSpPr>
        <p:spPr>
          <a:xfrm>
            <a:off x="812800" y="16764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Cycle 三层自进化</a:t>
            </a:r>
            <a:endParaRPr lang="en-US" sz="1100"/>
          </a:p>
        </p:txBody>
      </p:sp>
      <p:sp>
        <p:nvSpPr>
          <p:cNvPr id="47" name="AutoShape 7"/>
          <p:cNvSpPr/>
          <p:nvPr/>
        </p:nvSpPr>
        <p:spPr>
          <a:xfrm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8" name="AutoShape 8"/>
          <p:cNvSpPr/>
          <p:nvPr/>
        </p:nvSpPr>
        <p:spPr>
          <a:xfrm>
            <a:off x="1066800" y="21590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49" name="AutoShape 9"/>
          <p:cNvSpPr/>
          <p:nvPr/>
        </p:nvSpPr>
        <p:spPr>
          <a:xfrm>
            <a:off x="1473200" y="21590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经验沉淀</a:t>
            </a:r>
            <a:endParaRPr lang="en-US" sz="1100"/>
          </a:p>
        </p:txBody>
      </p:sp>
      <p:sp>
        <p:nvSpPr>
          <p:cNvPr id="50" name="AutoShape 10"/>
          <p:cNvSpPr/>
          <p:nvPr/>
        </p:nvSpPr>
        <p:spPr>
          <a:xfrm>
            <a:off x="1473200" y="24384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id="51" name="AutoShape 11"/>
          <p:cNvSpPr/>
          <p:nvPr/>
        </p:nvSpPr>
        <p:spPr>
          <a:xfrm>
            <a:off x="3251200" y="29464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52" name="AutoShape 12"/>
          <p:cNvSpPr/>
          <p:nvPr/>
        </p:nvSpPr>
        <p:spPr>
          <a:xfrm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" name="AutoShape 13"/>
          <p:cNvSpPr/>
          <p:nvPr/>
        </p:nvSpPr>
        <p:spPr>
          <a:xfrm>
            <a:off x="1066800" y="33528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54" name="AutoShape 14"/>
          <p:cNvSpPr/>
          <p:nvPr/>
        </p:nvSpPr>
        <p:spPr>
          <a:xfrm>
            <a:off x="1473200" y="33528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自动发现 → 生成 Skill 草稿 + 自动建 MR</a:t>
            </a:r>
            <a:endParaRPr lang="en-US" sz="1100"/>
          </a:p>
        </p:txBody>
      </p:sp>
      <p:sp>
        <p:nvSpPr>
          <p:cNvPr id="55" name="AutoShape 15"/>
          <p:cNvSpPr/>
          <p:nvPr/>
        </p:nvSpPr>
        <p:spPr>
          <a:xfrm>
            <a:off x="1473200" y="36322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周期扫描重复模式，产出可复用 Skill</a:t>
            </a:r>
            <a:endParaRPr lang="en-US" sz="1100"/>
          </a:p>
        </p:txBody>
      </p:sp>
      <p:sp>
        <p:nvSpPr>
          <p:cNvPr id="56" name="AutoShape 16"/>
          <p:cNvSpPr/>
          <p:nvPr/>
        </p:nvSpPr>
        <p:spPr>
          <a:xfrm>
            <a:off x="3251200" y="41402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57" name="AutoShape 17"/>
          <p:cNvSpPr/>
          <p:nvPr/>
        </p:nvSpPr>
        <p:spPr>
          <a:xfrm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" name="AutoShape 18"/>
          <p:cNvSpPr/>
          <p:nvPr/>
        </p:nvSpPr>
        <p:spPr>
          <a:xfrm>
            <a:off x="1066800" y="45466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59" name="AutoShape 19"/>
          <p:cNvSpPr/>
          <p:nvPr/>
        </p:nvSpPr>
        <p:spPr>
          <a:xfrm>
            <a:off x="1473200" y="45466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低采纳率自动淘汰</a:t>
            </a:r>
            <a:endParaRPr lang="en-US" sz="1100"/>
          </a:p>
        </p:txBody>
      </p:sp>
      <p:sp>
        <p:nvSpPr>
          <p:cNvPr id="60" name="AutoShape 20"/>
          <p:cNvSpPr/>
          <p:nvPr/>
        </p:nvSpPr>
        <p:spPr>
          <a:xfrm>
            <a:off x="1473200" y="48260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未验证的经验自动下线，保持生态质量</a:t>
            </a:r>
            <a:endParaRPr lang="en-US" sz="1100"/>
          </a:p>
        </p:txBody>
      </p:sp>
      <p:sp>
        <p:nvSpPr>
          <p:cNvPr id="61" name="AutoShape 21"/>
          <p:cNvSpPr/>
          <p:nvPr/>
        </p:nvSpPr>
        <p:spPr>
          <a:xfrm>
            <a:off x="6223000" y="1676400"/>
            <a:ext cx="5156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生态清单（P2 其余项 + 清单外新增）</a:t>
            </a:r>
            <a:endParaRPr lang="en-US" sz="1100"/>
          </a:p>
        </p:txBody>
      </p:sp>
      <p:sp>
        <p:nvSpPr>
          <p:cNvPr id="62" name="AutoShape 22"/>
          <p:cNvSpPr/>
          <p:nvPr/>
        </p:nvSpPr>
        <p:spPr>
          <a:xfrm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" name="AutoShape 23"/>
          <p:cNvSpPr/>
          <p:nvPr/>
        </p:nvSpPr>
        <p:spPr>
          <a:xfrm>
            <a:off x="6400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Agent 互通网关</a:t>
            </a:r>
            <a:endParaRPr lang="en-US" sz="1100"/>
          </a:p>
        </p:txBody>
      </p:sp>
      <p:sp>
        <p:nvSpPr>
          <p:cNvPr id="64" name="AutoShape 24"/>
          <p:cNvSpPr/>
          <p:nvPr/>
        </p:nvSpPr>
        <p:spPr>
          <a:xfrm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5" name="AutoShape 25"/>
          <p:cNvSpPr/>
          <p:nvPr/>
        </p:nvSpPr>
        <p:spPr>
          <a:xfrm>
            <a:off x="9067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IM 入口（飞书/钉钉/企微）</a:t>
            </a:r>
            <a:endParaRPr lang="en-US" sz="1100"/>
          </a:p>
        </p:txBody>
      </p:sp>
      <p:sp>
        <p:nvSpPr>
          <p:cNvPr id="66" name="AutoShape 26"/>
          <p:cNvSpPr/>
          <p:nvPr/>
        </p:nvSpPr>
        <p:spPr>
          <a:xfrm>
            <a:off x="6223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7" name="AutoShape 27"/>
          <p:cNvSpPr/>
          <p:nvPr/>
        </p:nvSpPr>
        <p:spPr>
          <a:xfrm>
            <a:off x="6400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业务系统语义索引</a:t>
            </a:r>
            <a:endParaRPr lang="en-US" sz="1100"/>
          </a:p>
        </p:txBody>
      </p:sp>
      <p:sp>
        <p:nvSpPr>
          <p:cNvPr id="68" name="AutoShape 28"/>
          <p:cNvSpPr/>
          <p:nvPr/>
        </p:nvSpPr>
        <p:spPr>
          <a:xfrm>
            <a:off x="8890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9" name="AutoShape 29"/>
          <p:cNvSpPr/>
          <p:nvPr/>
        </p:nvSpPr>
        <p:spPr>
          <a:xfrm>
            <a:off x="9067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知识图谱层</a:t>
            </a:r>
            <a:endParaRPr lang="en-US" sz="1100"/>
          </a:p>
        </p:txBody>
      </p:sp>
      <p:sp>
        <p:nvSpPr>
          <p:cNvPr id="70" name="AutoShape 30"/>
          <p:cNvSpPr/>
          <p:nvPr/>
        </p:nvSpPr>
        <p:spPr>
          <a:xfrm>
            <a:off x="6223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71" name="AutoShape 31"/>
          <p:cNvSpPr/>
          <p:nvPr/>
        </p:nvSpPr>
        <p:spPr>
          <a:xfrm>
            <a:off x="6400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市场强化（版本/监控）</a:t>
            </a:r>
            <a:endParaRPr lang="en-US" sz="1100"/>
          </a:p>
        </p:txBody>
      </p:sp>
      <p:sp>
        <p:nvSpPr>
          <p:cNvPr id="72" name="AutoShape 32"/>
          <p:cNvSpPr/>
          <p:nvPr/>
        </p:nvSpPr>
        <p:spPr>
          <a:xfrm>
            <a:off x="8890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73" name="AutoShape 33"/>
          <p:cNvSpPr/>
          <p:nvPr/>
        </p:nvSpPr>
        <p:spPr>
          <a:xfrm>
            <a:off x="9067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Memory（个人/组织）</a:t>
            </a:r>
            <a:endParaRPr lang="en-US" sz="1100"/>
          </a:p>
        </p:txBody>
      </p:sp>
      <p:sp>
        <p:nvSpPr>
          <p:cNvPr id="74" name="AutoShape 34"/>
          <p:cNvSpPr/>
          <p:nvPr/>
        </p:nvSpPr>
        <p:spPr>
          <a:xfrm>
            <a:off x="6223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75" name="AutoShape 43"/>
          <p:cNvSpPr/>
          <p:nvPr/>
        </p:nvSpPr>
        <p:spPr>
          <a:xfrm>
            <a:off x="6223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76" name="AutoShape 44"/>
          <p:cNvSpPr/>
          <p:nvPr/>
        </p:nvSpPr>
        <p:spPr>
          <a:xfrm>
            <a:off x="8890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77" name="AutoShape 35"/>
          <p:cNvSpPr/>
          <p:nvPr/>
        </p:nvSpPr>
        <p:spPr>
          <a:xfrm>
            <a:off x="6400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能力资产化「发现→注册」</a:t>
            </a:r>
            <a:endParaRPr lang="en-US" sz="1100"/>
          </a:p>
        </p:txBody>
      </p:sp>
      <p:sp>
        <p:nvSpPr>
          <p:cNvPr id="78" name="AutoShape 45"/>
          <p:cNvSpPr/>
          <p:nvPr/>
        </p:nvSpPr>
        <p:spPr>
          <a:xfrm>
            <a:off x="6400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020 平台化多租户（清单外新增）</a:t>
            </a:r>
            <a:endParaRPr lang="en-US" sz="1100"/>
          </a:p>
        </p:txBody>
      </p:sp>
      <p:sp>
        <p:nvSpPr>
          <p:cNvPr id="79" name="AutoShape 46"/>
          <p:cNvSpPr/>
          <p:nvPr/>
        </p:nvSpPr>
        <p:spPr>
          <a:xfrm>
            <a:off x="9067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021 统一上下文地址（清单外新增）</a:t>
            </a:r>
            <a:endParaRPr lang="en-US" sz="1100"/>
          </a:p>
        </p:txBody>
      </p:sp>
      <p:sp>
        <p:nvSpPr>
          <p:cNvPr id="80" name="AutoShape 36"/>
          <p:cNvSpPr/>
          <p:nvPr/>
        </p:nvSpPr>
        <p:spPr>
          <a:xfrm>
            <a:off x="8890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1" name="AutoShape 37"/>
          <p:cNvSpPr/>
          <p:nvPr/>
        </p:nvSpPr>
        <p:spPr>
          <a:xfrm>
            <a:off x="9067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厚 / 薄 Harness 弹性配置</a:t>
            </a:r>
            <a:endParaRPr lang="en-US" sz="1100"/>
          </a:p>
        </p:txBody>
      </p:sp>
      <p:sp>
        <p:nvSpPr>
          <p:cNvPr id="82" name="AutoShape 38"/>
          <p:cNvSpPr/>
          <p:nvPr/>
        </p:nvSpPr>
        <p:spPr>
          <a:xfrm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3" name="AutoShape 39"/>
          <p:cNvSpPr/>
          <p:nvPr/>
        </p:nvSpPr>
        <p:spPr>
          <a:xfrm>
            <a:off x="1066800" y="5613400"/>
            <a:ext cx="1397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目标形态</a:t>
            </a:r>
            <a:endParaRPr lang="en-US" sz="1100"/>
          </a:p>
        </p:txBody>
      </p:sp>
      <p:sp>
        <p:nvSpPr>
          <p:cNvPr id="84" name="AutoShape 40"/>
          <p:cNvSpPr/>
          <p:nvPr/>
        </p:nvSpPr>
        <p:spPr>
          <a:xfrm>
            <a:off x="2489200" y="5613400"/>
            <a:ext cx="8763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id="85" name="AutoShape 41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86" name="AutoShape 42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9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07 · 实施路线图</a:t>
            </a:r>
            <a:endParaRPr lang="en-US" sz="1100"/>
          </a:p>
        </p:txBody>
      </p:sp>
      <p:sp>
        <p:nvSpPr>
          <p:cNvPr id="9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r>
              <a:rPr lang="en-US" altLang="zh-CN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项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已按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SDD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落地，库代码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+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单测全绿</a:t>
            </a:r>
            <a:endParaRPr lang="en-US" sz="1100" dirty="0"/>
          </a:p>
        </p:txBody>
      </p:sp>
      <p:cxnSp>
        <p:nvCxnSpPr>
          <p:cNvPr id="9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AutoShape 6"/>
          <p:cNvSpPr/>
          <p:nvPr/>
        </p:nvSpPr>
        <p:spPr>
          <a:xfrm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3" name="AutoShape 7"/>
          <p:cNvSpPr/>
          <p:nvPr/>
        </p:nvSpPr>
        <p:spPr>
          <a:xfrm>
            <a:off x="10668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94" name="AutoShape 8"/>
          <p:cNvSpPr/>
          <p:nvPr/>
        </p:nvSpPr>
        <p:spPr>
          <a:xfrm>
            <a:off x="16256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生产底座</a:t>
            </a:r>
            <a:endParaRPr lang="en-US" sz="1100"/>
          </a:p>
        </p:txBody>
      </p:sp>
      <p:sp>
        <p:nvSpPr>
          <p:cNvPr id="95" name="AutoShape 9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6" name="AutoShape 10"/>
          <p:cNvSpPr/>
          <p:nvPr/>
        </p:nvSpPr>
        <p:spPr>
          <a:xfrm>
            <a:off x="12446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id="97" name="AutoShape 11"/>
          <p:cNvSpPr/>
          <p:nvPr/>
        </p:nvSpPr>
        <p:spPr>
          <a:xfrm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8" name="AutoShape 12"/>
          <p:cNvSpPr/>
          <p:nvPr/>
        </p:nvSpPr>
        <p:spPr>
          <a:xfrm>
            <a:off x="1244600" y="32512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网关韧性：failover · 降级 · 退避</a:t>
            </a:r>
            <a:endParaRPr lang="en-US" sz="1100"/>
          </a:p>
        </p:txBody>
      </p:sp>
      <p:sp>
        <p:nvSpPr>
          <p:cNvPr id="99" name="AutoShape 13"/>
          <p:cNvSpPr/>
          <p:nvPr/>
        </p:nvSpPr>
        <p:spPr>
          <a:xfrm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0" name="AutoShape 14"/>
          <p:cNvSpPr/>
          <p:nvPr/>
        </p:nvSpPr>
        <p:spPr>
          <a:xfrm>
            <a:off x="1244600" y="38100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运营驾驶舱：成本 / 使用 / 质量 / 趋势</a:t>
            </a:r>
            <a:endParaRPr lang="en-US" sz="1100"/>
          </a:p>
        </p:txBody>
      </p:sp>
      <p:sp>
        <p:nvSpPr>
          <p:cNvPr id="101" name="AutoShape 15"/>
          <p:cNvSpPr/>
          <p:nvPr/>
        </p:nvSpPr>
        <p:spPr>
          <a:xfrm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2" name="AutoShape 16"/>
          <p:cNvSpPr/>
          <p:nvPr/>
        </p:nvSpPr>
        <p:spPr>
          <a:xfrm>
            <a:off x="1244600" y="45720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103" name="AutoShape 17"/>
          <p:cNvSpPr/>
          <p:nvPr/>
        </p:nvSpPr>
        <p:spPr>
          <a:xfrm>
            <a:off x="1244600" y="4800600"/>
            <a:ext cx="2514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已落地（库+单测+生产接线）：合规入场券 · 生产可用性 · 可观测</a:t>
            </a:r>
            <a:endParaRPr lang="en-US" sz="1100"/>
          </a:p>
        </p:txBody>
      </p:sp>
      <p:sp>
        <p:nvSpPr>
          <p:cNvPr id="104" name="AutoShape 18"/>
          <p:cNvSpPr/>
          <p:nvPr/>
        </p:nvSpPr>
        <p:spPr>
          <a:xfrm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5" name="AutoShape 19"/>
          <p:cNvSpPr/>
          <p:nvPr/>
        </p:nvSpPr>
        <p:spPr>
          <a:xfrm>
            <a:off x="46482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106" name="AutoShape 20"/>
          <p:cNvSpPr/>
          <p:nvPr/>
        </p:nvSpPr>
        <p:spPr>
          <a:xfrm>
            <a:off x="52070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107" name="AutoShape 21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8" name="AutoShape 22"/>
          <p:cNvSpPr/>
          <p:nvPr/>
        </p:nvSpPr>
        <p:spPr>
          <a:xfrm>
            <a:off x="48260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拦截：五事件 + 会话生命周期</a:t>
            </a:r>
            <a:endParaRPr lang="en-US" sz="1100"/>
          </a:p>
        </p:txBody>
      </p:sp>
      <p:sp>
        <p:nvSpPr>
          <p:cNvPr id="109" name="AutoShape 23"/>
          <p:cNvSpPr/>
          <p:nvPr/>
        </p:nvSpPr>
        <p:spPr>
          <a:xfrm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0" name="AutoShape 24"/>
          <p:cNvSpPr/>
          <p:nvPr/>
        </p:nvSpPr>
        <p:spPr>
          <a:xfrm>
            <a:off x="48260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id="111" name="AutoShape 25"/>
          <p:cNvSpPr/>
          <p:nvPr/>
        </p:nvSpPr>
        <p:spPr>
          <a:xfrm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2" name="AutoShape 26"/>
          <p:cNvSpPr/>
          <p:nvPr/>
        </p:nvSpPr>
        <p:spPr>
          <a:xfrm>
            <a:off x="48260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双版本化：版本 / 交接 / 多人协同</a:t>
            </a:r>
            <a:endParaRPr lang="en-US" sz="1100"/>
          </a:p>
        </p:txBody>
      </p:sp>
      <p:sp>
        <p:nvSpPr>
          <p:cNvPr id="113" name="AutoShape 27"/>
          <p:cNvSpPr/>
          <p:nvPr/>
        </p:nvSpPr>
        <p:spPr>
          <a:xfrm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4" name="AutoShape 28"/>
          <p:cNvSpPr/>
          <p:nvPr/>
        </p:nvSpPr>
        <p:spPr>
          <a:xfrm>
            <a:off x="48260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115" name="AutoShape 29"/>
          <p:cNvSpPr/>
          <p:nvPr/>
        </p:nvSpPr>
        <p:spPr>
          <a:xfrm>
            <a:off x="48260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已落地（库+单测+生产接线）：多步骤可靠 · 合规扩展 · 工作可交接</a:t>
            </a:r>
            <a:endParaRPr lang="en-US" sz="1100"/>
          </a:p>
        </p:txBody>
      </p:sp>
      <p:sp>
        <p:nvSpPr>
          <p:cNvPr id="116" name="AutoShape 30"/>
          <p:cNvSpPr/>
          <p:nvPr/>
        </p:nvSpPr>
        <p:spPr>
          <a:xfrm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7" name="AutoShape 31"/>
          <p:cNvSpPr/>
          <p:nvPr/>
        </p:nvSpPr>
        <p:spPr>
          <a:xfrm>
            <a:off x="82296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118" name="AutoShape 32"/>
          <p:cNvSpPr/>
          <p:nvPr/>
        </p:nvSpPr>
        <p:spPr>
          <a:xfrm>
            <a:off x="87884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119" name="AutoShape 33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0" name="AutoShape 34"/>
          <p:cNvSpPr/>
          <p:nvPr/>
        </p:nvSpPr>
        <p:spPr>
          <a:xfrm>
            <a:off x="84074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 · 会话→经验→Skill 闭环</a:t>
            </a:r>
            <a:endParaRPr lang="en-US" sz="1100"/>
          </a:p>
        </p:txBody>
      </p:sp>
      <p:sp>
        <p:nvSpPr>
          <p:cNvPr id="121" name="AutoShape 35"/>
          <p:cNvSpPr/>
          <p:nvPr/>
        </p:nvSpPr>
        <p:spPr>
          <a:xfrm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2" name="AutoShape 36"/>
          <p:cNvSpPr/>
          <p:nvPr/>
        </p:nvSpPr>
        <p:spPr>
          <a:xfrm>
            <a:off x="84074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· 多 IM · 业务索引 · 知识图谱</a:t>
            </a:r>
            <a:endParaRPr lang="en-US" sz="1100"/>
          </a:p>
        </p:txBody>
      </p:sp>
      <p:sp>
        <p:nvSpPr>
          <p:cNvPr id="123" name="AutoShape 37"/>
          <p:cNvSpPr/>
          <p:nvPr/>
        </p:nvSpPr>
        <p:spPr>
          <a:xfrm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4" name="AutoShape 38"/>
          <p:cNvSpPr/>
          <p:nvPr/>
        </p:nvSpPr>
        <p:spPr>
          <a:xfrm>
            <a:off x="84074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id="125" name="AutoShape 39"/>
          <p:cNvSpPr/>
          <p:nvPr/>
        </p:nvSpPr>
        <p:spPr>
          <a:xfrm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6" name="AutoShape 40"/>
          <p:cNvSpPr/>
          <p:nvPr/>
        </p:nvSpPr>
        <p:spPr>
          <a:xfrm>
            <a:off x="84074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127" name="AutoShape 41"/>
          <p:cNvSpPr/>
          <p:nvPr/>
        </p:nvSpPr>
        <p:spPr>
          <a:xfrm>
            <a:off x="84074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已落地（库+单测+生产接线）：组织级「数字组织」· 越用越聪明</a:t>
            </a:r>
            <a:endParaRPr lang="en-US" sz="1100"/>
          </a:p>
        </p:txBody>
      </p:sp>
      <p:sp>
        <p:nvSpPr>
          <p:cNvPr id="128" name="AutoShape 42"/>
          <p:cNvSpPr/>
          <p:nvPr/>
        </p:nvSpPr>
        <p:spPr>
          <a:xfrm>
            <a:off x="812800" y="55880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id="129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30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08 · 落地进展与接线闭合</a:t>
            </a:r>
            <a:endParaRPr lang="en-US" sz="1100"/>
          </a:p>
        </p:txBody>
      </p:sp>
      <p:sp>
        <p:nvSpPr>
          <p:cNvPr id="13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r>
              <a:rPr lang="en-US" altLang="zh-CN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项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已按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SDD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落地，库代码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+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单测全绿</a:t>
            </a:r>
            <a:endParaRPr lang="en-US" sz="1100" dirty="0"/>
          </a:p>
        </p:txBody>
      </p:sp>
      <p:cxnSp>
        <p:nvCxnSpPr>
          <p:cNvPr id="13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" name="AutoShape 6"/>
          <p:cNvSpPr/>
          <p:nvPr/>
        </p:nvSpPr>
        <p:spPr>
          <a:xfrm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7" name="AutoShape 7"/>
          <p:cNvSpPr/>
          <p:nvPr/>
        </p:nvSpPr>
        <p:spPr>
          <a:xfrm>
            <a:off x="1066800" y="17018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138" name="AutoShape 8"/>
          <p:cNvSpPr/>
          <p:nvPr/>
        </p:nvSpPr>
        <p:spPr>
          <a:xfrm>
            <a:off x="1625600" y="1803400"/>
            <a:ext cx="304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17 项全绿</a:t>
            </a:r>
            <a:endParaRPr lang="en-US" sz="1100"/>
          </a:p>
        </p:txBody>
      </p:sp>
      <p:sp>
        <p:nvSpPr>
          <p:cNvPr id="139" name="AutoShape 9"/>
          <p:cNvSpPr/>
          <p:nvPr/>
        </p:nvSpPr>
        <p:spPr>
          <a:xfrm>
            <a:off x="1625600" y="20828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P0/P1/P2 共 15 项 + 清单外 020/021，已按 SDD 落地为库代码 + 单测，全部通过（chat-api 2229 / admin-api 433，2026-10 基线）。</a:t>
            </a:r>
            <a:endParaRPr lang="en-US" sz="1100"/>
          </a:p>
        </p:txBody>
      </p:sp>
      <p:sp>
        <p:nvSpPr>
          <p:cNvPr id="140" name="AutoShape 10"/>
          <p:cNvSpPr/>
          <p:nvPr/>
        </p:nvSpPr>
        <p:spPr>
          <a:xfrm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1" name="AutoShape 11"/>
          <p:cNvSpPr/>
          <p:nvPr/>
        </p:nvSpPr>
        <p:spPr>
          <a:xfrm>
            <a:off x="1066800" y="25654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142" name="AutoShape 12"/>
          <p:cNvSpPr/>
          <p:nvPr/>
        </p:nvSpPr>
        <p:spPr>
          <a:xfrm>
            <a:off x="1625600" y="2667000"/>
            <a:ext cx="330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2 案例可运行</a:t>
            </a:r>
            <a:endParaRPr lang="en-US" sz="1100"/>
          </a:p>
        </p:txBody>
      </p:sp>
      <p:sp>
        <p:nvSpPr>
          <p:cNvPr id="143" name="AutoShape 13"/>
          <p:cNvSpPr/>
          <p:nvPr/>
        </p:nvSpPr>
        <p:spPr>
          <a:xfrm>
            <a:off x="1625600" y="29464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id="144" name="AutoShape 14"/>
          <p:cNvSpPr/>
          <p:nvPr/>
        </p:nvSpPr>
        <p:spPr>
          <a:xfrm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5" name="AutoShape 15"/>
          <p:cNvSpPr/>
          <p:nvPr/>
        </p:nvSpPr>
        <p:spPr>
          <a:xfrm>
            <a:off x="1066800" y="34290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146" name="AutoShape 16"/>
          <p:cNvSpPr/>
          <p:nvPr/>
        </p:nvSpPr>
        <p:spPr>
          <a:xfrm>
            <a:off x="1625600" y="35306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生产接线</a:t>
            </a:r>
            <a:endParaRPr lang="en-US" sz="1100"/>
          </a:p>
        </p:txBody>
      </p:sp>
      <p:sp>
        <p:nvSpPr>
          <p:cNvPr id="147" name="AutoShape 17"/>
          <p:cNvSpPr/>
          <p:nvPr/>
        </p:nvSpPr>
        <p:spPr>
          <a:xfrm>
            <a:off x="1625600" y="38100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007 网关韧性（ResilientLLMClient 已挂生产调用）/ 009 钩子挂载 + 规则页 / 002 会话版本化端点 + UI</a:t>
            </a:r>
            <a:endParaRPr lang="en-US" sz="1100"/>
          </a:p>
        </p:txBody>
      </p:sp>
      <p:sp>
        <p:nvSpPr>
          <p:cNvPr id="148" name="AutoShape 18"/>
          <p:cNvSpPr/>
          <p:nvPr/>
        </p:nvSpPr>
        <p:spPr>
          <a:xfrm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9" name="AutoShape 19"/>
          <p:cNvSpPr/>
          <p:nvPr/>
        </p:nvSpPr>
        <p:spPr>
          <a:xfrm>
            <a:off x="1066800" y="42926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150" name="AutoShape 20"/>
          <p:cNvSpPr/>
          <p:nvPr/>
        </p:nvSpPr>
        <p:spPr>
          <a:xfrm>
            <a:off x="1625600" y="43942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审计与门禁</a:t>
            </a:r>
            <a:endParaRPr lang="en-US" sz="1100"/>
          </a:p>
        </p:txBody>
      </p:sp>
      <p:sp>
        <p:nvSpPr>
          <p:cNvPr id="151" name="AutoShape 21"/>
          <p:cNvSpPr/>
          <p:nvPr/>
        </p:nvSpPr>
        <p:spPr>
          <a:xfrm>
            <a:off x="1625600" y="46736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T999 横切审计已接入 012/014/015/016/017/018 业务模块；001 六层门禁已通过 run_gate_plan 挂入运行时。</a:t>
            </a:r>
            <a:endParaRPr lang="en-US" sz="1100"/>
          </a:p>
        </p:txBody>
      </p:sp>
      <p:sp>
        <p:nvSpPr>
          <p:cNvPr id="152" name="AutoShape 22"/>
          <p:cNvSpPr/>
          <p:nvPr/>
        </p:nvSpPr>
        <p:spPr>
          <a:xfrm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3" name="AutoShape 23"/>
          <p:cNvSpPr/>
          <p:nvPr/>
        </p:nvSpPr>
        <p:spPr>
          <a:xfrm>
            <a:off x="1066800" y="51562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154" name="AutoShape 24"/>
          <p:cNvSpPr/>
          <p:nvPr/>
        </p:nvSpPr>
        <p:spPr>
          <a:xfrm>
            <a:off x="1625600" y="5257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不变 · 既有优势</a:t>
            </a:r>
            <a:endParaRPr lang="en-US" sz="1100"/>
          </a:p>
        </p:txBody>
      </p:sp>
      <p:sp>
        <p:nvSpPr>
          <p:cNvPr id="155" name="AutoShape 25"/>
          <p:cNvSpPr/>
          <p:nvPr/>
        </p:nvSpPr>
        <p:spPr>
          <a:xfrm>
            <a:off x="1625600" y="55372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id="156" name="AutoShape 26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57" name="AutoShape 27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11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5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生产部署扩展</a:t>
            </a:r>
            <a:endParaRPr lang="en-US" sz="1100" dirty="0"/>
          </a:p>
        </p:txBody>
      </p:sp>
      <p:sp>
        <p:nvSpPr>
          <p:cNvPr id="406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多实例运行改造：本轮先做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runtime-host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水平扩展</a:t>
            </a:r>
            <a:endParaRPr lang="en-US" sz="1100" dirty="0"/>
          </a:p>
        </p:txBody>
      </p:sp>
      <p:cxnSp>
        <p:nvCxnSpPr>
          <p:cNvPr id="407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AutoShape 6"/>
          <p:cNvSpPr/>
          <p:nvPr/>
        </p:nvSpPr>
        <p:spPr>
          <a:xfrm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9" name="AutoShape 7"/>
          <p:cNvSpPr/>
          <p:nvPr/>
        </p:nvSpPr>
        <p:spPr>
          <a:xfrm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0" name="AutoShape 8"/>
          <p:cNvSpPr/>
          <p:nvPr/>
        </p:nvSpPr>
        <p:spPr>
          <a:xfrm>
            <a:off x="1117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A · 本轮主交付</a:t>
            </a:r>
            <a:endParaRPr lang="en-US" sz="1100"/>
          </a:p>
        </p:txBody>
      </p:sp>
      <p:sp>
        <p:nvSpPr>
          <p:cNvPr id="411" name="AutoShape 9"/>
          <p:cNvSpPr/>
          <p:nvPr/>
        </p:nvSpPr>
        <p:spPr>
          <a:xfrm>
            <a:off x="1117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runtime-host 水平扩展</a:t>
            </a:r>
            <a:endParaRPr lang="en-US" sz="1100"/>
          </a:p>
        </p:txBody>
      </p:sp>
      <p:sp>
        <p:nvSpPr>
          <p:cNvPr id="412" name="AutoShape 10"/>
          <p:cNvSpPr/>
          <p:nvPr/>
        </p:nvSpPr>
        <p:spPr>
          <a:xfrm>
            <a:off x="1117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dsh-runtime-host 实例共享命名空间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前置 sticky LB，按 kernel_session_id 一致性哈希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保持单实例，改动面最小</a:t>
            </a:r>
            <a:endParaRPr/>
          </a:p>
        </p:txBody>
      </p:sp>
      <p:sp>
        <p:nvSpPr>
          <p:cNvPr id="413" name="AutoShape 11"/>
          <p:cNvSpPr/>
          <p:nvPr/>
        </p:nvSpPr>
        <p:spPr>
          <a:xfrm>
            <a:off x="1117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复杂度：低 · 无阻塞依赖</a:t>
            </a:r>
            <a:endParaRPr lang="en-US" sz="1100"/>
          </a:p>
        </p:txBody>
      </p:sp>
      <p:sp>
        <p:nvSpPr>
          <p:cNvPr id="414" name="AutoShape 12"/>
          <p:cNvSpPr/>
          <p:nvPr/>
        </p:nvSpPr>
        <p:spPr>
          <a:xfrm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5" name="AutoShape 13"/>
          <p:cNvSpPr/>
          <p:nvPr/>
        </p:nvSpPr>
        <p:spPr>
          <a:xfrm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6" name="AutoShape 14"/>
          <p:cNvSpPr/>
          <p:nvPr/>
        </p:nvSpPr>
        <p:spPr>
          <a:xfrm>
            <a:off x="4673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B · 后续 P4–P5</a:t>
            </a:r>
            <a:endParaRPr lang="en-US" sz="1100"/>
          </a:p>
        </p:txBody>
      </p:sp>
      <p:sp>
        <p:nvSpPr>
          <p:cNvPr id="417" name="AutoShape 15"/>
          <p:cNvSpPr/>
          <p:nvPr/>
        </p:nvSpPr>
        <p:spPr>
          <a:xfrm>
            <a:off x="4673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无状态化</a:t>
            </a:r>
            <a:endParaRPr lang="en-US" sz="1100"/>
          </a:p>
        </p:txBody>
      </p:sp>
      <p:sp>
        <p:nvSpPr>
          <p:cNvPr id="418" name="AutoShape 16"/>
          <p:cNvSpPr/>
          <p:nvPr/>
        </p:nvSpPr>
        <p:spPr>
          <a:xfrm>
            <a:off x="4673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_sessions / _runtimes / 凭据锁外置 Redis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conversation_id 一致性哈希路由实例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Mongo claim_turn 乐观锁已就绪</a:t>
            </a:r>
            <a:endParaRPr/>
          </a:p>
        </p:txBody>
      </p:sp>
      <p:sp>
        <p:nvSpPr>
          <p:cNvPr id="419" name="AutoShape 17"/>
          <p:cNvSpPr/>
          <p:nvPr/>
        </p:nvSpPr>
        <p:spPr>
          <a:xfrm>
            <a:off x="4673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复杂度：中高 · 触发于需要多实例时</a:t>
            </a:r>
            <a:endParaRPr lang="en-US" sz="1100"/>
          </a:p>
        </p:txBody>
      </p:sp>
      <p:sp>
        <p:nvSpPr>
          <p:cNvPr id="420" name="AutoShape 18"/>
          <p:cNvSpPr/>
          <p:nvPr/>
        </p:nvSpPr>
        <p:spPr>
          <a:xfrm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1" name="AutoShape 19"/>
          <p:cNvSpPr/>
          <p:nvPr/>
        </p:nvSpPr>
        <p:spPr>
          <a:xfrm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2" name="AutoShape 20"/>
          <p:cNvSpPr/>
          <p:nvPr/>
        </p:nvSpPr>
        <p:spPr>
          <a:xfrm>
            <a:off x="8229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C · 后续 P6</a:t>
            </a:r>
            <a:endParaRPr lang="en-US" sz="1100"/>
          </a:p>
        </p:txBody>
      </p:sp>
      <p:sp>
        <p:nvSpPr>
          <p:cNvPr id="423" name="AutoShape 21"/>
          <p:cNvSpPr/>
          <p:nvPr/>
        </p:nvSpPr>
        <p:spPr>
          <a:xfrm>
            <a:off x="8229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Browser Agent WS 集群</a:t>
            </a:r>
            <a:endParaRPr lang="en-US" sz="1100"/>
          </a:p>
        </p:txBody>
      </p:sp>
      <p:sp>
        <p:nvSpPr>
          <p:cNvPr id="424" name="AutoShape 22"/>
          <p:cNvSpPr/>
          <p:nvPr/>
        </p:nvSpPr>
        <p:spPr>
          <a:xfrm>
            <a:off x="8229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agent_registry 跨实例改 Redis pub/sub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闭源客户端 WS 重连能力待调研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滚动升级容忍 5–30 秒命令闪断</a:t>
            </a:r>
            <a:endParaRPr/>
          </a:p>
        </p:txBody>
      </p:sp>
      <p:sp>
        <p:nvSpPr>
          <p:cNvPr id="425" name="AutoShape 23"/>
          <p:cNvSpPr/>
          <p:nvPr/>
        </p:nvSpPr>
        <p:spPr>
          <a:xfrm>
            <a:off x="8229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复杂度：高 · 依赖层 B 与调研结论</a:t>
            </a:r>
            <a:endParaRPr lang="en-US" sz="1100"/>
          </a:p>
        </p:txBody>
      </p:sp>
      <p:sp>
        <p:nvSpPr>
          <p:cNvPr id="426" name="AutoShape 24"/>
          <p:cNvSpPr/>
          <p:nvPr/>
        </p:nvSpPr>
        <p:spPr>
          <a:xfrm>
            <a:off x="812800" y="5283200"/>
            <a:ext cx="5207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硬约束：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id="427" name="AutoShape 25"/>
          <p:cNvSpPr/>
          <p:nvPr/>
        </p:nvSpPr>
        <p:spPr>
          <a:xfrm>
            <a:off x="6299200" y="5283200"/>
            <a:ext cx="5080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验收：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id="428" name="AutoShape 26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429" name="AutoShape 27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17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6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标杆场景验证</a:t>
            </a:r>
            <a:endParaRPr lang="en-US" sz="1100" dirty="0"/>
          </a:p>
        </p:txBody>
      </p:sp>
      <p:sp>
        <p:nvSpPr>
          <p:cNvPr id="217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id="218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9" name="AutoShape 6"/>
          <p:cNvSpPr/>
          <p:nvPr/>
        </p:nvSpPr>
        <p:spPr>
          <a:xfrm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0" name="AutoShape 7"/>
          <p:cNvSpPr/>
          <p:nvPr/>
        </p:nvSpPr>
        <p:spPr>
          <a:xfrm>
            <a:off x="11176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案例一 · 单 Skill / 单会话 / 单智能体</a:t>
            </a:r>
            <a:endParaRPr lang="en-US" sz="1100"/>
          </a:p>
        </p:txBody>
      </p:sp>
      <p:sp>
        <p:nvSpPr>
          <p:cNvPr id="221" name="AutoShape 8"/>
          <p:cNvSpPr/>
          <p:nvPr/>
        </p:nvSpPr>
        <p:spPr>
          <a:xfrm>
            <a:off x="11176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客户反馈智能分诊</a:t>
            </a:r>
            <a:endParaRPr lang="en-US" sz="1100"/>
          </a:p>
        </p:txBody>
      </p:sp>
      <p:sp>
        <p:nvSpPr>
          <p:cNvPr id="222" name="AutoShape 9"/>
          <p:cNvSpPr/>
          <p:nvPr/>
        </p:nvSpPr>
        <p:spPr>
          <a:xfrm>
            <a:off x="11176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id="223" name="Connector 10"/>
          <p:cNvCxnSpPr/>
          <p:nvPr/>
        </p:nvCxnSpPr>
        <p:spPr>
          <a:xfrm rot="-9766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AutoShape 11"/>
          <p:cNvSpPr/>
          <p:nvPr/>
        </p:nvSpPr>
        <p:spPr>
          <a:xfrm>
            <a:off x="11176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≤3 分钟</a:t>
            </a:r>
            <a:endParaRPr lang="en-US" sz="1100"/>
          </a:p>
        </p:txBody>
      </p:sp>
      <p:sp>
        <p:nvSpPr>
          <p:cNvPr id="225" name="AutoShape 12"/>
          <p:cNvSpPr/>
          <p:nvPr/>
        </p:nvSpPr>
        <p:spPr>
          <a:xfrm>
            <a:off x="11176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500 条端到端</a:t>
            </a:r>
            <a:endParaRPr lang="en-US" sz="1100"/>
          </a:p>
        </p:txBody>
      </p:sp>
      <p:sp>
        <p:nvSpPr>
          <p:cNvPr id="226" name="AutoShape 13"/>
          <p:cNvSpPr/>
          <p:nvPr/>
        </p:nvSpPr>
        <p:spPr>
          <a:xfrm>
            <a:off x="2667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≥95%</a:t>
            </a:r>
            <a:endParaRPr lang="en-US" sz="1100"/>
          </a:p>
        </p:txBody>
      </p:sp>
      <p:sp>
        <p:nvSpPr>
          <p:cNvPr id="227" name="AutoShape 14"/>
          <p:cNvSpPr/>
          <p:nvPr/>
        </p:nvSpPr>
        <p:spPr>
          <a:xfrm>
            <a:off x="2667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识别召回率</a:t>
            </a:r>
            <a:endParaRPr lang="en-US" sz="1100"/>
          </a:p>
        </p:txBody>
      </p:sp>
      <p:sp>
        <p:nvSpPr>
          <p:cNvPr id="228" name="AutoShape 15"/>
          <p:cNvSpPr/>
          <p:nvPr/>
        </p:nvSpPr>
        <p:spPr>
          <a:xfrm>
            <a:off x="42164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</a:t>
            </a:r>
            <a:endParaRPr lang="en-US" sz="1100"/>
          </a:p>
        </p:txBody>
      </p:sp>
      <p:sp>
        <p:nvSpPr>
          <p:cNvPr id="229" name="AutoShape 16"/>
          <p:cNvSpPr/>
          <p:nvPr/>
        </p:nvSpPr>
        <p:spPr>
          <a:xfrm>
            <a:off x="42164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泄漏率</a:t>
            </a:r>
            <a:endParaRPr lang="en-US" sz="1100"/>
          </a:p>
        </p:txBody>
      </p:sp>
      <p:sp>
        <p:nvSpPr>
          <p:cNvPr id="230" name="AutoShape 17"/>
          <p:cNvSpPr/>
          <p:nvPr/>
        </p:nvSpPr>
        <p:spPr>
          <a:xfrm>
            <a:off x="11176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id="231" name="AutoShape 18"/>
          <p:cNvSpPr/>
          <p:nvPr/>
        </p:nvSpPr>
        <p:spPr>
          <a:xfrm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2" name="AutoShape 19"/>
          <p:cNvSpPr/>
          <p:nvPr/>
        </p:nvSpPr>
        <p:spPr>
          <a:xfrm>
            <a:off x="66040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案例二 · 多 Skill / 多智能体 / DAG graph</a:t>
            </a:r>
            <a:endParaRPr lang="en-US" sz="1100"/>
          </a:p>
        </p:txBody>
      </p:sp>
      <p:sp>
        <p:nvSpPr>
          <p:cNvPr id="233" name="AutoShape 20"/>
          <p:cNvSpPr/>
          <p:nvPr/>
        </p:nvSpPr>
        <p:spPr>
          <a:xfrm>
            <a:off x="66040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</a:t>
            </a:r>
            <a:endParaRPr lang="en-US" sz="1100"/>
          </a:p>
        </p:txBody>
      </p:sp>
      <p:sp>
        <p:nvSpPr>
          <p:cNvPr id="234" name="AutoShape 21"/>
          <p:cNvSpPr/>
          <p:nvPr/>
        </p:nvSpPr>
        <p:spPr>
          <a:xfrm>
            <a:off x="66040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id="235" name="Connector 22"/>
          <p:cNvCxnSpPr/>
          <p:nvPr/>
        </p:nvCxnSpPr>
        <p:spPr>
          <a:xfrm rot="-9766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6" name="AutoShape 23"/>
          <p:cNvSpPr/>
          <p:nvPr/>
        </p:nvSpPr>
        <p:spPr>
          <a:xfrm>
            <a:off x="6604000" y="3556000"/>
            <a:ext cx="1651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≤15 分钟</a:t>
            </a:r>
            <a:endParaRPr lang="en-US" sz="1100"/>
          </a:p>
        </p:txBody>
      </p:sp>
      <p:sp>
        <p:nvSpPr>
          <p:cNvPr id="237" name="AutoShape 24"/>
          <p:cNvSpPr/>
          <p:nvPr/>
        </p:nvSpPr>
        <p:spPr>
          <a:xfrm>
            <a:off x="6604000" y="4089400"/>
            <a:ext cx="1651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标准深度端到端</a:t>
            </a:r>
            <a:endParaRPr lang="en-US" sz="1100"/>
          </a:p>
        </p:txBody>
      </p:sp>
      <p:sp>
        <p:nvSpPr>
          <p:cNvPr id="238" name="AutoShape 25"/>
          <p:cNvSpPr/>
          <p:nvPr/>
        </p:nvSpPr>
        <p:spPr>
          <a:xfrm>
            <a:off x="8382000" y="3556000"/>
            <a:ext cx="127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路</a:t>
            </a:r>
            <a:endParaRPr lang="en-US" sz="1100"/>
          </a:p>
        </p:txBody>
      </p:sp>
      <p:sp>
        <p:nvSpPr>
          <p:cNvPr id="239" name="AutoShape 26"/>
          <p:cNvSpPr/>
          <p:nvPr/>
        </p:nvSpPr>
        <p:spPr>
          <a:xfrm>
            <a:off x="8382000" y="4089400"/>
            <a:ext cx="127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分析节点并行</a:t>
            </a:r>
            <a:endParaRPr lang="en-US" sz="1100"/>
          </a:p>
        </p:txBody>
      </p:sp>
      <p:sp>
        <p:nvSpPr>
          <p:cNvPr id="240" name="AutoShape 27"/>
          <p:cNvSpPr/>
          <p:nvPr/>
        </p:nvSpPr>
        <p:spPr>
          <a:xfrm>
            <a:off x="9779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全追溯</a:t>
            </a:r>
            <a:endParaRPr lang="en-US" sz="1100"/>
          </a:p>
        </p:txBody>
      </p:sp>
      <p:sp>
        <p:nvSpPr>
          <p:cNvPr id="241" name="AutoShape 28"/>
          <p:cNvSpPr/>
          <p:nvPr/>
        </p:nvSpPr>
        <p:spPr>
          <a:xfrm>
            <a:off x="9779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evidence.json</a:t>
            </a:r>
            <a:endParaRPr lang="en-US" sz="1100"/>
          </a:p>
        </p:txBody>
      </p:sp>
      <p:sp>
        <p:nvSpPr>
          <p:cNvPr id="242" name="AutoShape 29"/>
          <p:cNvSpPr/>
          <p:nvPr/>
        </p:nvSpPr>
        <p:spPr>
          <a:xfrm>
            <a:off x="66040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id="243" name="AutoShape 30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选型原则：顺序依赖、共享上下文 → 单 Agent（案例一）；维度可并行、依赖静态 → DAG graph（案例二）；依赖需运行时动态决定 → hybrid。</a:t>
            </a:r>
            <a:endParaRPr lang="en-US" sz="1100"/>
          </a:p>
        </p:txBody>
      </p:sp>
      <p:sp>
        <p:nvSpPr>
          <p:cNvPr id="244" name="AutoShape 3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245" name="AutoShape 32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13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8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标杆场景一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单智能体</a:t>
            </a:r>
            <a:endParaRPr lang="en-US" sz="1100" dirty="0"/>
          </a:p>
        </p:txBody>
      </p:sp>
      <p:sp>
        <p:nvSpPr>
          <p:cNvPr id="249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id="250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AutoShape 6"/>
          <p:cNvSpPr/>
          <p:nvPr/>
        </p:nvSpPr>
        <p:spPr>
          <a:xfrm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2" name="AutoShape 7"/>
          <p:cNvSpPr/>
          <p:nvPr/>
        </p:nvSpPr>
        <p:spPr>
          <a:xfrm>
            <a:off x="1092200" y="19812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痛点</a:t>
            </a:r>
            <a:endParaRPr lang="en-US" sz="1100"/>
          </a:p>
        </p:txBody>
      </p:sp>
      <p:sp>
        <p:nvSpPr>
          <p:cNvPr id="253" name="AutoShape 8"/>
          <p:cNvSpPr/>
          <p:nvPr/>
        </p:nvSpPr>
        <p:spPr>
          <a:xfrm>
            <a:off x="1092200" y="2260600"/>
            <a:ext cx="2997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id="254" name="Connector 9"/>
          <p:cNvCxnSpPr/>
          <p:nvPr/>
        </p:nvCxnSpPr>
        <p:spPr>
          <a:xfrm rot="-14566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5" name="AutoShape 10"/>
          <p:cNvSpPr/>
          <p:nvPr/>
        </p:nvSpPr>
        <p:spPr>
          <a:xfrm>
            <a:off x="1092200" y="35814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一次交互产出</a:t>
            </a:r>
            <a:endParaRPr lang="en-US" sz="1100"/>
          </a:p>
        </p:txBody>
      </p:sp>
      <p:sp>
        <p:nvSpPr>
          <p:cNvPr id="256" name="AutoShape 11"/>
          <p:cNvSpPr/>
          <p:nvPr/>
        </p:nvSpPr>
        <p:spPr>
          <a:xfrm>
            <a:off x="1092200" y="38608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triage_report.md 分诊报告</a:t>
            </a:r>
            <a:endParaRPr lang="en-US" sz="1100"/>
          </a:p>
        </p:txBody>
      </p:sp>
      <p:sp>
        <p:nvSpPr>
          <p:cNvPr id="257" name="AutoShape 12"/>
          <p:cNvSpPr/>
          <p:nvPr/>
        </p:nvSpPr>
        <p:spPr>
          <a:xfrm>
            <a:off x="1092200" y="41910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action_items.csv 跟进清单</a:t>
            </a:r>
            <a:endParaRPr lang="en-US" sz="1100"/>
          </a:p>
        </p:txBody>
      </p:sp>
      <p:sp>
        <p:nvSpPr>
          <p:cNvPr id="258" name="AutoShape 13"/>
          <p:cNvSpPr/>
          <p:nvPr/>
        </p:nvSpPr>
        <p:spPr>
          <a:xfrm>
            <a:off x="1092200" y="45212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P0≥3 自动触发 R1 审批</a:t>
            </a:r>
            <a:endParaRPr lang="en-US" sz="1100"/>
          </a:p>
        </p:txBody>
      </p:sp>
      <p:sp>
        <p:nvSpPr>
          <p:cNvPr id="259" name="AutoShape 14"/>
          <p:cNvSpPr/>
          <p:nvPr/>
        </p:nvSpPr>
        <p:spPr>
          <a:xfrm>
            <a:off x="1092200" y="4978400"/>
            <a:ext cx="29972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id="260" name="AutoShape 15"/>
          <p:cNvSpPr/>
          <p:nvPr/>
        </p:nvSpPr>
        <p:spPr>
          <a:xfrm>
            <a:off x="4724400" y="1778000"/>
            <a:ext cx="665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个顺序 Step · 共享同一批反馈上下文</a:t>
            </a:r>
            <a:endParaRPr lang="en-US" sz="1100"/>
          </a:p>
        </p:txBody>
      </p:sp>
      <p:sp>
        <p:nvSpPr>
          <p:cNvPr id="261" name="AutoShape 16"/>
          <p:cNvSpPr/>
          <p:nvPr/>
        </p:nvSpPr>
        <p:spPr>
          <a:xfrm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2" name="AutoShape 17"/>
          <p:cNvSpPr/>
          <p:nvPr/>
        </p:nvSpPr>
        <p:spPr>
          <a:xfrm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3" name="AutoShape 18"/>
          <p:cNvSpPr/>
          <p:nvPr/>
        </p:nvSpPr>
        <p:spPr>
          <a:xfrm>
            <a:off x="48768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264" name="AutoShape 19"/>
          <p:cNvSpPr/>
          <p:nvPr/>
        </p:nvSpPr>
        <p:spPr>
          <a:xfrm>
            <a:off x="53340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load_feedback</a:t>
            </a:r>
            <a:endParaRPr lang="en-US" sz="1100"/>
          </a:p>
        </p:txBody>
      </p:sp>
      <p:sp>
        <p:nvSpPr>
          <p:cNvPr id="265" name="AutoShape 20"/>
          <p:cNvSpPr/>
          <p:nvPr/>
        </p:nvSpPr>
        <p:spPr>
          <a:xfrm>
            <a:off x="53340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读取 xlsx / csv / pdf / 文本</a:t>
            </a:r>
            <a:endParaRPr lang="en-US" sz="1100"/>
          </a:p>
        </p:txBody>
      </p:sp>
      <p:sp>
        <p:nvSpPr>
          <p:cNvPr id="266" name="AutoShape 21"/>
          <p:cNvSpPr/>
          <p:nvPr/>
        </p:nvSpPr>
        <p:spPr>
          <a:xfrm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7" name="AutoShape 22"/>
          <p:cNvSpPr/>
          <p:nvPr/>
        </p:nvSpPr>
        <p:spPr>
          <a:xfrm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8" name="AutoShape 23"/>
          <p:cNvSpPr/>
          <p:nvPr/>
        </p:nvSpPr>
        <p:spPr>
          <a:xfrm>
            <a:off x="82804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269" name="AutoShape 24"/>
          <p:cNvSpPr/>
          <p:nvPr/>
        </p:nvSpPr>
        <p:spPr>
          <a:xfrm>
            <a:off x="87376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normalize_batch</a:t>
            </a:r>
            <a:endParaRPr lang="en-US" sz="1100"/>
          </a:p>
        </p:txBody>
      </p:sp>
      <p:sp>
        <p:nvSpPr>
          <p:cNvPr id="270" name="AutoShape 25"/>
          <p:cNvSpPr/>
          <p:nvPr/>
        </p:nvSpPr>
        <p:spPr>
          <a:xfrm>
            <a:off x="87376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去重、剔除空条目、字段规范化</a:t>
            </a:r>
            <a:endParaRPr lang="en-US" sz="1100"/>
          </a:p>
        </p:txBody>
      </p:sp>
      <p:sp>
        <p:nvSpPr>
          <p:cNvPr id="271" name="AutoShape 26"/>
          <p:cNvSpPr/>
          <p:nvPr/>
        </p:nvSpPr>
        <p:spPr>
          <a:xfrm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2" name="AutoShape 27"/>
          <p:cNvSpPr/>
          <p:nvPr/>
        </p:nvSpPr>
        <p:spPr>
          <a:xfrm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3" name="AutoShape 28"/>
          <p:cNvSpPr/>
          <p:nvPr/>
        </p:nvSpPr>
        <p:spPr>
          <a:xfrm>
            <a:off x="48768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274" name="AutoShape 29"/>
          <p:cNvSpPr/>
          <p:nvPr/>
        </p:nvSpPr>
        <p:spPr>
          <a:xfrm>
            <a:off x="53340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classify_severity</a:t>
            </a:r>
            <a:endParaRPr lang="en-US" sz="1100"/>
          </a:p>
        </p:txBody>
      </p:sp>
      <p:sp>
        <p:nvSpPr>
          <p:cNvPr id="275" name="AutoShape 30"/>
          <p:cNvSpPr/>
          <p:nvPr/>
        </p:nvSpPr>
        <p:spPr>
          <a:xfrm>
            <a:off x="53340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逐条打 P0–P3 严重度标签</a:t>
            </a:r>
            <a:endParaRPr lang="en-US" sz="1100"/>
          </a:p>
        </p:txBody>
      </p:sp>
      <p:sp>
        <p:nvSpPr>
          <p:cNvPr id="276" name="AutoShape 31"/>
          <p:cNvSpPr/>
          <p:nvPr/>
        </p:nvSpPr>
        <p:spPr>
          <a:xfrm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7" name="AutoShape 32"/>
          <p:cNvSpPr/>
          <p:nvPr/>
        </p:nvSpPr>
        <p:spPr>
          <a:xfrm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8" name="AutoShape 33"/>
          <p:cNvSpPr/>
          <p:nvPr/>
        </p:nvSpPr>
        <p:spPr>
          <a:xfrm>
            <a:off x="82804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279" name="AutoShape 34"/>
          <p:cNvSpPr/>
          <p:nvPr/>
        </p:nvSpPr>
        <p:spPr>
          <a:xfrm>
            <a:off x="87376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categorize_issue</a:t>
            </a:r>
            <a:endParaRPr lang="en-US" sz="1100"/>
          </a:p>
        </p:txBody>
      </p:sp>
      <p:sp>
        <p:nvSpPr>
          <p:cNvPr id="280" name="AutoShape 35"/>
          <p:cNvSpPr/>
          <p:nvPr/>
        </p:nvSpPr>
        <p:spPr>
          <a:xfrm>
            <a:off x="87376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归入登录/数据/计费等 8 大类</a:t>
            </a:r>
            <a:endParaRPr lang="en-US" sz="1100"/>
          </a:p>
        </p:txBody>
      </p:sp>
      <p:sp>
        <p:nvSpPr>
          <p:cNvPr id="281" name="AutoShape 36"/>
          <p:cNvSpPr/>
          <p:nvPr/>
        </p:nvSpPr>
        <p:spPr>
          <a:xfrm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2" name="AutoShape 37"/>
          <p:cNvSpPr/>
          <p:nvPr/>
        </p:nvSpPr>
        <p:spPr>
          <a:xfrm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3" name="AutoShape 38"/>
          <p:cNvSpPr/>
          <p:nvPr/>
        </p:nvSpPr>
        <p:spPr>
          <a:xfrm>
            <a:off x="48768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284" name="AutoShape 39"/>
          <p:cNvSpPr/>
          <p:nvPr/>
        </p:nvSpPr>
        <p:spPr>
          <a:xfrm>
            <a:off x="53340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detect_pii_and_redact</a:t>
            </a:r>
            <a:endParaRPr lang="en-US" sz="1100"/>
          </a:p>
        </p:txBody>
      </p:sp>
      <p:sp>
        <p:nvSpPr>
          <p:cNvPr id="285" name="AutoShape 40"/>
          <p:cNvSpPr/>
          <p:nvPr/>
        </p:nvSpPr>
        <p:spPr>
          <a:xfrm>
            <a:off x="53340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手机号/身份证/银行卡脱敏</a:t>
            </a:r>
            <a:endParaRPr lang="en-US" sz="1100"/>
          </a:p>
        </p:txBody>
      </p:sp>
      <p:sp>
        <p:nvSpPr>
          <p:cNvPr id="286" name="AutoShape 41"/>
          <p:cNvSpPr/>
          <p:nvPr/>
        </p:nvSpPr>
        <p:spPr>
          <a:xfrm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7" name="AutoShape 42"/>
          <p:cNvSpPr/>
          <p:nvPr/>
        </p:nvSpPr>
        <p:spPr>
          <a:xfrm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8" name="AutoShape 43"/>
          <p:cNvSpPr/>
          <p:nvPr/>
        </p:nvSpPr>
        <p:spPr>
          <a:xfrm>
            <a:off x="82804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</a:t>
            </a:r>
            <a:endParaRPr lang="en-US" sz="1100"/>
          </a:p>
        </p:txBody>
      </p:sp>
      <p:sp>
        <p:nvSpPr>
          <p:cNvPr id="289" name="AutoShape 44"/>
          <p:cNvSpPr/>
          <p:nvPr/>
        </p:nvSpPr>
        <p:spPr>
          <a:xfrm>
            <a:off x="87376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rank_action_items</a:t>
            </a:r>
            <a:endParaRPr lang="en-US" sz="1100"/>
          </a:p>
        </p:txBody>
      </p:sp>
      <p:sp>
        <p:nvSpPr>
          <p:cNvPr id="290" name="AutoShape 45"/>
          <p:cNvSpPr/>
          <p:nvPr/>
        </p:nvSpPr>
        <p:spPr>
          <a:xfrm>
            <a:off x="87376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P0+P1 按紧迫度打分排序</a:t>
            </a:r>
            <a:endParaRPr lang="en-US" sz="1100"/>
          </a:p>
        </p:txBody>
      </p:sp>
      <p:sp>
        <p:nvSpPr>
          <p:cNvPr id="291" name="AutoShape 46"/>
          <p:cNvSpPr/>
          <p:nvPr/>
        </p:nvSpPr>
        <p:spPr>
          <a:xfrm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2" name="AutoShape 47"/>
          <p:cNvSpPr/>
          <p:nvPr/>
        </p:nvSpPr>
        <p:spPr>
          <a:xfrm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3" name="AutoShape 48"/>
          <p:cNvSpPr/>
          <p:nvPr/>
        </p:nvSpPr>
        <p:spPr>
          <a:xfrm>
            <a:off x="48768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endParaRPr lang="en-US" sz="1100"/>
          </a:p>
        </p:txBody>
      </p:sp>
      <p:sp>
        <p:nvSpPr>
          <p:cNvPr id="294" name="AutoShape 49"/>
          <p:cNvSpPr/>
          <p:nvPr/>
        </p:nvSpPr>
        <p:spPr>
          <a:xfrm>
            <a:off x="53340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compose_report</a:t>
            </a:r>
            <a:endParaRPr lang="en-US" sz="1100"/>
          </a:p>
        </p:txBody>
      </p:sp>
      <p:sp>
        <p:nvSpPr>
          <p:cNvPr id="295" name="AutoShape 50"/>
          <p:cNvSpPr/>
          <p:nvPr/>
        </p:nvSpPr>
        <p:spPr>
          <a:xfrm>
            <a:off x="53340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生成摘要/P0清单/趋势/建议</a:t>
            </a:r>
            <a:endParaRPr lang="en-US" sz="1100"/>
          </a:p>
        </p:txBody>
      </p:sp>
      <p:sp>
        <p:nvSpPr>
          <p:cNvPr id="296" name="AutoShape 51"/>
          <p:cNvSpPr/>
          <p:nvPr/>
        </p:nvSpPr>
        <p:spPr>
          <a:xfrm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7" name="AutoShape 52"/>
          <p:cNvSpPr/>
          <p:nvPr/>
        </p:nvSpPr>
        <p:spPr>
          <a:xfrm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8" name="AutoShape 53"/>
          <p:cNvSpPr/>
          <p:nvPr/>
        </p:nvSpPr>
        <p:spPr>
          <a:xfrm>
            <a:off x="82804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</a:t>
            </a:r>
            <a:endParaRPr lang="en-US" sz="1100"/>
          </a:p>
        </p:txBody>
      </p:sp>
      <p:sp>
        <p:nvSpPr>
          <p:cNvPr id="299" name="AutoShape 54"/>
          <p:cNvSpPr/>
          <p:nvPr/>
        </p:nvSpPr>
        <p:spPr>
          <a:xfrm>
            <a:off x="87376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trigger_approval_if_p0</a:t>
            </a:r>
            <a:endParaRPr lang="en-US" sz="1100"/>
          </a:p>
        </p:txBody>
      </p:sp>
      <p:sp>
        <p:nvSpPr>
          <p:cNvPr id="300" name="AutoShape 55"/>
          <p:cNvSpPr/>
          <p:nvPr/>
        </p:nvSpPr>
        <p:spPr>
          <a:xfrm>
            <a:off x="87376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P0≥3 触发 R1 审批，否则跳过</a:t>
            </a:r>
            <a:endParaRPr lang="en-US" sz="1100"/>
          </a:p>
        </p:txBody>
      </p:sp>
      <p:sp>
        <p:nvSpPr>
          <p:cNvPr id="301" name="AutoShape 56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为什么不用多智能体：</a:t>
            </a: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id="302" name="AutoShape 57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03" name="AutoShape 58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6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标杆场景二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多智能体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DAG</a:t>
            </a:r>
            <a:endParaRPr lang="en-US" sz="1100" dirty="0"/>
          </a:p>
        </p:txBody>
      </p:sp>
      <p:sp>
        <p:nvSpPr>
          <p:cNvPr id="307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id="308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9" name="AutoShape 6"/>
          <p:cNvSpPr/>
          <p:nvPr/>
        </p:nvSpPr>
        <p:spPr>
          <a:xfrm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0" name="AutoShape 7"/>
          <p:cNvSpPr/>
          <p:nvPr/>
        </p:nvSpPr>
        <p:spPr>
          <a:xfrm>
            <a:off x="4318000" y="1651000"/>
            <a:ext cx="355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supervisor 协调（planner + aggregator）</a:t>
            </a:r>
            <a:endParaRPr lang="en-US" sz="1100"/>
          </a:p>
        </p:txBody>
      </p:sp>
      <p:cxnSp>
        <p:nvCxnSpPr>
          <p:cNvPr id="311" name="Connector 8"/>
          <p:cNvCxnSpPr/>
          <p:nvPr/>
        </p:nvCxnSpPr>
        <p:spPr>
          <a:xfrm rot="5267844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2" name="Connector 9"/>
          <p:cNvCxnSpPr/>
          <p:nvPr/>
        </p:nvCxnSpPr>
        <p:spPr>
          <a:xfrm rot="-5617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3" name="Connector 10"/>
          <p:cNvCxnSpPr/>
          <p:nvPr/>
        </p:nvCxnSpPr>
        <p:spPr>
          <a:xfrm rot="5267844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" name="Connector 11"/>
          <p:cNvCxnSpPr/>
          <p:nvPr/>
        </p:nvCxnSpPr>
        <p:spPr>
          <a:xfrm rot="5267844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5" name="Connector 12"/>
          <p:cNvCxnSpPr/>
          <p:nvPr/>
        </p:nvCxnSpPr>
        <p:spPr>
          <a:xfrm rot="5267844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Connector 13"/>
          <p:cNvCxnSpPr/>
          <p:nvPr/>
        </p:nvCxnSpPr>
        <p:spPr>
          <a:xfrm rot="5267844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7" name="AutoShape 14"/>
          <p:cNvSpPr/>
          <p:nvPr/>
        </p:nvSpPr>
        <p:spPr>
          <a:xfrm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8" name="AutoShape 15"/>
          <p:cNvSpPr/>
          <p:nvPr/>
        </p:nvSpPr>
        <p:spPr>
          <a:xfrm>
            <a:off x="9652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市场情报员</a:t>
            </a:r>
            <a:endParaRPr lang="en-US" sz="1100"/>
          </a:p>
        </p:txBody>
      </p:sp>
      <p:sp>
        <p:nvSpPr>
          <p:cNvPr id="319" name="AutoShape 16"/>
          <p:cNvSpPr/>
          <p:nvPr/>
        </p:nvSpPr>
        <p:spPr>
          <a:xfrm>
            <a:off x="9652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检索 + 时间线新闻、融资、份额</a:t>
            </a:r>
            <a:endParaRPr lang="en-US" sz="1100"/>
          </a:p>
        </p:txBody>
      </p:sp>
      <p:sp>
        <p:nvSpPr>
          <p:cNvPr id="320" name="AutoShape 17"/>
          <p:cNvSpPr/>
          <p:nvPr/>
        </p:nvSpPr>
        <p:spPr>
          <a:xfrm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1" name="AutoShape 18"/>
          <p:cNvSpPr/>
          <p:nvPr/>
        </p:nvSpPr>
        <p:spPr>
          <a:xfrm>
            <a:off x="35560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产品分析师</a:t>
            </a:r>
            <a:endParaRPr lang="en-US" sz="1100"/>
          </a:p>
        </p:txBody>
      </p:sp>
      <p:sp>
        <p:nvSpPr>
          <p:cNvPr id="322" name="AutoShape 19"/>
          <p:cNvSpPr/>
          <p:nvPr/>
        </p:nvSpPr>
        <p:spPr>
          <a:xfrm>
            <a:off x="35560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浏览器抓取官网、功能对比</a:t>
            </a:r>
            <a:endParaRPr lang="en-US" sz="1100"/>
          </a:p>
        </p:txBody>
      </p:sp>
      <p:sp>
        <p:nvSpPr>
          <p:cNvPr id="323" name="AutoShape 20"/>
          <p:cNvSpPr/>
          <p:nvPr/>
        </p:nvSpPr>
        <p:spPr>
          <a:xfrm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4" name="AutoShape 21"/>
          <p:cNvSpPr/>
          <p:nvPr/>
        </p:nvSpPr>
        <p:spPr>
          <a:xfrm>
            <a:off x="61468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财务分析师</a:t>
            </a:r>
            <a:endParaRPr lang="en-US" sz="1100"/>
          </a:p>
        </p:txBody>
      </p:sp>
      <p:sp>
        <p:nvSpPr>
          <p:cNvPr id="325" name="AutoShape 22"/>
          <p:cNvSpPr/>
          <p:nvPr/>
        </p:nvSpPr>
        <p:spPr>
          <a:xfrm>
            <a:off x="6146800" y="3302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定量 + 估值模型</a:t>
            </a:r>
            <a:endParaRPr lang="en-US" sz="1100"/>
          </a:p>
        </p:txBody>
      </p:sp>
      <p:sp>
        <p:nvSpPr>
          <p:cNvPr id="326" name="AutoShape 23"/>
          <p:cNvSpPr/>
          <p:nvPr/>
        </p:nvSpPr>
        <p:spPr>
          <a:xfrm>
            <a:off x="6146800" y="3556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私有公司则条件跳过</a:t>
            </a:r>
            <a:endParaRPr lang="en-US" sz="1100"/>
          </a:p>
        </p:txBody>
      </p:sp>
      <p:sp>
        <p:nvSpPr>
          <p:cNvPr id="327" name="AutoShape 24"/>
          <p:cNvSpPr/>
          <p:nvPr/>
        </p:nvSpPr>
        <p:spPr>
          <a:xfrm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8" name="AutoShape 25"/>
          <p:cNvSpPr/>
          <p:nvPr/>
        </p:nvSpPr>
        <p:spPr>
          <a:xfrm>
            <a:off x="87376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舆情监测员</a:t>
            </a:r>
            <a:endParaRPr lang="en-US" sz="1100"/>
          </a:p>
        </p:txBody>
      </p:sp>
      <p:sp>
        <p:nvSpPr>
          <p:cNvPr id="329" name="AutoShape 26"/>
          <p:cNvSpPr/>
          <p:nvPr/>
        </p:nvSpPr>
        <p:spPr>
          <a:xfrm>
            <a:off x="87376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微博/知乎/Reddit 情感聚类</a:t>
            </a:r>
            <a:endParaRPr lang="en-US" sz="1100"/>
          </a:p>
        </p:txBody>
      </p:sp>
      <p:cxnSp>
        <p:nvCxnSpPr>
          <p:cNvPr id="330" name="Connector 27"/>
          <p:cNvCxnSpPr/>
          <p:nvPr/>
        </p:nvCxnSpPr>
        <p:spPr>
          <a:xfrm rot="5267844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Connector 28"/>
          <p:cNvCxnSpPr/>
          <p:nvPr/>
        </p:nvCxnSpPr>
        <p:spPr>
          <a:xfrm rot="5267844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2" name="Connector 29"/>
          <p:cNvCxnSpPr/>
          <p:nvPr/>
        </p:nvCxnSpPr>
        <p:spPr>
          <a:xfrm rot="5267844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3" name="Connector 30"/>
          <p:cNvCxnSpPr/>
          <p:nvPr/>
        </p:nvCxnSpPr>
        <p:spPr>
          <a:xfrm rot="5267844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4" name="Connector 31"/>
          <p:cNvCxnSpPr/>
          <p:nvPr/>
        </p:nvCxnSpPr>
        <p:spPr>
          <a:xfrm rot="-5617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5" name="Connector 32"/>
          <p:cNvCxnSpPr/>
          <p:nvPr/>
        </p:nvCxnSpPr>
        <p:spPr>
          <a:xfrm rot="5256843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6" name="AutoShape 33"/>
          <p:cNvSpPr/>
          <p:nvPr/>
        </p:nvSpPr>
        <p:spPr>
          <a:xfrm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7" name="AutoShape 34"/>
          <p:cNvSpPr/>
          <p:nvPr/>
        </p:nvSpPr>
        <p:spPr>
          <a:xfrm>
            <a:off x="4191000" y="4470400"/>
            <a:ext cx="3810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report_synthesis 引用四节点 + 综合判断</a:t>
            </a:r>
            <a:endParaRPr lang="en-US" sz="1100"/>
          </a:p>
        </p:txBody>
      </p:sp>
      <p:sp>
        <p:nvSpPr>
          <p:cNvPr id="338" name="AutoShape 35"/>
          <p:cNvSpPr/>
          <p:nvPr/>
        </p:nvSpPr>
        <p:spPr>
          <a:xfrm>
            <a:off x="8128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失败容错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id="339" name="AutoShape 36"/>
          <p:cNvSpPr/>
          <p:nvPr/>
        </p:nvSpPr>
        <p:spPr>
          <a:xfrm>
            <a:off x="44450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降级策略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id="340" name="AutoShape 37"/>
          <p:cNvSpPr/>
          <p:nvPr/>
        </p:nvSpPr>
        <p:spPr>
          <a:xfrm>
            <a:off x="8077200" y="52832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为什么用 graph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id="341" name="AutoShape 38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42" name="AutoShape 39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1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2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3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4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6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7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8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39" name="AutoShape 10"/>
          <p:cNvSpPr/>
          <p:nvPr/>
        </p:nvSpPr>
        <p:spPr>
          <a:xfrm>
            <a:off x="812800" y="1854200"/>
            <a:ext cx="1056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库代码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+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单测全绿，生产接线与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 UI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触点全部闭合从能力走进生产</a:t>
            </a:r>
            <a:endParaRPr lang="en-US" sz="1100" dirty="0"/>
          </a:p>
        </p:txBody>
      </p:sp>
      <p:sp>
        <p:nvSpPr>
          <p:cNvPr id="440" name="AutoShape 11"/>
          <p:cNvSpPr/>
          <p:nvPr/>
        </p:nvSpPr>
        <p:spPr>
          <a:xfrm>
            <a:off x="812800" y="3276600"/>
            <a:ext cx="10566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41" name="AutoShape 12"/>
          <p:cNvSpPr/>
          <p:nvPr/>
        </p:nvSpPr>
        <p:spPr>
          <a:xfrm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2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sz="1200" b="0" i="0" u="none" strike="noStrike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2745</Words>
  <Application>Microsoft Macintosh PowerPoint</Application>
  <PresentationFormat>宽屏</PresentationFormat>
  <Paragraphs>468</Paragraphs>
  <Slides>18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Hiragino Sans GB</vt:lpstr>
      <vt:lpstr>Noto Sans SC</vt:lpstr>
      <vt:lpstr>Songti SC</vt:lpstr>
      <vt:lpstr>Arial</vt:lpstr>
      <vt:lpstr>Office 主题​​</vt:lpstr>
      <vt:lpstr>默认主题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7</cp:revision>
  <dcterms:created xsi:type="dcterms:W3CDTF">2026-10-08T14:24:50Z</dcterms:created>
  <dcterms:modified xsi:type="dcterms:W3CDTF">2026-10-08T07:26:03Z</dcterms:modified>
</cp:coreProperties>
</file>
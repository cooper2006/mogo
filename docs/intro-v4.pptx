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2" r:id="rId3"/>
  </p:sldMasterIdLst>
  <p:notesMasterIdLst>
    <p:notesMasterId r:id="rId22"/>
  </p:notesMasterIdLst>
  <p:sldIdLst>
    <p:sldId id="256" r:id="rId4"/>
    <p:sldId id="257" r:id="rId5"/>
    <p:sldId id="271" r:id="rId6"/>
    <p:sldId id="258" r:id="rId7"/>
    <p:sldId id="259" r:id="rId8"/>
    <p:sldId id="260" r:id="rId9"/>
    <p:sldId id="267" r:id="rId10"/>
    <p:sldId id="261" r:id="rId11"/>
    <p:sldId id="262" r:id="rId12"/>
    <p:sldId id="263" r:id="rId13"/>
    <p:sldId id="264" r:id="rId14"/>
    <p:sldId id="265" r:id="rId15"/>
    <p:sldId id="266" r:id="rId16"/>
    <p:sldId id="272" r:id="rId17"/>
    <p:sldId id="268" r:id="rId18"/>
    <p:sldId id="269" r:id="rId19"/>
    <p:sldId id="270" r:id="rId20"/>
    <p:sldId id="273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5"/>
  </p:normalViewPr>
  <p:slideViewPr>
    <p:cSldViewPr snapToGrid="0">
      <p:cViewPr varScale="1">
        <p:scale>
          <a:sx n="100" d="100"/>
          <a:sy n="100" d="100"/>
        </p:scale>
        <p:origin x="904" y="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开场。本规划依据知识库 7 篇核心文章、与 EntAgent 开源方案的代码级对比，以及 AgentGit 会话级实践。主线是 DSH 管运行、MOGONG 管进企业，聚焦企业级补强的缺口与三阶段路线。</a:t>
            </a:r>
            <a:endParaRPr/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一句话：MOGONG 是 DSH 执行底座加企业层。本材料按已有基线、六大缺口、分级补强、三阶段落地四步展开。</a:t>
            </a:r>
            <a:endParaRPr/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8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8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8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MOGONG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已有九大能力域，从执行底座、知识RAG、多模态理解到部署桌面都已成型。这是后续补强的坚实基线</a:t>
            </a:r>
            <a:r>
              <a:rPr lang="en-US" sz="14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dirty="0"/>
          </a:p>
        </p:txBody>
      </p:sp>
      <p:sp>
        <p:nvSpPr>
          <p:cNvPr id="8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8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8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8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8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与对标方案反向确认，这五块 MOGONG 已经领先，不应重复投入。它们同时也是后续补强的挂载点与安全边界。</a:t>
            </a:r>
            <a:endParaRPr/>
          </a:p>
        </p:txBody>
      </p:sp>
      <p:sp>
        <p:nvSpPr>
          <p:cNvPr id="9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9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9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9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9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六大缺口按优先级分三档。P0 三件是企业入场券，P1 三件解决可靠协作与会话交接，P2 是规模化生态，工作量最大可后置。</a:t>
            </a:r>
            <a:endParaRPr/>
          </a:p>
        </p:txBody>
      </p:sp>
      <p:sp>
        <p:nvSpPr>
          <p:cNvPr id="9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9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0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0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治理风控是 MOGONG 当前最大缺口。Gatekeeper 六层门禁串行放行，配合风险矩阵和细粒度权限码，PII 脱敏同时覆盖运行时和保存分享两个场景。</a:t>
            </a:r>
            <a:endParaRPr/>
          </a:p>
        </p:txBody>
      </p:sp>
      <p:sp>
        <p:nvSpPr>
          <p:cNvPr id="10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0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P0 后两件是生产底座：网关韧性解决 LLM 单点，驾驶舱让成本、使用、质量、趋势四维可观测。两者改动集中、复用现有模块，收益直接。</a:t>
            </a:r>
            <a:endParaRPr/>
          </a:p>
        </p:txBody>
      </p:sp>
      <p:sp>
        <p:nvSpPr>
          <p:cNvPr id="1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P1 三件套：Hooks 先单事件低成本切入，DAG 通用化现有编排，会话与工作流双版本化让工作可交接、可回放。会话级是贯穿多条补强的横切维度。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P2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是规模化生态。Dream</a:t>
            </a:r>
            <a:r>
              <a:rPr lang="en-US" sz="14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Cycle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把会话沉淀成</a:t>
            </a:r>
            <a:r>
              <a:rPr lang="en-US" sz="14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Skill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让平台越用越聪明；右侧清单是其余高阶能力，工作量最大可后置</a:t>
            </a:r>
            <a:r>
              <a:rPr lang="en-US" sz="14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三阶段：1-2 月先把生产底座做扎实，3-6 月做可靠协作与会话交接，6-12 月以上做规模化生态。全程复用现有底座，不推倒重来。</a:t>
            </a:r>
            <a:endParaRPr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落地从 P0 风控开始，网关韧性改动小收益大，Hooks 先单事件验证，用一个标杆场景同时打通 P0 与 P1，始终守住自托管与数据自主。</a:t>
            </a:r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这页讲生产部署的扩展路线，分三层。层 A 是本轮真正交付的：多个 dsh-runtime-host 实例，前面加一个 sticky 负载均衡，按 kernel_session_id 做一致性哈希，保证同一会话总落到同一台 host；chat-api 自己还是单实例，所以改动面很小、风险低。层 B 是后续——等业务真的需要多 chat-api 实例时，再把进程内的 session、runtime 和凭据锁外置到 Redis，这一层目前 Mongo 的乐观锁已经准备好了。层 C 更靠后，涉及桌面端浏览器 Agent 的 WebSocket 跨实例路由，因为客户端是闭源的，重连能力还要先向维护方调研。底部讲两条底线：一是绝不允许同一会话被两个实例同时处理，二是本轮不引入 Celery。验收标准是压测、滚动升级和实例切换续聊。</a:t>
            </a:r>
            <a:endParaRPr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这一页用两个真实业务场景收口前面的能力规划。左边是单智能体场景：客户反馈分诊，任务是顺序依赖的，一批上下文共享，所以不需要多智能体，单 Skill 单会话就能覆盖，把人工每天四到六小时压到三分钟以内。右边是多智能体场景：竞品调研，四个维度数据源互不依赖，可以并行，用 DAG graph 编排，人工两到三周压到十五分钟。两个场景分别验证 P0 治理能力和 P1 编排能力。底部一句话点选型原则：顺序依赖用单 Agent，静态并行用 graph，运行时动态依赖才用 hybrid。</a:t>
            </a:r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案例一是单智能体的标杆。左边讲痛点和产出：每天两三百到五百条反馈，人工要四到六小时，一次交互直接出分诊报告、跟进清单，P0 达到三条以上自动触发 R1 审批。右边是八个顺序步骤：读取、规范化、严重度分级、归类、PII 脱敏、排序、写报告、最后一步按 P0 数量决定是否触发审批。最后一步用 teal 描边突出，因为它是条件分支——P0 不够三条就跳过。底部点题：这个场景为什么不用多智能体，因为所有步骤共享同一批上下文，并行拆出去反而要重建上下文，得不偿失。</a:t>
            </a:r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案例二是多智能体 DAG 的标杆。顶部 supervisor 协调节点，往下扇出四个可并行的分析子 Agent：市场情报、产品分析、财务分析、舆情监测。财务节点特意画成虚线框并标注"私有公司则跳过"，对应条件跳过能力——竞品是私有或子公司没有独立财报时自动跳过。四个节点全部完成后汇聚到报告合成节点，产出带证据追溯的深度报告。底部三列讲工程容错：节点失败指数退避重试、合成节点看完成数决定正常出报告还是降级、以及为什么这里用 graph 而不是 sequential 或 hybrid。整份报告人工两到三周，压到十五分钟以内。</a:t>
            </a:r>
            <a:endParaRPr/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收尾：能力与治理一起补齐，MOGONG 就能从 Demo 走进生产。欢迎通过 GitHub 或邮箱联系，支持私有化部署。</a:t>
            </a:r>
            <a:endParaRPr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  <a:endParaRPr/>
          </a:p>
        </p:txBody>
      </p:sp>
      <p:sp>
        <p:nvSpPr>
          <p:cNvPr id="7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  <a:endParaRPr/>
          </a:p>
        </p:txBody>
      </p:sp>
      <p:sp>
        <p:nvSpPr>
          <p:cNvPr id="7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/>
          </a:p>
        </p:txBody>
      </p:sp>
      <p:sp>
        <p:nvSpPr>
          <p:cNvPr id="7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  <a:endParaRPr/>
          </a:p>
        </p:txBody>
      </p:sp>
      <p:sp>
        <p:nvSpPr>
          <p:cNvPr id="7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15BA87E-0511-403F-8208-00DFF90F47E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  <a:endParaRPr/>
          </a:p>
        </p:txBody>
      </p:sp>
      <p:sp>
        <p:nvSpPr>
          <p:cNvPr id="79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  <a:endParaRPr/>
          </a:p>
        </p:txBody>
      </p:sp>
      <p:sp>
        <p:nvSpPr>
          <p:cNvPr id="80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/>
          </a:p>
        </p:txBody>
      </p:sp>
      <p:sp>
        <p:nvSpPr>
          <p:cNvPr id="81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  <a:endParaRPr/>
          </a:p>
        </p:txBody>
      </p:sp>
      <p:sp>
        <p:nvSpPr>
          <p:cNvPr id="82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85030D2-7057-4DDF-ADB6-784244A9F46D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  <a:endParaRPr/>
          </a:p>
        </p:txBody>
      </p:sp>
      <p:sp>
        <p:nvSpPr>
          <p:cNvPr id="91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  <a:endParaRPr/>
          </a:p>
        </p:txBody>
      </p:sp>
      <p:sp>
        <p:nvSpPr>
          <p:cNvPr id="92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/>
          </a:p>
        </p:txBody>
      </p:sp>
      <p:sp>
        <p:nvSpPr>
          <p:cNvPr id="93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  <a:endParaRPr/>
          </a:p>
        </p:txBody>
      </p:sp>
      <p:sp>
        <p:nvSpPr>
          <p:cNvPr id="94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BC57320-2551-4BE9-A720-62A40845B097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  <a:endParaRPr/>
          </a:p>
        </p:txBody>
      </p:sp>
      <p:sp>
        <p:nvSpPr>
          <p:cNvPr id="97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  <a:endParaRPr/>
          </a:p>
        </p:txBody>
      </p:sp>
      <p:sp>
        <p:nvSpPr>
          <p:cNvPr id="98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  <a:endParaRPr/>
          </a:p>
        </p:txBody>
      </p:sp>
      <p:sp>
        <p:nvSpPr>
          <p:cNvPr id="99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/>
          </a:p>
        </p:txBody>
      </p:sp>
      <p:sp>
        <p:nvSpPr>
          <p:cNvPr id="100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  <a:endParaRPr/>
          </a:p>
        </p:txBody>
      </p:sp>
      <p:sp>
        <p:nvSpPr>
          <p:cNvPr id="101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C39A48B-50F7-4D84-82CD-399437939692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  <a:endParaRPr/>
          </a:p>
        </p:txBody>
      </p:sp>
      <p:sp>
        <p:nvSpPr>
          <p:cNvPr id="104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  <a:endParaRPr/>
          </a:p>
        </p:txBody>
      </p:sp>
      <p:sp>
        <p:nvSpPr>
          <p:cNvPr id="105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  <a:endParaRPr/>
          </a:p>
        </p:txBody>
      </p:sp>
      <p:sp>
        <p:nvSpPr>
          <p:cNvPr id="106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  <a:endParaRPr/>
          </a:p>
        </p:txBody>
      </p:sp>
      <p:sp>
        <p:nvSpPr>
          <p:cNvPr id="107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  <a:endParaRPr/>
          </a:p>
        </p:txBody>
      </p:sp>
      <p:sp>
        <p:nvSpPr>
          <p:cNvPr id="108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/>
          </a:p>
        </p:txBody>
      </p:sp>
      <p:sp>
        <p:nvSpPr>
          <p:cNvPr id="109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  <a:endParaRPr/>
          </a:p>
        </p:txBody>
      </p:sp>
      <p:sp>
        <p:nvSpPr>
          <p:cNvPr id="110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9FA9FBFF-0D92-41E1-B35A-E21CA4CFE281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  <a:endParaRPr/>
          </a:p>
        </p:txBody>
      </p:sp>
      <p:sp>
        <p:nvSpPr>
          <p:cNvPr id="11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/>
          </a:p>
        </p:txBody>
      </p:sp>
      <p:sp>
        <p:nvSpPr>
          <p:cNvPr id="11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  <a:endParaRPr/>
          </a:p>
        </p:txBody>
      </p:sp>
      <p:sp>
        <p:nvSpPr>
          <p:cNvPr id="11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85338049-1806-452C-A362-26701BAB893B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/>
          </a:p>
        </p:txBody>
      </p:sp>
      <p:sp>
        <p:nvSpPr>
          <p:cNvPr id="118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  <a:endParaRPr/>
          </a:p>
        </p:txBody>
      </p:sp>
      <p:sp>
        <p:nvSpPr>
          <p:cNvPr id="119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88D52007-29D0-447E-9725-1CE814C31172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  <a:endParaRPr/>
          </a:p>
        </p:txBody>
      </p:sp>
      <p:sp>
        <p:nvSpPr>
          <p:cNvPr id="122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  <a:endParaRPr/>
          </a:p>
        </p:txBody>
      </p:sp>
      <p:sp>
        <p:nvSpPr>
          <p:cNvPr id="123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  <a:endParaRPr/>
          </a:p>
        </p:txBody>
      </p:sp>
      <p:sp>
        <p:nvSpPr>
          <p:cNvPr id="124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/>
          </a:p>
        </p:txBody>
      </p:sp>
      <p:sp>
        <p:nvSpPr>
          <p:cNvPr id="125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  <a:endParaRPr/>
          </a:p>
        </p:txBody>
      </p:sp>
      <p:sp>
        <p:nvSpPr>
          <p:cNvPr id="126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02DCA6F-A194-4080-9006-BB4DBB3F9D28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  <a:endParaRPr/>
          </a:p>
        </p:txBody>
      </p:sp>
      <p:sp>
        <p:nvSpPr>
          <p:cNvPr id="129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30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  <a:endParaRPr/>
          </a:p>
        </p:txBody>
      </p:sp>
      <p:sp>
        <p:nvSpPr>
          <p:cNvPr id="131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/>
          </a:p>
        </p:txBody>
      </p:sp>
      <p:sp>
        <p:nvSpPr>
          <p:cNvPr id="132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  <a:endParaRPr/>
          </a:p>
        </p:txBody>
      </p:sp>
      <p:sp>
        <p:nvSpPr>
          <p:cNvPr id="133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82A30D4-F5E0-497D-B220-A50D264F9C0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  <a:endParaRPr/>
          </a:p>
        </p:txBody>
      </p:sp>
      <p:sp>
        <p:nvSpPr>
          <p:cNvPr id="136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  <a:endParaRPr/>
          </a:p>
        </p:txBody>
      </p:sp>
      <p:sp>
        <p:nvSpPr>
          <p:cNvPr id="137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/>
          </a:p>
        </p:txBody>
      </p:sp>
      <p:sp>
        <p:nvSpPr>
          <p:cNvPr id="138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  <a:endParaRPr/>
          </a:p>
        </p:txBody>
      </p:sp>
      <p:sp>
        <p:nvSpPr>
          <p:cNvPr id="139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88FBF1B-F6B4-419F-BC46-C3FC20252815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  <a:endParaRPr/>
          </a:p>
        </p:txBody>
      </p:sp>
      <p:sp>
        <p:nvSpPr>
          <p:cNvPr id="85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  <a:endParaRPr/>
          </a:p>
        </p:txBody>
      </p:sp>
      <p:sp>
        <p:nvSpPr>
          <p:cNvPr id="86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/>
          </a:p>
        </p:txBody>
      </p:sp>
      <p:sp>
        <p:nvSpPr>
          <p:cNvPr id="87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  <a:endParaRPr/>
          </a:p>
        </p:txBody>
      </p:sp>
      <p:sp>
        <p:nvSpPr>
          <p:cNvPr id="88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2328B29-69DA-442B-B55E-BF232F432050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  <a:endParaRPr/>
          </a:p>
        </p:txBody>
      </p:sp>
      <p:sp>
        <p:nvSpPr>
          <p:cNvPr id="10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  <a:endParaRPr/>
          </a:p>
        </p:txBody>
      </p:sp>
      <p:sp>
        <p:nvSpPr>
          <p:cNvPr id="11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/>
          </a:p>
        </p:txBody>
      </p:sp>
      <p:sp>
        <p:nvSpPr>
          <p:cNvPr id="12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  <a:endParaRPr/>
          </a:p>
        </p:txBody>
      </p:sp>
      <p:sp>
        <p:nvSpPr>
          <p:cNvPr id="13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8B99EBBD-B61C-45CA-BD84-CCB153DD23F0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5" name="Connector 2"/>
          <p:cNvCxnSpPr/>
          <p:nvPr/>
        </p:nvCxnSpPr>
        <p:spPr>
          <a:xfrm rot="-3579">
            <a:off x="3" y="1708150"/>
            <a:ext cx="1219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6" name="Connector 3"/>
          <p:cNvCxnSpPr/>
          <p:nvPr/>
        </p:nvCxnSpPr>
        <p:spPr>
          <a:xfrm rot="-3579">
            <a:off x="3" y="3422650"/>
            <a:ext cx="1219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7" name="Connector 4"/>
          <p:cNvCxnSpPr/>
          <p:nvPr/>
        </p:nvCxnSpPr>
        <p:spPr>
          <a:xfrm rot="-3579">
            <a:off x="3" y="5137150"/>
            <a:ext cx="1219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8" name="Connector 5"/>
          <p:cNvCxnSpPr/>
          <p:nvPr/>
        </p:nvCxnSpPr>
        <p:spPr>
          <a:xfrm rot="5393633">
            <a:off x="-381000" y="3422656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9" name="Connector 6"/>
          <p:cNvCxnSpPr/>
          <p:nvPr/>
        </p:nvCxnSpPr>
        <p:spPr>
          <a:xfrm rot="5393633">
            <a:off x="2667000" y="3422656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0" name="Connector 7"/>
          <p:cNvCxnSpPr/>
          <p:nvPr/>
        </p:nvCxnSpPr>
        <p:spPr>
          <a:xfrm rot="5393633">
            <a:off x="5715000" y="3422656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1" name="AutoShape 8"/>
          <p:cNvSpPr/>
          <p:nvPr/>
        </p:nvSpPr>
        <p:spPr>
          <a:xfrm>
            <a:off x="812800" y="736600"/>
            <a:ext cx="711200" cy="762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52" name="AutoShape 9"/>
          <p:cNvSpPr/>
          <p:nvPr/>
        </p:nvSpPr>
        <p:spPr>
          <a:xfrm>
            <a:off x="812800" y="9398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A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墨攻基于DSH的企业级智能体平台</a:t>
            </a:r>
            <a:endParaRPr lang="en-US" sz="1100"/>
          </a:p>
        </p:txBody>
      </p:sp>
      <p:sp>
        <p:nvSpPr>
          <p:cNvPr id="453" name="AutoShape 10"/>
          <p:cNvSpPr/>
          <p:nvPr/>
        </p:nvSpPr>
        <p:spPr>
          <a:xfrm>
            <a:off x="812800" y="2489200"/>
            <a:ext cx="105664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从能力底座到生产就绪</a:t>
            </a:r>
            <a:endParaRPr lang="en-US" sz="1100"/>
          </a:p>
        </p:txBody>
      </p:sp>
      <p:sp>
        <p:nvSpPr>
          <p:cNvPr id="454" name="AutoShape 11"/>
          <p:cNvSpPr/>
          <p:nvPr/>
        </p:nvSpPr>
        <p:spPr>
          <a:xfrm>
            <a:off x="812800" y="3251200"/>
            <a:ext cx="1056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>
                    <a:alpha val="70196"/>
                  </a:srgbClr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企业级智能体功能补强 · 按 SDD 全流程落地进展</a:t>
            </a:r>
            <a:endParaRPr lang="en-US" sz="1100"/>
          </a:p>
        </p:txBody>
      </p:sp>
      <p:sp>
        <p:nvSpPr>
          <p:cNvPr id="455" name="AutoShape 12"/>
          <p:cNvSpPr/>
          <p:nvPr/>
        </p:nvSpPr>
        <p:spPr>
          <a:xfrm>
            <a:off x="812800" y="4191000"/>
            <a:ext cx="1524000" cy="381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56" name="AutoShape 13"/>
          <p:cNvSpPr/>
          <p:nvPr/>
        </p:nvSpPr>
        <p:spPr>
          <a:xfrm>
            <a:off x="9652000" y="62484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FFFFFF">
                    <a:alpha val="45098"/>
                  </a:srgbClr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2026-10-13 · v0.2.1 已发布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AutoShape 2"/>
          <p:cNvSpPr/>
          <p:nvPr/>
        </p:nvSpPr>
        <p:spPr>
          <a:xfrm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59" name="AutoShape 3"/>
          <p:cNvSpPr/>
          <p:nvPr/>
        </p:nvSpPr>
        <p:spPr>
          <a:xfrm>
            <a:off x="990600" y="5588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01 · 定位与主线</a:t>
            </a:r>
            <a:endParaRPr lang="en-US" sz="1100"/>
          </a:p>
        </p:txBody>
      </p:sp>
      <p:sp>
        <p:nvSpPr>
          <p:cNvPr id="460" name="AutoShape 4"/>
          <p:cNvSpPr/>
          <p:nvPr/>
        </p:nvSpPr>
        <p:spPr>
          <a:xfrm>
            <a:off x="812800" y="838200"/>
            <a:ext cx="1056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 dirty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DSH </a:t>
            </a:r>
            <a:r>
              <a:rPr lang="en-US" sz="2600" b="1" i="0" u="none" strike="noStrike" dirty="0" err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管运行，墨攻管进企业</a:t>
            </a:r>
            <a:endParaRPr lang="en-US" sz="1100" dirty="0"/>
          </a:p>
        </p:txBody>
      </p:sp>
      <p:cxnSp>
        <p:nvCxnSpPr>
          <p:cNvPr id="461" name="Connector 5"/>
          <p:cNvCxnSpPr/>
          <p:nvPr/>
        </p:nvCxnSpPr>
        <p:spPr>
          <a:xfrm rot="-4131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2" name="AutoShape 6"/>
          <p:cNvSpPr/>
          <p:nvPr/>
        </p:nvSpPr>
        <p:spPr>
          <a:xfrm>
            <a:off x="812800" y="1778000"/>
            <a:ext cx="3810000" cy="3556000"/>
          </a:xfrm>
          <a:prstGeom prst="roundRect">
            <a:avLst>
              <a:gd name="adj" fmla="val 3571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63" name="AutoShape 7"/>
          <p:cNvSpPr/>
          <p:nvPr/>
        </p:nvSpPr>
        <p:spPr>
          <a:xfrm>
            <a:off x="1092200" y="2032000"/>
            <a:ext cx="3251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D4B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一句话定位</a:t>
            </a:r>
            <a:endParaRPr lang="en-US" sz="1100"/>
          </a:p>
        </p:txBody>
      </p:sp>
      <p:sp>
        <p:nvSpPr>
          <p:cNvPr id="464" name="AutoShape 8"/>
          <p:cNvSpPr/>
          <p:nvPr/>
        </p:nvSpPr>
        <p:spPr>
          <a:xfrm>
            <a:off x="1092200" y="2438400"/>
            <a:ext cx="3251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墨攻 = DSH Runtime（执行底座）+ 墨攻企业层（进入生产）</a:t>
            </a:r>
            <a:endParaRPr lang="en-US" sz="1100"/>
          </a:p>
        </p:txBody>
      </p:sp>
      <p:sp>
        <p:nvSpPr>
          <p:cNvPr id="465" name="AutoShape 9"/>
          <p:cNvSpPr/>
          <p:nvPr/>
        </p:nvSpPr>
        <p:spPr>
          <a:xfrm>
            <a:off x="1092200" y="3657600"/>
            <a:ext cx="508000" cy="381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66" name="AutoShape 10"/>
          <p:cNvSpPr/>
          <p:nvPr/>
        </p:nvSpPr>
        <p:spPr>
          <a:xfrm>
            <a:off x="1092200" y="3860800"/>
            <a:ext cx="3251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E2E8F0">
                    <a:alpha val="74902"/>
                  </a:srgbClr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在执行底座、文档与内容生成、多形态 Agent、SkillHub、自托管部署上已是较完整起点；本次不推倒重来，只补缺口。</a:t>
            </a:r>
            <a:endParaRPr lang="en-US" sz="1100"/>
          </a:p>
        </p:txBody>
      </p:sp>
      <p:sp>
        <p:nvSpPr>
          <p:cNvPr id="467" name="AutoShape 11"/>
          <p:cNvSpPr/>
          <p:nvPr/>
        </p:nvSpPr>
        <p:spPr>
          <a:xfrm>
            <a:off x="5029200" y="17780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本材料按四步回答</a:t>
            </a:r>
            <a:endParaRPr lang="en-US" sz="1100"/>
          </a:p>
        </p:txBody>
      </p:sp>
      <p:sp>
        <p:nvSpPr>
          <p:cNvPr id="468" name="AutoShape 12"/>
          <p:cNvSpPr/>
          <p:nvPr/>
        </p:nvSpPr>
        <p:spPr>
          <a:xfrm>
            <a:off x="5029200" y="2260600"/>
            <a:ext cx="6350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69" name="AutoShape 13"/>
          <p:cNvSpPr/>
          <p:nvPr/>
        </p:nvSpPr>
        <p:spPr>
          <a:xfrm>
            <a:off x="5257800" y="2260600"/>
            <a:ext cx="50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A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01</a:t>
            </a:r>
            <a:endParaRPr lang="en-US" sz="1100"/>
          </a:p>
        </p:txBody>
      </p:sp>
      <p:sp>
        <p:nvSpPr>
          <p:cNvPr id="470" name="AutoShape 14"/>
          <p:cNvSpPr/>
          <p:nvPr/>
        </p:nvSpPr>
        <p:spPr>
          <a:xfrm>
            <a:off x="5867400" y="2260600"/>
            <a:ext cx="533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已有哪些能力，哪些已领先、不重复投入</a:t>
            </a:r>
            <a:endParaRPr lang="en-US" sz="1100"/>
          </a:p>
        </p:txBody>
      </p:sp>
      <p:sp>
        <p:nvSpPr>
          <p:cNvPr id="471" name="AutoShape 15"/>
          <p:cNvSpPr/>
          <p:nvPr/>
        </p:nvSpPr>
        <p:spPr>
          <a:xfrm>
            <a:off x="5029200" y="3048000"/>
            <a:ext cx="6350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72" name="AutoShape 16"/>
          <p:cNvSpPr/>
          <p:nvPr/>
        </p:nvSpPr>
        <p:spPr>
          <a:xfrm>
            <a:off x="5257800" y="3048000"/>
            <a:ext cx="50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A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02</a:t>
            </a:r>
            <a:endParaRPr lang="en-US" sz="1100"/>
          </a:p>
        </p:txBody>
      </p:sp>
      <p:sp>
        <p:nvSpPr>
          <p:cNvPr id="473" name="AutoShape 17"/>
          <p:cNvSpPr/>
          <p:nvPr/>
        </p:nvSpPr>
        <p:spPr>
          <a:xfrm>
            <a:off x="5867400" y="3048000"/>
            <a:ext cx="533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与 EntAgent / AgentGit 对比，缺哪六处</a:t>
            </a:r>
            <a:endParaRPr lang="en-US" sz="1100"/>
          </a:p>
        </p:txBody>
      </p:sp>
      <p:sp>
        <p:nvSpPr>
          <p:cNvPr id="474" name="AutoShape 18"/>
          <p:cNvSpPr/>
          <p:nvPr/>
        </p:nvSpPr>
        <p:spPr>
          <a:xfrm>
            <a:off x="5029200" y="3835400"/>
            <a:ext cx="6350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75" name="AutoShape 19"/>
          <p:cNvSpPr/>
          <p:nvPr/>
        </p:nvSpPr>
        <p:spPr>
          <a:xfrm>
            <a:off x="5257800" y="3835400"/>
            <a:ext cx="50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A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03</a:t>
            </a:r>
            <a:endParaRPr lang="en-US" sz="1100"/>
          </a:p>
        </p:txBody>
      </p:sp>
      <p:sp>
        <p:nvSpPr>
          <p:cNvPr id="476" name="AutoShape 20"/>
          <p:cNvSpPr/>
          <p:nvPr/>
        </p:nvSpPr>
        <p:spPr>
          <a:xfrm>
            <a:off x="5867400" y="3835400"/>
            <a:ext cx="533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按 P0 / P1 / P2 优先级逐项补强什么</a:t>
            </a:r>
            <a:endParaRPr lang="en-US" sz="1100"/>
          </a:p>
        </p:txBody>
      </p:sp>
      <p:sp>
        <p:nvSpPr>
          <p:cNvPr id="477" name="AutoShape 21"/>
          <p:cNvSpPr/>
          <p:nvPr/>
        </p:nvSpPr>
        <p:spPr>
          <a:xfrm>
            <a:off x="5029200" y="4622800"/>
            <a:ext cx="6350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78" name="AutoShape 22"/>
          <p:cNvSpPr/>
          <p:nvPr/>
        </p:nvSpPr>
        <p:spPr>
          <a:xfrm>
            <a:off x="5257800" y="4622800"/>
            <a:ext cx="50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A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04</a:t>
            </a:r>
            <a:endParaRPr lang="en-US" sz="1100"/>
          </a:p>
        </p:txBody>
      </p:sp>
      <p:sp>
        <p:nvSpPr>
          <p:cNvPr id="479" name="AutoShape 23"/>
          <p:cNvSpPr/>
          <p:nvPr/>
        </p:nvSpPr>
        <p:spPr>
          <a:xfrm>
            <a:off x="5867400" y="4622800"/>
            <a:ext cx="533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三阶段多久落地、各交付什么</a:t>
            </a:r>
            <a:endParaRPr lang="en-US" sz="1100"/>
          </a:p>
        </p:txBody>
      </p:sp>
      <p:sp>
        <p:nvSpPr>
          <p:cNvPr id="480" name="AutoShape 24"/>
          <p:cNvSpPr/>
          <p:nvPr/>
        </p:nvSpPr>
        <p:spPr>
          <a:xfrm>
            <a:off x="812800" y="64516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墨攻 · 企业级智能体平台</a:t>
            </a:r>
            <a:endParaRPr lang="en-US" sz="1100"/>
          </a:p>
        </p:txBody>
      </p:sp>
      <p:sp>
        <p:nvSpPr>
          <p:cNvPr id="481" name="AutoShape 25"/>
          <p:cNvSpPr/>
          <p:nvPr/>
        </p:nvSpPr>
        <p:spPr>
          <a:xfrm>
            <a:off x="10617200" y="64516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zh-CN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圆角矩形 343"/>
          <p:cNvSpPr/>
          <p:nvPr/>
        </p:nvSpPr>
        <p:spPr>
          <a:xfrm>
            <a:off x="812800" y="533400"/>
            <a:ext cx="50800" cy="279400"/>
          </a:xfrm>
          <a:prstGeom prst="roundRect">
            <a:avLst>
              <a:gd name="adj" fmla="val 4376"/>
            </a:avLst>
          </a:prstGeom>
          <a:solidFill>
            <a:srgbClr val="10B9A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5" name="矩形 344"/>
          <p:cNvSpPr/>
          <p:nvPr/>
        </p:nvSpPr>
        <p:spPr>
          <a:xfrm>
            <a:off x="812800" y="1447800"/>
            <a:ext cx="10566400" cy="12700"/>
          </a:xfrm>
          <a:prstGeom prst="rect">
            <a:avLst/>
          </a:prstGeom>
          <a:solidFill>
            <a:srgbClr val="DEE0E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6" name="圆角矩形 345"/>
          <p:cNvSpPr/>
          <p:nvPr/>
        </p:nvSpPr>
        <p:spPr>
          <a:xfrm>
            <a:off x="812800" y="1676400"/>
            <a:ext cx="10566400" cy="3632200"/>
          </a:xfrm>
          <a:prstGeom prst="roundRect">
            <a:avLst>
              <a:gd name="adj" fmla="val 43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47" name="圆角矩形 346"/>
          <p:cNvSpPr/>
          <p:nvPr/>
        </p:nvSpPr>
        <p:spPr>
          <a:xfrm>
            <a:off x="1016000" y="1879600"/>
            <a:ext cx="1600200" cy="279400"/>
          </a:xfrm>
          <a:prstGeom prst="roundRect">
            <a:avLst>
              <a:gd name="adj" fmla="val 4376"/>
            </a:avLst>
          </a:prstGeom>
          <a:solidFill>
            <a:srgbClr val="0F172A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348" name="圆角矩形 347"/>
          <p:cNvSpPr/>
          <p:nvPr/>
        </p:nvSpPr>
        <p:spPr>
          <a:xfrm>
            <a:off x="812800" y="2489200"/>
            <a:ext cx="2006600" cy="26162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49" name="圆角矩形 348"/>
          <p:cNvSpPr/>
          <p:nvPr/>
        </p:nvSpPr>
        <p:spPr>
          <a:xfrm>
            <a:off x="1016000" y="3378200"/>
            <a:ext cx="1600200" cy="228600"/>
          </a:xfrm>
          <a:prstGeom prst="roundRect">
            <a:avLst>
              <a:gd name="adj" fmla="val 4376"/>
            </a:avLst>
          </a:prstGeom>
          <a:solidFill>
            <a:srgbClr val="10B9A9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350" name="圆角矩形 349"/>
          <p:cNvSpPr/>
          <p:nvPr/>
        </p:nvSpPr>
        <p:spPr>
          <a:xfrm>
            <a:off x="1016000" y="3759200"/>
            <a:ext cx="1600200" cy="228600"/>
          </a:xfrm>
          <a:prstGeom prst="roundRect">
            <a:avLst>
              <a:gd name="adj" fmla="val 4376"/>
            </a:avLst>
          </a:prstGeom>
          <a:solidFill>
            <a:srgbClr val="10B9A9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351" name="圆角矩形 350"/>
          <p:cNvSpPr/>
          <p:nvPr/>
        </p:nvSpPr>
        <p:spPr>
          <a:xfrm>
            <a:off x="1016000" y="4140200"/>
            <a:ext cx="1600200" cy="228600"/>
          </a:xfrm>
          <a:prstGeom prst="roundRect">
            <a:avLst>
              <a:gd name="adj" fmla="val 4376"/>
            </a:avLst>
          </a:prstGeom>
          <a:solidFill>
            <a:srgbClr val="10B9A9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352" name="圆角矩形 351"/>
          <p:cNvSpPr/>
          <p:nvPr/>
        </p:nvSpPr>
        <p:spPr>
          <a:xfrm>
            <a:off x="1016000" y="4521200"/>
            <a:ext cx="1600200" cy="228600"/>
          </a:xfrm>
          <a:prstGeom prst="roundRect">
            <a:avLst>
              <a:gd name="adj" fmla="val 4376"/>
            </a:avLst>
          </a:prstGeom>
          <a:solidFill>
            <a:srgbClr val="10B9A9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353" name="圆角矩形 352"/>
          <p:cNvSpPr/>
          <p:nvPr/>
        </p:nvSpPr>
        <p:spPr>
          <a:xfrm>
            <a:off x="3175000" y="2489200"/>
            <a:ext cx="2489200" cy="26162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54" name="圆角矩形 353"/>
          <p:cNvSpPr/>
          <p:nvPr/>
        </p:nvSpPr>
        <p:spPr>
          <a:xfrm>
            <a:off x="3378200" y="2641600"/>
            <a:ext cx="2082800" cy="50800"/>
          </a:xfrm>
          <a:prstGeom prst="roundRect">
            <a:avLst>
              <a:gd name="adj" fmla="val 4376"/>
            </a:avLst>
          </a:prstGeom>
          <a:solidFill>
            <a:srgbClr val="10B9A9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355" name="圆角矩形 354"/>
          <p:cNvSpPr/>
          <p:nvPr/>
        </p:nvSpPr>
        <p:spPr>
          <a:xfrm>
            <a:off x="3378200" y="2946400"/>
            <a:ext cx="2082800" cy="736600"/>
          </a:xfrm>
          <a:prstGeom prst="roundRect">
            <a:avLst>
              <a:gd name="adj" fmla="val 437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56" name="圆角矩形 355"/>
          <p:cNvSpPr/>
          <p:nvPr/>
        </p:nvSpPr>
        <p:spPr>
          <a:xfrm>
            <a:off x="3378200" y="3835400"/>
            <a:ext cx="2082800" cy="558800"/>
          </a:xfrm>
          <a:prstGeom prst="roundRect">
            <a:avLst>
              <a:gd name="adj" fmla="val 437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57" name="圆角矩形 356"/>
          <p:cNvSpPr/>
          <p:nvPr/>
        </p:nvSpPr>
        <p:spPr>
          <a:xfrm>
            <a:off x="3378200" y="4521200"/>
            <a:ext cx="2082800" cy="381000"/>
          </a:xfrm>
          <a:prstGeom prst="roundRect">
            <a:avLst>
              <a:gd name="adj" fmla="val 437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58" name="圆角矩形 357"/>
          <p:cNvSpPr/>
          <p:nvPr/>
        </p:nvSpPr>
        <p:spPr>
          <a:xfrm>
            <a:off x="6019800" y="2489200"/>
            <a:ext cx="2489200" cy="26162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59" name="圆角矩形 358"/>
          <p:cNvSpPr/>
          <p:nvPr/>
        </p:nvSpPr>
        <p:spPr>
          <a:xfrm>
            <a:off x="6223000" y="2641600"/>
            <a:ext cx="2082800" cy="50800"/>
          </a:xfrm>
          <a:prstGeom prst="roundRect">
            <a:avLst>
              <a:gd name="adj" fmla="val 4376"/>
            </a:avLst>
          </a:prstGeom>
          <a:solidFill>
            <a:srgbClr val="0F172A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360" name="圆角矩形 359"/>
          <p:cNvSpPr/>
          <p:nvPr/>
        </p:nvSpPr>
        <p:spPr>
          <a:xfrm>
            <a:off x="6223000" y="2946400"/>
            <a:ext cx="2082800" cy="736600"/>
          </a:xfrm>
          <a:prstGeom prst="roundRect">
            <a:avLst>
              <a:gd name="adj" fmla="val 437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61" name="圆角矩形 360"/>
          <p:cNvSpPr/>
          <p:nvPr/>
        </p:nvSpPr>
        <p:spPr>
          <a:xfrm>
            <a:off x="6223000" y="3835400"/>
            <a:ext cx="2082800" cy="558800"/>
          </a:xfrm>
          <a:prstGeom prst="roundRect">
            <a:avLst>
              <a:gd name="adj" fmla="val 437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62" name="圆角矩形 361"/>
          <p:cNvSpPr/>
          <p:nvPr/>
        </p:nvSpPr>
        <p:spPr>
          <a:xfrm>
            <a:off x="6223000" y="4521200"/>
            <a:ext cx="2082800" cy="381000"/>
          </a:xfrm>
          <a:prstGeom prst="roundRect">
            <a:avLst>
              <a:gd name="adj" fmla="val 437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63" name="圆角矩形 362"/>
          <p:cNvSpPr/>
          <p:nvPr/>
        </p:nvSpPr>
        <p:spPr>
          <a:xfrm>
            <a:off x="8864600" y="2489200"/>
            <a:ext cx="2514600" cy="26162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64" name="圆角矩形 363"/>
          <p:cNvSpPr/>
          <p:nvPr/>
        </p:nvSpPr>
        <p:spPr>
          <a:xfrm>
            <a:off x="9067800" y="2641600"/>
            <a:ext cx="2108200" cy="50800"/>
          </a:xfrm>
          <a:prstGeom prst="roundRect">
            <a:avLst>
              <a:gd name="adj" fmla="val 4376"/>
            </a:avLst>
          </a:prstGeom>
          <a:solidFill>
            <a:srgbClr val="7C3AED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365" name="圆角矩形 364"/>
          <p:cNvSpPr/>
          <p:nvPr/>
        </p:nvSpPr>
        <p:spPr>
          <a:xfrm>
            <a:off x="9067800" y="2946400"/>
            <a:ext cx="2108200" cy="736600"/>
          </a:xfrm>
          <a:prstGeom prst="roundRect">
            <a:avLst>
              <a:gd name="adj" fmla="val 4376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66" name="圆角矩形 365"/>
          <p:cNvSpPr/>
          <p:nvPr/>
        </p:nvSpPr>
        <p:spPr>
          <a:xfrm>
            <a:off x="9067800" y="3835400"/>
            <a:ext cx="2108200" cy="558800"/>
          </a:xfrm>
          <a:prstGeom prst="roundRect">
            <a:avLst>
              <a:gd name="adj" fmla="val 4376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67" name="圆角矩形 366"/>
          <p:cNvSpPr/>
          <p:nvPr/>
        </p:nvSpPr>
        <p:spPr>
          <a:xfrm>
            <a:off x="9067800" y="4521200"/>
            <a:ext cx="2108200" cy="381000"/>
          </a:xfrm>
          <a:prstGeom prst="roundRect">
            <a:avLst>
              <a:gd name="adj" fmla="val 4376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68" name="圆角矩形 367"/>
          <p:cNvSpPr/>
          <p:nvPr/>
        </p:nvSpPr>
        <p:spPr>
          <a:xfrm>
            <a:off x="812800" y="5511800"/>
            <a:ext cx="10566400" cy="6604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69" name="圆角矩形 368"/>
          <p:cNvSpPr/>
          <p:nvPr/>
        </p:nvSpPr>
        <p:spPr>
          <a:xfrm>
            <a:off x="1066800" y="5664200"/>
            <a:ext cx="1422400" cy="355600"/>
          </a:xfrm>
          <a:prstGeom prst="roundRect">
            <a:avLst>
              <a:gd name="adj" fmla="val 4376"/>
            </a:avLst>
          </a:prstGeom>
          <a:solidFill>
            <a:srgbClr val="10B9A9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370" name="直线连接符 369"/>
          <p:cNvSpPr/>
          <p:nvPr/>
        </p:nvSpPr>
        <p:spPr>
          <a:xfrm>
            <a:off x="2844800" y="3797300"/>
            <a:ext cx="2794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 anchor="ctr"/>
          <a:lstStyle/>
          <a:p>
            <a:endParaRPr/>
          </a:p>
        </p:txBody>
      </p:sp>
      <p:sp>
        <p:nvSpPr>
          <p:cNvPr id="371" name="直线连接符 370"/>
          <p:cNvSpPr/>
          <p:nvPr/>
        </p:nvSpPr>
        <p:spPr>
          <a:xfrm>
            <a:off x="5689600" y="3797300"/>
            <a:ext cx="2794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 anchor="ctr"/>
          <a:lstStyle/>
          <a:p>
            <a:endParaRPr/>
          </a:p>
        </p:txBody>
      </p:sp>
      <p:sp>
        <p:nvSpPr>
          <p:cNvPr id="372" name="直线连接符 371"/>
          <p:cNvSpPr/>
          <p:nvPr/>
        </p:nvSpPr>
        <p:spPr>
          <a:xfrm>
            <a:off x="8534400" y="3797300"/>
            <a:ext cx="2794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 anchor="ctr"/>
          <a:lstStyle/>
          <a:p>
            <a:endParaRPr/>
          </a:p>
        </p:txBody>
      </p:sp>
      <p:sp>
        <p:nvSpPr>
          <p:cNvPr id="373" name="直线连接符 372"/>
          <p:cNvSpPr/>
          <p:nvPr/>
        </p:nvSpPr>
        <p:spPr>
          <a:xfrm>
            <a:off x="2819400" y="2159000"/>
            <a:ext cx="0" cy="279400"/>
          </a:xfrm>
          <a:prstGeom prst="line">
            <a:avLst/>
          </a:prstGeom>
          <a:noFill/>
          <a:ln w="19050">
            <a:solidFill>
              <a:srgbClr val="10B9A9"/>
            </a:solidFill>
            <a:prstDash val="solid"/>
            <a:tailEnd type="triangle"/>
          </a:ln>
        </p:spPr>
        <p:txBody>
          <a:bodyPr anchor="ctr"/>
          <a:lstStyle/>
          <a:p>
            <a:endParaRPr/>
          </a:p>
        </p:txBody>
      </p:sp>
      <p:sp>
        <p:nvSpPr>
          <p:cNvPr id="374" name="直线连接符 373"/>
          <p:cNvSpPr/>
          <p:nvPr/>
        </p:nvSpPr>
        <p:spPr>
          <a:xfrm>
            <a:off x="4419600" y="5130800"/>
            <a:ext cx="0" cy="330200"/>
          </a:xfrm>
          <a:prstGeom prst="line">
            <a:avLst/>
          </a:prstGeom>
          <a:noFill/>
          <a:ln w="19050">
            <a:solidFill>
              <a:srgbClr val="10B9A9"/>
            </a:solidFill>
            <a:prstDash val="solid"/>
            <a:tailEnd type="triangle"/>
          </a:ln>
        </p:spPr>
        <p:txBody>
          <a:bodyPr anchor="ctr"/>
          <a:lstStyle/>
          <a:p>
            <a:endParaRPr/>
          </a:p>
        </p:txBody>
      </p:sp>
      <p:sp>
        <p:nvSpPr>
          <p:cNvPr id="375" name="矩形 374"/>
          <p:cNvSpPr/>
          <p:nvPr/>
        </p:nvSpPr>
        <p:spPr>
          <a:xfrm>
            <a:off x="990600" y="55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>
                <a:solidFill>
                  <a:srgbClr val="0D9488"/>
                </a:solidFill>
                <a:latin typeface="Hiragino Sans GB"/>
                <a:ea typeface="Hiragino Sans GB"/>
              </a:rPr>
              <a:t>02 · 架构总览</a:t>
            </a:r>
            <a:endParaRPr/>
          </a:p>
        </p:txBody>
      </p:sp>
      <p:sp>
        <p:nvSpPr>
          <p:cNvPr id="376" name="矩形 375"/>
          <p:cNvSpPr/>
          <p:nvPr/>
        </p:nvSpPr>
        <p:spPr>
          <a:xfrm>
            <a:off x="812800" y="8382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600">
                <a:solidFill>
                  <a:srgbClr val="0F172A"/>
                </a:solidFill>
                <a:latin typeface="Hiragino Sans GB"/>
                <a:ea typeface="Hiragino Sans GB"/>
              </a:rPr>
              <a:t>DSH 执行底座 + 墨攻企业层，四层分工与关键挂载点</a:t>
            </a:r>
            <a:endParaRPr/>
          </a:p>
        </p:txBody>
      </p:sp>
      <p:sp>
        <p:nvSpPr>
          <p:cNvPr id="377" name="矩形 376"/>
          <p:cNvSpPr/>
          <p:nvPr/>
        </p:nvSpPr>
        <p:spPr>
          <a:xfrm>
            <a:off x="1016000" y="18796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100">
                <a:solidFill>
                  <a:srgbClr val="FFFFFF"/>
                </a:solidFill>
                <a:latin typeface="Hiragino Sans GB"/>
                <a:ea typeface="Hiragino Sans GB"/>
              </a:rPr>
              <a:t>接入层</a:t>
            </a:r>
            <a:endParaRPr/>
          </a:p>
        </p:txBody>
      </p:sp>
      <p:sp>
        <p:nvSpPr>
          <p:cNvPr id="378" name="矩形 377"/>
          <p:cNvSpPr/>
          <p:nvPr/>
        </p:nvSpPr>
        <p:spPr>
          <a:xfrm>
            <a:off x="1016000" y="2209800"/>
            <a:ext cx="1600200" cy="203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900">
                <a:solidFill>
                  <a:srgbClr val="94A3B8"/>
                </a:solidFill>
                <a:latin typeface="Hiragino Sans GB"/>
                <a:ea typeface="Hiragino Sans GB"/>
              </a:rPr>
              <a:t>谁在用</a:t>
            </a:r>
            <a:endParaRPr/>
          </a:p>
        </p:txBody>
      </p:sp>
      <p:sp>
        <p:nvSpPr>
          <p:cNvPr id="379" name="矩形 378"/>
          <p:cNvSpPr/>
          <p:nvPr/>
        </p:nvSpPr>
        <p:spPr>
          <a:xfrm>
            <a:off x="1016000" y="337820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100" dirty="0">
                <a:solidFill>
                  <a:srgbClr val="FFFFFF"/>
                </a:solidFill>
                <a:latin typeface="Hiragino Sans GB"/>
                <a:ea typeface="Hiragino Sans GB"/>
              </a:rPr>
              <a:t>user-web</a:t>
            </a:r>
            <a:endParaRPr dirty="0"/>
          </a:p>
        </p:txBody>
      </p:sp>
      <p:sp>
        <p:nvSpPr>
          <p:cNvPr id="380" name="矩形 379"/>
          <p:cNvSpPr/>
          <p:nvPr/>
        </p:nvSpPr>
        <p:spPr>
          <a:xfrm>
            <a:off x="1016000" y="375920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100">
                <a:solidFill>
                  <a:srgbClr val="FFFFFF"/>
                </a:solidFill>
                <a:latin typeface="Hiragino Sans GB"/>
                <a:ea typeface="Hiragino Sans GB"/>
              </a:rPr>
              <a:t>admin-web</a:t>
            </a:r>
            <a:endParaRPr/>
          </a:p>
        </p:txBody>
      </p:sp>
      <p:sp>
        <p:nvSpPr>
          <p:cNvPr id="381" name="矩形 380"/>
          <p:cNvSpPr/>
          <p:nvPr/>
        </p:nvSpPr>
        <p:spPr>
          <a:xfrm>
            <a:off x="1016000" y="414020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100">
                <a:solidFill>
                  <a:srgbClr val="FFFFFF"/>
                </a:solidFill>
                <a:latin typeface="Hiragino Sans GB"/>
                <a:ea typeface="Hiragino Sans GB"/>
              </a:rPr>
              <a:t>Desktop</a:t>
            </a:r>
            <a:endParaRPr/>
          </a:p>
        </p:txBody>
      </p:sp>
      <p:sp>
        <p:nvSpPr>
          <p:cNvPr id="382" name="矩形 381"/>
          <p:cNvSpPr/>
          <p:nvPr/>
        </p:nvSpPr>
        <p:spPr>
          <a:xfrm>
            <a:off x="1016000" y="452120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100">
                <a:solidFill>
                  <a:srgbClr val="FFFFFF"/>
                </a:solidFill>
                <a:latin typeface="Hiragino Sans GB"/>
                <a:ea typeface="Hiragino Sans GB"/>
              </a:rPr>
              <a:t>多 IM / A2A</a:t>
            </a:r>
            <a:endParaRPr/>
          </a:p>
        </p:txBody>
      </p:sp>
      <p:sp>
        <p:nvSpPr>
          <p:cNvPr id="383" name="矩形 382"/>
          <p:cNvSpPr/>
          <p:nvPr/>
        </p:nvSpPr>
        <p:spPr>
          <a:xfrm>
            <a:off x="3378200" y="2679700"/>
            <a:ext cx="20828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300" dirty="0">
                <a:solidFill>
                  <a:srgbClr val="0F172A"/>
                </a:solidFill>
                <a:latin typeface="Hiragino Sans GB"/>
                <a:ea typeface="Hiragino Sans GB"/>
              </a:rPr>
              <a:t>编排层  chat-api</a:t>
            </a:r>
            <a:endParaRPr dirty="0"/>
          </a:p>
        </p:txBody>
      </p:sp>
      <p:sp>
        <p:nvSpPr>
          <p:cNvPr id="384" name="矩形 383"/>
          <p:cNvSpPr/>
          <p:nvPr/>
        </p:nvSpPr>
        <p:spPr>
          <a:xfrm>
            <a:off x="3378200" y="3073400"/>
            <a:ext cx="2082800" cy="228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000">
                <a:solidFill>
                  <a:srgbClr val="64748B"/>
                </a:solidFill>
                <a:latin typeface="Hiragino Sans GB"/>
                <a:ea typeface="Hiragino Sans GB"/>
              </a:rPr>
              <a:t>FastAPI · 会话 / DAG 编排</a:t>
            </a:r>
            <a:endParaRPr/>
          </a:p>
        </p:txBody>
      </p:sp>
      <p:sp>
        <p:nvSpPr>
          <p:cNvPr id="385" name="矩形 384"/>
          <p:cNvSpPr/>
          <p:nvPr/>
        </p:nvSpPr>
        <p:spPr>
          <a:xfrm>
            <a:off x="3378200" y="32766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000">
                <a:solidFill>
                  <a:srgbClr val="64748B"/>
                </a:solidFill>
                <a:latin typeface="Hiragino Sans GB"/>
                <a:ea typeface="Hiragino Sans GB"/>
              </a:rPr>
              <a:t>Hooks 五事件 · 任务准入
多智能体与子智能体调度</a:t>
            </a:r>
            <a:endParaRPr/>
          </a:p>
        </p:txBody>
      </p:sp>
      <p:sp>
        <p:nvSpPr>
          <p:cNvPr id="386" name="矩形 385"/>
          <p:cNvSpPr/>
          <p:nvPr/>
        </p:nvSpPr>
        <p:spPr>
          <a:xfrm>
            <a:off x="3378200" y="3962400"/>
            <a:ext cx="2082800" cy="228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000">
                <a:solidFill>
                  <a:srgbClr val="475569"/>
                </a:solidFill>
                <a:latin typeface="Hiragino Sans GB"/>
                <a:ea typeface="Hiragino Sans GB"/>
              </a:rPr>
              <a:t>LLM 网关（故障转移 · 降级 · 计量）</a:t>
            </a:r>
            <a:endParaRPr/>
          </a:p>
        </p:txBody>
      </p:sp>
      <p:sp>
        <p:nvSpPr>
          <p:cNvPr id="387" name="矩形 386"/>
          <p:cNvSpPr/>
          <p:nvPr/>
        </p:nvSpPr>
        <p:spPr>
          <a:xfrm>
            <a:off x="3378200" y="4533900"/>
            <a:ext cx="2082800" cy="381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900" dirty="0">
                <a:solidFill>
                  <a:srgbClr val="047857"/>
                </a:solidFill>
                <a:latin typeface="Hiragino Sans GB"/>
                <a:ea typeface="Hiragino Sans GB"/>
              </a:rPr>
              <a:t>挂载：RBAC 码 · 审批 · 配额 · 审计</a:t>
            </a:r>
            <a:endParaRPr dirty="0"/>
          </a:p>
        </p:txBody>
      </p:sp>
      <p:sp>
        <p:nvSpPr>
          <p:cNvPr id="388" name="矩形 387"/>
          <p:cNvSpPr/>
          <p:nvPr/>
        </p:nvSpPr>
        <p:spPr>
          <a:xfrm>
            <a:off x="6223000" y="2679700"/>
            <a:ext cx="20828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300" dirty="0">
                <a:solidFill>
                  <a:srgbClr val="0F172A"/>
                </a:solidFill>
                <a:latin typeface="Hiragino Sans GB"/>
                <a:ea typeface="Hiragino Sans GB"/>
              </a:rPr>
              <a:t>治理层  admin-api</a:t>
            </a:r>
            <a:endParaRPr dirty="0"/>
          </a:p>
        </p:txBody>
      </p:sp>
      <p:sp>
        <p:nvSpPr>
          <p:cNvPr id="389" name="矩形 388"/>
          <p:cNvSpPr/>
          <p:nvPr/>
        </p:nvSpPr>
        <p:spPr>
          <a:xfrm>
            <a:off x="6223000" y="3073400"/>
            <a:ext cx="2082800" cy="228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000">
                <a:solidFill>
                  <a:srgbClr val="64748B"/>
                </a:solidFill>
                <a:latin typeface="Hiragino Sans GB"/>
                <a:ea typeface="Hiragino Sans GB"/>
              </a:rPr>
              <a:t>Gatekeeper 六层串行门禁</a:t>
            </a:r>
            <a:endParaRPr/>
          </a:p>
        </p:txBody>
      </p:sp>
      <p:sp>
        <p:nvSpPr>
          <p:cNvPr id="390" name="矩形 389"/>
          <p:cNvSpPr/>
          <p:nvPr/>
        </p:nvSpPr>
        <p:spPr>
          <a:xfrm>
            <a:off x="6223000" y="32766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000">
                <a:solidFill>
                  <a:srgbClr val="64748B"/>
                </a:solidFill>
                <a:latin typeface="Hiragino Sans GB"/>
                <a:ea typeface="Hiragino Sans GB"/>
              </a:rPr>
              <a:t>身份 → RBAC → 脱敏 → 审批
→ 配额 → 审计（R4 红线不可覆盖）</a:t>
            </a:r>
            <a:endParaRPr/>
          </a:p>
        </p:txBody>
      </p:sp>
      <p:sp>
        <p:nvSpPr>
          <p:cNvPr id="391" name="矩形 390"/>
          <p:cNvSpPr/>
          <p:nvPr/>
        </p:nvSpPr>
        <p:spPr>
          <a:xfrm>
            <a:off x="6223000" y="3962400"/>
            <a:ext cx="2082800" cy="228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000">
                <a:solidFill>
                  <a:srgbClr val="475569"/>
                </a:solidFill>
                <a:latin typeface="Hiragino Sans GB"/>
                <a:ea typeface="Hiragino Sans GB"/>
              </a:rPr>
              <a:t>R0–R4 风险 × L1–L5 自主矩阵</a:t>
            </a:r>
            <a:endParaRPr/>
          </a:p>
        </p:txBody>
      </p:sp>
      <p:sp>
        <p:nvSpPr>
          <p:cNvPr id="392" name="矩形 391"/>
          <p:cNvSpPr/>
          <p:nvPr/>
        </p:nvSpPr>
        <p:spPr>
          <a:xfrm>
            <a:off x="6223000" y="4521200"/>
            <a:ext cx="2082800" cy="3937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900" dirty="0">
                <a:solidFill>
                  <a:srgbClr val="1D4ED8"/>
                </a:solidFill>
                <a:latin typeface="Hiragino Sans GB"/>
                <a:ea typeface="Hiragino Sans GB"/>
              </a:rPr>
              <a:t>fail-closed 默认拒绝</a:t>
            </a:r>
            <a:endParaRPr dirty="0"/>
          </a:p>
        </p:txBody>
      </p:sp>
      <p:sp>
        <p:nvSpPr>
          <p:cNvPr id="393" name="矩形 392"/>
          <p:cNvSpPr/>
          <p:nvPr/>
        </p:nvSpPr>
        <p:spPr>
          <a:xfrm>
            <a:off x="9067800" y="26797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300">
                <a:solidFill>
                  <a:srgbClr val="0F172A"/>
                </a:solidFill>
                <a:latin typeface="Hiragino Sans GB"/>
                <a:ea typeface="Hiragino Sans GB"/>
              </a:rPr>
              <a:t>执行底座  DSH</a:t>
            </a:r>
            <a:endParaRPr/>
          </a:p>
        </p:txBody>
      </p:sp>
      <p:sp>
        <p:nvSpPr>
          <p:cNvPr id="394" name="矩形 393"/>
          <p:cNvSpPr/>
          <p:nvPr/>
        </p:nvSpPr>
        <p:spPr>
          <a:xfrm>
            <a:off x="9067800" y="3073400"/>
            <a:ext cx="2108200" cy="228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000">
                <a:solidFill>
                  <a:srgbClr val="64748B"/>
                </a:solidFill>
                <a:latin typeface="Hiragino Sans GB"/>
                <a:ea typeface="Hiragino Sans GB"/>
              </a:rPr>
              <a:t>dsh-runtime-host（Node）</a:t>
            </a:r>
            <a:endParaRPr/>
          </a:p>
        </p:txBody>
      </p:sp>
      <p:sp>
        <p:nvSpPr>
          <p:cNvPr id="395" name="矩形 394"/>
          <p:cNvSpPr/>
          <p:nvPr/>
        </p:nvSpPr>
        <p:spPr>
          <a:xfrm>
            <a:off x="9067800" y="3276600"/>
            <a:ext cx="2108200" cy="355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000">
                <a:solidFill>
                  <a:srgbClr val="64748B"/>
                </a:solidFill>
                <a:latin typeface="Hiragino Sans GB"/>
                <a:ea typeface="Hiragino Sans GB"/>
              </a:rPr>
              <a:t>任务规划 · 工具调用 · Skill
子智能体 · 受控执行</a:t>
            </a:r>
            <a:endParaRPr/>
          </a:p>
        </p:txBody>
      </p:sp>
      <p:sp>
        <p:nvSpPr>
          <p:cNvPr id="396" name="矩形 395"/>
          <p:cNvSpPr/>
          <p:nvPr/>
        </p:nvSpPr>
        <p:spPr>
          <a:xfrm>
            <a:off x="9067800" y="3962400"/>
            <a:ext cx="2108200" cy="228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000">
                <a:solidFill>
                  <a:srgbClr val="475569"/>
                </a:solidFill>
                <a:latin typeface="Hiragino Sans GB"/>
                <a:ea typeface="Hiragino Sans GB"/>
              </a:rPr>
              <a:t>MCP 工具桥 · 模型网关</a:t>
            </a:r>
            <a:endParaRPr/>
          </a:p>
        </p:txBody>
      </p:sp>
      <p:sp>
        <p:nvSpPr>
          <p:cNvPr id="397" name="矩形 396"/>
          <p:cNvSpPr/>
          <p:nvPr/>
        </p:nvSpPr>
        <p:spPr>
          <a:xfrm>
            <a:off x="9067800" y="4648200"/>
            <a:ext cx="2108200" cy="203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900">
                <a:solidFill>
                  <a:srgbClr val="6D28D9"/>
                </a:solidFill>
                <a:latin typeface="Hiragino Sans GB"/>
                <a:ea typeface="Hiragino Sans GB"/>
              </a:rPr>
              <a:t>水平扩展：sticky 路由</a:t>
            </a:r>
            <a:endParaRPr/>
          </a:p>
        </p:txBody>
      </p:sp>
      <p:sp>
        <p:nvSpPr>
          <p:cNvPr id="398" name="矩形 397"/>
          <p:cNvSpPr/>
          <p:nvPr/>
        </p:nvSpPr>
        <p:spPr>
          <a:xfrm>
            <a:off x="1066800" y="5664200"/>
            <a:ext cx="1422400" cy="355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100" dirty="0">
                <a:solidFill>
                  <a:srgbClr val="FFFFFF"/>
                </a:solidFill>
                <a:latin typeface="Hiragino Sans GB"/>
                <a:ea typeface="Hiragino Sans GB"/>
              </a:rPr>
              <a:t>数据与知识</a:t>
            </a:r>
            <a:endParaRPr dirty="0"/>
          </a:p>
        </p:txBody>
      </p:sp>
      <p:sp>
        <p:nvSpPr>
          <p:cNvPr id="399" name="矩形 398"/>
          <p:cNvSpPr/>
          <p:nvPr/>
        </p:nvSpPr>
        <p:spPr>
          <a:xfrm>
            <a:off x="2692400" y="5524500"/>
            <a:ext cx="1905000" cy="6477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200" dirty="0">
                <a:solidFill>
                  <a:srgbClr val="0F172A"/>
                </a:solidFill>
                <a:latin typeface="Hiragino Sans GB"/>
                <a:ea typeface="Hiragino Sans GB"/>
              </a:rPr>
              <a:t>MongoDB · Redis · Weaviate</a:t>
            </a:r>
            <a:endParaRPr dirty="0"/>
          </a:p>
        </p:txBody>
      </p:sp>
      <p:sp>
        <p:nvSpPr>
          <p:cNvPr id="400" name="矩形 399"/>
          <p:cNvSpPr/>
          <p:nvPr/>
        </p:nvSpPr>
        <p:spPr>
          <a:xfrm>
            <a:off x="5080000" y="5765800"/>
            <a:ext cx="6146800" cy="203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000" dirty="0">
                <a:solidFill>
                  <a:srgbClr val="64748B"/>
                </a:solidFill>
                <a:latin typeface="Hiragino Sans GB"/>
                <a:ea typeface="Hiragino Sans GB"/>
              </a:rPr>
              <a:t>会话与绑定 · 凭据 · 事件流 · 多租户隔离· 上下文寻址· 向量检索与知识图谱</a:t>
            </a:r>
            <a:endParaRPr dirty="0"/>
          </a:p>
        </p:txBody>
      </p:sp>
      <p:sp>
        <p:nvSpPr>
          <p:cNvPr id="401" name="矩形 400"/>
          <p:cNvSpPr/>
          <p:nvPr/>
        </p:nvSpPr>
        <p:spPr>
          <a:xfrm>
            <a:off x="8128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94A3B8"/>
                </a:solidFill>
                <a:latin typeface="Hiragino Sans GB"/>
                <a:ea typeface="Hiragino Sans GB"/>
              </a:rPr>
              <a:t>墨攻 · 企业级智能体平台</a:t>
            </a:r>
            <a:endParaRPr/>
          </a:p>
        </p:txBody>
      </p:sp>
      <p:sp>
        <p:nvSpPr>
          <p:cNvPr id="402" name="矩形 401"/>
          <p:cNvSpPr/>
          <p:nvPr/>
        </p:nvSpPr>
        <p:spPr>
          <a:xfrm>
            <a:off x="10160000" y="64516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94A3B8"/>
                </a:solidFill>
                <a:latin typeface="Hiragino Sans GB"/>
                <a:ea typeface="Hiragino Sans GB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AutoShape 2"/>
          <p:cNvSpPr/>
          <p:nvPr/>
        </p:nvSpPr>
        <p:spPr>
          <a:xfrm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84" name="AutoShape 3"/>
          <p:cNvSpPr/>
          <p:nvPr/>
        </p:nvSpPr>
        <p:spPr>
          <a:xfrm>
            <a:off x="990600" y="5588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02 · 现状 — 已有基线</a:t>
            </a:r>
            <a:endParaRPr lang="en-US" sz="1100"/>
          </a:p>
        </p:txBody>
      </p:sp>
      <p:sp>
        <p:nvSpPr>
          <p:cNvPr id="485" name="AutoShape 4"/>
          <p:cNvSpPr/>
          <p:nvPr/>
        </p:nvSpPr>
        <p:spPr>
          <a:xfrm>
            <a:off x="812800" y="838200"/>
            <a:ext cx="1056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墨攻已具备九大能力域，执行与内容生成完整</a:t>
            </a:r>
            <a:endParaRPr lang="en-US" sz="1100"/>
          </a:p>
        </p:txBody>
      </p:sp>
      <p:cxnSp>
        <p:nvCxnSpPr>
          <p:cNvPr id="486" name="Connector 5"/>
          <p:cNvCxnSpPr/>
          <p:nvPr/>
        </p:nvCxnSpPr>
        <p:spPr>
          <a:xfrm rot="-4131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7" name="AutoShape 6"/>
          <p:cNvSpPr/>
          <p:nvPr/>
        </p:nvSpPr>
        <p:spPr>
          <a:xfrm>
            <a:off x="812800" y="1752600"/>
            <a:ext cx="3378200" cy="1041400"/>
          </a:xfrm>
          <a:prstGeom prst="roundRect">
            <a:avLst>
              <a:gd name="adj" fmla="val 1219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88" name="AutoShape 7"/>
          <p:cNvSpPr/>
          <p:nvPr/>
        </p:nvSpPr>
        <p:spPr>
          <a:xfrm>
            <a:off x="1041400" y="1905000"/>
            <a:ext cx="297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Agent Runtime</a:t>
            </a:r>
            <a:endParaRPr lang="en-US" sz="1100"/>
          </a:p>
        </p:txBody>
      </p:sp>
      <p:sp>
        <p:nvSpPr>
          <p:cNvPr id="489" name="AutoShape 8"/>
          <p:cNvSpPr/>
          <p:nvPr/>
        </p:nvSpPr>
        <p:spPr>
          <a:xfrm>
            <a:off x="1041400" y="2184400"/>
            <a:ext cx="297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DSH 原生：任务规划、工具调用、Skill、子智能体、受控执行</a:t>
            </a:r>
            <a:endParaRPr lang="en-US" sz="1100"/>
          </a:p>
        </p:txBody>
      </p:sp>
      <p:sp>
        <p:nvSpPr>
          <p:cNvPr id="490" name="AutoShape 9"/>
          <p:cNvSpPr/>
          <p:nvPr/>
        </p:nvSpPr>
        <p:spPr>
          <a:xfrm>
            <a:off x="4394200" y="1752600"/>
            <a:ext cx="3378200" cy="1041400"/>
          </a:xfrm>
          <a:prstGeom prst="roundRect">
            <a:avLst>
              <a:gd name="adj" fmla="val 1219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91" name="AutoShape 10"/>
          <p:cNvSpPr/>
          <p:nvPr/>
        </p:nvSpPr>
        <p:spPr>
          <a:xfrm>
            <a:off x="4622800" y="1905000"/>
            <a:ext cx="297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企业知识 / RAG</a:t>
            </a:r>
            <a:endParaRPr lang="en-US" sz="1100"/>
          </a:p>
        </p:txBody>
      </p:sp>
      <p:sp>
        <p:nvSpPr>
          <p:cNvPr id="492" name="AutoShape 11"/>
          <p:cNvSpPr/>
          <p:nvPr/>
        </p:nvSpPr>
        <p:spPr>
          <a:xfrm>
            <a:off x="4622800" y="2184400"/>
            <a:ext cx="297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内部+公开检索、多轮研究、保留引用、可分享个人知识库</a:t>
            </a:r>
            <a:endParaRPr lang="en-US" sz="1100"/>
          </a:p>
        </p:txBody>
      </p:sp>
      <p:sp>
        <p:nvSpPr>
          <p:cNvPr id="493" name="AutoShape 12"/>
          <p:cNvSpPr/>
          <p:nvPr/>
        </p:nvSpPr>
        <p:spPr>
          <a:xfrm>
            <a:off x="7975600" y="1752600"/>
            <a:ext cx="3378200" cy="1041400"/>
          </a:xfrm>
          <a:prstGeom prst="roundRect">
            <a:avLst>
              <a:gd name="adj" fmla="val 1219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94" name="AutoShape 13"/>
          <p:cNvSpPr/>
          <p:nvPr/>
        </p:nvSpPr>
        <p:spPr>
          <a:xfrm>
            <a:off x="8204200" y="1905000"/>
            <a:ext cx="297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多模态理解</a:t>
            </a:r>
            <a:endParaRPr lang="en-US" sz="1100"/>
          </a:p>
        </p:txBody>
      </p:sp>
      <p:sp>
        <p:nvSpPr>
          <p:cNvPr id="495" name="AutoShape 14"/>
          <p:cNvSpPr/>
          <p:nvPr/>
        </p:nvSpPr>
        <p:spPr>
          <a:xfrm>
            <a:off x="8204200" y="2184400"/>
            <a:ext cx="297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PDF/DOCX/XLSX/PPTX/CSV/MD，含文档内图片与图表</a:t>
            </a:r>
            <a:endParaRPr lang="en-US" sz="1100"/>
          </a:p>
        </p:txBody>
      </p:sp>
      <p:sp>
        <p:nvSpPr>
          <p:cNvPr id="496" name="AutoShape 15"/>
          <p:cNvSpPr/>
          <p:nvPr/>
        </p:nvSpPr>
        <p:spPr>
          <a:xfrm>
            <a:off x="812800" y="2946400"/>
            <a:ext cx="3378200" cy="1041400"/>
          </a:xfrm>
          <a:prstGeom prst="roundRect">
            <a:avLst>
              <a:gd name="adj" fmla="val 1219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97" name="AutoShape 16"/>
          <p:cNvSpPr/>
          <p:nvPr/>
        </p:nvSpPr>
        <p:spPr>
          <a:xfrm>
            <a:off x="1041400" y="3098800"/>
            <a:ext cx="297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内容生成</a:t>
            </a:r>
            <a:endParaRPr lang="en-US" sz="1100"/>
          </a:p>
        </p:txBody>
      </p:sp>
      <p:sp>
        <p:nvSpPr>
          <p:cNvPr id="498" name="AutoShape 17"/>
          <p:cNvSpPr/>
          <p:nvPr/>
        </p:nvSpPr>
        <p:spPr>
          <a:xfrm>
            <a:off x="1041400" y="3378200"/>
            <a:ext cx="297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报告 / 文章 / PPTX / 表格 / PDF / MD 交付物</a:t>
            </a:r>
            <a:endParaRPr lang="en-US" sz="1100"/>
          </a:p>
        </p:txBody>
      </p:sp>
      <p:sp>
        <p:nvSpPr>
          <p:cNvPr id="499" name="AutoShape 18"/>
          <p:cNvSpPr/>
          <p:nvPr/>
        </p:nvSpPr>
        <p:spPr>
          <a:xfrm>
            <a:off x="4394200" y="2946400"/>
            <a:ext cx="3378200" cy="1041400"/>
          </a:xfrm>
          <a:prstGeom prst="roundRect">
            <a:avLst>
              <a:gd name="adj" fmla="val 1219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00" name="AutoShape 19"/>
          <p:cNvSpPr/>
          <p:nvPr/>
        </p:nvSpPr>
        <p:spPr>
          <a:xfrm>
            <a:off x="4622800" y="3098800"/>
            <a:ext cx="297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集成（MCP）</a:t>
            </a:r>
            <a:endParaRPr lang="en-US" sz="1100"/>
          </a:p>
        </p:txBody>
      </p:sp>
      <p:sp>
        <p:nvSpPr>
          <p:cNvPr id="501" name="AutoShape 20"/>
          <p:cNvSpPr/>
          <p:nvPr/>
        </p:nvSpPr>
        <p:spPr>
          <a:xfrm>
            <a:off x="4622800" y="3378200"/>
            <a:ext cx="297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工作流型 Skill、HTTP / MCP 连接业务系统</a:t>
            </a:r>
            <a:endParaRPr lang="en-US" sz="1100"/>
          </a:p>
        </p:txBody>
      </p:sp>
      <p:sp>
        <p:nvSpPr>
          <p:cNvPr id="502" name="AutoShape 21"/>
          <p:cNvSpPr/>
          <p:nvPr/>
        </p:nvSpPr>
        <p:spPr>
          <a:xfrm>
            <a:off x="7975600" y="2946400"/>
            <a:ext cx="3378200" cy="1041400"/>
          </a:xfrm>
          <a:prstGeom prst="roundRect">
            <a:avLst>
              <a:gd name="adj" fmla="val 1219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03" name="AutoShape 22"/>
          <p:cNvSpPr/>
          <p:nvPr/>
        </p:nvSpPr>
        <p:spPr>
          <a:xfrm>
            <a:off x="8204200" y="3098800"/>
            <a:ext cx="297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自动化与治理</a:t>
            </a:r>
            <a:endParaRPr lang="en-US" sz="1100"/>
          </a:p>
        </p:txBody>
      </p:sp>
      <p:sp>
        <p:nvSpPr>
          <p:cNvPr id="504" name="AutoShape 23"/>
          <p:cNvSpPr/>
          <p:nvPr/>
        </p:nvSpPr>
        <p:spPr>
          <a:xfrm>
            <a:off x="8204200" y="3378200"/>
            <a:ext cx="297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定时任务、敏感工具审批、执行追踪、产物留存</a:t>
            </a:r>
            <a:endParaRPr lang="en-US" sz="1100"/>
          </a:p>
        </p:txBody>
      </p:sp>
      <p:sp>
        <p:nvSpPr>
          <p:cNvPr id="505" name="AutoShape 24"/>
          <p:cNvSpPr/>
          <p:nvPr/>
        </p:nvSpPr>
        <p:spPr>
          <a:xfrm>
            <a:off x="812800" y="4140200"/>
            <a:ext cx="3378200" cy="1041400"/>
          </a:xfrm>
          <a:prstGeom prst="roundRect">
            <a:avLst>
              <a:gd name="adj" fmla="val 1219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06" name="AutoShape 25"/>
          <p:cNvSpPr/>
          <p:nvPr/>
        </p:nvSpPr>
        <p:spPr>
          <a:xfrm>
            <a:off x="1041400" y="4292600"/>
            <a:ext cx="297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管理后台</a:t>
            </a:r>
            <a:endParaRPr lang="en-US" sz="1100"/>
          </a:p>
        </p:txBody>
      </p:sp>
      <p:sp>
        <p:nvSpPr>
          <p:cNvPr id="507" name="AutoShape 26"/>
          <p:cNvSpPr/>
          <p:nvPr/>
        </p:nvSpPr>
        <p:spPr>
          <a:xfrm>
            <a:off x="1041400" y="4572000"/>
            <a:ext cx="297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组织/用户/角色/模型/知识/Skill/工具/审计、RBAC</a:t>
            </a:r>
            <a:endParaRPr lang="en-US" sz="1100"/>
          </a:p>
        </p:txBody>
      </p:sp>
      <p:sp>
        <p:nvSpPr>
          <p:cNvPr id="508" name="AutoShape 27"/>
          <p:cNvSpPr/>
          <p:nvPr/>
        </p:nvSpPr>
        <p:spPr>
          <a:xfrm>
            <a:off x="4394200" y="4140200"/>
            <a:ext cx="3378200" cy="1041400"/>
          </a:xfrm>
          <a:prstGeom prst="roundRect">
            <a:avLst>
              <a:gd name="adj" fmla="val 1219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09" name="AutoShape 28"/>
          <p:cNvSpPr/>
          <p:nvPr/>
        </p:nvSpPr>
        <p:spPr>
          <a:xfrm>
            <a:off x="4622800" y="4292600"/>
            <a:ext cx="297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部署</a:t>
            </a:r>
            <a:endParaRPr lang="en-US" sz="1100"/>
          </a:p>
        </p:txBody>
      </p:sp>
      <p:sp>
        <p:nvSpPr>
          <p:cNvPr id="510" name="AutoShape 29"/>
          <p:cNvSpPr/>
          <p:nvPr/>
        </p:nvSpPr>
        <p:spPr>
          <a:xfrm>
            <a:off x="4622800" y="4572000"/>
            <a:ext cx="297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Docker Compose 一键 14 服务、自托管、模型数据自主</a:t>
            </a:r>
            <a:endParaRPr lang="en-US" sz="1100"/>
          </a:p>
        </p:txBody>
      </p:sp>
      <p:sp>
        <p:nvSpPr>
          <p:cNvPr id="511" name="AutoShape 30"/>
          <p:cNvSpPr/>
          <p:nvPr/>
        </p:nvSpPr>
        <p:spPr>
          <a:xfrm>
            <a:off x="7975600" y="4140200"/>
            <a:ext cx="3378200" cy="1041400"/>
          </a:xfrm>
          <a:prstGeom prst="roundRect">
            <a:avLst>
              <a:gd name="adj" fmla="val 1219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12" name="AutoShape 31"/>
          <p:cNvSpPr/>
          <p:nvPr/>
        </p:nvSpPr>
        <p:spPr>
          <a:xfrm>
            <a:off x="8204200" y="4292600"/>
            <a:ext cx="297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桌面扩展</a:t>
            </a:r>
            <a:endParaRPr lang="en-US" sz="1100"/>
          </a:p>
        </p:txBody>
      </p:sp>
      <p:sp>
        <p:nvSpPr>
          <p:cNvPr id="513" name="AutoShape 32"/>
          <p:cNvSpPr/>
          <p:nvPr/>
        </p:nvSpPr>
        <p:spPr>
          <a:xfrm>
            <a:off x="8204200" y="4572000"/>
            <a:ext cx="297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墨攻 Desktop 连接浏览器 / Code Agent</a:t>
            </a:r>
            <a:endParaRPr lang="en-US" sz="1100"/>
          </a:p>
        </p:txBody>
      </p:sp>
      <p:sp>
        <p:nvSpPr>
          <p:cNvPr id="514" name="AutoShape 33"/>
          <p:cNvSpPr/>
          <p:nvPr/>
        </p:nvSpPr>
        <p:spPr>
          <a:xfrm>
            <a:off x="812800" y="64516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墨攻 · 企业级智能体平台</a:t>
            </a:r>
            <a:endParaRPr lang="en-US" sz="1100"/>
          </a:p>
        </p:txBody>
      </p:sp>
      <p:sp>
        <p:nvSpPr>
          <p:cNvPr id="515" name="AutoShape 34"/>
          <p:cNvSpPr/>
          <p:nvPr/>
        </p:nvSpPr>
        <p:spPr>
          <a:xfrm>
            <a:off x="10617200" y="64516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zh-CN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AutoShape 2"/>
          <p:cNvSpPr/>
          <p:nvPr/>
        </p:nvSpPr>
        <p:spPr>
          <a:xfrm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18" name="AutoShape 3"/>
          <p:cNvSpPr/>
          <p:nvPr/>
        </p:nvSpPr>
        <p:spPr>
          <a:xfrm>
            <a:off x="990600" y="5588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02 · 现状 — 已领先边界</a:t>
            </a:r>
            <a:endParaRPr lang="en-US" sz="1100"/>
          </a:p>
        </p:txBody>
      </p:sp>
      <p:sp>
        <p:nvSpPr>
          <p:cNvPr id="519" name="AutoShape 4"/>
          <p:cNvSpPr/>
          <p:nvPr/>
        </p:nvSpPr>
        <p:spPr>
          <a:xfrm>
            <a:off x="812800" y="838200"/>
            <a:ext cx="1056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五块能力已强于对标，作为"不重复造轮子"的边界</a:t>
            </a:r>
            <a:endParaRPr lang="en-US" sz="1100"/>
          </a:p>
        </p:txBody>
      </p:sp>
      <p:cxnSp>
        <p:nvCxnSpPr>
          <p:cNvPr id="520" name="Connector 5"/>
          <p:cNvCxnSpPr/>
          <p:nvPr/>
        </p:nvCxnSpPr>
        <p:spPr>
          <a:xfrm rot="-4131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1" name="AutoShape 6"/>
          <p:cNvSpPr/>
          <p:nvPr/>
        </p:nvSpPr>
        <p:spPr>
          <a:xfrm>
            <a:off x="812800" y="1727200"/>
            <a:ext cx="10566400" cy="6096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22" name="AutoShape 7"/>
          <p:cNvSpPr/>
          <p:nvPr/>
        </p:nvSpPr>
        <p:spPr>
          <a:xfrm>
            <a:off x="1066800" y="1727200"/>
            <a:ext cx="27432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容器化自托管部署</a:t>
            </a:r>
            <a:endParaRPr lang="en-US" sz="1100"/>
          </a:p>
        </p:txBody>
      </p:sp>
      <p:sp>
        <p:nvSpPr>
          <p:cNvPr id="523" name="AutoShape 8"/>
          <p:cNvSpPr/>
          <p:nvPr/>
        </p:nvSpPr>
        <p:spPr>
          <a:xfrm>
            <a:off x="3962400" y="1727200"/>
            <a:ext cx="72136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Docker Compose 一键 14 服务 + CLI 启动器 + 备份/恢复，生产运维底座已就绪</a:t>
            </a:r>
            <a:endParaRPr lang="en-US" sz="1100"/>
          </a:p>
        </p:txBody>
      </p:sp>
      <p:sp>
        <p:nvSpPr>
          <p:cNvPr id="524" name="AutoShape 9"/>
          <p:cNvSpPr/>
          <p:nvPr/>
        </p:nvSpPr>
        <p:spPr>
          <a:xfrm>
            <a:off x="812800" y="2463800"/>
            <a:ext cx="10566400" cy="6096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25" name="AutoShape 10"/>
          <p:cNvSpPr/>
          <p:nvPr/>
        </p:nvSpPr>
        <p:spPr>
          <a:xfrm>
            <a:off x="1066800" y="2463800"/>
            <a:ext cx="27432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Docling 多格式解析</a:t>
            </a:r>
            <a:endParaRPr lang="en-US" sz="1100"/>
          </a:p>
        </p:txBody>
      </p:sp>
      <p:sp>
        <p:nvSpPr>
          <p:cNvPr id="526" name="AutoShape 11"/>
          <p:cNvSpPr/>
          <p:nvPr/>
        </p:nvSpPr>
        <p:spPr>
          <a:xfrm>
            <a:off x="3962400" y="2463800"/>
            <a:ext cx="72136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PDF/DOCX/XLSX/PPTX/CSV + LibreOffice 预览，文档理解强于对标方案</a:t>
            </a:r>
            <a:endParaRPr lang="en-US" sz="1100"/>
          </a:p>
        </p:txBody>
      </p:sp>
      <p:sp>
        <p:nvSpPr>
          <p:cNvPr id="527" name="AutoShape 12"/>
          <p:cNvSpPr/>
          <p:nvPr/>
        </p:nvSpPr>
        <p:spPr>
          <a:xfrm>
            <a:off x="812800" y="3200400"/>
            <a:ext cx="10566400" cy="6096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28" name="AutoShape 13"/>
          <p:cNvSpPr/>
          <p:nvPr/>
        </p:nvSpPr>
        <p:spPr>
          <a:xfrm>
            <a:off x="1066800" y="3200400"/>
            <a:ext cx="27432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内容与文件生成</a:t>
            </a:r>
            <a:endParaRPr lang="en-US" sz="1100"/>
          </a:p>
        </p:txBody>
      </p:sp>
      <p:sp>
        <p:nvSpPr>
          <p:cNvPr id="529" name="AutoShape 14"/>
          <p:cNvSpPr/>
          <p:nvPr/>
        </p:nvSpPr>
        <p:spPr>
          <a:xfrm>
            <a:off x="3962400" y="3200400"/>
            <a:ext cx="72136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报告/文章/PPTX/表格/PDF/翻译/表单——对标几乎空白，墨攻差异化强项</a:t>
            </a:r>
            <a:endParaRPr lang="en-US" sz="1100"/>
          </a:p>
        </p:txBody>
      </p:sp>
      <p:sp>
        <p:nvSpPr>
          <p:cNvPr id="530" name="AutoShape 15"/>
          <p:cNvSpPr/>
          <p:nvPr/>
        </p:nvSpPr>
        <p:spPr>
          <a:xfrm>
            <a:off x="812800" y="3937000"/>
            <a:ext cx="10566400" cy="6096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31" name="AutoShape 16"/>
          <p:cNvSpPr/>
          <p:nvPr/>
        </p:nvSpPr>
        <p:spPr>
          <a:xfrm>
            <a:off x="1066800" y="3937000"/>
            <a:ext cx="27432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多形态 Agent</a:t>
            </a:r>
            <a:endParaRPr lang="en-US" sz="1100"/>
          </a:p>
        </p:txBody>
      </p:sp>
      <p:sp>
        <p:nvSpPr>
          <p:cNvPr id="532" name="AutoShape 17"/>
          <p:cNvSpPr/>
          <p:nvPr/>
        </p:nvSpPr>
        <p:spPr>
          <a:xfrm>
            <a:off x="3962400" y="3937000"/>
            <a:ext cx="72136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浏览器 Agent、代码 Agent、子智能体（桌面端），执行形态丰富</a:t>
            </a:r>
            <a:endParaRPr lang="en-US" sz="1100"/>
          </a:p>
        </p:txBody>
      </p:sp>
      <p:sp>
        <p:nvSpPr>
          <p:cNvPr id="533" name="AutoShape 18"/>
          <p:cNvSpPr/>
          <p:nvPr/>
        </p:nvSpPr>
        <p:spPr>
          <a:xfrm>
            <a:off x="812800" y="4673600"/>
            <a:ext cx="10566400" cy="6096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34" name="AutoShape 19"/>
          <p:cNvSpPr/>
          <p:nvPr/>
        </p:nvSpPr>
        <p:spPr>
          <a:xfrm>
            <a:off x="1066800" y="4673600"/>
            <a:ext cx="27432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SkillHub 生态</a:t>
            </a:r>
            <a:endParaRPr lang="en-US" sz="1100"/>
          </a:p>
        </p:txBody>
      </p:sp>
      <p:sp>
        <p:nvSpPr>
          <p:cNvPr id="535" name="AutoShape 20"/>
          <p:cNvSpPr/>
          <p:nvPr/>
        </p:nvSpPr>
        <p:spPr>
          <a:xfrm>
            <a:off x="3962400" y="4673600"/>
            <a:ext cx="72136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企业知识研究、引用证据、Skill 市场 + ZIP 安装，知识闭环与分发成型</a:t>
            </a:r>
            <a:endParaRPr lang="en-US" sz="1100"/>
          </a:p>
        </p:txBody>
      </p:sp>
      <p:sp>
        <p:nvSpPr>
          <p:cNvPr id="536" name="AutoShape 21"/>
          <p:cNvSpPr/>
          <p:nvPr/>
        </p:nvSpPr>
        <p:spPr>
          <a:xfrm>
            <a:off x="812800" y="5537200"/>
            <a:ext cx="10566400" cy="558800"/>
          </a:xfrm>
          <a:prstGeom prst="roundRect">
            <a:avLst>
              <a:gd name="adj" fmla="val 18180"/>
            </a:avLst>
          </a:prstGeom>
          <a:solidFill>
            <a:srgbClr val="F0F9F7">
              <a:alpha val="100000"/>
            </a:srgbClr>
          </a:solidFill>
          <a:ln w="12700" cap="flat" cmpd="sng">
            <a:solidFill>
              <a:srgbClr val="10B9A9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37" name="AutoShape 22"/>
          <p:cNvSpPr/>
          <p:nvPr/>
        </p:nvSpPr>
        <p:spPr>
          <a:xfrm>
            <a:off x="1066800" y="5537200"/>
            <a:ext cx="152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结论</a:t>
            </a:r>
            <a:endParaRPr lang="en-US" sz="1100"/>
          </a:p>
        </p:txBody>
      </p:sp>
      <p:sp>
        <p:nvSpPr>
          <p:cNvPr id="538" name="AutoShape 23"/>
          <p:cNvSpPr/>
          <p:nvPr/>
        </p:nvSpPr>
        <p:spPr>
          <a:xfrm>
            <a:off x="2540000" y="5537200"/>
            <a:ext cx="863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这五块是后续补强的"不重复造轮子"边界，所有新增能力只做加法、不推倒重来。</a:t>
            </a:r>
            <a:endParaRPr lang="en-US" sz="1100"/>
          </a:p>
        </p:txBody>
      </p:sp>
      <p:sp>
        <p:nvSpPr>
          <p:cNvPr id="539" name="AutoShape 24"/>
          <p:cNvSpPr/>
          <p:nvPr/>
        </p:nvSpPr>
        <p:spPr>
          <a:xfrm>
            <a:off x="812800" y="64516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墨攻 · 企业级智能体平台</a:t>
            </a:r>
            <a:endParaRPr lang="en-US" sz="1100"/>
          </a:p>
        </p:txBody>
      </p:sp>
      <p:sp>
        <p:nvSpPr>
          <p:cNvPr id="540" name="AutoShape 25"/>
          <p:cNvSpPr/>
          <p:nvPr/>
        </p:nvSpPr>
        <p:spPr>
          <a:xfrm>
            <a:off x="10617200" y="64516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zh-CN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AutoShape 2"/>
          <p:cNvSpPr/>
          <p:nvPr/>
        </p:nvSpPr>
        <p:spPr>
          <a:xfrm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43" name="AutoShape 3"/>
          <p:cNvSpPr/>
          <p:nvPr/>
        </p:nvSpPr>
        <p:spPr>
          <a:xfrm>
            <a:off x="990600" y="5588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dirty="0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03 · GAP — </a:t>
            </a:r>
            <a:r>
              <a:rPr lang="en-US" sz="1200" b="1" i="0" u="none" strike="noStrike" dirty="0" err="1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六大补强</a:t>
            </a:r>
            <a:endParaRPr lang="en-US" sz="1100" dirty="0"/>
          </a:p>
        </p:txBody>
      </p:sp>
      <p:sp>
        <p:nvSpPr>
          <p:cNvPr id="544" name="AutoShape 4"/>
          <p:cNvSpPr/>
          <p:nvPr/>
        </p:nvSpPr>
        <p:spPr>
          <a:xfrm>
            <a:off x="812800" y="838200"/>
            <a:ext cx="1056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dirty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补强</a:t>
            </a:r>
            <a:r>
              <a:rPr lang="en-US" sz="2600" b="1" i="0" u="none" strike="noStrike" dirty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分级：P0 </a:t>
            </a:r>
            <a:r>
              <a:rPr lang="en-US" sz="2600" b="1" i="0" u="none" strike="noStrike" dirty="0" err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合规刚需</a:t>
            </a:r>
            <a:r>
              <a:rPr lang="en-US" sz="2600" b="1" i="0" u="none" strike="noStrike" dirty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→ P1 </a:t>
            </a:r>
            <a:r>
              <a:rPr lang="en-US" sz="2600" b="1" i="0" u="none" strike="noStrike" dirty="0" err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可靠协作</a:t>
            </a:r>
            <a:r>
              <a:rPr lang="en-US" sz="2600" b="1" i="0" u="none" strike="noStrike" dirty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→ P2 </a:t>
            </a:r>
            <a:r>
              <a:rPr lang="en-US" sz="2600" b="1" i="0" u="none" strike="noStrike" dirty="0" err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生态自进化</a:t>
            </a:r>
            <a:endParaRPr lang="en-US" sz="1100" dirty="0"/>
          </a:p>
        </p:txBody>
      </p:sp>
      <p:cxnSp>
        <p:nvCxnSpPr>
          <p:cNvPr id="545" name="Connector 5"/>
          <p:cNvCxnSpPr/>
          <p:nvPr/>
        </p:nvCxnSpPr>
        <p:spPr>
          <a:xfrm rot="-4131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6" name="AutoShape 6"/>
          <p:cNvSpPr/>
          <p:nvPr/>
        </p:nvSpPr>
        <p:spPr>
          <a:xfrm>
            <a:off x="812800" y="1701800"/>
            <a:ext cx="3378200" cy="609600"/>
          </a:xfrm>
          <a:prstGeom prst="roundRect">
            <a:avLst>
              <a:gd name="adj" fmla="val 16666"/>
            </a:avLst>
          </a:prstGeom>
          <a:solidFill>
            <a:srgbClr val="0D9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47" name="AutoShape 7"/>
          <p:cNvSpPr/>
          <p:nvPr/>
        </p:nvSpPr>
        <p:spPr>
          <a:xfrm>
            <a:off x="1066800" y="1701800"/>
            <a:ext cx="76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P0</a:t>
            </a:r>
            <a:endParaRPr lang="en-US" sz="1100"/>
          </a:p>
        </p:txBody>
      </p:sp>
      <p:sp>
        <p:nvSpPr>
          <p:cNvPr id="548" name="AutoShape 8"/>
          <p:cNvSpPr/>
          <p:nvPr/>
        </p:nvSpPr>
        <p:spPr>
          <a:xfrm>
            <a:off x="1778000" y="1701800"/>
            <a:ext cx="228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企业入场券</a:t>
            </a:r>
            <a:endParaRPr lang="en-US" sz="1100"/>
          </a:p>
        </p:txBody>
      </p:sp>
      <p:sp>
        <p:nvSpPr>
          <p:cNvPr id="549" name="AutoShape 9"/>
          <p:cNvSpPr/>
          <p:nvPr/>
        </p:nvSpPr>
        <p:spPr>
          <a:xfrm>
            <a:off x="4394200" y="1701800"/>
            <a:ext cx="3378200" cy="609600"/>
          </a:xfrm>
          <a:prstGeom prst="roundRect">
            <a:avLst>
              <a:gd name="adj" fmla="val 16666"/>
            </a:avLst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50" name="AutoShape 10"/>
          <p:cNvSpPr/>
          <p:nvPr/>
        </p:nvSpPr>
        <p:spPr>
          <a:xfrm>
            <a:off x="4648200" y="1701800"/>
            <a:ext cx="76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P1</a:t>
            </a:r>
            <a:endParaRPr lang="en-US" sz="1100"/>
          </a:p>
        </p:txBody>
      </p:sp>
      <p:sp>
        <p:nvSpPr>
          <p:cNvPr id="551" name="AutoShape 11"/>
          <p:cNvSpPr/>
          <p:nvPr/>
        </p:nvSpPr>
        <p:spPr>
          <a:xfrm>
            <a:off x="5359400" y="1701800"/>
            <a:ext cx="228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可靠性与协作</a:t>
            </a:r>
            <a:endParaRPr lang="en-US" sz="1100"/>
          </a:p>
        </p:txBody>
      </p:sp>
      <p:sp>
        <p:nvSpPr>
          <p:cNvPr id="552" name="AutoShape 12"/>
          <p:cNvSpPr/>
          <p:nvPr/>
        </p:nvSpPr>
        <p:spPr>
          <a:xfrm>
            <a:off x="7975600" y="1701800"/>
            <a:ext cx="3378200" cy="609600"/>
          </a:xfrm>
          <a:prstGeom prst="roundRect">
            <a:avLst>
              <a:gd name="adj" fmla="val 16666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53" name="AutoShape 13"/>
          <p:cNvSpPr/>
          <p:nvPr/>
        </p:nvSpPr>
        <p:spPr>
          <a:xfrm>
            <a:off x="8229600" y="1701800"/>
            <a:ext cx="76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P2</a:t>
            </a:r>
            <a:endParaRPr lang="en-US" sz="1100"/>
          </a:p>
        </p:txBody>
      </p:sp>
      <p:sp>
        <p:nvSpPr>
          <p:cNvPr id="554" name="AutoShape 14"/>
          <p:cNvSpPr/>
          <p:nvPr/>
        </p:nvSpPr>
        <p:spPr>
          <a:xfrm>
            <a:off x="8940800" y="1701800"/>
            <a:ext cx="228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自进化与生态</a:t>
            </a:r>
            <a:endParaRPr lang="en-US" sz="1100"/>
          </a:p>
        </p:txBody>
      </p:sp>
      <p:sp>
        <p:nvSpPr>
          <p:cNvPr id="555" name="AutoShape 15"/>
          <p:cNvSpPr/>
          <p:nvPr/>
        </p:nvSpPr>
        <p:spPr>
          <a:xfrm>
            <a:off x="812800" y="2463800"/>
            <a:ext cx="3378200" cy="838200"/>
          </a:xfrm>
          <a:prstGeom prst="roundRect">
            <a:avLst>
              <a:gd name="adj" fmla="val 121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56" name="AutoShape 16"/>
          <p:cNvSpPr/>
          <p:nvPr/>
        </p:nvSpPr>
        <p:spPr>
          <a:xfrm>
            <a:off x="1041400" y="2590800"/>
            <a:ext cx="297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治理与风控层</a:t>
            </a:r>
            <a:endParaRPr lang="en-US" sz="1100"/>
          </a:p>
        </p:txBody>
      </p:sp>
      <p:sp>
        <p:nvSpPr>
          <p:cNvPr id="557" name="AutoShape 17"/>
          <p:cNvSpPr/>
          <p:nvPr/>
        </p:nvSpPr>
        <p:spPr>
          <a:xfrm>
            <a:off x="1041400" y="2870200"/>
            <a:ext cx="2971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六层门禁 · 风险分级 · RBAC 码 · 脱敏</a:t>
            </a:r>
            <a:endParaRPr lang="en-US" sz="1100"/>
          </a:p>
        </p:txBody>
      </p:sp>
      <p:sp>
        <p:nvSpPr>
          <p:cNvPr id="558" name="AutoShape 18"/>
          <p:cNvSpPr/>
          <p:nvPr/>
        </p:nvSpPr>
        <p:spPr>
          <a:xfrm>
            <a:off x="812800" y="3429000"/>
            <a:ext cx="3378200" cy="838200"/>
          </a:xfrm>
          <a:prstGeom prst="roundRect">
            <a:avLst>
              <a:gd name="adj" fmla="val 121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59" name="AutoShape 19"/>
          <p:cNvSpPr/>
          <p:nvPr/>
        </p:nvSpPr>
        <p:spPr>
          <a:xfrm>
            <a:off x="1041400" y="3556000"/>
            <a:ext cx="297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LLM 网关韧性</a:t>
            </a:r>
            <a:endParaRPr lang="en-US" sz="1100"/>
          </a:p>
        </p:txBody>
      </p:sp>
      <p:sp>
        <p:nvSpPr>
          <p:cNvPr id="560" name="AutoShape 20"/>
          <p:cNvSpPr/>
          <p:nvPr/>
        </p:nvSpPr>
        <p:spPr>
          <a:xfrm>
            <a:off x="1041400" y="3835400"/>
            <a:ext cx="2971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故障转移 · 降级链 · 退避重试 · 计量</a:t>
            </a:r>
            <a:endParaRPr lang="en-US" sz="1100"/>
          </a:p>
        </p:txBody>
      </p:sp>
      <p:sp>
        <p:nvSpPr>
          <p:cNvPr id="561" name="AutoShape 21"/>
          <p:cNvSpPr/>
          <p:nvPr/>
        </p:nvSpPr>
        <p:spPr>
          <a:xfrm>
            <a:off x="812800" y="4394200"/>
            <a:ext cx="3378200" cy="838200"/>
          </a:xfrm>
          <a:prstGeom prst="roundRect">
            <a:avLst>
              <a:gd name="adj" fmla="val 121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62" name="AutoShape 22"/>
          <p:cNvSpPr/>
          <p:nvPr/>
        </p:nvSpPr>
        <p:spPr>
          <a:xfrm>
            <a:off x="1041400" y="4521200"/>
            <a:ext cx="297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运营驾驶舱</a:t>
            </a:r>
            <a:endParaRPr lang="en-US" sz="1100"/>
          </a:p>
        </p:txBody>
      </p:sp>
      <p:sp>
        <p:nvSpPr>
          <p:cNvPr id="563" name="AutoShape 23"/>
          <p:cNvSpPr/>
          <p:nvPr/>
        </p:nvSpPr>
        <p:spPr>
          <a:xfrm>
            <a:off x="1041400" y="4800600"/>
            <a:ext cx="2971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成本 / 使用 / 质量 / 趋势 四维看板</a:t>
            </a:r>
            <a:endParaRPr lang="en-US" sz="1100"/>
          </a:p>
        </p:txBody>
      </p:sp>
      <p:sp>
        <p:nvSpPr>
          <p:cNvPr id="564" name="AutoShape 24"/>
          <p:cNvSpPr/>
          <p:nvPr/>
        </p:nvSpPr>
        <p:spPr>
          <a:xfrm>
            <a:off x="4394200" y="2463800"/>
            <a:ext cx="3378200" cy="838200"/>
          </a:xfrm>
          <a:prstGeom prst="roundRect">
            <a:avLst>
              <a:gd name="adj" fmla="val 121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65" name="AutoShape 25"/>
          <p:cNvSpPr/>
          <p:nvPr/>
        </p:nvSpPr>
        <p:spPr>
          <a:xfrm>
            <a:off x="4622800" y="2590800"/>
            <a:ext cx="297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Hooks 拦截机制</a:t>
            </a:r>
            <a:endParaRPr lang="en-US" sz="1100"/>
          </a:p>
        </p:txBody>
      </p:sp>
      <p:sp>
        <p:nvSpPr>
          <p:cNvPr id="566" name="AutoShape 26"/>
          <p:cNvSpPr/>
          <p:nvPr/>
        </p:nvSpPr>
        <p:spPr>
          <a:xfrm>
            <a:off x="4622800" y="2870200"/>
            <a:ext cx="2971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五事件钩子 · 声明式规则 · fail-closed</a:t>
            </a:r>
            <a:endParaRPr lang="en-US" sz="1100"/>
          </a:p>
        </p:txBody>
      </p:sp>
      <p:sp>
        <p:nvSpPr>
          <p:cNvPr id="567" name="AutoShape 27"/>
          <p:cNvSpPr/>
          <p:nvPr/>
        </p:nvSpPr>
        <p:spPr>
          <a:xfrm>
            <a:off x="4394200" y="3429000"/>
            <a:ext cx="3378200" cy="838200"/>
          </a:xfrm>
          <a:prstGeom prst="roundRect">
            <a:avLst>
              <a:gd name="adj" fmla="val 121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68" name="AutoShape 28"/>
          <p:cNvSpPr/>
          <p:nvPr/>
        </p:nvSpPr>
        <p:spPr>
          <a:xfrm>
            <a:off x="4622800" y="3556000"/>
            <a:ext cx="297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DAG 通用编排</a:t>
            </a:r>
            <a:endParaRPr lang="en-US" sz="1100"/>
          </a:p>
        </p:txBody>
      </p:sp>
      <p:sp>
        <p:nvSpPr>
          <p:cNvPr id="569" name="AutoShape 29"/>
          <p:cNvSpPr/>
          <p:nvPr/>
        </p:nvSpPr>
        <p:spPr>
          <a:xfrm>
            <a:off x="4622800" y="3835400"/>
            <a:ext cx="2971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四模式 · 拓扑排序 · 环检测 · 节点重试</a:t>
            </a:r>
            <a:endParaRPr lang="en-US" sz="1100"/>
          </a:p>
        </p:txBody>
      </p:sp>
      <p:sp>
        <p:nvSpPr>
          <p:cNvPr id="570" name="AutoShape 30"/>
          <p:cNvSpPr/>
          <p:nvPr/>
        </p:nvSpPr>
        <p:spPr>
          <a:xfrm>
            <a:off x="4394200" y="4394200"/>
            <a:ext cx="3378200" cy="838200"/>
          </a:xfrm>
          <a:prstGeom prst="roundRect">
            <a:avLst>
              <a:gd name="adj" fmla="val 121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71" name="AutoShape 31"/>
          <p:cNvSpPr/>
          <p:nvPr/>
        </p:nvSpPr>
        <p:spPr>
          <a:xfrm>
            <a:off x="4622800" y="4521200"/>
            <a:ext cx="297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会话/工作流双版本化</a:t>
            </a:r>
            <a:endParaRPr lang="en-US" sz="1100"/>
          </a:p>
        </p:txBody>
      </p:sp>
      <p:sp>
        <p:nvSpPr>
          <p:cNvPr id="572" name="AutoShape 32"/>
          <p:cNvSpPr/>
          <p:nvPr/>
        </p:nvSpPr>
        <p:spPr>
          <a:xfrm>
            <a:off x="4622800" y="4800600"/>
            <a:ext cx="2971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commit / resume / share + GraphSpec 契约</a:t>
            </a:r>
            <a:endParaRPr lang="en-US" sz="1100"/>
          </a:p>
        </p:txBody>
      </p:sp>
      <p:sp>
        <p:nvSpPr>
          <p:cNvPr id="573" name="AutoShape 33"/>
          <p:cNvSpPr/>
          <p:nvPr/>
        </p:nvSpPr>
        <p:spPr>
          <a:xfrm>
            <a:off x="7975600" y="2463800"/>
            <a:ext cx="3378200" cy="838200"/>
          </a:xfrm>
          <a:prstGeom prst="roundRect">
            <a:avLst>
              <a:gd name="adj" fmla="val 121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74" name="AutoShape 34"/>
          <p:cNvSpPr/>
          <p:nvPr/>
        </p:nvSpPr>
        <p:spPr>
          <a:xfrm>
            <a:off x="8204200" y="2590800"/>
            <a:ext cx="297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Dream 自进化</a:t>
            </a:r>
            <a:endParaRPr lang="en-US" sz="1100"/>
          </a:p>
        </p:txBody>
      </p:sp>
      <p:sp>
        <p:nvSpPr>
          <p:cNvPr id="575" name="AutoShape 35"/>
          <p:cNvSpPr/>
          <p:nvPr/>
        </p:nvSpPr>
        <p:spPr>
          <a:xfrm>
            <a:off x="8204200" y="2870200"/>
            <a:ext cx="2971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会话 → 经验 → Skill 闭环 · 自动淘汰</a:t>
            </a:r>
            <a:endParaRPr lang="en-US" sz="1100"/>
          </a:p>
        </p:txBody>
      </p:sp>
      <p:sp>
        <p:nvSpPr>
          <p:cNvPr id="576" name="AutoShape 36"/>
          <p:cNvSpPr/>
          <p:nvPr/>
        </p:nvSpPr>
        <p:spPr>
          <a:xfrm>
            <a:off x="7975600" y="3429000"/>
            <a:ext cx="3378200" cy="838200"/>
          </a:xfrm>
          <a:prstGeom prst="roundRect">
            <a:avLst>
              <a:gd name="adj" fmla="val 121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77" name="AutoShape 37"/>
          <p:cNvSpPr/>
          <p:nvPr/>
        </p:nvSpPr>
        <p:spPr>
          <a:xfrm>
            <a:off x="8204200" y="3556000"/>
            <a:ext cx="297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会话级与生态清单</a:t>
            </a:r>
            <a:endParaRPr lang="en-US" sz="1100"/>
          </a:p>
        </p:txBody>
      </p:sp>
      <p:sp>
        <p:nvSpPr>
          <p:cNvPr id="578" name="AutoShape 38"/>
          <p:cNvSpPr/>
          <p:nvPr/>
        </p:nvSpPr>
        <p:spPr>
          <a:xfrm>
            <a:off x="8204200" y="3835400"/>
            <a:ext cx="2971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秘密不上链 · A2A · 多 IM · 知识图谱</a:t>
            </a:r>
            <a:endParaRPr lang="en-US" sz="1100"/>
          </a:p>
        </p:txBody>
      </p:sp>
      <p:sp>
        <p:nvSpPr>
          <p:cNvPr id="579" name="AutoShape 39"/>
          <p:cNvSpPr/>
          <p:nvPr/>
        </p:nvSpPr>
        <p:spPr>
          <a:xfrm>
            <a:off x="7975600" y="4394200"/>
            <a:ext cx="3378200" cy="838200"/>
          </a:xfrm>
          <a:prstGeom prst="roundRect">
            <a:avLst>
              <a:gd name="adj" fmla="val 121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80" name="AutoShape 40"/>
          <p:cNvSpPr/>
          <p:nvPr/>
        </p:nvSpPr>
        <p:spPr>
          <a:xfrm>
            <a:off x="8204200" y="4521200"/>
            <a:ext cx="297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Skill 市场强化</a:t>
            </a:r>
            <a:endParaRPr lang="en-US" sz="1100"/>
          </a:p>
        </p:txBody>
      </p:sp>
      <p:sp>
        <p:nvSpPr>
          <p:cNvPr id="581" name="AutoShape 41"/>
          <p:cNvSpPr/>
          <p:nvPr/>
        </p:nvSpPr>
        <p:spPr>
          <a:xfrm>
            <a:off x="8204200" y="4800600"/>
            <a:ext cx="2971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三范围 Memory · 能力资产化 · 厚/薄 Harness</a:t>
            </a:r>
            <a:endParaRPr lang="en-US" sz="1100"/>
          </a:p>
        </p:txBody>
      </p:sp>
      <p:sp>
        <p:nvSpPr>
          <p:cNvPr id="582" name="AutoShape 42"/>
          <p:cNvSpPr/>
          <p:nvPr/>
        </p:nvSpPr>
        <p:spPr>
          <a:xfrm>
            <a:off x="812800" y="5486400"/>
            <a:ext cx="10566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最新进展：1</a:t>
            </a:r>
            <a:r>
              <a:rPr lang="en-US" altLang="zh-CN" sz="1250" b="0" i="0" u="none" strike="noStrike" dirty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7</a:t>
            </a:r>
            <a:r>
              <a:rPr lang="en-US" sz="1250" b="0" i="0" u="none" strike="noStrike" dirty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</a:t>
            </a:r>
            <a:r>
              <a:rPr lang="en-US" sz="1250" b="0" i="0" u="none" strike="noStrike" dirty="0" err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项</a:t>
            </a:r>
            <a:r>
              <a:rPr lang="en-US" sz="1250" b="0" i="0" u="none" strike="noStrike" dirty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</a:t>
            </a:r>
            <a:r>
              <a:rPr lang="en-US" sz="1250" b="0" i="0" u="none" strike="noStrike" dirty="0" err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已按</a:t>
            </a:r>
            <a:r>
              <a:rPr lang="en-US" sz="1250" b="0" i="0" u="none" strike="noStrike" dirty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SDD </a:t>
            </a:r>
            <a:r>
              <a:rPr lang="en-US" sz="1250" b="0" i="0" u="none" strike="noStrike" dirty="0" err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落地，库代码</a:t>
            </a:r>
            <a:r>
              <a:rPr lang="en-US" sz="1250" b="0" i="0" u="none" strike="noStrike" dirty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+ </a:t>
            </a:r>
            <a:r>
              <a:rPr lang="en-US" sz="1250" b="0" i="0" u="none" strike="noStrike" dirty="0" err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单测全绿，接线与</a:t>
            </a:r>
            <a:r>
              <a:rPr lang="en-US" sz="1250" b="0" i="0" u="none" strike="noStrike" dirty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UI </a:t>
            </a:r>
            <a:r>
              <a:rPr lang="en-US" sz="1250" b="0" i="0" u="none" strike="noStrike" dirty="0" err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触点闭合；specs</a:t>
            </a:r>
            <a:r>
              <a:rPr lang="en-US" sz="1250" b="0" i="0" u="none" strike="noStrike" dirty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/ 26 个特性（26 </a:t>
            </a:r>
            <a:r>
              <a:rPr lang="en-US" sz="1250" b="0" i="0" u="none" strike="noStrike" dirty="0" err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份</a:t>
            </a:r>
            <a:r>
              <a:rPr lang="en-US" sz="1250" b="0" i="0" u="none" strike="noStrike" dirty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</a:t>
            </a:r>
            <a:r>
              <a:rPr lang="en-US" sz="1250" b="0" i="0" u="none" strike="noStrike" dirty="0" err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tasks.md</a:t>
            </a:r>
            <a:r>
              <a:rPr lang="en-US" sz="1250" b="0" i="0" u="none" strike="noStrike" dirty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/ 852 </a:t>
            </a:r>
            <a:r>
              <a:rPr lang="en-US" sz="1250" b="0" i="0" u="none" strike="noStrike" dirty="0" err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项）已归档</a:t>
            </a:r>
            <a:r>
              <a:rPr lang="en-US" sz="1250" b="0" i="0" u="none" strike="noStrike" dirty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。</a:t>
            </a:r>
            <a:endParaRPr lang="en-US" sz="1100" dirty="0"/>
          </a:p>
        </p:txBody>
      </p:sp>
      <p:sp>
        <p:nvSpPr>
          <p:cNvPr id="583" name="AutoShape 43"/>
          <p:cNvSpPr/>
          <p:nvPr/>
        </p:nvSpPr>
        <p:spPr>
          <a:xfrm>
            <a:off x="812800" y="64516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墨攻 · 企业级智能体平台</a:t>
            </a:r>
            <a:endParaRPr lang="en-US" sz="1100"/>
          </a:p>
        </p:txBody>
      </p:sp>
      <p:sp>
        <p:nvSpPr>
          <p:cNvPr id="584" name="AutoShape 44"/>
          <p:cNvSpPr/>
          <p:nvPr/>
        </p:nvSpPr>
        <p:spPr>
          <a:xfrm>
            <a:off x="10617200" y="64516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zh-CN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圆角矩形 158"/>
          <p:cNvSpPr/>
          <p:nvPr/>
        </p:nvSpPr>
        <p:spPr>
          <a:xfrm>
            <a:off x="812800" y="533400"/>
            <a:ext cx="50800" cy="279400"/>
          </a:xfrm>
          <a:prstGeom prst="roundRect">
            <a:avLst>
              <a:gd name="adj" fmla="val 4376"/>
            </a:avLst>
          </a:prstGeom>
          <a:solidFill>
            <a:srgbClr val="10B9A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0" name="矩形 159"/>
          <p:cNvSpPr/>
          <p:nvPr/>
        </p:nvSpPr>
        <p:spPr>
          <a:xfrm>
            <a:off x="812800" y="1447800"/>
            <a:ext cx="10566400" cy="12700"/>
          </a:xfrm>
          <a:prstGeom prst="rect">
            <a:avLst/>
          </a:prstGeom>
          <a:solidFill>
            <a:srgbClr val="DEE0E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1" name="圆角矩形 160"/>
          <p:cNvSpPr/>
          <p:nvPr/>
        </p:nvSpPr>
        <p:spPr>
          <a:xfrm>
            <a:off x="812800" y="1676400"/>
            <a:ext cx="5130800" cy="381000"/>
          </a:xfrm>
          <a:prstGeom prst="roundRect">
            <a:avLst>
              <a:gd name="adj" fmla="val 4376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2" name="圆角矩形 161"/>
          <p:cNvSpPr/>
          <p:nvPr/>
        </p:nvSpPr>
        <p:spPr>
          <a:xfrm>
            <a:off x="6248400" y="1676400"/>
            <a:ext cx="5130800" cy="381000"/>
          </a:xfrm>
          <a:prstGeom prst="roundRect">
            <a:avLst>
              <a:gd name="adj" fmla="val 437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3" name="圆角矩形 162"/>
          <p:cNvSpPr/>
          <p:nvPr/>
        </p:nvSpPr>
        <p:spPr>
          <a:xfrm>
            <a:off x="812800" y="2235200"/>
            <a:ext cx="2489200" cy="31496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" name="圆角矩形 163"/>
          <p:cNvSpPr/>
          <p:nvPr/>
        </p:nvSpPr>
        <p:spPr>
          <a:xfrm>
            <a:off x="3454400" y="2235200"/>
            <a:ext cx="2489200" cy="31496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5" name="圆角矩形 164"/>
          <p:cNvSpPr/>
          <p:nvPr/>
        </p:nvSpPr>
        <p:spPr>
          <a:xfrm>
            <a:off x="6096000" y="2235200"/>
            <a:ext cx="2489200" cy="31496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6" name="圆角矩形 165"/>
          <p:cNvSpPr/>
          <p:nvPr/>
        </p:nvSpPr>
        <p:spPr>
          <a:xfrm>
            <a:off x="8737600" y="2235200"/>
            <a:ext cx="2641600" cy="31496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7" name="圆角矩形 166"/>
          <p:cNvSpPr/>
          <p:nvPr/>
        </p:nvSpPr>
        <p:spPr>
          <a:xfrm>
            <a:off x="812800" y="2235200"/>
            <a:ext cx="2489200" cy="50800"/>
          </a:xfrm>
          <a:prstGeom prst="roundRect">
            <a:avLst>
              <a:gd name="adj" fmla="val 4376"/>
            </a:avLst>
          </a:prstGeom>
          <a:solidFill>
            <a:srgbClr val="10B9A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8" name="圆角矩形 167"/>
          <p:cNvSpPr/>
          <p:nvPr/>
        </p:nvSpPr>
        <p:spPr>
          <a:xfrm>
            <a:off x="3454400" y="2235200"/>
            <a:ext cx="2489200" cy="50800"/>
          </a:xfrm>
          <a:prstGeom prst="roundRect">
            <a:avLst>
              <a:gd name="adj" fmla="val 4376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9" name="圆角矩形 168"/>
          <p:cNvSpPr/>
          <p:nvPr/>
        </p:nvSpPr>
        <p:spPr>
          <a:xfrm>
            <a:off x="6096000" y="2235200"/>
            <a:ext cx="2489200" cy="50800"/>
          </a:xfrm>
          <a:prstGeom prst="roundRect">
            <a:avLst>
              <a:gd name="adj" fmla="val 4376"/>
            </a:avLst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" name="圆角矩形 169"/>
          <p:cNvSpPr/>
          <p:nvPr/>
        </p:nvSpPr>
        <p:spPr>
          <a:xfrm>
            <a:off x="8737600" y="2235200"/>
            <a:ext cx="2641600" cy="50800"/>
          </a:xfrm>
          <a:prstGeom prst="roundRect">
            <a:avLst>
              <a:gd name="adj" fmla="val 4376"/>
            </a:avLst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" name="圆角矩形 170"/>
          <p:cNvSpPr/>
          <p:nvPr/>
        </p:nvSpPr>
        <p:spPr>
          <a:xfrm>
            <a:off x="812800" y="5537200"/>
            <a:ext cx="10566400" cy="63500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2" name="圆角矩形 171"/>
          <p:cNvSpPr/>
          <p:nvPr/>
        </p:nvSpPr>
        <p:spPr>
          <a:xfrm>
            <a:off x="1066800" y="5689600"/>
            <a:ext cx="1422400" cy="330200"/>
          </a:xfrm>
          <a:prstGeom prst="roundRect">
            <a:avLst>
              <a:gd name="adj" fmla="val 4376"/>
            </a:avLst>
          </a:prstGeom>
          <a:solidFill>
            <a:srgbClr val="10B9A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3" name="矩形 172"/>
          <p:cNvSpPr/>
          <p:nvPr/>
        </p:nvSpPr>
        <p:spPr>
          <a:xfrm>
            <a:off x="990600" y="55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altLang="zh-CN" b="1" dirty="0">
                <a:solidFill>
                  <a:srgbClr val="0D9488"/>
                </a:solidFill>
                <a:latin typeface="Hiragino Sans GB"/>
                <a:ea typeface="Hiragino Sans GB"/>
              </a:rPr>
              <a:t>03 · Spec</a:t>
            </a:r>
            <a:r>
              <a:rPr lang="zh-CN" altLang="en-US" b="1" dirty="0">
                <a:solidFill>
                  <a:srgbClr val="0D9488"/>
                </a:solidFill>
                <a:latin typeface="Hiragino Sans GB"/>
                <a:ea typeface="Hiragino Sans GB"/>
              </a:rPr>
              <a:t> 清单</a:t>
            </a:r>
            <a:endParaRPr lang="en-US" altLang="zh-CN" sz="1200" dirty="0"/>
          </a:p>
          <a:p>
            <a:endParaRPr dirty="0"/>
          </a:p>
        </p:txBody>
      </p:sp>
      <p:sp>
        <p:nvSpPr>
          <p:cNvPr id="174" name="矩形 173"/>
          <p:cNvSpPr/>
          <p:nvPr/>
        </p:nvSpPr>
        <p:spPr>
          <a:xfrm>
            <a:off x="812800" y="8382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600">
                <a:solidFill>
                  <a:srgbClr val="0F172A"/>
                </a:solidFill>
                <a:latin typeface="Hiragino Sans GB"/>
                <a:ea typeface="Hiragino Sans GB"/>
              </a:rPr>
              <a:t>26 个特性规约：spec / plan / checklist / tasks 四层齐备</a:t>
            </a:r>
            <a:endParaRPr/>
          </a:p>
        </p:txBody>
      </p:sp>
      <p:sp>
        <p:nvSpPr>
          <p:cNvPr id="175" name="矩形 174"/>
          <p:cNvSpPr/>
          <p:nvPr/>
        </p:nvSpPr>
        <p:spPr>
          <a:xfrm>
            <a:off x="812800" y="1676400"/>
            <a:ext cx="51308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>
                <a:solidFill>
                  <a:srgbClr val="FFFFFF"/>
                </a:solidFill>
                <a:latin typeface="Hiragino Sans GB"/>
                <a:ea typeface="Hiragino Sans GB"/>
              </a:rPr>
              <a:t>26 份 spec.md + 26 份 plan.md  ·  全部完成</a:t>
            </a:r>
            <a:endParaRPr/>
          </a:p>
        </p:txBody>
      </p:sp>
      <p:sp>
        <p:nvSpPr>
          <p:cNvPr id="176" name="矩形 175"/>
          <p:cNvSpPr/>
          <p:nvPr/>
        </p:nvSpPr>
        <p:spPr>
          <a:xfrm>
            <a:off x="6248400" y="1676400"/>
            <a:ext cx="51308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>
                <a:solidFill>
                  <a:srgbClr val="0F172A"/>
                </a:solidFill>
                <a:latin typeface="Hiragino Sans GB"/>
                <a:ea typeface="Hiragino Sans GB"/>
              </a:rPr>
              <a:t>26 份 tasks.md  ·  852 项全部勾选</a:t>
            </a:r>
            <a:endParaRPr/>
          </a:p>
        </p:txBody>
      </p:sp>
      <p:sp>
        <p:nvSpPr>
          <p:cNvPr id="177" name="矩形 176"/>
          <p:cNvSpPr/>
          <p:nvPr/>
        </p:nvSpPr>
        <p:spPr>
          <a:xfrm>
            <a:off x="1016000" y="2438400"/>
            <a:ext cx="20828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>
                <a:solidFill>
                  <a:srgbClr val="0F172A"/>
                </a:solidFill>
                <a:latin typeface="Hiragino Sans GB"/>
                <a:ea typeface="Hiragino Sans GB"/>
              </a:rPr>
              <a:t>既有能力回溯</a:t>
            </a:r>
            <a:endParaRPr/>
          </a:p>
        </p:txBody>
      </p:sp>
      <p:sp>
        <p:nvSpPr>
          <p:cNvPr id="178" name="矩形 177"/>
          <p:cNvSpPr/>
          <p:nvPr/>
        </p:nvSpPr>
        <p:spPr>
          <a:xfrm>
            <a:off x="1016000" y="2692400"/>
            <a:ext cx="20828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64748B"/>
                </a:solidFill>
                <a:latin typeface="Hiragino Sans GB"/>
                <a:ea typeface="Hiragino Sans GB"/>
              </a:rPr>
              <a:t>003–006 · 4 项</a:t>
            </a:r>
            <a:endParaRPr/>
          </a:p>
        </p:txBody>
      </p:sp>
      <p:sp>
        <p:nvSpPr>
          <p:cNvPr id="179" name="矩形 178"/>
          <p:cNvSpPr/>
          <p:nvPr/>
        </p:nvSpPr>
        <p:spPr>
          <a:xfrm>
            <a:off x="1016000" y="3048000"/>
            <a:ext cx="2082800" cy="17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003  文档接入与内容交付</a:t>
            </a:r>
            <a:endParaRPr/>
          </a:p>
        </p:txBody>
      </p:sp>
      <p:sp>
        <p:nvSpPr>
          <p:cNvPr id="180" name="矩形 179"/>
          <p:cNvSpPr/>
          <p:nvPr/>
        </p:nvSpPr>
        <p:spPr>
          <a:xfrm>
            <a:off x="1016000" y="3327400"/>
            <a:ext cx="2082800" cy="17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004  SkillHub 生命周期</a:t>
            </a:r>
            <a:endParaRPr/>
          </a:p>
        </p:txBody>
      </p:sp>
      <p:sp>
        <p:nvSpPr>
          <p:cNvPr id="181" name="矩形 180"/>
          <p:cNvSpPr/>
          <p:nvPr/>
        </p:nvSpPr>
        <p:spPr>
          <a:xfrm>
            <a:off x="1016000" y="3606800"/>
            <a:ext cx="2082800" cy="17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005  企业知识 RAG 与研究</a:t>
            </a:r>
            <a:endParaRPr/>
          </a:p>
        </p:txBody>
      </p:sp>
      <p:sp>
        <p:nvSpPr>
          <p:cNvPr id="182" name="矩形 181"/>
          <p:cNvSpPr/>
          <p:nvPr/>
        </p:nvSpPr>
        <p:spPr>
          <a:xfrm>
            <a:off x="1016000" y="3886200"/>
            <a:ext cx="2082800" cy="17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006  组织用户与岗位 RBAC</a:t>
            </a:r>
            <a:endParaRPr/>
          </a:p>
        </p:txBody>
      </p:sp>
      <p:sp>
        <p:nvSpPr>
          <p:cNvPr id="183" name="矩形 182"/>
          <p:cNvSpPr/>
          <p:nvPr/>
        </p:nvSpPr>
        <p:spPr>
          <a:xfrm>
            <a:off x="1016000" y="42672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94A3B8"/>
                </a:solidFill>
                <a:latin typeface="Hiragino Sans GB"/>
                <a:ea typeface="Hiragino Sans GB"/>
              </a:rPr>
              <a:t>spec / plan / checklist 原始保留
tasks.md 已于 2026-10-11 补齐（141 项）</a:t>
            </a:r>
            <a:endParaRPr/>
          </a:p>
        </p:txBody>
      </p:sp>
      <p:sp>
        <p:nvSpPr>
          <p:cNvPr id="184" name="矩形 183"/>
          <p:cNvSpPr/>
          <p:nvPr/>
        </p:nvSpPr>
        <p:spPr>
          <a:xfrm>
            <a:off x="3657600" y="2438400"/>
            <a:ext cx="20828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>
                <a:solidFill>
                  <a:srgbClr val="0F172A"/>
                </a:solidFill>
                <a:latin typeface="Hiragino Sans GB"/>
                <a:ea typeface="Hiragino Sans GB"/>
              </a:rPr>
              <a:t>P0 · 企业入场券</a:t>
            </a:r>
            <a:endParaRPr/>
          </a:p>
        </p:txBody>
      </p:sp>
      <p:sp>
        <p:nvSpPr>
          <p:cNvPr id="185" name="矩形 184"/>
          <p:cNvSpPr/>
          <p:nvPr/>
        </p:nvSpPr>
        <p:spPr>
          <a:xfrm>
            <a:off x="3657600" y="2692400"/>
            <a:ext cx="20828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64748B"/>
                </a:solidFill>
                <a:latin typeface="Hiragino Sans GB"/>
                <a:ea typeface="Hiragino Sans GB"/>
              </a:rPr>
              <a:t>001 / 007 / 008 / 020</a:t>
            </a:r>
            <a:endParaRPr/>
          </a:p>
        </p:txBody>
      </p:sp>
      <p:sp>
        <p:nvSpPr>
          <p:cNvPr id="186" name="矩形 185"/>
          <p:cNvSpPr/>
          <p:nvPr/>
        </p:nvSpPr>
        <p:spPr>
          <a:xfrm>
            <a:off x="3657600" y="3048000"/>
            <a:ext cx="2082800" cy="17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001  治理与风控层</a:t>
            </a:r>
            <a:endParaRPr/>
          </a:p>
        </p:txBody>
      </p:sp>
      <p:sp>
        <p:nvSpPr>
          <p:cNvPr id="187" name="矩形 186"/>
          <p:cNvSpPr/>
          <p:nvPr/>
        </p:nvSpPr>
        <p:spPr>
          <a:xfrm>
            <a:off x="3657600" y="3327400"/>
            <a:ext cx="2082800" cy="17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007  LLM 网关韧性</a:t>
            </a:r>
            <a:endParaRPr/>
          </a:p>
        </p:txBody>
      </p:sp>
      <p:sp>
        <p:nvSpPr>
          <p:cNvPr id="188" name="矩形 187"/>
          <p:cNvSpPr/>
          <p:nvPr/>
        </p:nvSpPr>
        <p:spPr>
          <a:xfrm>
            <a:off x="3657600" y="3606800"/>
            <a:ext cx="2082800" cy="17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008  总览数据驾驶舱</a:t>
            </a:r>
            <a:endParaRPr/>
          </a:p>
        </p:txBody>
      </p:sp>
      <p:sp>
        <p:nvSpPr>
          <p:cNvPr id="189" name="矩形 188"/>
          <p:cNvSpPr/>
          <p:nvPr/>
        </p:nvSpPr>
        <p:spPr>
          <a:xfrm>
            <a:off x="3657600" y="3886200"/>
            <a:ext cx="2082800" cy="17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020  平台化多租户</a:t>
            </a:r>
            <a:endParaRPr/>
          </a:p>
        </p:txBody>
      </p:sp>
      <p:sp>
        <p:nvSpPr>
          <p:cNvPr id="190" name="矩形 189"/>
          <p:cNvSpPr/>
          <p:nvPr/>
        </p:nvSpPr>
        <p:spPr>
          <a:xfrm>
            <a:off x="3657600" y="42672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94A3B8"/>
                </a:solidFill>
                <a:latin typeface="Hiragino Sans GB"/>
                <a:ea typeface="Hiragino Sans GB"/>
              </a:rPr>
              <a:t>门禁 · 韧性 · 可观测 · 租户供给
合规入场与生产可用性</a:t>
            </a:r>
            <a:endParaRPr/>
          </a:p>
        </p:txBody>
      </p:sp>
      <p:sp>
        <p:nvSpPr>
          <p:cNvPr id="191" name="矩形 190"/>
          <p:cNvSpPr/>
          <p:nvPr/>
        </p:nvSpPr>
        <p:spPr>
          <a:xfrm>
            <a:off x="6299200" y="2438400"/>
            <a:ext cx="20828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>
                <a:solidFill>
                  <a:srgbClr val="0F172A"/>
                </a:solidFill>
                <a:latin typeface="Hiragino Sans GB"/>
                <a:ea typeface="Hiragino Sans GB"/>
              </a:rPr>
              <a:t>P1 · 可靠协作</a:t>
            </a:r>
            <a:endParaRPr/>
          </a:p>
        </p:txBody>
      </p:sp>
      <p:sp>
        <p:nvSpPr>
          <p:cNvPr id="192" name="矩形 191"/>
          <p:cNvSpPr/>
          <p:nvPr/>
        </p:nvSpPr>
        <p:spPr>
          <a:xfrm>
            <a:off x="6299200" y="2692400"/>
            <a:ext cx="20828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64748B"/>
                </a:solidFill>
                <a:latin typeface="Hiragino Sans GB"/>
                <a:ea typeface="Hiragino Sans GB"/>
              </a:rPr>
              <a:t>002 / 009 / 010 / 011</a:t>
            </a:r>
            <a:endParaRPr/>
          </a:p>
        </p:txBody>
      </p:sp>
      <p:sp>
        <p:nvSpPr>
          <p:cNvPr id="193" name="矩形 192"/>
          <p:cNvSpPr/>
          <p:nvPr/>
        </p:nvSpPr>
        <p:spPr>
          <a:xfrm>
            <a:off x="6299200" y="3048000"/>
            <a:ext cx="2082800" cy="17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002  会话级版本化与交接</a:t>
            </a:r>
            <a:endParaRPr/>
          </a:p>
        </p:txBody>
      </p:sp>
      <p:sp>
        <p:nvSpPr>
          <p:cNvPr id="194" name="矩形 193"/>
          <p:cNvSpPr/>
          <p:nvPr/>
        </p:nvSpPr>
        <p:spPr>
          <a:xfrm>
            <a:off x="6299200" y="3327400"/>
            <a:ext cx="2082800" cy="17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009  五事件 Hooks 拦截</a:t>
            </a:r>
            <a:endParaRPr/>
          </a:p>
        </p:txBody>
      </p:sp>
      <p:sp>
        <p:nvSpPr>
          <p:cNvPr id="195" name="矩形 194"/>
          <p:cNvSpPr/>
          <p:nvPr/>
        </p:nvSpPr>
        <p:spPr>
          <a:xfrm>
            <a:off x="6299200" y="3606800"/>
            <a:ext cx="2082800" cy="17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010  DAG 通用编排引擎</a:t>
            </a:r>
            <a:endParaRPr/>
          </a:p>
        </p:txBody>
      </p:sp>
      <p:sp>
        <p:nvSpPr>
          <p:cNvPr id="196" name="矩形 195"/>
          <p:cNvSpPr/>
          <p:nvPr/>
        </p:nvSpPr>
        <p:spPr>
          <a:xfrm>
            <a:off x="6299200" y="3886200"/>
            <a:ext cx="2082800" cy="17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011  Dream 自进化</a:t>
            </a:r>
            <a:endParaRPr/>
          </a:p>
        </p:txBody>
      </p:sp>
      <p:sp>
        <p:nvSpPr>
          <p:cNvPr id="197" name="矩形 196"/>
          <p:cNvSpPr/>
          <p:nvPr/>
        </p:nvSpPr>
        <p:spPr>
          <a:xfrm>
            <a:off x="6299200" y="42672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94A3B8"/>
                </a:solidFill>
                <a:latin typeface="Hiragino Sans GB"/>
                <a:ea typeface="Hiragino Sans GB"/>
              </a:rPr>
              <a:t>多步骤可靠 · 合规扩展 · 可交接
越用越聪明</a:t>
            </a:r>
            <a:endParaRPr/>
          </a:p>
        </p:txBody>
      </p:sp>
      <p:sp>
        <p:nvSpPr>
          <p:cNvPr id="198" name="矩形 197"/>
          <p:cNvSpPr/>
          <p:nvPr/>
        </p:nvSpPr>
        <p:spPr>
          <a:xfrm>
            <a:off x="8940800" y="2438400"/>
            <a:ext cx="22352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>
                <a:solidFill>
                  <a:srgbClr val="0F172A"/>
                </a:solidFill>
                <a:latin typeface="Hiragino Sans GB"/>
                <a:ea typeface="Hiragino Sans GB"/>
              </a:rPr>
              <a:t>P2 · 生态与自进化</a:t>
            </a:r>
            <a:endParaRPr/>
          </a:p>
        </p:txBody>
      </p:sp>
      <p:sp>
        <p:nvSpPr>
          <p:cNvPr id="199" name="矩形 198"/>
          <p:cNvSpPr/>
          <p:nvPr/>
        </p:nvSpPr>
        <p:spPr>
          <a:xfrm>
            <a:off x="8940800" y="2692400"/>
            <a:ext cx="22352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64748B"/>
                </a:solidFill>
                <a:latin typeface="Hiragino Sans GB"/>
                <a:ea typeface="Hiragino Sans GB"/>
              </a:rPr>
              <a:t>012–019 / 021 · 9 项</a:t>
            </a:r>
            <a:endParaRPr/>
          </a:p>
        </p:txBody>
      </p:sp>
      <p:sp>
        <p:nvSpPr>
          <p:cNvPr id="200" name="矩形 199"/>
          <p:cNvSpPr/>
          <p:nvPr/>
        </p:nvSpPr>
        <p:spPr>
          <a:xfrm>
            <a:off x="8940800" y="3022600"/>
            <a:ext cx="2235200" cy="16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012  A2A Agent 互通网关</a:t>
            </a:r>
            <a:endParaRPr/>
          </a:p>
        </p:txBody>
      </p:sp>
      <p:sp>
        <p:nvSpPr>
          <p:cNvPr id="201" name="矩形 200"/>
          <p:cNvSpPr/>
          <p:nvPr/>
        </p:nvSpPr>
        <p:spPr>
          <a:xfrm>
            <a:off x="8940800" y="3263900"/>
            <a:ext cx="2235200" cy="16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013  多 IM 入口</a:t>
            </a:r>
            <a:endParaRPr/>
          </a:p>
        </p:txBody>
      </p:sp>
      <p:sp>
        <p:nvSpPr>
          <p:cNvPr id="202" name="矩形 201"/>
          <p:cNvSpPr/>
          <p:nvPr/>
        </p:nvSpPr>
        <p:spPr>
          <a:xfrm>
            <a:off x="8940800" y="3505200"/>
            <a:ext cx="2235200" cy="16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014  业务系统语义索引</a:t>
            </a:r>
            <a:endParaRPr/>
          </a:p>
        </p:txBody>
      </p:sp>
      <p:sp>
        <p:nvSpPr>
          <p:cNvPr id="203" name="矩形 202"/>
          <p:cNvSpPr/>
          <p:nvPr/>
        </p:nvSpPr>
        <p:spPr>
          <a:xfrm>
            <a:off x="8940800" y="3746500"/>
            <a:ext cx="2235200" cy="16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015  知识图谱层</a:t>
            </a:r>
            <a:endParaRPr/>
          </a:p>
        </p:txBody>
      </p:sp>
      <p:sp>
        <p:nvSpPr>
          <p:cNvPr id="204" name="矩形 203"/>
          <p:cNvSpPr/>
          <p:nvPr/>
        </p:nvSpPr>
        <p:spPr>
          <a:xfrm>
            <a:off x="8940800" y="3987800"/>
            <a:ext cx="2235200" cy="16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016  Skill 市场强化</a:t>
            </a:r>
            <a:endParaRPr/>
          </a:p>
        </p:txBody>
      </p:sp>
      <p:sp>
        <p:nvSpPr>
          <p:cNvPr id="205" name="矩形 204"/>
          <p:cNvSpPr/>
          <p:nvPr/>
        </p:nvSpPr>
        <p:spPr>
          <a:xfrm>
            <a:off x="8940800" y="4229100"/>
            <a:ext cx="2235200" cy="16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017  三范围 Memory（020/021 优化）</a:t>
            </a:r>
            <a:endParaRPr/>
          </a:p>
        </p:txBody>
      </p:sp>
      <p:sp>
        <p:nvSpPr>
          <p:cNvPr id="206" name="矩形 205"/>
          <p:cNvSpPr/>
          <p:nvPr/>
        </p:nvSpPr>
        <p:spPr>
          <a:xfrm>
            <a:off x="8940800" y="4470400"/>
            <a:ext cx="2235200" cy="16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018  能力资产化注册</a:t>
            </a:r>
            <a:endParaRPr/>
          </a:p>
        </p:txBody>
      </p:sp>
      <p:sp>
        <p:nvSpPr>
          <p:cNvPr id="207" name="矩形 206"/>
          <p:cNvSpPr/>
          <p:nvPr/>
        </p:nvSpPr>
        <p:spPr>
          <a:xfrm>
            <a:off x="8940800" y="4711700"/>
            <a:ext cx="2235200" cy="16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019  厚 / 薄 Harness 弹性</a:t>
            </a:r>
            <a:endParaRPr/>
          </a:p>
        </p:txBody>
      </p:sp>
      <p:sp>
        <p:nvSpPr>
          <p:cNvPr id="208" name="矩形 207"/>
          <p:cNvSpPr/>
          <p:nvPr/>
        </p:nvSpPr>
        <p:spPr>
          <a:xfrm>
            <a:off x="8940800" y="4953000"/>
            <a:ext cx="2235200" cy="16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334155"/>
                </a:solidFill>
                <a:latin typeface="Hiragino Sans GB"/>
                <a:ea typeface="Hiragino Sans GB"/>
              </a:rPr>
              <a:t>021  统一上下文地址空间</a:t>
            </a:r>
            <a:endParaRPr/>
          </a:p>
        </p:txBody>
      </p:sp>
      <p:sp>
        <p:nvSpPr>
          <p:cNvPr id="209" name="矩形 208"/>
          <p:cNvSpPr/>
          <p:nvPr/>
        </p:nvSpPr>
        <p:spPr>
          <a:xfrm>
            <a:off x="1066800" y="5689600"/>
            <a:ext cx="1422400" cy="330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FFFFFF"/>
                </a:solidFill>
                <a:latin typeface="Hiragino Sans GB"/>
                <a:ea typeface="Hiragino Sans GB"/>
              </a:rPr>
              <a:t>落地审计 · 质量加固</a:t>
            </a:r>
            <a:endParaRPr/>
          </a:p>
        </p:txBody>
      </p:sp>
      <p:sp>
        <p:nvSpPr>
          <p:cNvPr id="210" name="矩形 209"/>
          <p:cNvSpPr/>
          <p:nvPr/>
        </p:nvSpPr>
        <p:spPr>
          <a:xfrm>
            <a:off x="2692400" y="5740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0F172A"/>
                </a:solidFill>
                <a:latin typeface="Hiragino Sans GB"/>
                <a:ea typeface="Hiragino Sans GB"/>
              </a:rPr>
              <a:t>2026-10-03 重检：landed 0 / partial 10 / hollow 9</a:t>
            </a:r>
            <a:endParaRPr/>
          </a:p>
        </p:txBody>
      </p:sp>
      <p:sp>
        <p:nvSpPr>
          <p:cNvPr id="211" name="矩形 210"/>
          <p:cNvSpPr/>
          <p:nvPr/>
        </p:nvSpPr>
        <p:spPr>
          <a:xfrm>
            <a:off x="5283200" y="5791200"/>
            <a:ext cx="5969000" cy="20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00">
                <a:solidFill>
                  <a:srgbClr val="64748B"/>
                </a:solidFill>
                <a:latin typeface="Hiragino Sans GB"/>
                <a:ea typeface="Hiragino Sans GB"/>
              </a:rPr>
              <a:t>022–026 质量加固 10-11 新增（覆盖 QF 审计 283 项 P0/P1）；017/021 于 10-05 完整实现</a:t>
            </a:r>
            <a:endParaRPr/>
          </a:p>
        </p:txBody>
      </p:sp>
      <p:sp>
        <p:nvSpPr>
          <p:cNvPr id="212" name="矩形 211"/>
          <p:cNvSpPr/>
          <p:nvPr/>
        </p:nvSpPr>
        <p:spPr>
          <a:xfrm>
            <a:off x="8128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94A3B8"/>
                </a:solidFill>
                <a:latin typeface="Hiragino Sans GB"/>
                <a:ea typeface="Hiragino Sans GB"/>
              </a:rPr>
              <a:t>墨攻 · 企业级智能体平台</a:t>
            </a:r>
            <a:endParaRPr/>
          </a:p>
        </p:txBody>
      </p:sp>
      <p:sp>
        <p:nvSpPr>
          <p:cNvPr id="213" name="矩形 212"/>
          <p:cNvSpPr/>
          <p:nvPr/>
        </p:nvSpPr>
        <p:spPr>
          <a:xfrm>
            <a:off x="10160000" y="64516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94A3B8"/>
                </a:solidFill>
                <a:latin typeface="Hiragino Sans GB"/>
                <a:ea typeface="Hiragino Sans GB"/>
              </a:rPr>
              <a:t>7 / 18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AutoShape 2"/>
          <p:cNvSpPr/>
          <p:nvPr/>
        </p:nvSpPr>
        <p:spPr>
          <a:xfrm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87" name="AutoShape 3"/>
          <p:cNvSpPr/>
          <p:nvPr/>
        </p:nvSpPr>
        <p:spPr>
          <a:xfrm>
            <a:off x="990600" y="5588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04 · P0 — 治理与风控层</a:t>
            </a:r>
            <a:endParaRPr lang="en-US" sz="1100"/>
          </a:p>
        </p:txBody>
      </p:sp>
      <p:sp>
        <p:nvSpPr>
          <p:cNvPr id="588" name="AutoShape 4"/>
          <p:cNvSpPr/>
          <p:nvPr/>
        </p:nvSpPr>
        <p:spPr>
          <a:xfrm>
            <a:off x="812800" y="838200"/>
            <a:ext cx="1056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六层串行门禁 + 风险矩阵 + 权限码 + 脱敏</a:t>
            </a:r>
            <a:endParaRPr lang="en-US" sz="1100"/>
          </a:p>
        </p:txBody>
      </p:sp>
      <p:cxnSp>
        <p:nvCxnSpPr>
          <p:cNvPr id="589" name="Connector 5"/>
          <p:cNvCxnSpPr/>
          <p:nvPr/>
        </p:nvCxnSpPr>
        <p:spPr>
          <a:xfrm rot="-4131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0" name="AutoShape 6"/>
          <p:cNvSpPr/>
          <p:nvPr/>
        </p:nvSpPr>
        <p:spPr>
          <a:xfrm>
            <a:off x="812800" y="16510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Gatekeeper 六层串行门禁（R4 红线不可覆盖）</a:t>
            </a:r>
            <a:endParaRPr lang="en-US" sz="1100"/>
          </a:p>
        </p:txBody>
      </p:sp>
      <p:sp>
        <p:nvSpPr>
          <p:cNvPr id="591" name="AutoShape 7"/>
          <p:cNvSpPr/>
          <p:nvPr/>
        </p:nvSpPr>
        <p:spPr>
          <a:xfrm>
            <a:off x="812800" y="1981200"/>
            <a:ext cx="1473200" cy="558800"/>
          </a:xfrm>
          <a:prstGeom prst="roundRect">
            <a:avLst>
              <a:gd name="adj" fmla="val 1818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92" name="AutoShape 8"/>
          <p:cNvSpPr/>
          <p:nvPr/>
        </p:nvSpPr>
        <p:spPr>
          <a:xfrm>
            <a:off x="812800" y="1981200"/>
            <a:ext cx="1473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身份</a:t>
            </a:r>
            <a:endParaRPr lang="en-US" sz="1100"/>
          </a:p>
        </p:txBody>
      </p:sp>
      <p:sp>
        <p:nvSpPr>
          <p:cNvPr id="593" name="AutoShape 9"/>
          <p:cNvSpPr/>
          <p:nvPr/>
        </p:nvSpPr>
        <p:spPr>
          <a:xfrm>
            <a:off x="2286000" y="1981200"/>
            <a:ext cx="203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▸</a:t>
            </a:r>
            <a:endParaRPr lang="en-US" sz="1100"/>
          </a:p>
        </p:txBody>
      </p:sp>
      <p:sp>
        <p:nvSpPr>
          <p:cNvPr id="594" name="AutoShape 10"/>
          <p:cNvSpPr/>
          <p:nvPr/>
        </p:nvSpPr>
        <p:spPr>
          <a:xfrm>
            <a:off x="2489200" y="1981200"/>
            <a:ext cx="1473200" cy="558800"/>
          </a:xfrm>
          <a:prstGeom prst="roundRect">
            <a:avLst>
              <a:gd name="adj" fmla="val 1818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95" name="AutoShape 11"/>
          <p:cNvSpPr/>
          <p:nvPr/>
        </p:nvSpPr>
        <p:spPr>
          <a:xfrm>
            <a:off x="2489200" y="1981200"/>
            <a:ext cx="1473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RBAC</a:t>
            </a:r>
            <a:endParaRPr lang="en-US" sz="1100"/>
          </a:p>
        </p:txBody>
      </p:sp>
      <p:sp>
        <p:nvSpPr>
          <p:cNvPr id="596" name="AutoShape 12"/>
          <p:cNvSpPr/>
          <p:nvPr/>
        </p:nvSpPr>
        <p:spPr>
          <a:xfrm>
            <a:off x="3962400" y="1981200"/>
            <a:ext cx="203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▸</a:t>
            </a:r>
            <a:endParaRPr lang="en-US" sz="1100"/>
          </a:p>
        </p:txBody>
      </p:sp>
      <p:sp>
        <p:nvSpPr>
          <p:cNvPr id="597" name="AutoShape 13"/>
          <p:cNvSpPr/>
          <p:nvPr/>
        </p:nvSpPr>
        <p:spPr>
          <a:xfrm>
            <a:off x="4165600" y="1981200"/>
            <a:ext cx="1473200" cy="558800"/>
          </a:xfrm>
          <a:prstGeom prst="roundRect">
            <a:avLst>
              <a:gd name="adj" fmla="val 1818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98" name="AutoShape 14"/>
          <p:cNvSpPr/>
          <p:nvPr/>
        </p:nvSpPr>
        <p:spPr>
          <a:xfrm>
            <a:off x="4165600" y="1981200"/>
            <a:ext cx="1473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脱敏</a:t>
            </a:r>
            <a:endParaRPr lang="en-US" sz="1100"/>
          </a:p>
        </p:txBody>
      </p:sp>
      <p:sp>
        <p:nvSpPr>
          <p:cNvPr id="599" name="AutoShape 15"/>
          <p:cNvSpPr/>
          <p:nvPr/>
        </p:nvSpPr>
        <p:spPr>
          <a:xfrm>
            <a:off x="5638800" y="1981200"/>
            <a:ext cx="203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▸</a:t>
            </a:r>
            <a:endParaRPr lang="en-US" sz="1100"/>
          </a:p>
        </p:txBody>
      </p:sp>
      <p:sp>
        <p:nvSpPr>
          <p:cNvPr id="600" name="AutoShape 16"/>
          <p:cNvSpPr/>
          <p:nvPr/>
        </p:nvSpPr>
        <p:spPr>
          <a:xfrm>
            <a:off x="5842000" y="1981200"/>
            <a:ext cx="1473200" cy="558800"/>
          </a:xfrm>
          <a:prstGeom prst="roundRect">
            <a:avLst>
              <a:gd name="adj" fmla="val 1818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01" name="AutoShape 17"/>
          <p:cNvSpPr/>
          <p:nvPr/>
        </p:nvSpPr>
        <p:spPr>
          <a:xfrm>
            <a:off x="5842000" y="1981200"/>
            <a:ext cx="1473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审批</a:t>
            </a:r>
            <a:endParaRPr lang="en-US" sz="1100"/>
          </a:p>
        </p:txBody>
      </p:sp>
      <p:sp>
        <p:nvSpPr>
          <p:cNvPr id="602" name="AutoShape 18"/>
          <p:cNvSpPr/>
          <p:nvPr/>
        </p:nvSpPr>
        <p:spPr>
          <a:xfrm>
            <a:off x="7315200" y="1981200"/>
            <a:ext cx="203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▸</a:t>
            </a:r>
            <a:endParaRPr lang="en-US" sz="1100"/>
          </a:p>
        </p:txBody>
      </p:sp>
      <p:sp>
        <p:nvSpPr>
          <p:cNvPr id="603" name="AutoShape 19"/>
          <p:cNvSpPr/>
          <p:nvPr/>
        </p:nvSpPr>
        <p:spPr>
          <a:xfrm>
            <a:off x="7518400" y="1981200"/>
            <a:ext cx="1473200" cy="558800"/>
          </a:xfrm>
          <a:prstGeom prst="roundRect">
            <a:avLst>
              <a:gd name="adj" fmla="val 18180"/>
            </a:avLst>
          </a:prstGeom>
          <a:solidFill>
            <a:srgbClr val="CCFBF1">
              <a:alpha val="100000"/>
            </a:srgbClr>
          </a:solidFill>
          <a:ln w="12700" cap="flat" cmpd="sng">
            <a:solidFill>
              <a:srgbClr val="10B9A9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04" name="AutoShape 20"/>
          <p:cNvSpPr/>
          <p:nvPr/>
        </p:nvSpPr>
        <p:spPr>
          <a:xfrm>
            <a:off x="7518400" y="1981200"/>
            <a:ext cx="1473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配额</a:t>
            </a:r>
            <a:endParaRPr lang="en-US" sz="1100"/>
          </a:p>
        </p:txBody>
      </p:sp>
      <p:sp>
        <p:nvSpPr>
          <p:cNvPr id="605" name="AutoShape 21"/>
          <p:cNvSpPr/>
          <p:nvPr/>
        </p:nvSpPr>
        <p:spPr>
          <a:xfrm>
            <a:off x="8991600" y="1981200"/>
            <a:ext cx="203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▸</a:t>
            </a:r>
            <a:endParaRPr lang="en-US" sz="1100"/>
          </a:p>
        </p:txBody>
      </p:sp>
      <p:sp>
        <p:nvSpPr>
          <p:cNvPr id="606" name="AutoShape 22"/>
          <p:cNvSpPr/>
          <p:nvPr/>
        </p:nvSpPr>
        <p:spPr>
          <a:xfrm>
            <a:off x="9194800" y="1981200"/>
            <a:ext cx="1473200" cy="558800"/>
          </a:xfrm>
          <a:prstGeom prst="roundRect">
            <a:avLst>
              <a:gd name="adj" fmla="val 18180"/>
            </a:avLst>
          </a:prstGeom>
          <a:solidFill>
            <a:srgbClr val="CCFBF1">
              <a:alpha val="100000"/>
            </a:srgbClr>
          </a:solidFill>
          <a:ln w="12700" cap="flat" cmpd="sng">
            <a:solidFill>
              <a:srgbClr val="10B9A9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07" name="AutoShape 23"/>
          <p:cNvSpPr/>
          <p:nvPr/>
        </p:nvSpPr>
        <p:spPr>
          <a:xfrm>
            <a:off x="9194800" y="1981200"/>
            <a:ext cx="1473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审计</a:t>
            </a:r>
            <a:endParaRPr lang="en-US" sz="1100"/>
          </a:p>
        </p:txBody>
      </p:sp>
      <p:sp>
        <p:nvSpPr>
          <p:cNvPr id="608" name="AutoShape 24"/>
          <p:cNvSpPr/>
          <p:nvPr/>
        </p:nvSpPr>
        <p:spPr>
          <a:xfrm>
            <a:off x="812800" y="2844800"/>
            <a:ext cx="5156200" cy="1219200"/>
          </a:xfrm>
          <a:prstGeom prst="roundRect">
            <a:avLst>
              <a:gd name="adj" fmla="val 1041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09" name="AutoShape 25"/>
          <p:cNvSpPr/>
          <p:nvPr/>
        </p:nvSpPr>
        <p:spPr>
          <a:xfrm>
            <a:off x="1066800" y="2997200"/>
            <a:ext cx="4648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R0–R4 风险分级 × L1–L5 自主矩阵（25 格）</a:t>
            </a:r>
            <a:endParaRPr lang="en-US" sz="1100"/>
          </a:p>
        </p:txBody>
      </p:sp>
      <p:sp>
        <p:nvSpPr>
          <p:cNvPr id="610" name="AutoShape 26"/>
          <p:cNvSpPr/>
          <p:nvPr/>
        </p:nvSpPr>
        <p:spPr>
          <a:xfrm>
            <a:off x="1066800" y="3302000"/>
            <a:ext cx="4648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把"敏感工具审批"升级为系统化分级放权：按风险等级决定自主级别。</a:t>
            </a:r>
            <a:endParaRPr lang="en-US" sz="1100"/>
          </a:p>
        </p:txBody>
      </p:sp>
      <p:sp>
        <p:nvSpPr>
          <p:cNvPr id="611" name="AutoShape 27"/>
          <p:cNvSpPr/>
          <p:nvPr/>
        </p:nvSpPr>
        <p:spPr>
          <a:xfrm>
            <a:off x="6324600" y="2844800"/>
            <a:ext cx="5054600" cy="1219200"/>
          </a:xfrm>
          <a:prstGeom prst="roundRect">
            <a:avLst>
              <a:gd name="adj" fmla="val 1041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12" name="AutoShape 28"/>
          <p:cNvSpPr/>
          <p:nvPr/>
        </p:nvSpPr>
        <p:spPr>
          <a:xfrm>
            <a:off x="6578600" y="2997200"/>
            <a:ext cx="4546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RBAC 权限码 &lt;resource&gt;:&lt;action&gt;[:&lt;target&gt;]</a:t>
            </a:r>
            <a:endParaRPr lang="en-US" sz="1100"/>
          </a:p>
        </p:txBody>
      </p:sp>
      <p:sp>
        <p:nvSpPr>
          <p:cNvPr id="613" name="AutoShape 29"/>
          <p:cNvSpPr/>
          <p:nvPr/>
        </p:nvSpPr>
        <p:spPr>
          <a:xfrm>
            <a:off x="6578600" y="3302000"/>
            <a:ext cx="4546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三级隔离、fail-closed 默认拒绝，替代当前粗粒度的"岗位角色"。</a:t>
            </a:r>
            <a:endParaRPr lang="en-US" sz="1100"/>
          </a:p>
        </p:txBody>
      </p:sp>
      <p:sp>
        <p:nvSpPr>
          <p:cNvPr id="614" name="AutoShape 30"/>
          <p:cNvSpPr/>
          <p:nvPr/>
        </p:nvSpPr>
        <p:spPr>
          <a:xfrm>
            <a:off x="812800" y="4216400"/>
            <a:ext cx="5156200" cy="1219200"/>
          </a:xfrm>
          <a:prstGeom prst="roundRect">
            <a:avLst>
              <a:gd name="adj" fmla="val 1041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15" name="AutoShape 31"/>
          <p:cNvSpPr/>
          <p:nvPr/>
        </p:nvSpPr>
        <p:spPr>
          <a:xfrm>
            <a:off x="1066800" y="4368800"/>
            <a:ext cx="4648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PII 脱敏层</a:t>
            </a:r>
            <a:endParaRPr lang="en-US" sz="1100"/>
          </a:p>
        </p:txBody>
      </p:sp>
      <p:sp>
        <p:nvSpPr>
          <p:cNvPr id="616" name="AutoShape 32"/>
          <p:cNvSpPr/>
          <p:nvPr/>
        </p:nvSpPr>
        <p:spPr>
          <a:xfrm>
            <a:off x="1066800" y="4673600"/>
            <a:ext cx="4648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私钥 / 身份证 / 银行卡 / 手机号 × mask / remove / hash / abstract 策略。</a:t>
            </a:r>
            <a:endParaRPr lang="en-US" sz="1100"/>
          </a:p>
        </p:txBody>
      </p:sp>
      <p:sp>
        <p:nvSpPr>
          <p:cNvPr id="617" name="AutoShape 33"/>
          <p:cNvSpPr/>
          <p:nvPr/>
        </p:nvSpPr>
        <p:spPr>
          <a:xfrm>
            <a:off x="6324600" y="4216400"/>
            <a:ext cx="5054600" cy="1219200"/>
          </a:xfrm>
          <a:prstGeom prst="roundRect">
            <a:avLst>
              <a:gd name="adj" fmla="val 1041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18" name="AutoShape 34"/>
          <p:cNvSpPr/>
          <p:nvPr/>
        </p:nvSpPr>
        <p:spPr>
          <a:xfrm>
            <a:off x="6578600" y="4368800"/>
            <a:ext cx="4546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会话保存/分享秘密过滤</a:t>
            </a:r>
            <a:endParaRPr lang="en-US" sz="1100"/>
          </a:p>
        </p:txBody>
      </p:sp>
      <p:sp>
        <p:nvSpPr>
          <p:cNvPr id="619" name="AutoShape 35"/>
          <p:cNvSpPr/>
          <p:nvPr/>
        </p:nvSpPr>
        <p:spPr>
          <a:xfrm>
            <a:off x="6578600" y="4673600"/>
            <a:ext cx="4546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发布时低熵秘密过滤、敏感内容换可逆占位符、clone 默认只读，与运行时拦截形成双保险。</a:t>
            </a:r>
            <a:endParaRPr lang="en-US" sz="1100"/>
          </a:p>
        </p:txBody>
      </p:sp>
      <p:sp>
        <p:nvSpPr>
          <p:cNvPr id="620" name="AutoShape 36"/>
          <p:cNvSpPr/>
          <p:nvPr/>
        </p:nvSpPr>
        <p:spPr>
          <a:xfrm>
            <a:off x="812800" y="5613400"/>
            <a:ext cx="10566400" cy="508000"/>
          </a:xfrm>
          <a:prstGeom prst="roundRect">
            <a:avLst>
              <a:gd name="adj" fmla="val 2000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21" name="AutoShape 37"/>
          <p:cNvSpPr/>
          <p:nvPr/>
        </p:nvSpPr>
        <p:spPr>
          <a:xfrm>
            <a:off x="1066800" y="561340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挂载点</a:t>
            </a:r>
            <a:endParaRPr lang="en-US" sz="1100"/>
          </a:p>
        </p:txBody>
      </p:sp>
      <p:sp>
        <p:nvSpPr>
          <p:cNvPr id="622" name="AutoShape 38"/>
          <p:cNvSpPr/>
          <p:nvPr/>
        </p:nvSpPr>
        <p:spPr>
          <a:xfrm>
            <a:off x="2489200" y="5613400"/>
            <a:ext cx="876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复用墨攻已有审批/配额/审计作门禁链挂载点，预留四类门禁可插拔接入，不推倒现有实现。</a:t>
            </a:r>
            <a:endParaRPr lang="en-US" sz="1100"/>
          </a:p>
        </p:txBody>
      </p:sp>
      <p:sp>
        <p:nvSpPr>
          <p:cNvPr id="623" name="AutoShape 39"/>
          <p:cNvSpPr/>
          <p:nvPr/>
        </p:nvSpPr>
        <p:spPr>
          <a:xfrm>
            <a:off x="812800" y="64516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墨攻 · 企业级智能体平台</a:t>
            </a:r>
            <a:endParaRPr lang="en-US" sz="1100"/>
          </a:p>
        </p:txBody>
      </p:sp>
      <p:sp>
        <p:nvSpPr>
          <p:cNvPr id="624" name="AutoShape 40"/>
          <p:cNvSpPr/>
          <p:nvPr/>
        </p:nvSpPr>
        <p:spPr>
          <a:xfrm>
            <a:off x="10617200" y="64516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zh-CN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AutoShape 2"/>
          <p:cNvSpPr/>
          <p:nvPr/>
        </p:nvSpPr>
        <p:spPr>
          <a:xfrm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27" name="AutoShape 3"/>
          <p:cNvSpPr/>
          <p:nvPr/>
        </p:nvSpPr>
        <p:spPr>
          <a:xfrm>
            <a:off x="990600" y="5588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04 · P0 — 生产可靠与可观测</a:t>
            </a:r>
            <a:endParaRPr lang="en-US" sz="1100"/>
          </a:p>
        </p:txBody>
      </p:sp>
      <p:sp>
        <p:nvSpPr>
          <p:cNvPr id="628" name="AutoShape 4"/>
          <p:cNvSpPr/>
          <p:nvPr/>
        </p:nvSpPr>
        <p:spPr>
          <a:xfrm>
            <a:off x="812800" y="838200"/>
            <a:ext cx="1056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网关韧性避免单点中断，驾驶舱让运营可观测</a:t>
            </a:r>
            <a:endParaRPr lang="en-US" sz="1100"/>
          </a:p>
        </p:txBody>
      </p:sp>
      <p:cxnSp>
        <p:nvCxnSpPr>
          <p:cNvPr id="629" name="Connector 5"/>
          <p:cNvCxnSpPr/>
          <p:nvPr/>
        </p:nvCxnSpPr>
        <p:spPr>
          <a:xfrm rot="-4131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0" name="AutoShape 6"/>
          <p:cNvSpPr/>
          <p:nvPr/>
        </p:nvSpPr>
        <p:spPr>
          <a:xfrm>
            <a:off x="812800" y="1727200"/>
            <a:ext cx="5156200" cy="3759200"/>
          </a:xfrm>
          <a:prstGeom prst="roundRect">
            <a:avLst>
              <a:gd name="adj" fmla="val 337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31" name="AutoShape 7"/>
          <p:cNvSpPr/>
          <p:nvPr/>
        </p:nvSpPr>
        <p:spPr>
          <a:xfrm>
            <a:off x="812800" y="1727200"/>
            <a:ext cx="5156200" cy="508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32" name="AutoShape 8"/>
          <p:cNvSpPr/>
          <p:nvPr/>
        </p:nvSpPr>
        <p:spPr>
          <a:xfrm>
            <a:off x="1092200" y="1930400"/>
            <a:ext cx="4597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LLM 网关韧性</a:t>
            </a:r>
            <a:endParaRPr lang="en-US" sz="1100"/>
          </a:p>
        </p:txBody>
      </p:sp>
      <p:sp>
        <p:nvSpPr>
          <p:cNvPr id="633" name="AutoShape 9"/>
          <p:cNvSpPr/>
          <p:nvPr/>
        </p:nvSpPr>
        <p:spPr>
          <a:xfrm>
            <a:off x="1092200" y="2235200"/>
            <a:ext cx="4597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主→备供应商故障转移，避免 LLM 单点中断</a:t>
            </a:r>
            <a:endParaRPr lang="en-US" sz="1100"/>
          </a:p>
        </p:txBody>
      </p:sp>
      <p:sp>
        <p:nvSpPr>
          <p:cNvPr id="634" name="AutoShape 10"/>
          <p:cNvSpPr/>
          <p:nvPr/>
        </p:nvSpPr>
        <p:spPr>
          <a:xfrm>
            <a:off x="1092200" y="2692400"/>
            <a:ext cx="279400" cy="279400"/>
          </a:xfrm>
          <a:prstGeom prst="ellipse">
            <a:avLst/>
          </a:prstGeom>
          <a:solidFill>
            <a:srgbClr val="CCFB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35" name="AutoShape 11"/>
          <p:cNvSpPr/>
          <p:nvPr/>
        </p:nvSpPr>
        <p:spPr>
          <a:xfrm>
            <a:off x="1092200" y="26924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1</a:t>
            </a:r>
            <a:endParaRPr lang="en-US" sz="1100"/>
          </a:p>
        </p:txBody>
      </p:sp>
      <p:sp>
        <p:nvSpPr>
          <p:cNvPr id="636" name="AutoShape 12"/>
          <p:cNvSpPr/>
          <p:nvPr/>
        </p:nvSpPr>
        <p:spPr>
          <a:xfrm>
            <a:off x="1524000" y="2667000"/>
            <a:ext cx="419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主→备故障转移 failover</a:t>
            </a:r>
            <a:endParaRPr lang="en-US" sz="1100"/>
          </a:p>
        </p:txBody>
      </p:sp>
      <p:sp>
        <p:nvSpPr>
          <p:cNvPr id="637" name="AutoShape 13"/>
          <p:cNvSpPr/>
          <p:nvPr/>
        </p:nvSpPr>
        <p:spPr>
          <a:xfrm>
            <a:off x="1524000" y="2921000"/>
            <a:ext cx="419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供应商自动切换，服务不中断</a:t>
            </a:r>
            <a:endParaRPr lang="en-US" sz="1100"/>
          </a:p>
        </p:txBody>
      </p:sp>
      <p:sp>
        <p:nvSpPr>
          <p:cNvPr id="638" name="AutoShape 14"/>
          <p:cNvSpPr/>
          <p:nvPr/>
        </p:nvSpPr>
        <p:spPr>
          <a:xfrm>
            <a:off x="1092200" y="3327400"/>
            <a:ext cx="279400" cy="279400"/>
          </a:xfrm>
          <a:prstGeom prst="ellipse">
            <a:avLst/>
          </a:prstGeom>
          <a:solidFill>
            <a:srgbClr val="CCFB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39" name="AutoShape 15"/>
          <p:cNvSpPr/>
          <p:nvPr/>
        </p:nvSpPr>
        <p:spPr>
          <a:xfrm>
            <a:off x="1092200" y="33274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2</a:t>
            </a:r>
            <a:endParaRPr lang="en-US" sz="1100"/>
          </a:p>
        </p:txBody>
      </p:sp>
      <p:sp>
        <p:nvSpPr>
          <p:cNvPr id="640" name="AutoShape 16"/>
          <p:cNvSpPr/>
          <p:nvPr/>
        </p:nvSpPr>
        <p:spPr>
          <a:xfrm>
            <a:off x="1524000" y="3302000"/>
            <a:ext cx="419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降级链 degradation_chain</a:t>
            </a:r>
            <a:endParaRPr lang="en-US" sz="1100"/>
          </a:p>
        </p:txBody>
      </p:sp>
      <p:sp>
        <p:nvSpPr>
          <p:cNvPr id="641" name="AutoShape 17"/>
          <p:cNvSpPr/>
          <p:nvPr/>
        </p:nvSpPr>
        <p:spPr>
          <a:xfrm>
            <a:off x="1524000" y="3556000"/>
            <a:ext cx="419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主模型失败逐级降档</a:t>
            </a:r>
            <a:endParaRPr lang="en-US" sz="1100"/>
          </a:p>
        </p:txBody>
      </p:sp>
      <p:sp>
        <p:nvSpPr>
          <p:cNvPr id="642" name="AutoShape 18"/>
          <p:cNvSpPr/>
          <p:nvPr/>
        </p:nvSpPr>
        <p:spPr>
          <a:xfrm>
            <a:off x="1092200" y="3962400"/>
            <a:ext cx="279400" cy="279400"/>
          </a:xfrm>
          <a:prstGeom prst="ellipse">
            <a:avLst/>
          </a:prstGeom>
          <a:solidFill>
            <a:srgbClr val="CCFB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43" name="AutoShape 19"/>
          <p:cNvSpPr/>
          <p:nvPr/>
        </p:nvSpPr>
        <p:spPr>
          <a:xfrm>
            <a:off x="1092200" y="39624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3</a:t>
            </a:r>
            <a:endParaRPr lang="en-US" sz="1100"/>
          </a:p>
        </p:txBody>
      </p:sp>
      <p:sp>
        <p:nvSpPr>
          <p:cNvPr id="644" name="AutoShape 20"/>
          <p:cNvSpPr/>
          <p:nvPr/>
        </p:nvSpPr>
        <p:spPr>
          <a:xfrm>
            <a:off x="1524000" y="3937000"/>
            <a:ext cx="419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指数退避重试</a:t>
            </a:r>
            <a:endParaRPr lang="en-US" sz="1100"/>
          </a:p>
        </p:txBody>
      </p:sp>
      <p:sp>
        <p:nvSpPr>
          <p:cNvPr id="645" name="AutoShape 21"/>
          <p:cNvSpPr/>
          <p:nvPr/>
        </p:nvSpPr>
        <p:spPr>
          <a:xfrm>
            <a:off x="1524000" y="4191000"/>
            <a:ext cx="419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瞬时故障自恢复，避免雪崩</a:t>
            </a:r>
            <a:endParaRPr lang="en-US" sz="1100"/>
          </a:p>
        </p:txBody>
      </p:sp>
      <p:sp>
        <p:nvSpPr>
          <p:cNvPr id="646" name="AutoShape 22"/>
          <p:cNvSpPr/>
          <p:nvPr/>
        </p:nvSpPr>
        <p:spPr>
          <a:xfrm>
            <a:off x="1092200" y="4597400"/>
            <a:ext cx="279400" cy="279400"/>
          </a:xfrm>
          <a:prstGeom prst="ellipse">
            <a:avLst/>
          </a:prstGeom>
          <a:solidFill>
            <a:srgbClr val="CCFB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47" name="AutoShape 23"/>
          <p:cNvSpPr/>
          <p:nvPr/>
        </p:nvSpPr>
        <p:spPr>
          <a:xfrm>
            <a:off x="1092200" y="45974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4</a:t>
            </a:r>
            <a:endParaRPr lang="en-US" sz="1100"/>
          </a:p>
        </p:txBody>
      </p:sp>
      <p:sp>
        <p:nvSpPr>
          <p:cNvPr id="648" name="AutoShape 24"/>
          <p:cNvSpPr/>
          <p:nvPr/>
        </p:nvSpPr>
        <p:spPr>
          <a:xfrm>
            <a:off x="1524000" y="4572000"/>
            <a:ext cx="419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用量 / 成本计量上报</a:t>
            </a:r>
            <a:endParaRPr lang="en-US" sz="1100"/>
          </a:p>
        </p:txBody>
      </p:sp>
      <p:sp>
        <p:nvSpPr>
          <p:cNvPr id="649" name="AutoShape 25"/>
          <p:cNvSpPr/>
          <p:nvPr/>
        </p:nvSpPr>
        <p:spPr>
          <a:xfrm>
            <a:off x="1524000" y="4826000"/>
            <a:ext cx="419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按模型与部门归集，支撑账单与配额</a:t>
            </a:r>
            <a:endParaRPr lang="en-US" sz="1100"/>
          </a:p>
        </p:txBody>
      </p:sp>
      <p:sp>
        <p:nvSpPr>
          <p:cNvPr id="650" name="AutoShape 26"/>
          <p:cNvSpPr/>
          <p:nvPr/>
        </p:nvSpPr>
        <p:spPr>
          <a:xfrm>
            <a:off x="6324600" y="1727200"/>
            <a:ext cx="5054600" cy="3759200"/>
          </a:xfrm>
          <a:prstGeom prst="roundRect">
            <a:avLst>
              <a:gd name="adj" fmla="val 337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51" name="AutoShape 27"/>
          <p:cNvSpPr/>
          <p:nvPr/>
        </p:nvSpPr>
        <p:spPr>
          <a:xfrm>
            <a:off x="6324600" y="1727200"/>
            <a:ext cx="5054600" cy="50800"/>
          </a:xfrm>
          <a:prstGeom prst="roundRect">
            <a:avLst>
              <a:gd name="adj" fmla="val 0"/>
            </a:avLst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52" name="AutoShape 28"/>
          <p:cNvSpPr/>
          <p:nvPr/>
        </p:nvSpPr>
        <p:spPr>
          <a:xfrm>
            <a:off x="6604000" y="1930400"/>
            <a:ext cx="4495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总览数据统计驾驶舱</a:t>
            </a:r>
            <a:endParaRPr lang="en-US" sz="1100"/>
          </a:p>
        </p:txBody>
      </p:sp>
      <p:sp>
        <p:nvSpPr>
          <p:cNvPr id="653" name="AutoShape 29"/>
          <p:cNvSpPr/>
          <p:nvPr/>
        </p:nvSpPr>
        <p:spPr>
          <a:xfrm>
            <a:off x="6604000" y="2235200"/>
            <a:ext cx="4495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管理后台扩展"运营驾驶舱"，复用已有运行数据</a:t>
            </a:r>
            <a:endParaRPr lang="en-US" sz="1100"/>
          </a:p>
        </p:txBody>
      </p:sp>
      <p:sp>
        <p:nvSpPr>
          <p:cNvPr id="654" name="AutoShape 30"/>
          <p:cNvSpPr/>
          <p:nvPr/>
        </p:nvSpPr>
        <p:spPr>
          <a:xfrm>
            <a:off x="6604000" y="26670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1</a:t>
            </a:r>
            <a:endParaRPr lang="en-US" sz="1100"/>
          </a:p>
        </p:txBody>
      </p:sp>
      <p:sp>
        <p:nvSpPr>
          <p:cNvPr id="655" name="AutoShape 31"/>
          <p:cNvSpPr/>
          <p:nvPr/>
        </p:nvSpPr>
        <p:spPr>
          <a:xfrm>
            <a:off x="7061200" y="26670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成本</a:t>
            </a:r>
            <a:endParaRPr lang="en-US" sz="1100"/>
          </a:p>
        </p:txBody>
      </p:sp>
      <p:sp>
        <p:nvSpPr>
          <p:cNvPr id="656" name="AutoShape 32"/>
          <p:cNvSpPr/>
          <p:nvPr/>
        </p:nvSpPr>
        <p:spPr>
          <a:xfrm>
            <a:off x="7061200" y="2921000"/>
            <a:ext cx="406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Token 总量 · 模型占比 · 部门/智能体分摊 · 预测</a:t>
            </a:r>
            <a:endParaRPr lang="en-US" sz="1100"/>
          </a:p>
        </p:txBody>
      </p:sp>
      <p:sp>
        <p:nvSpPr>
          <p:cNvPr id="657" name="AutoShape 33"/>
          <p:cNvSpPr/>
          <p:nvPr/>
        </p:nvSpPr>
        <p:spPr>
          <a:xfrm>
            <a:off x="6604000" y="33274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2</a:t>
            </a:r>
            <a:endParaRPr lang="en-US" sz="1100"/>
          </a:p>
        </p:txBody>
      </p:sp>
      <p:sp>
        <p:nvSpPr>
          <p:cNvPr id="658" name="AutoShape 34"/>
          <p:cNvSpPr/>
          <p:nvPr/>
        </p:nvSpPr>
        <p:spPr>
          <a:xfrm>
            <a:off x="7061200" y="33274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使用</a:t>
            </a:r>
            <a:endParaRPr lang="en-US" sz="1100"/>
          </a:p>
        </p:txBody>
      </p:sp>
      <p:sp>
        <p:nvSpPr>
          <p:cNvPr id="659" name="AutoShape 35"/>
          <p:cNvSpPr/>
          <p:nvPr/>
        </p:nvSpPr>
        <p:spPr>
          <a:xfrm>
            <a:off x="7061200" y="3581400"/>
            <a:ext cx="406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调用量 · 活跃用户 · Skill/检索频次</a:t>
            </a:r>
            <a:endParaRPr lang="en-US" sz="1100"/>
          </a:p>
        </p:txBody>
      </p:sp>
      <p:sp>
        <p:nvSpPr>
          <p:cNvPr id="660" name="AutoShape 36"/>
          <p:cNvSpPr/>
          <p:nvPr/>
        </p:nvSpPr>
        <p:spPr>
          <a:xfrm>
            <a:off x="6604000" y="39878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3</a:t>
            </a:r>
            <a:endParaRPr lang="en-US" sz="1100"/>
          </a:p>
        </p:txBody>
      </p:sp>
      <p:sp>
        <p:nvSpPr>
          <p:cNvPr id="661" name="AutoShape 37"/>
          <p:cNvSpPr/>
          <p:nvPr/>
        </p:nvSpPr>
        <p:spPr>
          <a:xfrm>
            <a:off x="7061200" y="39878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质量</a:t>
            </a:r>
            <a:endParaRPr lang="en-US" sz="1100"/>
          </a:p>
        </p:txBody>
      </p:sp>
      <p:sp>
        <p:nvSpPr>
          <p:cNvPr id="662" name="AutoShape 38"/>
          <p:cNvSpPr/>
          <p:nvPr/>
        </p:nvSpPr>
        <p:spPr>
          <a:xfrm>
            <a:off x="7061200" y="4241800"/>
            <a:ext cx="406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成功率 · 响应时长 · 异常率 · 人工介入率</a:t>
            </a:r>
            <a:endParaRPr lang="en-US" sz="1100"/>
          </a:p>
        </p:txBody>
      </p:sp>
      <p:sp>
        <p:nvSpPr>
          <p:cNvPr id="663" name="AutoShape 39"/>
          <p:cNvSpPr/>
          <p:nvPr/>
        </p:nvSpPr>
        <p:spPr>
          <a:xfrm>
            <a:off x="6604000" y="46482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4</a:t>
            </a:r>
            <a:endParaRPr lang="en-US" sz="1100"/>
          </a:p>
        </p:txBody>
      </p:sp>
      <p:sp>
        <p:nvSpPr>
          <p:cNvPr id="664" name="AutoShape 40"/>
          <p:cNvSpPr/>
          <p:nvPr/>
        </p:nvSpPr>
        <p:spPr>
          <a:xfrm>
            <a:off x="7061200" y="46482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趋势</a:t>
            </a:r>
            <a:endParaRPr lang="en-US" sz="1100"/>
          </a:p>
        </p:txBody>
      </p:sp>
      <p:sp>
        <p:nvSpPr>
          <p:cNvPr id="665" name="AutoShape 41"/>
          <p:cNvSpPr/>
          <p:nvPr/>
        </p:nvSpPr>
        <p:spPr>
          <a:xfrm>
            <a:off x="7061200" y="4902200"/>
            <a:ext cx="406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环比同比 · 瓶颈识别</a:t>
            </a:r>
            <a:endParaRPr lang="en-US" sz="1100"/>
          </a:p>
        </p:txBody>
      </p:sp>
      <p:sp>
        <p:nvSpPr>
          <p:cNvPr id="666" name="AutoShape 42"/>
          <p:cNvSpPr/>
          <p:nvPr/>
        </p:nvSpPr>
        <p:spPr>
          <a:xfrm>
            <a:off x="812800" y="5664200"/>
            <a:ext cx="10566400" cy="508000"/>
          </a:xfrm>
          <a:prstGeom prst="roundRect">
            <a:avLst>
              <a:gd name="adj" fmla="val 2000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67" name="AutoShape 43"/>
          <p:cNvSpPr/>
          <p:nvPr/>
        </p:nvSpPr>
        <p:spPr>
          <a:xfrm>
            <a:off x="1066800" y="566420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影响可控</a:t>
            </a:r>
            <a:endParaRPr lang="en-US" sz="1100"/>
          </a:p>
        </p:txBody>
      </p:sp>
      <p:sp>
        <p:nvSpPr>
          <p:cNvPr id="668" name="AutoShape 44"/>
          <p:cNvSpPr/>
          <p:nvPr/>
        </p:nvSpPr>
        <p:spPr>
          <a:xfrm>
            <a:off x="2489200" y="5664200"/>
            <a:ext cx="876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网关韧性改动集中在 llm/model_router.py 与 providers 模块；驾驶舱复用现有运行数据，直接作用于生产可用性。</a:t>
            </a:r>
            <a:endParaRPr lang="en-US" sz="1100"/>
          </a:p>
        </p:txBody>
      </p:sp>
      <p:sp>
        <p:nvSpPr>
          <p:cNvPr id="669" name="AutoShape 45"/>
          <p:cNvSpPr/>
          <p:nvPr/>
        </p:nvSpPr>
        <p:spPr>
          <a:xfrm>
            <a:off x="812800" y="64516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墨攻 · 企业级智能体平台</a:t>
            </a:r>
            <a:endParaRPr lang="en-US" sz="1100"/>
          </a:p>
        </p:txBody>
      </p:sp>
      <p:sp>
        <p:nvSpPr>
          <p:cNvPr id="670" name="AutoShape 46"/>
          <p:cNvSpPr/>
          <p:nvPr/>
        </p:nvSpPr>
        <p:spPr>
          <a:xfrm>
            <a:off x="10617200" y="64516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zh-CN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90600" y="5588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05 · P1 — 可靠执行与会话交接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12800" y="838200"/>
            <a:ext cx="1056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Hooks 拦截 · DAG 编排 · 会话/工作流双版本化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131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812800" y="1727200"/>
            <a:ext cx="3378200" cy="3759200"/>
          </a:xfrm>
          <a:prstGeom prst="roundRect">
            <a:avLst>
              <a:gd name="adj" fmla="val 375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12800" y="1727200"/>
            <a:ext cx="3378200" cy="508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66800" y="1955800"/>
            <a:ext cx="2870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① Hooks 拦截机制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2235200"/>
            <a:ext cx="2870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低成本高扩展的合规扩展点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66800" y="2692400"/>
            <a:ext cx="76200" cy="76200"/>
          </a:xfrm>
          <a:prstGeom prst="ellipse">
            <a:avLst/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244600" y="2590800"/>
            <a:ext cx="2743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五事件：SessionStart / PreToolUse / PostToolUse / SessionEnd / MemoryCommit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66800" y="3505200"/>
            <a:ext cx="76200" cy="76200"/>
          </a:xfrm>
          <a:prstGeom prst="ellipse">
            <a:avLst/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244600" y="3403600"/>
            <a:ext cx="274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超时保护 · fail-closed · 声明式规则 deny_tool / require_field / observe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66800" y="4368800"/>
            <a:ext cx="76200" cy="76200"/>
          </a:xfrm>
          <a:prstGeom prst="ellipse">
            <a:avLst/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244600" y="4267200"/>
            <a:ext cx="2743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切入点：先 PreToolUse 单事件，快速获得合规拦截与字段校验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394200" y="1727200"/>
            <a:ext cx="3378200" cy="3759200"/>
          </a:xfrm>
          <a:prstGeom prst="roundRect">
            <a:avLst>
              <a:gd name="adj" fmla="val 375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394200" y="1727200"/>
            <a:ext cx="3378200" cy="50800"/>
          </a:xfrm>
          <a:prstGeom prst="roundRect">
            <a:avLst>
              <a:gd name="adj" fmla="val 0"/>
            </a:avLst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648200" y="1955800"/>
            <a:ext cx="2870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② DAG 通用编排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48200" y="2235200"/>
            <a:ext cx="2870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从"规划/研究"到通用编排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48200" y="2692400"/>
            <a:ext cx="76200" cy="76200"/>
          </a:xfrm>
          <a:prstGeom prst="ellipse">
            <a:avLst/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826000" y="2590800"/>
            <a:ext cx="274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四模式：sequential / supervisor / hybrid / graph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48200" y="3454400"/>
            <a:ext cx="76200" cy="76200"/>
          </a:xfrm>
          <a:prstGeom prst="ellipse">
            <a:avLst/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4826000" y="3352800"/>
            <a:ext cx="274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DAG 拓扑排序 + 环检测，杜绝依赖回路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648200" y="4216400"/>
            <a:ext cx="76200" cy="76200"/>
          </a:xfrm>
          <a:prstGeom prst="ellipse">
            <a:avLst/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4826000" y="4114800"/>
            <a:ext cx="2743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条件跳过（表达式求值）+ 节点级指数退避重试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975600" y="1727200"/>
            <a:ext cx="3378200" cy="3759200"/>
          </a:xfrm>
          <a:prstGeom prst="roundRect">
            <a:avLst>
              <a:gd name="adj" fmla="val 375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7975600" y="1727200"/>
            <a:ext cx="3378200" cy="508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229600" y="1955800"/>
            <a:ext cx="2870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③ 会话/工作流双版本化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229600" y="2235200"/>
            <a:ext cx="2870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解决"换个人从头来""工作即沉没"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229600" y="2692400"/>
            <a:ext cx="76200" cy="76200"/>
          </a:xfrm>
          <a:prstGeom prst="ellipse">
            <a:avLst/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8407400" y="2590800"/>
            <a:ext cx="2743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会话级：commit 存进度 · log 回看 · resume 续写不分支 · share 交接上下文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229600" y="3530600"/>
            <a:ext cx="76200" cy="76200"/>
          </a:xfrm>
          <a:prstGeom prst="ellipse">
            <a:avLst/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407400" y="3429000"/>
            <a:ext cx="2743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工作流级：GraphSpec 可执行契约，版本发布 / 灰度 / 回滚 / 轨迹回放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229600" y="4368800"/>
            <a:ext cx="76200" cy="76200"/>
          </a:xfrm>
          <a:prstGeom prst="ellipse">
            <a:avLst/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8407400" y="4267200"/>
            <a:ext cx="274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二者互补：会话管上下文，工作流管流程定义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12800" y="5664200"/>
            <a:ext cx="10566400" cy="508000"/>
          </a:xfrm>
          <a:prstGeom prst="roundRect">
            <a:avLst>
              <a:gd name="adj" fmla="val 2000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066800" y="56642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会话级是横切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2692400" y="5664200"/>
            <a:ext cx="8559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会话级与脱敏（保存时）、Hooks（生命周期事件）、自进化（会话→经验→Skill）交叉，也与现有 Workspace/组织打通多人协同。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12800" y="64516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墨攻 · 企业级智能体平台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10617200" y="64516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zh-CN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AutoShape 2"/>
          <p:cNvSpPr/>
          <p:nvPr/>
        </p:nvSpPr>
        <p:spPr>
          <a:xfrm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3"/>
          <p:cNvSpPr/>
          <p:nvPr/>
        </p:nvSpPr>
        <p:spPr>
          <a:xfrm>
            <a:off x="990600" y="5588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293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06 · P2 — 自进化与生态</a:t>
            </a:r>
            <a:endParaRPr lang="en-US" sz="1100"/>
          </a:p>
        </p:txBody>
      </p:sp>
      <p:sp>
        <p:nvSpPr>
          <p:cNvPr id="44" name="AutoShape 4"/>
          <p:cNvSpPr/>
          <p:nvPr/>
        </p:nvSpPr>
        <p:spPr>
          <a:xfrm>
            <a:off x="812800" y="838200"/>
            <a:ext cx="1056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把"会话 → 经验 → Skill"串成主线，越用越聪明</a:t>
            </a:r>
            <a:endParaRPr lang="en-US" sz="1100"/>
          </a:p>
        </p:txBody>
      </p:sp>
      <p:cxnSp>
        <p:nvCxnSpPr>
          <p:cNvPr id="45" name="Connector 5"/>
          <p:cNvCxnSpPr/>
          <p:nvPr/>
        </p:nvCxnSpPr>
        <p:spPr>
          <a:xfrm rot="-4131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AutoShape 6"/>
          <p:cNvSpPr/>
          <p:nvPr/>
        </p:nvSpPr>
        <p:spPr>
          <a:xfrm>
            <a:off x="812800" y="16764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Dream Cycle 三层自进化</a:t>
            </a:r>
            <a:endParaRPr lang="en-US" sz="1100"/>
          </a:p>
        </p:txBody>
      </p:sp>
      <p:sp>
        <p:nvSpPr>
          <p:cNvPr id="47" name="AutoShape 7"/>
          <p:cNvSpPr/>
          <p:nvPr/>
        </p:nvSpPr>
        <p:spPr>
          <a:xfrm>
            <a:off x="812800" y="2006600"/>
            <a:ext cx="5080000" cy="914400"/>
          </a:xfrm>
          <a:prstGeom prst="roundRect">
            <a:avLst>
              <a:gd name="adj" fmla="val 13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8" name="AutoShape 8"/>
          <p:cNvSpPr/>
          <p:nvPr/>
        </p:nvSpPr>
        <p:spPr>
          <a:xfrm>
            <a:off x="1066800" y="21590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A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1</a:t>
            </a:r>
            <a:endParaRPr lang="en-US" sz="1100"/>
          </a:p>
        </p:txBody>
      </p:sp>
      <p:sp>
        <p:nvSpPr>
          <p:cNvPr id="49" name="AutoShape 9"/>
          <p:cNvSpPr/>
          <p:nvPr/>
        </p:nvSpPr>
        <p:spPr>
          <a:xfrm>
            <a:off x="1473200" y="2159000"/>
            <a:ext cx="4216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经验沉淀</a:t>
            </a:r>
            <a:endParaRPr lang="en-US" sz="1100"/>
          </a:p>
        </p:txBody>
      </p:sp>
      <p:sp>
        <p:nvSpPr>
          <p:cNvPr id="50" name="AutoShape 10"/>
          <p:cNvSpPr/>
          <p:nvPr/>
        </p:nvSpPr>
        <p:spPr>
          <a:xfrm>
            <a:off x="1473200" y="2438400"/>
            <a:ext cx="421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friction 触发，记录高价值实践（Agent 越用越聪明）</a:t>
            </a:r>
            <a:endParaRPr lang="en-US" sz="1100"/>
          </a:p>
        </p:txBody>
      </p:sp>
      <p:sp>
        <p:nvSpPr>
          <p:cNvPr id="51" name="AutoShape 11"/>
          <p:cNvSpPr/>
          <p:nvPr/>
        </p:nvSpPr>
        <p:spPr>
          <a:xfrm>
            <a:off x="3251200" y="2946400"/>
            <a:ext cx="203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⇣</a:t>
            </a:r>
            <a:endParaRPr lang="en-US" sz="1100"/>
          </a:p>
        </p:txBody>
      </p:sp>
      <p:sp>
        <p:nvSpPr>
          <p:cNvPr id="52" name="AutoShape 12"/>
          <p:cNvSpPr/>
          <p:nvPr/>
        </p:nvSpPr>
        <p:spPr>
          <a:xfrm>
            <a:off x="812800" y="3200400"/>
            <a:ext cx="5080000" cy="914400"/>
          </a:xfrm>
          <a:prstGeom prst="roundRect">
            <a:avLst>
              <a:gd name="adj" fmla="val 13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3" name="AutoShape 13"/>
          <p:cNvSpPr/>
          <p:nvPr/>
        </p:nvSpPr>
        <p:spPr>
          <a:xfrm>
            <a:off x="1066800" y="33528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A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2</a:t>
            </a:r>
            <a:endParaRPr lang="en-US" sz="1100"/>
          </a:p>
        </p:txBody>
      </p:sp>
      <p:sp>
        <p:nvSpPr>
          <p:cNvPr id="54" name="AutoShape 14"/>
          <p:cNvSpPr/>
          <p:nvPr/>
        </p:nvSpPr>
        <p:spPr>
          <a:xfrm>
            <a:off x="1473200" y="3352800"/>
            <a:ext cx="4216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自动发现 → 生成 Skill 草稿 + 自动建 MR</a:t>
            </a:r>
            <a:endParaRPr lang="en-US" sz="1100"/>
          </a:p>
        </p:txBody>
      </p:sp>
      <p:sp>
        <p:nvSpPr>
          <p:cNvPr id="55" name="AutoShape 15"/>
          <p:cNvSpPr/>
          <p:nvPr/>
        </p:nvSpPr>
        <p:spPr>
          <a:xfrm>
            <a:off x="1473200" y="3632200"/>
            <a:ext cx="421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周期扫描重复模式，产出可复用 Skill</a:t>
            </a:r>
            <a:endParaRPr lang="en-US" sz="1100"/>
          </a:p>
        </p:txBody>
      </p:sp>
      <p:sp>
        <p:nvSpPr>
          <p:cNvPr id="56" name="AutoShape 16"/>
          <p:cNvSpPr/>
          <p:nvPr/>
        </p:nvSpPr>
        <p:spPr>
          <a:xfrm>
            <a:off x="3251200" y="4140200"/>
            <a:ext cx="203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⇣</a:t>
            </a:r>
            <a:endParaRPr lang="en-US" sz="1100"/>
          </a:p>
        </p:txBody>
      </p:sp>
      <p:sp>
        <p:nvSpPr>
          <p:cNvPr id="57" name="AutoShape 17"/>
          <p:cNvSpPr/>
          <p:nvPr/>
        </p:nvSpPr>
        <p:spPr>
          <a:xfrm>
            <a:off x="812800" y="4394200"/>
            <a:ext cx="5080000" cy="914400"/>
          </a:xfrm>
          <a:prstGeom prst="roundRect">
            <a:avLst>
              <a:gd name="adj" fmla="val 13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8" name="AutoShape 18"/>
          <p:cNvSpPr/>
          <p:nvPr/>
        </p:nvSpPr>
        <p:spPr>
          <a:xfrm>
            <a:off x="1066800" y="45466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A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3</a:t>
            </a:r>
            <a:endParaRPr lang="en-US" sz="1100"/>
          </a:p>
        </p:txBody>
      </p:sp>
      <p:sp>
        <p:nvSpPr>
          <p:cNvPr id="59" name="AutoShape 19"/>
          <p:cNvSpPr/>
          <p:nvPr/>
        </p:nvSpPr>
        <p:spPr>
          <a:xfrm>
            <a:off x="1473200" y="4546600"/>
            <a:ext cx="4216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低采纳率自动淘汰</a:t>
            </a:r>
            <a:endParaRPr lang="en-US" sz="1100"/>
          </a:p>
        </p:txBody>
      </p:sp>
      <p:sp>
        <p:nvSpPr>
          <p:cNvPr id="60" name="AutoShape 20"/>
          <p:cNvSpPr/>
          <p:nvPr/>
        </p:nvSpPr>
        <p:spPr>
          <a:xfrm>
            <a:off x="1473200" y="4826000"/>
            <a:ext cx="421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未验证的经验自动下线，保持生态质量</a:t>
            </a:r>
            <a:endParaRPr lang="en-US" sz="1100"/>
          </a:p>
        </p:txBody>
      </p:sp>
      <p:sp>
        <p:nvSpPr>
          <p:cNvPr id="61" name="AutoShape 21"/>
          <p:cNvSpPr/>
          <p:nvPr/>
        </p:nvSpPr>
        <p:spPr>
          <a:xfrm>
            <a:off x="6223000" y="1676400"/>
            <a:ext cx="5156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生态清单（P2 其余项 + 清单外新增）</a:t>
            </a:r>
            <a:endParaRPr lang="en-US" sz="1100"/>
          </a:p>
        </p:txBody>
      </p:sp>
      <p:sp>
        <p:nvSpPr>
          <p:cNvPr id="62" name="AutoShape 22"/>
          <p:cNvSpPr/>
          <p:nvPr/>
        </p:nvSpPr>
        <p:spPr>
          <a:xfrm>
            <a:off x="6223000" y="2006600"/>
            <a:ext cx="24892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3" name="AutoShape 23"/>
          <p:cNvSpPr/>
          <p:nvPr/>
        </p:nvSpPr>
        <p:spPr>
          <a:xfrm>
            <a:off x="6400800" y="2006600"/>
            <a:ext cx="2184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A2A Agent 互通网关</a:t>
            </a:r>
            <a:endParaRPr lang="en-US" sz="1100"/>
          </a:p>
        </p:txBody>
      </p:sp>
      <p:sp>
        <p:nvSpPr>
          <p:cNvPr id="64" name="AutoShape 24"/>
          <p:cNvSpPr/>
          <p:nvPr/>
        </p:nvSpPr>
        <p:spPr>
          <a:xfrm>
            <a:off x="8890000" y="2006600"/>
            <a:ext cx="24892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5" name="AutoShape 25"/>
          <p:cNvSpPr/>
          <p:nvPr/>
        </p:nvSpPr>
        <p:spPr>
          <a:xfrm>
            <a:off x="9067800" y="2006600"/>
            <a:ext cx="2184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多 IM 入口（飞书/钉钉/企微）</a:t>
            </a:r>
            <a:endParaRPr lang="en-US" sz="1100"/>
          </a:p>
        </p:txBody>
      </p:sp>
      <p:sp>
        <p:nvSpPr>
          <p:cNvPr id="66" name="AutoShape 26"/>
          <p:cNvSpPr/>
          <p:nvPr/>
        </p:nvSpPr>
        <p:spPr>
          <a:xfrm>
            <a:off x="6223000" y="2743200"/>
            <a:ext cx="24892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7" name="AutoShape 27"/>
          <p:cNvSpPr/>
          <p:nvPr/>
        </p:nvSpPr>
        <p:spPr>
          <a:xfrm>
            <a:off x="6400800" y="2743200"/>
            <a:ext cx="2184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业务系统语义索引</a:t>
            </a:r>
            <a:endParaRPr lang="en-US" sz="1100"/>
          </a:p>
        </p:txBody>
      </p:sp>
      <p:sp>
        <p:nvSpPr>
          <p:cNvPr id="68" name="AutoShape 28"/>
          <p:cNvSpPr/>
          <p:nvPr/>
        </p:nvSpPr>
        <p:spPr>
          <a:xfrm>
            <a:off x="8890000" y="2743200"/>
            <a:ext cx="24892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9" name="AutoShape 29"/>
          <p:cNvSpPr/>
          <p:nvPr/>
        </p:nvSpPr>
        <p:spPr>
          <a:xfrm>
            <a:off x="9067800" y="2743200"/>
            <a:ext cx="2184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知识图谱层</a:t>
            </a:r>
            <a:endParaRPr lang="en-US" sz="1100"/>
          </a:p>
        </p:txBody>
      </p:sp>
      <p:sp>
        <p:nvSpPr>
          <p:cNvPr id="70" name="AutoShape 30"/>
          <p:cNvSpPr/>
          <p:nvPr/>
        </p:nvSpPr>
        <p:spPr>
          <a:xfrm>
            <a:off x="6223000" y="3479800"/>
            <a:ext cx="24892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1" name="AutoShape 31"/>
          <p:cNvSpPr/>
          <p:nvPr/>
        </p:nvSpPr>
        <p:spPr>
          <a:xfrm>
            <a:off x="6400800" y="3479800"/>
            <a:ext cx="2184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Skill 市场强化（版本/监控）</a:t>
            </a:r>
            <a:endParaRPr lang="en-US" sz="1100"/>
          </a:p>
        </p:txBody>
      </p:sp>
      <p:sp>
        <p:nvSpPr>
          <p:cNvPr id="72" name="AutoShape 32"/>
          <p:cNvSpPr/>
          <p:nvPr/>
        </p:nvSpPr>
        <p:spPr>
          <a:xfrm>
            <a:off x="8890000" y="3479800"/>
            <a:ext cx="24892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3" name="AutoShape 33"/>
          <p:cNvSpPr/>
          <p:nvPr/>
        </p:nvSpPr>
        <p:spPr>
          <a:xfrm>
            <a:off x="9067800" y="3479800"/>
            <a:ext cx="2184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三范围 Memory（个人/组织）</a:t>
            </a:r>
            <a:endParaRPr lang="en-US" sz="1100"/>
          </a:p>
        </p:txBody>
      </p:sp>
      <p:sp>
        <p:nvSpPr>
          <p:cNvPr id="74" name="AutoShape 34"/>
          <p:cNvSpPr/>
          <p:nvPr/>
        </p:nvSpPr>
        <p:spPr>
          <a:xfrm>
            <a:off x="6223000" y="4216400"/>
            <a:ext cx="24892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5" name="AutoShape 43"/>
          <p:cNvSpPr/>
          <p:nvPr/>
        </p:nvSpPr>
        <p:spPr>
          <a:xfrm>
            <a:off x="6223000" y="4953000"/>
            <a:ext cx="24892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6" name="AutoShape 44"/>
          <p:cNvSpPr/>
          <p:nvPr/>
        </p:nvSpPr>
        <p:spPr>
          <a:xfrm>
            <a:off x="8890000" y="4953000"/>
            <a:ext cx="24892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7" name="AutoShape 35"/>
          <p:cNvSpPr/>
          <p:nvPr/>
        </p:nvSpPr>
        <p:spPr>
          <a:xfrm>
            <a:off x="6400800" y="4216400"/>
            <a:ext cx="2184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能力资产化「发现→注册」</a:t>
            </a:r>
            <a:endParaRPr lang="en-US" sz="1100"/>
          </a:p>
        </p:txBody>
      </p:sp>
      <p:sp>
        <p:nvSpPr>
          <p:cNvPr id="78" name="AutoShape 45"/>
          <p:cNvSpPr/>
          <p:nvPr/>
        </p:nvSpPr>
        <p:spPr>
          <a:xfrm>
            <a:off x="6400800" y="4953000"/>
            <a:ext cx="2184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020 平台化多租户（清单外新增）</a:t>
            </a:r>
            <a:endParaRPr lang="en-US" sz="1100"/>
          </a:p>
        </p:txBody>
      </p:sp>
      <p:sp>
        <p:nvSpPr>
          <p:cNvPr id="79" name="AutoShape 46"/>
          <p:cNvSpPr/>
          <p:nvPr/>
        </p:nvSpPr>
        <p:spPr>
          <a:xfrm>
            <a:off x="9067800" y="4953000"/>
            <a:ext cx="2184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021 统一上下文地址（清单外新增）</a:t>
            </a:r>
            <a:endParaRPr lang="en-US" sz="1100"/>
          </a:p>
        </p:txBody>
      </p:sp>
      <p:sp>
        <p:nvSpPr>
          <p:cNvPr id="80" name="AutoShape 36"/>
          <p:cNvSpPr/>
          <p:nvPr/>
        </p:nvSpPr>
        <p:spPr>
          <a:xfrm>
            <a:off x="8890000" y="4216400"/>
            <a:ext cx="24892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1" name="AutoShape 37"/>
          <p:cNvSpPr/>
          <p:nvPr/>
        </p:nvSpPr>
        <p:spPr>
          <a:xfrm>
            <a:off x="9067800" y="4216400"/>
            <a:ext cx="2184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厚 / 薄 Harness 弹性配置</a:t>
            </a:r>
            <a:endParaRPr lang="en-US" sz="1100"/>
          </a:p>
        </p:txBody>
      </p:sp>
      <p:sp>
        <p:nvSpPr>
          <p:cNvPr id="82" name="AutoShape 38"/>
          <p:cNvSpPr/>
          <p:nvPr/>
        </p:nvSpPr>
        <p:spPr>
          <a:xfrm>
            <a:off x="812800" y="5613400"/>
            <a:ext cx="10566400" cy="533400"/>
          </a:xfrm>
          <a:prstGeom prst="roundRect">
            <a:avLst>
              <a:gd name="adj" fmla="val 19047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3" name="AutoShape 39"/>
          <p:cNvSpPr/>
          <p:nvPr/>
        </p:nvSpPr>
        <p:spPr>
          <a:xfrm>
            <a:off x="1066800" y="5613400"/>
            <a:ext cx="1397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目标形态</a:t>
            </a:r>
            <a:endParaRPr lang="en-US" sz="1100"/>
          </a:p>
        </p:txBody>
      </p:sp>
      <p:sp>
        <p:nvSpPr>
          <p:cNvPr id="84" name="AutoShape 40"/>
          <p:cNvSpPr/>
          <p:nvPr/>
        </p:nvSpPr>
        <p:spPr>
          <a:xfrm>
            <a:off x="2489200" y="5613400"/>
            <a:ext cx="8763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组织级「数字组织」：一个人的会话成为团队与后续自动化的起点——工作量最大，故后置到阶段三。</a:t>
            </a:r>
            <a:endParaRPr lang="en-US" sz="1100"/>
          </a:p>
        </p:txBody>
      </p:sp>
      <p:sp>
        <p:nvSpPr>
          <p:cNvPr id="85" name="AutoShape 41"/>
          <p:cNvSpPr/>
          <p:nvPr/>
        </p:nvSpPr>
        <p:spPr>
          <a:xfrm>
            <a:off x="812800" y="64516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墨攻 · 企业级智能体平台</a:t>
            </a:r>
            <a:endParaRPr lang="en-US" sz="1100"/>
          </a:p>
        </p:txBody>
      </p:sp>
      <p:sp>
        <p:nvSpPr>
          <p:cNvPr id="86" name="AutoShape 42"/>
          <p:cNvSpPr/>
          <p:nvPr/>
        </p:nvSpPr>
        <p:spPr>
          <a:xfrm>
            <a:off x="10617200" y="64516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zh-CN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utoShape 2"/>
          <p:cNvSpPr/>
          <p:nvPr/>
        </p:nvSpPr>
        <p:spPr>
          <a:xfrm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9" name="AutoShape 3"/>
          <p:cNvSpPr/>
          <p:nvPr/>
        </p:nvSpPr>
        <p:spPr>
          <a:xfrm>
            <a:off x="990600" y="5588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07 · 实施路线图</a:t>
            </a:r>
            <a:endParaRPr lang="en-US" sz="1100"/>
          </a:p>
        </p:txBody>
      </p:sp>
      <p:sp>
        <p:nvSpPr>
          <p:cNvPr id="90" name="AutoShape 4"/>
          <p:cNvSpPr/>
          <p:nvPr/>
        </p:nvSpPr>
        <p:spPr>
          <a:xfrm>
            <a:off x="812800" y="838200"/>
            <a:ext cx="1056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 dirty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1</a:t>
            </a:r>
            <a:r>
              <a:rPr lang="en-US" altLang="zh-CN" sz="2600" b="1" i="0" u="none" strike="noStrike" dirty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7</a:t>
            </a:r>
            <a:r>
              <a:rPr lang="en-US" sz="2600" b="1" i="0" u="none" strike="noStrike" dirty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</a:t>
            </a:r>
            <a:r>
              <a:rPr lang="en-US" sz="2600" b="1" i="0" u="none" strike="noStrike" dirty="0" err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项</a:t>
            </a:r>
            <a:r>
              <a:rPr lang="en-US" sz="2600" b="1" i="0" u="none" strike="noStrike" dirty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</a:t>
            </a:r>
            <a:r>
              <a:rPr lang="en-US" sz="2600" b="1" i="0" u="none" strike="noStrike" dirty="0" err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已按</a:t>
            </a:r>
            <a:r>
              <a:rPr lang="en-US" sz="2600" b="1" i="0" u="none" strike="noStrike" dirty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SDD </a:t>
            </a:r>
            <a:r>
              <a:rPr lang="en-US" sz="2600" b="1" i="0" u="none" strike="noStrike" dirty="0" err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落地，库代码</a:t>
            </a:r>
            <a:r>
              <a:rPr lang="en-US" sz="2600" b="1" i="0" u="none" strike="noStrike" dirty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+ </a:t>
            </a:r>
            <a:r>
              <a:rPr lang="en-US" sz="2600" b="1" i="0" u="none" strike="noStrike" dirty="0" err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单测全绿</a:t>
            </a:r>
            <a:endParaRPr lang="en-US" sz="1100" dirty="0"/>
          </a:p>
        </p:txBody>
      </p:sp>
      <p:cxnSp>
        <p:nvCxnSpPr>
          <p:cNvPr id="91" name="Connector 5"/>
          <p:cNvCxnSpPr/>
          <p:nvPr/>
        </p:nvCxnSpPr>
        <p:spPr>
          <a:xfrm rot="-4131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AutoShape 6"/>
          <p:cNvSpPr/>
          <p:nvPr/>
        </p:nvSpPr>
        <p:spPr>
          <a:xfrm>
            <a:off x="812800" y="1727200"/>
            <a:ext cx="3378200" cy="711200"/>
          </a:xfrm>
          <a:prstGeom prst="roundRect">
            <a:avLst>
              <a:gd name="adj" fmla="val 14284"/>
            </a:avLst>
          </a:prstGeom>
          <a:solidFill>
            <a:srgbClr val="0D9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3" name="AutoShape 7"/>
          <p:cNvSpPr/>
          <p:nvPr/>
        </p:nvSpPr>
        <p:spPr>
          <a:xfrm>
            <a:off x="1066800" y="18288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P0</a:t>
            </a:r>
            <a:endParaRPr lang="en-US" sz="1100"/>
          </a:p>
        </p:txBody>
      </p:sp>
      <p:sp>
        <p:nvSpPr>
          <p:cNvPr id="94" name="AutoShape 8"/>
          <p:cNvSpPr/>
          <p:nvPr/>
        </p:nvSpPr>
        <p:spPr>
          <a:xfrm>
            <a:off x="1625600" y="1828800"/>
            <a:ext cx="241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生产底座</a:t>
            </a:r>
            <a:endParaRPr lang="en-US" sz="1100"/>
          </a:p>
        </p:txBody>
      </p:sp>
      <p:sp>
        <p:nvSpPr>
          <p:cNvPr id="95" name="AutoShape 9"/>
          <p:cNvSpPr/>
          <p:nvPr/>
        </p:nvSpPr>
        <p:spPr>
          <a:xfrm>
            <a:off x="1066800" y="2692400"/>
            <a:ext cx="76200" cy="76200"/>
          </a:xfrm>
          <a:prstGeom prst="ellipse">
            <a:avLst/>
          </a:prstGeom>
          <a:solidFill>
            <a:srgbClr val="0D9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6" name="AutoShape 10"/>
          <p:cNvSpPr/>
          <p:nvPr/>
        </p:nvSpPr>
        <p:spPr>
          <a:xfrm>
            <a:off x="1244600" y="2590800"/>
            <a:ext cx="2844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风控引擎：Gatekeeper · R0–R4 · RBAC 码 · PII 脱敏</a:t>
            </a:r>
            <a:endParaRPr lang="en-US" sz="1100"/>
          </a:p>
        </p:txBody>
      </p:sp>
      <p:sp>
        <p:nvSpPr>
          <p:cNvPr id="97" name="AutoShape 11"/>
          <p:cNvSpPr/>
          <p:nvPr/>
        </p:nvSpPr>
        <p:spPr>
          <a:xfrm>
            <a:off x="1066800" y="3352800"/>
            <a:ext cx="76200" cy="76200"/>
          </a:xfrm>
          <a:prstGeom prst="ellipse">
            <a:avLst/>
          </a:prstGeom>
          <a:solidFill>
            <a:srgbClr val="0D9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8" name="AutoShape 12"/>
          <p:cNvSpPr/>
          <p:nvPr/>
        </p:nvSpPr>
        <p:spPr>
          <a:xfrm>
            <a:off x="1244600" y="3251200"/>
            <a:ext cx="2844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LLM 网关韧性：failover · 降级 · 退避</a:t>
            </a:r>
            <a:endParaRPr lang="en-US" sz="1100"/>
          </a:p>
        </p:txBody>
      </p:sp>
      <p:sp>
        <p:nvSpPr>
          <p:cNvPr id="99" name="AutoShape 13"/>
          <p:cNvSpPr/>
          <p:nvPr/>
        </p:nvSpPr>
        <p:spPr>
          <a:xfrm>
            <a:off x="1066800" y="3911600"/>
            <a:ext cx="76200" cy="76200"/>
          </a:xfrm>
          <a:prstGeom prst="ellipse">
            <a:avLst/>
          </a:prstGeom>
          <a:solidFill>
            <a:srgbClr val="0D9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0" name="AutoShape 14"/>
          <p:cNvSpPr/>
          <p:nvPr/>
        </p:nvSpPr>
        <p:spPr>
          <a:xfrm>
            <a:off x="1244600" y="3810000"/>
            <a:ext cx="2844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运营驾驶舱：成本 / 使用 / 质量 / 趋势</a:t>
            </a:r>
            <a:endParaRPr lang="en-US" sz="1100"/>
          </a:p>
        </p:txBody>
      </p:sp>
      <p:sp>
        <p:nvSpPr>
          <p:cNvPr id="101" name="AutoShape 15"/>
          <p:cNvSpPr/>
          <p:nvPr/>
        </p:nvSpPr>
        <p:spPr>
          <a:xfrm>
            <a:off x="1066800" y="4470400"/>
            <a:ext cx="2870200" cy="838200"/>
          </a:xfrm>
          <a:prstGeom prst="roundRect">
            <a:avLst>
              <a:gd name="adj" fmla="val 12120"/>
            </a:avLst>
          </a:prstGeom>
          <a:solidFill>
            <a:srgbClr val="CCFB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2" name="AutoShape 16"/>
          <p:cNvSpPr/>
          <p:nvPr/>
        </p:nvSpPr>
        <p:spPr>
          <a:xfrm>
            <a:off x="1244600" y="4572000"/>
            <a:ext cx="71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交付</a:t>
            </a:r>
            <a:endParaRPr lang="en-US" sz="1100"/>
          </a:p>
        </p:txBody>
      </p:sp>
      <p:sp>
        <p:nvSpPr>
          <p:cNvPr id="103" name="AutoShape 17"/>
          <p:cNvSpPr/>
          <p:nvPr/>
        </p:nvSpPr>
        <p:spPr>
          <a:xfrm>
            <a:off x="1244600" y="4800600"/>
            <a:ext cx="2514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✅ 已落地（库+单测+生产接线）：合规入场券 · 生产可用性 · 可观测</a:t>
            </a:r>
            <a:endParaRPr lang="en-US" sz="1100"/>
          </a:p>
        </p:txBody>
      </p:sp>
      <p:sp>
        <p:nvSpPr>
          <p:cNvPr id="104" name="AutoShape 18"/>
          <p:cNvSpPr/>
          <p:nvPr/>
        </p:nvSpPr>
        <p:spPr>
          <a:xfrm>
            <a:off x="4394200" y="1727200"/>
            <a:ext cx="3378200" cy="711200"/>
          </a:xfrm>
          <a:prstGeom prst="roundRect">
            <a:avLst>
              <a:gd name="adj" fmla="val 14284"/>
            </a:avLst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5" name="AutoShape 19"/>
          <p:cNvSpPr/>
          <p:nvPr/>
        </p:nvSpPr>
        <p:spPr>
          <a:xfrm>
            <a:off x="4648200" y="18288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P1</a:t>
            </a:r>
            <a:endParaRPr lang="en-US" sz="1100"/>
          </a:p>
        </p:txBody>
      </p:sp>
      <p:sp>
        <p:nvSpPr>
          <p:cNvPr id="106" name="AutoShape 20"/>
          <p:cNvSpPr/>
          <p:nvPr/>
        </p:nvSpPr>
        <p:spPr>
          <a:xfrm>
            <a:off x="5207000" y="1828800"/>
            <a:ext cx="241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可靠性与协作</a:t>
            </a:r>
            <a:endParaRPr lang="en-US" sz="1100"/>
          </a:p>
        </p:txBody>
      </p:sp>
      <p:sp>
        <p:nvSpPr>
          <p:cNvPr id="107" name="AutoShape 21"/>
          <p:cNvSpPr/>
          <p:nvPr/>
        </p:nvSpPr>
        <p:spPr>
          <a:xfrm>
            <a:off x="4648200" y="2692400"/>
            <a:ext cx="76200" cy="76200"/>
          </a:xfrm>
          <a:prstGeom prst="ellipse">
            <a:avLst/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8" name="AutoShape 22"/>
          <p:cNvSpPr/>
          <p:nvPr/>
        </p:nvSpPr>
        <p:spPr>
          <a:xfrm>
            <a:off x="4826000" y="2590800"/>
            <a:ext cx="2844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Hooks 拦截：五事件 + 会话生命周期</a:t>
            </a:r>
            <a:endParaRPr lang="en-US" sz="1100"/>
          </a:p>
        </p:txBody>
      </p:sp>
      <p:sp>
        <p:nvSpPr>
          <p:cNvPr id="109" name="AutoShape 23"/>
          <p:cNvSpPr/>
          <p:nvPr/>
        </p:nvSpPr>
        <p:spPr>
          <a:xfrm>
            <a:off x="4648200" y="3352800"/>
            <a:ext cx="76200" cy="76200"/>
          </a:xfrm>
          <a:prstGeom prst="ellipse">
            <a:avLst/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0" name="AutoShape 24"/>
          <p:cNvSpPr/>
          <p:nvPr/>
        </p:nvSpPr>
        <p:spPr>
          <a:xfrm>
            <a:off x="4826000" y="3251200"/>
            <a:ext cx="2844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DAG 编排：四模式 · 拓扑 · 环检测 · 条件跳过</a:t>
            </a:r>
            <a:endParaRPr lang="en-US" sz="1100"/>
          </a:p>
        </p:txBody>
      </p:sp>
      <p:sp>
        <p:nvSpPr>
          <p:cNvPr id="111" name="AutoShape 25"/>
          <p:cNvSpPr/>
          <p:nvPr/>
        </p:nvSpPr>
        <p:spPr>
          <a:xfrm>
            <a:off x="4648200" y="4013200"/>
            <a:ext cx="76200" cy="76200"/>
          </a:xfrm>
          <a:prstGeom prst="ellipse">
            <a:avLst/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2" name="AutoShape 26"/>
          <p:cNvSpPr/>
          <p:nvPr/>
        </p:nvSpPr>
        <p:spPr>
          <a:xfrm>
            <a:off x="4826000" y="3911600"/>
            <a:ext cx="2844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双版本化：版本 / 交接 / 多人协同</a:t>
            </a:r>
            <a:endParaRPr lang="en-US" sz="1100"/>
          </a:p>
        </p:txBody>
      </p:sp>
      <p:sp>
        <p:nvSpPr>
          <p:cNvPr id="113" name="AutoShape 27"/>
          <p:cNvSpPr/>
          <p:nvPr/>
        </p:nvSpPr>
        <p:spPr>
          <a:xfrm>
            <a:off x="4648200" y="4572000"/>
            <a:ext cx="2870200" cy="736600"/>
          </a:xfrm>
          <a:prstGeom prst="roundRect">
            <a:avLst>
              <a:gd name="adj" fmla="val 13792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4" name="AutoShape 28"/>
          <p:cNvSpPr/>
          <p:nvPr/>
        </p:nvSpPr>
        <p:spPr>
          <a:xfrm>
            <a:off x="4826000" y="4673600"/>
            <a:ext cx="71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交付</a:t>
            </a:r>
            <a:endParaRPr lang="en-US" sz="1100"/>
          </a:p>
        </p:txBody>
      </p:sp>
      <p:sp>
        <p:nvSpPr>
          <p:cNvPr id="115" name="AutoShape 29"/>
          <p:cNvSpPr/>
          <p:nvPr/>
        </p:nvSpPr>
        <p:spPr>
          <a:xfrm>
            <a:off x="4826000" y="4902200"/>
            <a:ext cx="2514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✅ 已落地（库+单测+生产接线）：多步骤可靠 · 合规扩展 · 工作可交接</a:t>
            </a:r>
            <a:endParaRPr lang="en-US" sz="1100"/>
          </a:p>
        </p:txBody>
      </p:sp>
      <p:sp>
        <p:nvSpPr>
          <p:cNvPr id="116" name="AutoShape 30"/>
          <p:cNvSpPr/>
          <p:nvPr/>
        </p:nvSpPr>
        <p:spPr>
          <a:xfrm>
            <a:off x="7975600" y="1727200"/>
            <a:ext cx="3378200" cy="711200"/>
          </a:xfrm>
          <a:prstGeom prst="roundRect">
            <a:avLst>
              <a:gd name="adj" fmla="val 14284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7" name="AutoShape 31"/>
          <p:cNvSpPr/>
          <p:nvPr/>
        </p:nvSpPr>
        <p:spPr>
          <a:xfrm>
            <a:off x="8229600" y="1828800"/>
            <a:ext cx="50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P2</a:t>
            </a:r>
            <a:endParaRPr lang="en-US" sz="1100"/>
          </a:p>
        </p:txBody>
      </p:sp>
      <p:sp>
        <p:nvSpPr>
          <p:cNvPr id="118" name="AutoShape 32"/>
          <p:cNvSpPr/>
          <p:nvPr/>
        </p:nvSpPr>
        <p:spPr>
          <a:xfrm>
            <a:off x="8788400" y="1828800"/>
            <a:ext cx="241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自进化与生态</a:t>
            </a:r>
            <a:endParaRPr lang="en-US" sz="1100"/>
          </a:p>
        </p:txBody>
      </p:sp>
      <p:sp>
        <p:nvSpPr>
          <p:cNvPr id="119" name="AutoShape 33"/>
          <p:cNvSpPr/>
          <p:nvPr/>
        </p:nvSpPr>
        <p:spPr>
          <a:xfrm>
            <a:off x="8229600" y="2692400"/>
            <a:ext cx="76200" cy="76200"/>
          </a:xfrm>
          <a:prstGeom prst="ellipse">
            <a:avLst/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0" name="AutoShape 34"/>
          <p:cNvSpPr/>
          <p:nvPr/>
        </p:nvSpPr>
        <p:spPr>
          <a:xfrm>
            <a:off x="8407400" y="2590800"/>
            <a:ext cx="2844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Dream 自进化 · 会话→经验→Skill 闭环</a:t>
            </a:r>
            <a:endParaRPr lang="en-US" sz="1100"/>
          </a:p>
        </p:txBody>
      </p:sp>
      <p:sp>
        <p:nvSpPr>
          <p:cNvPr id="121" name="AutoShape 35"/>
          <p:cNvSpPr/>
          <p:nvPr/>
        </p:nvSpPr>
        <p:spPr>
          <a:xfrm>
            <a:off x="8229600" y="3352800"/>
            <a:ext cx="76200" cy="76200"/>
          </a:xfrm>
          <a:prstGeom prst="ellipse">
            <a:avLst/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2" name="AutoShape 36"/>
          <p:cNvSpPr/>
          <p:nvPr/>
        </p:nvSpPr>
        <p:spPr>
          <a:xfrm>
            <a:off x="8407400" y="3251200"/>
            <a:ext cx="2844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A2A · 多 IM · 业务索引 · 知识图谱</a:t>
            </a:r>
            <a:endParaRPr lang="en-US" sz="1100"/>
          </a:p>
        </p:txBody>
      </p:sp>
      <p:sp>
        <p:nvSpPr>
          <p:cNvPr id="123" name="AutoShape 37"/>
          <p:cNvSpPr/>
          <p:nvPr/>
        </p:nvSpPr>
        <p:spPr>
          <a:xfrm>
            <a:off x="8229600" y="4013200"/>
            <a:ext cx="76200" cy="76200"/>
          </a:xfrm>
          <a:prstGeom prst="ellipse">
            <a:avLst/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4" name="AutoShape 38"/>
          <p:cNvSpPr/>
          <p:nvPr/>
        </p:nvSpPr>
        <p:spPr>
          <a:xfrm>
            <a:off x="8407400" y="3911600"/>
            <a:ext cx="2844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5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Skill 市场 · 三范围 Memory · 资产化 / Harness</a:t>
            </a:r>
            <a:endParaRPr lang="en-US" sz="1100"/>
          </a:p>
        </p:txBody>
      </p:sp>
      <p:sp>
        <p:nvSpPr>
          <p:cNvPr id="125" name="AutoShape 39"/>
          <p:cNvSpPr/>
          <p:nvPr/>
        </p:nvSpPr>
        <p:spPr>
          <a:xfrm>
            <a:off x="8229600" y="4572000"/>
            <a:ext cx="2870200" cy="736600"/>
          </a:xfrm>
          <a:prstGeom prst="roundRect">
            <a:avLst>
              <a:gd name="adj" fmla="val 13792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6" name="AutoShape 40"/>
          <p:cNvSpPr/>
          <p:nvPr/>
        </p:nvSpPr>
        <p:spPr>
          <a:xfrm>
            <a:off x="8407400" y="4673600"/>
            <a:ext cx="71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1E293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交付</a:t>
            </a:r>
            <a:endParaRPr lang="en-US" sz="1100"/>
          </a:p>
        </p:txBody>
      </p:sp>
      <p:sp>
        <p:nvSpPr>
          <p:cNvPr id="127" name="AutoShape 41"/>
          <p:cNvSpPr/>
          <p:nvPr/>
        </p:nvSpPr>
        <p:spPr>
          <a:xfrm>
            <a:off x="8407400" y="4902200"/>
            <a:ext cx="2514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✅ 已落地（库+单测+生产接线）：组织级「数字组织」· 越用越聪明</a:t>
            </a:r>
            <a:endParaRPr lang="en-US" sz="1100"/>
          </a:p>
        </p:txBody>
      </p:sp>
      <p:sp>
        <p:nvSpPr>
          <p:cNvPr id="128" name="AutoShape 42"/>
          <p:cNvSpPr/>
          <p:nvPr/>
        </p:nvSpPr>
        <p:spPr>
          <a:xfrm>
            <a:off x="812800" y="5588000"/>
            <a:ext cx="1056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贯穿原则：复用 DSH Runtime / RBAC / MCP / 自托管与审批·配额·审计挂载点，不重复造底座；守住既有优势边界。</a:t>
            </a:r>
            <a:endParaRPr lang="en-US" sz="1100"/>
          </a:p>
        </p:txBody>
      </p:sp>
      <p:sp>
        <p:nvSpPr>
          <p:cNvPr id="129" name="AutoShape 43"/>
          <p:cNvSpPr/>
          <p:nvPr/>
        </p:nvSpPr>
        <p:spPr>
          <a:xfrm>
            <a:off x="812800" y="64516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墨攻 · 企业级智能体平台</a:t>
            </a:r>
            <a:endParaRPr lang="en-US" sz="1100"/>
          </a:p>
        </p:txBody>
      </p:sp>
      <p:sp>
        <p:nvSpPr>
          <p:cNvPr id="130" name="AutoShape 44"/>
          <p:cNvSpPr/>
          <p:nvPr/>
        </p:nvSpPr>
        <p:spPr>
          <a:xfrm>
            <a:off x="10617200" y="64516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zh-CN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AutoShape 2"/>
          <p:cNvSpPr/>
          <p:nvPr/>
        </p:nvSpPr>
        <p:spPr>
          <a:xfrm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3" name="AutoShape 3"/>
          <p:cNvSpPr/>
          <p:nvPr/>
        </p:nvSpPr>
        <p:spPr>
          <a:xfrm>
            <a:off x="990600" y="5588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08 · 落地进展与接线闭合</a:t>
            </a:r>
            <a:endParaRPr lang="en-US" sz="1100"/>
          </a:p>
        </p:txBody>
      </p:sp>
      <p:sp>
        <p:nvSpPr>
          <p:cNvPr id="134" name="AutoShape 4"/>
          <p:cNvSpPr/>
          <p:nvPr/>
        </p:nvSpPr>
        <p:spPr>
          <a:xfrm>
            <a:off x="812800" y="838200"/>
            <a:ext cx="1056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 dirty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1</a:t>
            </a:r>
            <a:r>
              <a:rPr lang="en-US" altLang="zh-CN" sz="2600" b="1" i="0" u="none" strike="noStrike" dirty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7</a:t>
            </a:r>
            <a:r>
              <a:rPr lang="en-US" sz="2600" b="1" i="0" u="none" strike="noStrike" dirty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</a:t>
            </a:r>
            <a:r>
              <a:rPr lang="en-US" sz="2600" b="1" i="0" u="none" strike="noStrike" dirty="0" err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项</a:t>
            </a:r>
            <a:r>
              <a:rPr lang="en-US" sz="2600" b="1" i="0" u="none" strike="noStrike" dirty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</a:t>
            </a:r>
            <a:r>
              <a:rPr lang="en-US" sz="2600" b="1" i="0" u="none" strike="noStrike" dirty="0" err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已按</a:t>
            </a:r>
            <a:r>
              <a:rPr lang="en-US" sz="2600" b="1" i="0" u="none" strike="noStrike" dirty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SDD </a:t>
            </a:r>
            <a:r>
              <a:rPr lang="en-US" sz="2600" b="1" i="0" u="none" strike="noStrike" dirty="0" err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落地，库代码</a:t>
            </a:r>
            <a:r>
              <a:rPr lang="en-US" sz="2600" b="1" i="0" u="none" strike="noStrike" dirty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+ </a:t>
            </a:r>
            <a:r>
              <a:rPr lang="en-US" sz="2600" b="1" i="0" u="none" strike="noStrike" dirty="0" err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单测全绿</a:t>
            </a:r>
            <a:endParaRPr lang="en-US" sz="1100" dirty="0"/>
          </a:p>
        </p:txBody>
      </p:sp>
      <p:cxnSp>
        <p:nvCxnSpPr>
          <p:cNvPr id="135" name="Connector 5"/>
          <p:cNvCxnSpPr/>
          <p:nvPr/>
        </p:nvCxnSpPr>
        <p:spPr>
          <a:xfrm rot="-4131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" name="AutoShape 6"/>
          <p:cNvSpPr/>
          <p:nvPr/>
        </p:nvSpPr>
        <p:spPr>
          <a:xfrm>
            <a:off x="812800" y="1701800"/>
            <a:ext cx="105664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7" name="AutoShape 7"/>
          <p:cNvSpPr/>
          <p:nvPr/>
        </p:nvSpPr>
        <p:spPr>
          <a:xfrm>
            <a:off x="1066800" y="1701800"/>
            <a:ext cx="431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A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1</a:t>
            </a:r>
            <a:endParaRPr lang="en-US" sz="1100"/>
          </a:p>
        </p:txBody>
      </p:sp>
      <p:sp>
        <p:nvSpPr>
          <p:cNvPr id="138" name="AutoShape 8"/>
          <p:cNvSpPr/>
          <p:nvPr/>
        </p:nvSpPr>
        <p:spPr>
          <a:xfrm>
            <a:off x="1625600" y="18034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已完成 · 17 项全绿</a:t>
            </a:r>
            <a:endParaRPr lang="en-US" sz="1100"/>
          </a:p>
        </p:txBody>
      </p:sp>
      <p:sp>
        <p:nvSpPr>
          <p:cNvPr id="139" name="AutoShape 9"/>
          <p:cNvSpPr/>
          <p:nvPr/>
        </p:nvSpPr>
        <p:spPr>
          <a:xfrm>
            <a:off x="1625600" y="2082800"/>
            <a:ext cx="9448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P0/P1/P2 共 15 项 + 清单外 020/021，已按 SDD 落地为库代码 + 单测，全部通过（3469 项，2026-10-12 基线）。</a:t>
            </a:r>
            <a:endParaRPr lang="en-US" sz="1100"/>
          </a:p>
        </p:txBody>
      </p:sp>
      <p:sp>
        <p:nvSpPr>
          <p:cNvPr id="140" name="AutoShape 10"/>
          <p:cNvSpPr/>
          <p:nvPr/>
        </p:nvSpPr>
        <p:spPr>
          <a:xfrm>
            <a:off x="812800" y="2565400"/>
            <a:ext cx="105664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1" name="AutoShape 11"/>
          <p:cNvSpPr/>
          <p:nvPr/>
        </p:nvSpPr>
        <p:spPr>
          <a:xfrm>
            <a:off x="1066800" y="2565400"/>
            <a:ext cx="431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A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2</a:t>
            </a:r>
            <a:endParaRPr lang="en-US" sz="1100"/>
          </a:p>
        </p:txBody>
      </p:sp>
      <p:sp>
        <p:nvSpPr>
          <p:cNvPr id="142" name="AutoShape 12"/>
          <p:cNvSpPr/>
          <p:nvPr/>
        </p:nvSpPr>
        <p:spPr>
          <a:xfrm>
            <a:off x="1625600" y="2667000"/>
            <a:ext cx="330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已完成 · 2 案例可运行</a:t>
            </a:r>
            <a:endParaRPr lang="en-US" sz="1100"/>
          </a:p>
        </p:txBody>
      </p:sp>
      <p:sp>
        <p:nvSpPr>
          <p:cNvPr id="143" name="AutoShape 13"/>
          <p:cNvSpPr/>
          <p:nvPr/>
        </p:nvSpPr>
        <p:spPr>
          <a:xfrm>
            <a:off x="1625600" y="2946400"/>
            <a:ext cx="9448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客户反馈分诊 + 竞品深度调研，共 40 项离线端到端测试通过，无需外部 LLM / 网络。</a:t>
            </a:r>
            <a:endParaRPr lang="en-US" sz="1100"/>
          </a:p>
        </p:txBody>
      </p:sp>
      <p:sp>
        <p:nvSpPr>
          <p:cNvPr id="144" name="AutoShape 14"/>
          <p:cNvSpPr/>
          <p:nvPr/>
        </p:nvSpPr>
        <p:spPr>
          <a:xfrm>
            <a:off x="812800" y="3429000"/>
            <a:ext cx="105664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5" name="AutoShape 15"/>
          <p:cNvSpPr/>
          <p:nvPr/>
        </p:nvSpPr>
        <p:spPr>
          <a:xfrm>
            <a:off x="1066800" y="3429000"/>
            <a:ext cx="431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A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3</a:t>
            </a:r>
            <a:endParaRPr lang="en-US" sz="1100"/>
          </a:p>
        </p:txBody>
      </p:sp>
      <p:sp>
        <p:nvSpPr>
          <p:cNvPr id="146" name="AutoShape 16"/>
          <p:cNvSpPr/>
          <p:nvPr/>
        </p:nvSpPr>
        <p:spPr>
          <a:xfrm>
            <a:off x="1625600" y="35306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已闭合 · 生产接线</a:t>
            </a:r>
            <a:endParaRPr lang="en-US" sz="1100"/>
          </a:p>
        </p:txBody>
      </p:sp>
      <p:sp>
        <p:nvSpPr>
          <p:cNvPr id="147" name="AutoShape 17"/>
          <p:cNvSpPr/>
          <p:nvPr/>
        </p:nvSpPr>
        <p:spPr>
          <a:xfrm>
            <a:off x="1625600" y="3810000"/>
            <a:ext cx="9448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007 网关韧性（ResilientLLMClient 已挂生产调用）/ 009 钩子挂载 + 规则页 / 002 会话版本化端点 + UI</a:t>
            </a:r>
            <a:endParaRPr lang="en-US" sz="1100"/>
          </a:p>
        </p:txBody>
      </p:sp>
      <p:sp>
        <p:nvSpPr>
          <p:cNvPr id="148" name="AutoShape 18"/>
          <p:cNvSpPr/>
          <p:nvPr/>
        </p:nvSpPr>
        <p:spPr>
          <a:xfrm>
            <a:off x="812800" y="4292600"/>
            <a:ext cx="105664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9" name="AutoShape 19"/>
          <p:cNvSpPr/>
          <p:nvPr/>
        </p:nvSpPr>
        <p:spPr>
          <a:xfrm>
            <a:off x="1066800" y="4292600"/>
            <a:ext cx="431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A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4</a:t>
            </a:r>
            <a:endParaRPr lang="en-US" sz="1100"/>
          </a:p>
        </p:txBody>
      </p:sp>
      <p:sp>
        <p:nvSpPr>
          <p:cNvPr id="150" name="AutoShape 20"/>
          <p:cNvSpPr/>
          <p:nvPr/>
        </p:nvSpPr>
        <p:spPr>
          <a:xfrm>
            <a:off x="1625600" y="43942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已闭合 · 审计与门禁</a:t>
            </a:r>
            <a:endParaRPr lang="en-US" sz="1100"/>
          </a:p>
        </p:txBody>
      </p:sp>
      <p:sp>
        <p:nvSpPr>
          <p:cNvPr id="151" name="AutoShape 21"/>
          <p:cNvSpPr/>
          <p:nvPr/>
        </p:nvSpPr>
        <p:spPr>
          <a:xfrm>
            <a:off x="1625600" y="4673600"/>
            <a:ext cx="9448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T999 横切审计已接入 012/014/015/016/017/018 业务模块；001 六层门禁已通过 run_gate_plan 挂入运行时。</a:t>
            </a:r>
            <a:endParaRPr lang="en-US" sz="1100"/>
          </a:p>
        </p:txBody>
      </p:sp>
      <p:sp>
        <p:nvSpPr>
          <p:cNvPr id="152" name="AutoShape 22"/>
          <p:cNvSpPr/>
          <p:nvPr/>
        </p:nvSpPr>
        <p:spPr>
          <a:xfrm>
            <a:off x="812800" y="5156200"/>
            <a:ext cx="105664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3" name="AutoShape 23"/>
          <p:cNvSpPr/>
          <p:nvPr/>
        </p:nvSpPr>
        <p:spPr>
          <a:xfrm>
            <a:off x="1066800" y="5156200"/>
            <a:ext cx="431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A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5</a:t>
            </a:r>
            <a:endParaRPr lang="en-US" sz="1100"/>
          </a:p>
        </p:txBody>
      </p:sp>
      <p:sp>
        <p:nvSpPr>
          <p:cNvPr id="154" name="AutoShape 24"/>
          <p:cNvSpPr/>
          <p:nvPr/>
        </p:nvSpPr>
        <p:spPr>
          <a:xfrm>
            <a:off x="1625600" y="52578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不变 · 既有优势</a:t>
            </a:r>
            <a:endParaRPr lang="en-US" sz="1100"/>
          </a:p>
        </p:txBody>
      </p:sp>
      <p:sp>
        <p:nvSpPr>
          <p:cNvPr id="155" name="AutoShape 25"/>
          <p:cNvSpPr/>
          <p:nvPr/>
        </p:nvSpPr>
        <p:spPr>
          <a:xfrm>
            <a:off x="1625600" y="5537200"/>
            <a:ext cx="9448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坚持模型与数据自主管控，生产环境自行加固，不可裸用（既有优势边界不变）。</a:t>
            </a:r>
            <a:endParaRPr lang="en-US" sz="1100"/>
          </a:p>
        </p:txBody>
      </p:sp>
      <p:sp>
        <p:nvSpPr>
          <p:cNvPr id="156" name="AutoShape 26"/>
          <p:cNvSpPr/>
          <p:nvPr/>
        </p:nvSpPr>
        <p:spPr>
          <a:xfrm>
            <a:off x="812800" y="64516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墨攻 · 企业级智能体平台</a:t>
            </a:r>
            <a:endParaRPr lang="en-US" sz="1100"/>
          </a:p>
        </p:txBody>
      </p:sp>
      <p:sp>
        <p:nvSpPr>
          <p:cNvPr id="157" name="AutoShape 27"/>
          <p:cNvSpPr/>
          <p:nvPr/>
        </p:nvSpPr>
        <p:spPr>
          <a:xfrm>
            <a:off x="10617200" y="64516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zh-CN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AutoShape 2"/>
          <p:cNvSpPr/>
          <p:nvPr/>
        </p:nvSpPr>
        <p:spPr>
          <a:xfrm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5" name="AutoShape 3"/>
          <p:cNvSpPr/>
          <p:nvPr/>
        </p:nvSpPr>
        <p:spPr>
          <a:xfrm>
            <a:off x="990600" y="5588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200" b="1" dirty="0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09</a:t>
            </a:r>
            <a:r>
              <a:rPr lang="en-US" sz="1200" b="1" i="0" u="none" strike="noStrike" dirty="0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· </a:t>
            </a:r>
            <a:r>
              <a:rPr lang="en-US" sz="1200" b="1" i="0" u="none" strike="noStrike" dirty="0" err="1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生产部署扩展</a:t>
            </a:r>
            <a:endParaRPr lang="en-US" sz="1100" dirty="0"/>
          </a:p>
        </p:txBody>
      </p:sp>
      <p:sp>
        <p:nvSpPr>
          <p:cNvPr id="406" name="AutoShape 4"/>
          <p:cNvSpPr/>
          <p:nvPr/>
        </p:nvSpPr>
        <p:spPr>
          <a:xfrm>
            <a:off x="812800" y="838200"/>
            <a:ext cx="1056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 dirty="0" err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多实例运行改造：本轮先做</a:t>
            </a:r>
            <a:r>
              <a:rPr lang="en-US" sz="2600" b="1" i="0" u="none" strike="noStrike" dirty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runtime-host </a:t>
            </a:r>
            <a:r>
              <a:rPr lang="en-US" sz="2600" b="1" i="0" u="none" strike="noStrike" dirty="0" err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水平扩展</a:t>
            </a:r>
            <a:endParaRPr lang="en-US" sz="1100" dirty="0"/>
          </a:p>
        </p:txBody>
      </p:sp>
      <p:cxnSp>
        <p:nvCxnSpPr>
          <p:cNvPr id="407" name="Connector 5"/>
          <p:cNvCxnSpPr/>
          <p:nvPr/>
        </p:nvCxnSpPr>
        <p:spPr>
          <a:xfrm rot="-4131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8" name="AutoShape 6"/>
          <p:cNvSpPr/>
          <p:nvPr/>
        </p:nvSpPr>
        <p:spPr>
          <a:xfrm>
            <a:off x="812800" y="1752600"/>
            <a:ext cx="3454400" cy="3251200"/>
          </a:xfrm>
          <a:prstGeom prst="roundRect">
            <a:avLst>
              <a:gd name="adj" fmla="val 4687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10B9A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9" name="AutoShape 7"/>
          <p:cNvSpPr/>
          <p:nvPr/>
        </p:nvSpPr>
        <p:spPr>
          <a:xfrm>
            <a:off x="1117600" y="2006600"/>
            <a:ext cx="1524000" cy="279400"/>
          </a:xfrm>
          <a:prstGeom prst="roundRect">
            <a:avLst>
              <a:gd name="adj" fmla="val 18181"/>
            </a:avLst>
          </a:prstGeom>
          <a:solidFill>
            <a:srgbClr val="109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0" name="AutoShape 8"/>
          <p:cNvSpPr/>
          <p:nvPr/>
        </p:nvSpPr>
        <p:spPr>
          <a:xfrm>
            <a:off x="1117600" y="20066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层 A · 本轮主交付</a:t>
            </a:r>
            <a:endParaRPr lang="en-US" sz="1100"/>
          </a:p>
        </p:txBody>
      </p:sp>
      <p:sp>
        <p:nvSpPr>
          <p:cNvPr id="411" name="AutoShape 9"/>
          <p:cNvSpPr/>
          <p:nvPr/>
        </p:nvSpPr>
        <p:spPr>
          <a:xfrm>
            <a:off x="1117600" y="2413000"/>
            <a:ext cx="2844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runtime-host 水平扩展</a:t>
            </a:r>
            <a:endParaRPr lang="en-US" sz="1100"/>
          </a:p>
        </p:txBody>
      </p:sp>
      <p:sp>
        <p:nvSpPr>
          <p:cNvPr id="412" name="AutoShape 10"/>
          <p:cNvSpPr/>
          <p:nvPr/>
        </p:nvSpPr>
        <p:spPr>
          <a:xfrm>
            <a:off x="1117600" y="2870200"/>
            <a:ext cx="28448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33333"/>
              </a:lnSpc>
              <a:buClr>
                <a:srgbClr val="475569"/>
              </a:buClr>
              <a:buChar char="•"/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多 dsh-runtime-host 实例共享命名空间</a:t>
            </a:r>
            <a:endParaRPr lang="en-US" sz="1100"/>
          </a:p>
          <a:p>
            <a:pPr marL="152400" indent="-152400" algn="l">
              <a:lnSpc>
                <a:spcPct val="133333"/>
              </a:lnSpc>
              <a:buClr>
                <a:srgbClr val="475569"/>
              </a:buClr>
              <a:buChar char="•"/>
            </a:pPr>
            <a:r>
              <a:rPr lang="en-US" sz="12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前置 sticky LB，按 kernel_session_id 一致性哈希</a:t>
            </a:r>
            <a:endParaRPr/>
          </a:p>
          <a:p>
            <a:pPr marL="152400" indent="-152400" algn="l">
              <a:lnSpc>
                <a:spcPct val="133333"/>
              </a:lnSpc>
              <a:buClr>
                <a:srgbClr val="475569"/>
              </a:buClr>
              <a:buChar char="•"/>
            </a:pPr>
            <a:r>
              <a:rPr lang="en-US" sz="12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chat-api 保持单实例，改动面最小</a:t>
            </a:r>
            <a:endParaRPr/>
          </a:p>
        </p:txBody>
      </p:sp>
      <p:sp>
        <p:nvSpPr>
          <p:cNvPr id="413" name="AutoShape 11"/>
          <p:cNvSpPr/>
          <p:nvPr/>
        </p:nvSpPr>
        <p:spPr>
          <a:xfrm>
            <a:off x="1117600" y="4572000"/>
            <a:ext cx="2844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复杂度：低 · 无阻塞依赖</a:t>
            </a:r>
            <a:endParaRPr lang="en-US" sz="1100"/>
          </a:p>
        </p:txBody>
      </p:sp>
      <p:sp>
        <p:nvSpPr>
          <p:cNvPr id="414" name="AutoShape 12"/>
          <p:cNvSpPr/>
          <p:nvPr/>
        </p:nvSpPr>
        <p:spPr>
          <a:xfrm>
            <a:off x="4368800" y="1752600"/>
            <a:ext cx="3454400" cy="3251200"/>
          </a:xfrm>
          <a:prstGeom prst="roundRect">
            <a:avLst>
              <a:gd name="adj" fmla="val 468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5" name="AutoShape 13"/>
          <p:cNvSpPr/>
          <p:nvPr/>
        </p:nvSpPr>
        <p:spPr>
          <a:xfrm>
            <a:off x="4673600" y="2006600"/>
            <a:ext cx="1524000" cy="279400"/>
          </a:xfrm>
          <a:prstGeom prst="roundRect">
            <a:avLst>
              <a:gd name="adj" fmla="val 18181"/>
            </a:avLst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6" name="AutoShape 14"/>
          <p:cNvSpPr/>
          <p:nvPr/>
        </p:nvSpPr>
        <p:spPr>
          <a:xfrm>
            <a:off x="4673600" y="20066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层 B · 后续 P4–P5</a:t>
            </a:r>
            <a:endParaRPr lang="en-US" sz="1100"/>
          </a:p>
        </p:txBody>
      </p:sp>
      <p:sp>
        <p:nvSpPr>
          <p:cNvPr id="417" name="AutoShape 15"/>
          <p:cNvSpPr/>
          <p:nvPr/>
        </p:nvSpPr>
        <p:spPr>
          <a:xfrm>
            <a:off x="4673600" y="2413000"/>
            <a:ext cx="2844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chat-api 无状态化</a:t>
            </a:r>
            <a:endParaRPr lang="en-US" sz="1100"/>
          </a:p>
        </p:txBody>
      </p:sp>
      <p:sp>
        <p:nvSpPr>
          <p:cNvPr id="418" name="AutoShape 16"/>
          <p:cNvSpPr/>
          <p:nvPr/>
        </p:nvSpPr>
        <p:spPr>
          <a:xfrm>
            <a:off x="4673600" y="2870200"/>
            <a:ext cx="28448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33333"/>
              </a:lnSpc>
              <a:buClr>
                <a:srgbClr val="475569"/>
              </a:buClr>
              <a:buChar char="•"/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_sessions / _runtimes / 凭据锁外置 Redis</a:t>
            </a:r>
            <a:endParaRPr lang="en-US" sz="1100"/>
          </a:p>
          <a:p>
            <a:pPr marL="152400" indent="-152400" algn="l">
              <a:lnSpc>
                <a:spcPct val="133333"/>
              </a:lnSpc>
              <a:buClr>
                <a:srgbClr val="475569"/>
              </a:buClr>
              <a:buChar char="•"/>
            </a:pPr>
            <a:r>
              <a:rPr lang="en-US" sz="12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按 conversation_id 一致性哈希路由实例</a:t>
            </a:r>
            <a:endParaRPr/>
          </a:p>
          <a:p>
            <a:pPr marL="152400" indent="-152400" algn="l">
              <a:lnSpc>
                <a:spcPct val="133333"/>
              </a:lnSpc>
              <a:buClr>
                <a:srgbClr val="475569"/>
              </a:buClr>
              <a:buChar char="•"/>
            </a:pPr>
            <a:r>
              <a:rPr lang="en-US" sz="12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Mongo claim_turn 乐观锁已就绪</a:t>
            </a:r>
            <a:endParaRPr/>
          </a:p>
        </p:txBody>
      </p:sp>
      <p:sp>
        <p:nvSpPr>
          <p:cNvPr id="419" name="AutoShape 17"/>
          <p:cNvSpPr/>
          <p:nvPr/>
        </p:nvSpPr>
        <p:spPr>
          <a:xfrm>
            <a:off x="4673600" y="4572000"/>
            <a:ext cx="2844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复杂度：中高 · 触发于需要多实例时</a:t>
            </a:r>
            <a:endParaRPr lang="en-US" sz="1100"/>
          </a:p>
        </p:txBody>
      </p:sp>
      <p:sp>
        <p:nvSpPr>
          <p:cNvPr id="420" name="AutoShape 18"/>
          <p:cNvSpPr/>
          <p:nvPr/>
        </p:nvSpPr>
        <p:spPr>
          <a:xfrm>
            <a:off x="7924800" y="1752600"/>
            <a:ext cx="3454400" cy="3251200"/>
          </a:xfrm>
          <a:prstGeom prst="roundRect">
            <a:avLst>
              <a:gd name="adj" fmla="val 468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1" name="AutoShape 19"/>
          <p:cNvSpPr/>
          <p:nvPr/>
        </p:nvSpPr>
        <p:spPr>
          <a:xfrm>
            <a:off x="8229600" y="2006600"/>
            <a:ext cx="1524000" cy="279400"/>
          </a:xfrm>
          <a:prstGeom prst="roundRect">
            <a:avLst>
              <a:gd name="adj" fmla="val 18181"/>
            </a:avLst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2" name="AutoShape 20"/>
          <p:cNvSpPr/>
          <p:nvPr/>
        </p:nvSpPr>
        <p:spPr>
          <a:xfrm>
            <a:off x="8229600" y="20066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层 C · 后续 P6</a:t>
            </a:r>
            <a:endParaRPr lang="en-US" sz="1100"/>
          </a:p>
        </p:txBody>
      </p:sp>
      <p:sp>
        <p:nvSpPr>
          <p:cNvPr id="423" name="AutoShape 21"/>
          <p:cNvSpPr/>
          <p:nvPr/>
        </p:nvSpPr>
        <p:spPr>
          <a:xfrm>
            <a:off x="8229600" y="2413000"/>
            <a:ext cx="2844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Browser Agent WS 集群</a:t>
            </a:r>
            <a:endParaRPr lang="en-US" sz="1100"/>
          </a:p>
        </p:txBody>
      </p:sp>
      <p:sp>
        <p:nvSpPr>
          <p:cNvPr id="424" name="AutoShape 22"/>
          <p:cNvSpPr/>
          <p:nvPr/>
        </p:nvSpPr>
        <p:spPr>
          <a:xfrm>
            <a:off x="8229600" y="2870200"/>
            <a:ext cx="28448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33333"/>
              </a:lnSpc>
              <a:buClr>
                <a:srgbClr val="475569"/>
              </a:buClr>
              <a:buChar char="•"/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agent_registry 跨实例改 Redis pub/sub</a:t>
            </a:r>
            <a:endParaRPr lang="en-US" sz="1100"/>
          </a:p>
          <a:p>
            <a:pPr marL="152400" indent="-152400" algn="l">
              <a:lnSpc>
                <a:spcPct val="133333"/>
              </a:lnSpc>
              <a:buClr>
                <a:srgbClr val="475569"/>
              </a:buClr>
              <a:buChar char="•"/>
            </a:pPr>
            <a:r>
              <a:rPr lang="en-US" sz="12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闭源客户端 WS 重连能力待调研</a:t>
            </a:r>
            <a:endParaRPr/>
          </a:p>
          <a:p>
            <a:pPr marL="152400" indent="-152400" algn="l">
              <a:lnSpc>
                <a:spcPct val="133333"/>
              </a:lnSpc>
              <a:buClr>
                <a:srgbClr val="475569"/>
              </a:buClr>
              <a:buChar char="•"/>
            </a:pPr>
            <a:r>
              <a:rPr lang="en-US" sz="12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滚动升级容忍 5–30 秒命令闪断</a:t>
            </a:r>
            <a:endParaRPr/>
          </a:p>
        </p:txBody>
      </p:sp>
      <p:sp>
        <p:nvSpPr>
          <p:cNvPr id="425" name="AutoShape 23"/>
          <p:cNvSpPr/>
          <p:nvPr/>
        </p:nvSpPr>
        <p:spPr>
          <a:xfrm>
            <a:off x="8229600" y="4572000"/>
            <a:ext cx="2844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复杂度：高 · 依赖层 B 与调研结论</a:t>
            </a:r>
            <a:endParaRPr lang="en-US" sz="1100"/>
          </a:p>
        </p:txBody>
      </p:sp>
      <p:sp>
        <p:nvSpPr>
          <p:cNvPr id="426" name="AutoShape 24"/>
          <p:cNvSpPr/>
          <p:nvPr/>
        </p:nvSpPr>
        <p:spPr>
          <a:xfrm>
            <a:off x="812800" y="5283200"/>
            <a:ext cx="5207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硬约束：</a:t>
            </a:r>
            <a:r>
              <a:rPr lang="en-US" sz="11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不做同一会话跨实例并发处理，避免 kernel session 双写与事件顺序错乱；本轮不引入 Celery，路由走同步 HTTP。</a:t>
            </a:r>
            <a:endParaRPr lang="en-US" sz="1100"/>
          </a:p>
        </p:txBody>
      </p:sp>
      <p:sp>
        <p:nvSpPr>
          <p:cNvPr id="427" name="AutoShape 25"/>
          <p:cNvSpPr/>
          <p:nvPr/>
        </p:nvSpPr>
        <p:spPr>
          <a:xfrm>
            <a:off x="6299200" y="5283200"/>
            <a:ext cx="508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验收：</a:t>
            </a:r>
            <a:r>
              <a:rPr lang="en-US" sz="11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200 并发 P99 与单实例偏差 ±20%；滚动升级进行中会话不丢；实例切换后第二实例可 attach 续聊。</a:t>
            </a:r>
            <a:endParaRPr lang="en-US" sz="1100"/>
          </a:p>
        </p:txBody>
      </p:sp>
      <p:sp>
        <p:nvSpPr>
          <p:cNvPr id="428" name="AutoShape 26"/>
          <p:cNvSpPr/>
          <p:nvPr/>
        </p:nvSpPr>
        <p:spPr>
          <a:xfrm>
            <a:off x="812800" y="64516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墨攻 · 企业级智能体功能补强规划</a:t>
            </a:r>
            <a:endParaRPr lang="en-US" sz="1100"/>
          </a:p>
        </p:txBody>
      </p:sp>
      <p:sp>
        <p:nvSpPr>
          <p:cNvPr id="429" name="AutoShape 27"/>
          <p:cNvSpPr/>
          <p:nvPr/>
        </p:nvSpPr>
        <p:spPr>
          <a:xfrm>
            <a:off x="10414000" y="6451600"/>
            <a:ext cx="96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zh-CN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AutoShape 2"/>
          <p:cNvSpPr/>
          <p:nvPr/>
        </p:nvSpPr>
        <p:spPr>
          <a:xfrm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6" name="AutoShape 3"/>
          <p:cNvSpPr/>
          <p:nvPr/>
        </p:nvSpPr>
        <p:spPr>
          <a:xfrm>
            <a:off x="990600" y="5588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200" b="1" dirty="0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10</a:t>
            </a:r>
            <a:r>
              <a:rPr lang="en-US" sz="1200" b="1" i="0" u="none" strike="noStrike" dirty="0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· </a:t>
            </a:r>
            <a:r>
              <a:rPr lang="en-US" sz="1200" b="1" i="0" u="none" strike="noStrike" dirty="0" err="1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标杆场景验证</a:t>
            </a:r>
            <a:endParaRPr lang="en-US" sz="1100" dirty="0"/>
          </a:p>
        </p:txBody>
      </p:sp>
      <p:sp>
        <p:nvSpPr>
          <p:cNvPr id="217" name="AutoShape 4"/>
          <p:cNvSpPr/>
          <p:nvPr/>
        </p:nvSpPr>
        <p:spPr>
          <a:xfrm>
            <a:off x="812800" y="838200"/>
            <a:ext cx="1056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两个标杆场景，验证从单 Agent 到多 Agent 的完整能力</a:t>
            </a:r>
            <a:endParaRPr lang="en-US" sz="1100"/>
          </a:p>
        </p:txBody>
      </p:sp>
      <p:cxnSp>
        <p:nvCxnSpPr>
          <p:cNvPr id="218" name="Connector 5"/>
          <p:cNvCxnSpPr/>
          <p:nvPr/>
        </p:nvCxnSpPr>
        <p:spPr>
          <a:xfrm rot="-4131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9" name="AutoShape 6"/>
          <p:cNvSpPr/>
          <p:nvPr/>
        </p:nvSpPr>
        <p:spPr>
          <a:xfrm>
            <a:off x="812800" y="1752600"/>
            <a:ext cx="5080000" cy="381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0" name="AutoShape 7"/>
          <p:cNvSpPr/>
          <p:nvPr/>
        </p:nvSpPr>
        <p:spPr>
          <a:xfrm>
            <a:off x="1117600" y="2006600"/>
            <a:ext cx="4470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案例一 · 单 Skill / 单会话 / 单智能体</a:t>
            </a:r>
            <a:endParaRPr lang="en-US" sz="1100"/>
          </a:p>
        </p:txBody>
      </p:sp>
      <p:sp>
        <p:nvSpPr>
          <p:cNvPr id="221" name="AutoShape 8"/>
          <p:cNvSpPr/>
          <p:nvPr/>
        </p:nvSpPr>
        <p:spPr>
          <a:xfrm>
            <a:off x="1117600" y="2286000"/>
            <a:ext cx="4470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客户反馈智能分诊</a:t>
            </a:r>
            <a:endParaRPr lang="en-US" sz="1100"/>
          </a:p>
        </p:txBody>
      </p:sp>
      <p:sp>
        <p:nvSpPr>
          <p:cNvPr id="222" name="AutoShape 9"/>
          <p:cNvSpPr/>
          <p:nvPr/>
        </p:nvSpPr>
        <p:spPr>
          <a:xfrm>
            <a:off x="1117600" y="2717800"/>
            <a:ext cx="4470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每天 200–500 条反馈一次交互完成分级聚类、P0 识别与审批触发，输出结构化分诊报告。</a:t>
            </a:r>
            <a:endParaRPr lang="en-US" sz="1100"/>
          </a:p>
        </p:txBody>
      </p:sp>
      <p:cxnSp>
        <p:nvCxnSpPr>
          <p:cNvPr id="223" name="Connector 10"/>
          <p:cNvCxnSpPr/>
          <p:nvPr/>
        </p:nvCxnSpPr>
        <p:spPr>
          <a:xfrm rot="-9766">
            <a:off x="1117609" y="33972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AutoShape 11"/>
          <p:cNvSpPr/>
          <p:nvPr/>
        </p:nvSpPr>
        <p:spPr>
          <a:xfrm>
            <a:off x="1117600" y="3556000"/>
            <a:ext cx="139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≤3 分钟</a:t>
            </a:r>
            <a:endParaRPr lang="en-US" sz="1100"/>
          </a:p>
        </p:txBody>
      </p:sp>
      <p:sp>
        <p:nvSpPr>
          <p:cNvPr id="225" name="AutoShape 12"/>
          <p:cNvSpPr/>
          <p:nvPr/>
        </p:nvSpPr>
        <p:spPr>
          <a:xfrm>
            <a:off x="1117600" y="4089400"/>
            <a:ext cx="1397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500 条端到端</a:t>
            </a:r>
            <a:endParaRPr lang="en-US" sz="1100"/>
          </a:p>
        </p:txBody>
      </p:sp>
      <p:sp>
        <p:nvSpPr>
          <p:cNvPr id="226" name="AutoShape 13"/>
          <p:cNvSpPr/>
          <p:nvPr/>
        </p:nvSpPr>
        <p:spPr>
          <a:xfrm>
            <a:off x="2667000" y="3556000"/>
            <a:ext cx="139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≥95%</a:t>
            </a:r>
            <a:endParaRPr lang="en-US" sz="1100"/>
          </a:p>
        </p:txBody>
      </p:sp>
      <p:sp>
        <p:nvSpPr>
          <p:cNvPr id="227" name="AutoShape 14"/>
          <p:cNvSpPr/>
          <p:nvPr/>
        </p:nvSpPr>
        <p:spPr>
          <a:xfrm>
            <a:off x="2667000" y="4089400"/>
            <a:ext cx="1397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P0 识别召回率</a:t>
            </a:r>
            <a:endParaRPr lang="en-US" sz="1100"/>
          </a:p>
        </p:txBody>
      </p:sp>
      <p:sp>
        <p:nvSpPr>
          <p:cNvPr id="228" name="AutoShape 15"/>
          <p:cNvSpPr/>
          <p:nvPr/>
        </p:nvSpPr>
        <p:spPr>
          <a:xfrm>
            <a:off x="4216400" y="3556000"/>
            <a:ext cx="139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0</a:t>
            </a:r>
            <a:endParaRPr lang="en-US" sz="1100"/>
          </a:p>
        </p:txBody>
      </p:sp>
      <p:sp>
        <p:nvSpPr>
          <p:cNvPr id="229" name="AutoShape 16"/>
          <p:cNvSpPr/>
          <p:nvPr/>
        </p:nvSpPr>
        <p:spPr>
          <a:xfrm>
            <a:off x="4216400" y="4089400"/>
            <a:ext cx="1397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PII 泄漏率</a:t>
            </a:r>
            <a:endParaRPr lang="en-US" sz="1100"/>
          </a:p>
        </p:txBody>
      </p:sp>
      <p:sp>
        <p:nvSpPr>
          <p:cNvPr id="230" name="AutoShape 17"/>
          <p:cNvSpPr/>
          <p:nvPr/>
        </p:nvSpPr>
        <p:spPr>
          <a:xfrm>
            <a:off x="1117600" y="4724400"/>
            <a:ext cx="447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验证能力：文档解析 · Spreadsheet · RAG · PII 脱敏 · RBAC 审批 · 审计 · 成本驾驶舱</a:t>
            </a:r>
            <a:endParaRPr lang="en-US" sz="1100"/>
          </a:p>
        </p:txBody>
      </p:sp>
      <p:sp>
        <p:nvSpPr>
          <p:cNvPr id="231" name="AutoShape 18"/>
          <p:cNvSpPr/>
          <p:nvPr/>
        </p:nvSpPr>
        <p:spPr>
          <a:xfrm>
            <a:off x="6299200" y="1752600"/>
            <a:ext cx="5080000" cy="381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2" name="AutoShape 19"/>
          <p:cNvSpPr/>
          <p:nvPr/>
        </p:nvSpPr>
        <p:spPr>
          <a:xfrm>
            <a:off x="6604000" y="2006600"/>
            <a:ext cx="4470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案例二 · 多 Skill / 多智能体 / DAG graph</a:t>
            </a:r>
            <a:endParaRPr lang="en-US" sz="1100"/>
          </a:p>
        </p:txBody>
      </p:sp>
      <p:sp>
        <p:nvSpPr>
          <p:cNvPr id="233" name="AutoShape 20"/>
          <p:cNvSpPr/>
          <p:nvPr/>
        </p:nvSpPr>
        <p:spPr>
          <a:xfrm>
            <a:off x="6604000" y="2286000"/>
            <a:ext cx="4470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竞品深度调研</a:t>
            </a:r>
            <a:endParaRPr lang="en-US" sz="1100"/>
          </a:p>
        </p:txBody>
      </p:sp>
      <p:sp>
        <p:nvSpPr>
          <p:cNvPr id="234" name="AutoShape 21"/>
          <p:cNvSpPr/>
          <p:nvPr/>
        </p:nvSpPr>
        <p:spPr>
          <a:xfrm>
            <a:off x="6604000" y="2717800"/>
            <a:ext cx="4470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输入一个竞品名，4 个分析子 Agent 并行产出市场/产品/财务/舆情四章，再合成可追溯报告。</a:t>
            </a:r>
            <a:endParaRPr lang="en-US" sz="1100"/>
          </a:p>
        </p:txBody>
      </p:sp>
      <p:cxnSp>
        <p:nvCxnSpPr>
          <p:cNvPr id="235" name="Connector 22"/>
          <p:cNvCxnSpPr/>
          <p:nvPr/>
        </p:nvCxnSpPr>
        <p:spPr>
          <a:xfrm rot="-9766">
            <a:off x="6604009" y="33972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6" name="AutoShape 23"/>
          <p:cNvSpPr/>
          <p:nvPr/>
        </p:nvSpPr>
        <p:spPr>
          <a:xfrm>
            <a:off x="6604000" y="35560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≤15 分钟</a:t>
            </a:r>
            <a:endParaRPr lang="en-US" sz="1100"/>
          </a:p>
        </p:txBody>
      </p:sp>
      <p:sp>
        <p:nvSpPr>
          <p:cNvPr id="237" name="AutoShape 24"/>
          <p:cNvSpPr/>
          <p:nvPr/>
        </p:nvSpPr>
        <p:spPr>
          <a:xfrm>
            <a:off x="6604000" y="4089400"/>
            <a:ext cx="1651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标准深度端到端</a:t>
            </a:r>
            <a:endParaRPr lang="en-US" sz="1100"/>
          </a:p>
        </p:txBody>
      </p:sp>
      <p:sp>
        <p:nvSpPr>
          <p:cNvPr id="238" name="AutoShape 25"/>
          <p:cNvSpPr/>
          <p:nvPr/>
        </p:nvSpPr>
        <p:spPr>
          <a:xfrm>
            <a:off x="8382000" y="3556000"/>
            <a:ext cx="127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4 路</a:t>
            </a:r>
            <a:endParaRPr lang="en-US" sz="1100"/>
          </a:p>
        </p:txBody>
      </p:sp>
      <p:sp>
        <p:nvSpPr>
          <p:cNvPr id="239" name="AutoShape 26"/>
          <p:cNvSpPr/>
          <p:nvPr/>
        </p:nvSpPr>
        <p:spPr>
          <a:xfrm>
            <a:off x="8382000" y="4089400"/>
            <a:ext cx="127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分析节点并行</a:t>
            </a:r>
            <a:endParaRPr lang="en-US" sz="1100"/>
          </a:p>
        </p:txBody>
      </p:sp>
      <p:sp>
        <p:nvSpPr>
          <p:cNvPr id="240" name="AutoShape 27"/>
          <p:cNvSpPr/>
          <p:nvPr/>
        </p:nvSpPr>
        <p:spPr>
          <a:xfrm>
            <a:off x="9779000" y="3556000"/>
            <a:ext cx="139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全追溯</a:t>
            </a:r>
            <a:endParaRPr lang="en-US" sz="1100"/>
          </a:p>
        </p:txBody>
      </p:sp>
      <p:sp>
        <p:nvSpPr>
          <p:cNvPr id="241" name="AutoShape 28"/>
          <p:cNvSpPr/>
          <p:nvPr/>
        </p:nvSpPr>
        <p:spPr>
          <a:xfrm>
            <a:off x="9779000" y="4089400"/>
            <a:ext cx="1397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evidence.json</a:t>
            </a:r>
            <a:endParaRPr lang="en-US" sz="1100"/>
          </a:p>
        </p:txBody>
      </p:sp>
      <p:sp>
        <p:nvSpPr>
          <p:cNvPr id="242" name="AutoShape 29"/>
          <p:cNvSpPr/>
          <p:nvPr/>
        </p:nvSpPr>
        <p:spPr>
          <a:xfrm>
            <a:off x="6604000" y="4724400"/>
            <a:ext cx="4470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验证能力：DAG 编排(010) · 条件跳过 · 失败传播 · 浏览器 Agent · 研究模式 · 成本分项</a:t>
            </a:r>
            <a:endParaRPr lang="en-US" sz="1100"/>
          </a:p>
        </p:txBody>
      </p:sp>
      <p:sp>
        <p:nvSpPr>
          <p:cNvPr id="243" name="AutoShape 30"/>
          <p:cNvSpPr/>
          <p:nvPr/>
        </p:nvSpPr>
        <p:spPr>
          <a:xfrm>
            <a:off x="812800" y="5791200"/>
            <a:ext cx="10566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选型原则：顺序依赖、共享上下文 → 单 Agent（案例一）；维度可并行、依赖静态 → DAG graph（案例二）；依赖需运行时动态决定 → hybrid。</a:t>
            </a:r>
            <a:endParaRPr lang="en-US" sz="1100"/>
          </a:p>
        </p:txBody>
      </p:sp>
      <p:sp>
        <p:nvSpPr>
          <p:cNvPr id="244" name="AutoShape 31"/>
          <p:cNvSpPr/>
          <p:nvPr/>
        </p:nvSpPr>
        <p:spPr>
          <a:xfrm>
            <a:off x="812800" y="64516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墨攻 · 企业级智能体功能补强规划</a:t>
            </a:r>
            <a:endParaRPr lang="en-US" sz="1100"/>
          </a:p>
        </p:txBody>
      </p:sp>
      <p:sp>
        <p:nvSpPr>
          <p:cNvPr id="245" name="AutoShape 32"/>
          <p:cNvSpPr/>
          <p:nvPr/>
        </p:nvSpPr>
        <p:spPr>
          <a:xfrm>
            <a:off x="10414000" y="6451600"/>
            <a:ext cx="96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zh-CN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AutoShape 2"/>
          <p:cNvSpPr/>
          <p:nvPr/>
        </p:nvSpPr>
        <p:spPr>
          <a:xfrm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8" name="AutoShape 3"/>
          <p:cNvSpPr/>
          <p:nvPr/>
        </p:nvSpPr>
        <p:spPr>
          <a:xfrm>
            <a:off x="990600" y="5588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200" b="1" dirty="0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10</a:t>
            </a:r>
            <a:r>
              <a:rPr lang="en-US" sz="1200" b="1" i="0" u="none" strike="noStrike" dirty="0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· </a:t>
            </a:r>
            <a:r>
              <a:rPr lang="en-US" sz="1200" b="1" i="0" u="none" strike="noStrike" dirty="0" err="1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标杆场景一</a:t>
            </a:r>
            <a:r>
              <a:rPr lang="en-US" sz="1200" b="1" i="0" u="none" strike="noStrike" dirty="0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· </a:t>
            </a:r>
            <a:r>
              <a:rPr lang="en-US" sz="1200" b="1" i="0" u="none" strike="noStrike" dirty="0" err="1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单智能体</a:t>
            </a:r>
            <a:endParaRPr lang="en-US" sz="1100" dirty="0"/>
          </a:p>
        </p:txBody>
      </p:sp>
      <p:sp>
        <p:nvSpPr>
          <p:cNvPr id="249" name="AutoShape 4"/>
          <p:cNvSpPr/>
          <p:nvPr/>
        </p:nvSpPr>
        <p:spPr>
          <a:xfrm>
            <a:off x="812800" y="838200"/>
            <a:ext cx="1056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客户反馈分诊：单 Agent 顺序流水线，P0 自动触发审批</a:t>
            </a:r>
            <a:endParaRPr lang="en-US" sz="1100"/>
          </a:p>
        </p:txBody>
      </p:sp>
      <p:cxnSp>
        <p:nvCxnSpPr>
          <p:cNvPr id="250" name="Connector 5"/>
          <p:cNvCxnSpPr/>
          <p:nvPr/>
        </p:nvCxnSpPr>
        <p:spPr>
          <a:xfrm rot="-4131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1" name="AutoShape 6"/>
          <p:cNvSpPr/>
          <p:nvPr/>
        </p:nvSpPr>
        <p:spPr>
          <a:xfrm>
            <a:off x="812800" y="1752600"/>
            <a:ext cx="3556000" cy="3810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2" name="AutoShape 7"/>
          <p:cNvSpPr/>
          <p:nvPr/>
        </p:nvSpPr>
        <p:spPr>
          <a:xfrm>
            <a:off x="1092200" y="1981200"/>
            <a:ext cx="2997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痛点</a:t>
            </a:r>
            <a:endParaRPr lang="en-US" sz="1100"/>
          </a:p>
        </p:txBody>
      </p:sp>
      <p:sp>
        <p:nvSpPr>
          <p:cNvPr id="253" name="AutoShape 8"/>
          <p:cNvSpPr/>
          <p:nvPr/>
        </p:nvSpPr>
        <p:spPr>
          <a:xfrm>
            <a:off x="1092200" y="226060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每天 200–500 条反馈来自工单、邮件、社群、应用内；人工分诊 4–6 小时/日，P0 紧急问题容易被埋没。</a:t>
            </a:r>
            <a:endParaRPr lang="en-US" sz="1100"/>
          </a:p>
        </p:txBody>
      </p:sp>
      <p:cxnSp>
        <p:nvCxnSpPr>
          <p:cNvPr id="254" name="Connector 9"/>
          <p:cNvCxnSpPr/>
          <p:nvPr/>
        </p:nvCxnSpPr>
        <p:spPr>
          <a:xfrm rot="-14566">
            <a:off x="1092213" y="3422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5" name="AutoShape 10"/>
          <p:cNvSpPr/>
          <p:nvPr/>
        </p:nvSpPr>
        <p:spPr>
          <a:xfrm>
            <a:off x="1092200" y="3581400"/>
            <a:ext cx="2997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一次交互产出</a:t>
            </a:r>
            <a:endParaRPr lang="en-US" sz="1100"/>
          </a:p>
        </p:txBody>
      </p:sp>
      <p:sp>
        <p:nvSpPr>
          <p:cNvPr id="256" name="AutoShape 11"/>
          <p:cNvSpPr/>
          <p:nvPr/>
        </p:nvSpPr>
        <p:spPr>
          <a:xfrm>
            <a:off x="1092200" y="3860800"/>
            <a:ext cx="2997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· triage_report.md 分诊报告</a:t>
            </a:r>
            <a:endParaRPr lang="en-US" sz="1100"/>
          </a:p>
        </p:txBody>
      </p:sp>
      <p:sp>
        <p:nvSpPr>
          <p:cNvPr id="257" name="AutoShape 12"/>
          <p:cNvSpPr/>
          <p:nvPr/>
        </p:nvSpPr>
        <p:spPr>
          <a:xfrm>
            <a:off x="1092200" y="4191000"/>
            <a:ext cx="2997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· action_items.csv 跟进清单</a:t>
            </a:r>
            <a:endParaRPr lang="en-US" sz="1100"/>
          </a:p>
        </p:txBody>
      </p:sp>
      <p:sp>
        <p:nvSpPr>
          <p:cNvPr id="258" name="AutoShape 13"/>
          <p:cNvSpPr/>
          <p:nvPr/>
        </p:nvSpPr>
        <p:spPr>
          <a:xfrm>
            <a:off x="1092200" y="4521200"/>
            <a:ext cx="2997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· P0≥3 自动触发 R1 审批</a:t>
            </a:r>
            <a:endParaRPr lang="en-US" sz="1100"/>
          </a:p>
        </p:txBody>
      </p:sp>
      <p:sp>
        <p:nvSpPr>
          <p:cNvPr id="259" name="AutoShape 14"/>
          <p:cNvSpPr/>
          <p:nvPr/>
        </p:nvSpPr>
        <p:spPr>
          <a:xfrm>
            <a:off x="1092200" y="4978400"/>
            <a:ext cx="2997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P0 关键词：无法登录 / 数据丢失 / 服务不可用 / 支付失败</a:t>
            </a:r>
            <a:endParaRPr lang="en-US" sz="1100"/>
          </a:p>
        </p:txBody>
      </p:sp>
      <p:sp>
        <p:nvSpPr>
          <p:cNvPr id="260" name="AutoShape 15"/>
          <p:cNvSpPr/>
          <p:nvPr/>
        </p:nvSpPr>
        <p:spPr>
          <a:xfrm>
            <a:off x="4724400" y="1778000"/>
            <a:ext cx="6654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8 个顺序 Step · 共享同一批反馈上下文</a:t>
            </a:r>
            <a:endParaRPr lang="en-US" sz="1100"/>
          </a:p>
        </p:txBody>
      </p:sp>
      <p:sp>
        <p:nvSpPr>
          <p:cNvPr id="261" name="AutoShape 16"/>
          <p:cNvSpPr/>
          <p:nvPr/>
        </p:nvSpPr>
        <p:spPr>
          <a:xfrm>
            <a:off x="4724400" y="2108200"/>
            <a:ext cx="3251200" cy="736600"/>
          </a:xfrm>
          <a:prstGeom prst="roundRect">
            <a:avLst>
              <a:gd name="adj" fmla="val 1379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2" name="AutoShape 17"/>
          <p:cNvSpPr/>
          <p:nvPr/>
        </p:nvSpPr>
        <p:spPr>
          <a:xfrm>
            <a:off x="4876800" y="2286000"/>
            <a:ext cx="330200" cy="330200"/>
          </a:xfrm>
          <a:prstGeom prst="roundRect">
            <a:avLst>
              <a:gd name="adj" fmla="val 23076"/>
            </a:avLst>
          </a:prstGeom>
          <a:solidFill>
            <a:srgbClr val="109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3" name="AutoShape 18"/>
          <p:cNvSpPr/>
          <p:nvPr/>
        </p:nvSpPr>
        <p:spPr>
          <a:xfrm>
            <a:off x="4876800" y="2286000"/>
            <a:ext cx="33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1</a:t>
            </a:r>
            <a:endParaRPr lang="en-US" sz="1100"/>
          </a:p>
        </p:txBody>
      </p:sp>
      <p:sp>
        <p:nvSpPr>
          <p:cNvPr id="264" name="AutoShape 19"/>
          <p:cNvSpPr/>
          <p:nvPr/>
        </p:nvSpPr>
        <p:spPr>
          <a:xfrm>
            <a:off x="5334000" y="2235200"/>
            <a:ext cx="248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load_feedback</a:t>
            </a:r>
            <a:endParaRPr lang="en-US" sz="1100"/>
          </a:p>
        </p:txBody>
      </p:sp>
      <p:sp>
        <p:nvSpPr>
          <p:cNvPr id="265" name="AutoShape 20"/>
          <p:cNvSpPr/>
          <p:nvPr/>
        </p:nvSpPr>
        <p:spPr>
          <a:xfrm>
            <a:off x="5334000" y="2489200"/>
            <a:ext cx="248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读取 xlsx / csv / pdf / 文本</a:t>
            </a:r>
            <a:endParaRPr lang="en-US" sz="1100"/>
          </a:p>
        </p:txBody>
      </p:sp>
      <p:sp>
        <p:nvSpPr>
          <p:cNvPr id="266" name="AutoShape 21"/>
          <p:cNvSpPr/>
          <p:nvPr/>
        </p:nvSpPr>
        <p:spPr>
          <a:xfrm>
            <a:off x="8128000" y="2108200"/>
            <a:ext cx="3251200" cy="736600"/>
          </a:xfrm>
          <a:prstGeom prst="roundRect">
            <a:avLst>
              <a:gd name="adj" fmla="val 1379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7" name="AutoShape 22"/>
          <p:cNvSpPr/>
          <p:nvPr/>
        </p:nvSpPr>
        <p:spPr>
          <a:xfrm>
            <a:off x="8280400" y="2286000"/>
            <a:ext cx="330200" cy="330200"/>
          </a:xfrm>
          <a:prstGeom prst="roundRect">
            <a:avLst>
              <a:gd name="adj" fmla="val 23076"/>
            </a:avLst>
          </a:prstGeom>
          <a:solidFill>
            <a:srgbClr val="109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8" name="AutoShape 23"/>
          <p:cNvSpPr/>
          <p:nvPr/>
        </p:nvSpPr>
        <p:spPr>
          <a:xfrm>
            <a:off x="8280400" y="2286000"/>
            <a:ext cx="33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2</a:t>
            </a:r>
            <a:endParaRPr lang="en-US" sz="1100"/>
          </a:p>
        </p:txBody>
      </p:sp>
      <p:sp>
        <p:nvSpPr>
          <p:cNvPr id="269" name="AutoShape 24"/>
          <p:cNvSpPr/>
          <p:nvPr/>
        </p:nvSpPr>
        <p:spPr>
          <a:xfrm>
            <a:off x="8737600" y="2235200"/>
            <a:ext cx="248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normalize_batch</a:t>
            </a:r>
            <a:endParaRPr lang="en-US" sz="1100"/>
          </a:p>
        </p:txBody>
      </p:sp>
      <p:sp>
        <p:nvSpPr>
          <p:cNvPr id="270" name="AutoShape 25"/>
          <p:cNvSpPr/>
          <p:nvPr/>
        </p:nvSpPr>
        <p:spPr>
          <a:xfrm>
            <a:off x="8737600" y="2489200"/>
            <a:ext cx="248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去重、剔除空条目、字段规范化</a:t>
            </a:r>
            <a:endParaRPr lang="en-US" sz="1100"/>
          </a:p>
        </p:txBody>
      </p:sp>
      <p:sp>
        <p:nvSpPr>
          <p:cNvPr id="271" name="AutoShape 26"/>
          <p:cNvSpPr/>
          <p:nvPr/>
        </p:nvSpPr>
        <p:spPr>
          <a:xfrm>
            <a:off x="4724400" y="2971800"/>
            <a:ext cx="3251200" cy="736600"/>
          </a:xfrm>
          <a:prstGeom prst="roundRect">
            <a:avLst>
              <a:gd name="adj" fmla="val 1379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2" name="AutoShape 27"/>
          <p:cNvSpPr/>
          <p:nvPr/>
        </p:nvSpPr>
        <p:spPr>
          <a:xfrm>
            <a:off x="4876800" y="3149600"/>
            <a:ext cx="330200" cy="330200"/>
          </a:xfrm>
          <a:prstGeom prst="roundRect">
            <a:avLst>
              <a:gd name="adj" fmla="val 23076"/>
            </a:avLst>
          </a:prstGeom>
          <a:solidFill>
            <a:srgbClr val="109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3" name="AutoShape 28"/>
          <p:cNvSpPr/>
          <p:nvPr/>
        </p:nvSpPr>
        <p:spPr>
          <a:xfrm>
            <a:off x="4876800" y="3149600"/>
            <a:ext cx="33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3</a:t>
            </a:r>
            <a:endParaRPr lang="en-US" sz="1100"/>
          </a:p>
        </p:txBody>
      </p:sp>
      <p:sp>
        <p:nvSpPr>
          <p:cNvPr id="274" name="AutoShape 29"/>
          <p:cNvSpPr/>
          <p:nvPr/>
        </p:nvSpPr>
        <p:spPr>
          <a:xfrm>
            <a:off x="5334000" y="3098800"/>
            <a:ext cx="248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classify_severity</a:t>
            </a:r>
            <a:endParaRPr lang="en-US" sz="1100"/>
          </a:p>
        </p:txBody>
      </p:sp>
      <p:sp>
        <p:nvSpPr>
          <p:cNvPr id="275" name="AutoShape 30"/>
          <p:cNvSpPr/>
          <p:nvPr/>
        </p:nvSpPr>
        <p:spPr>
          <a:xfrm>
            <a:off x="5334000" y="3352800"/>
            <a:ext cx="248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逐条打 P0–P3 严重度标签</a:t>
            </a:r>
            <a:endParaRPr lang="en-US" sz="1100"/>
          </a:p>
        </p:txBody>
      </p:sp>
      <p:sp>
        <p:nvSpPr>
          <p:cNvPr id="276" name="AutoShape 31"/>
          <p:cNvSpPr/>
          <p:nvPr/>
        </p:nvSpPr>
        <p:spPr>
          <a:xfrm>
            <a:off x="8128000" y="2971800"/>
            <a:ext cx="3251200" cy="736600"/>
          </a:xfrm>
          <a:prstGeom prst="roundRect">
            <a:avLst>
              <a:gd name="adj" fmla="val 1379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7" name="AutoShape 32"/>
          <p:cNvSpPr/>
          <p:nvPr/>
        </p:nvSpPr>
        <p:spPr>
          <a:xfrm>
            <a:off x="8280400" y="3149600"/>
            <a:ext cx="330200" cy="330200"/>
          </a:xfrm>
          <a:prstGeom prst="roundRect">
            <a:avLst>
              <a:gd name="adj" fmla="val 23076"/>
            </a:avLst>
          </a:prstGeom>
          <a:solidFill>
            <a:srgbClr val="109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8" name="AutoShape 33"/>
          <p:cNvSpPr/>
          <p:nvPr/>
        </p:nvSpPr>
        <p:spPr>
          <a:xfrm>
            <a:off x="8280400" y="3149600"/>
            <a:ext cx="33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4</a:t>
            </a:r>
            <a:endParaRPr lang="en-US" sz="1100"/>
          </a:p>
        </p:txBody>
      </p:sp>
      <p:sp>
        <p:nvSpPr>
          <p:cNvPr id="279" name="AutoShape 34"/>
          <p:cNvSpPr/>
          <p:nvPr/>
        </p:nvSpPr>
        <p:spPr>
          <a:xfrm>
            <a:off x="8737600" y="3098800"/>
            <a:ext cx="248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categorize_issue</a:t>
            </a:r>
            <a:endParaRPr lang="en-US" sz="1100"/>
          </a:p>
        </p:txBody>
      </p:sp>
      <p:sp>
        <p:nvSpPr>
          <p:cNvPr id="280" name="AutoShape 35"/>
          <p:cNvSpPr/>
          <p:nvPr/>
        </p:nvSpPr>
        <p:spPr>
          <a:xfrm>
            <a:off x="8737600" y="3352800"/>
            <a:ext cx="248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归入登录/数据/计费等 8 大类</a:t>
            </a:r>
            <a:endParaRPr lang="en-US" sz="1100"/>
          </a:p>
        </p:txBody>
      </p:sp>
      <p:sp>
        <p:nvSpPr>
          <p:cNvPr id="281" name="AutoShape 36"/>
          <p:cNvSpPr/>
          <p:nvPr/>
        </p:nvSpPr>
        <p:spPr>
          <a:xfrm>
            <a:off x="4724400" y="3835400"/>
            <a:ext cx="3251200" cy="736600"/>
          </a:xfrm>
          <a:prstGeom prst="roundRect">
            <a:avLst>
              <a:gd name="adj" fmla="val 1379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2" name="AutoShape 37"/>
          <p:cNvSpPr/>
          <p:nvPr/>
        </p:nvSpPr>
        <p:spPr>
          <a:xfrm>
            <a:off x="4876800" y="4013200"/>
            <a:ext cx="330200" cy="330200"/>
          </a:xfrm>
          <a:prstGeom prst="roundRect">
            <a:avLst>
              <a:gd name="adj" fmla="val 23076"/>
            </a:avLst>
          </a:prstGeom>
          <a:solidFill>
            <a:srgbClr val="109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3" name="AutoShape 38"/>
          <p:cNvSpPr/>
          <p:nvPr/>
        </p:nvSpPr>
        <p:spPr>
          <a:xfrm>
            <a:off x="4876800" y="4013200"/>
            <a:ext cx="33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5</a:t>
            </a:r>
            <a:endParaRPr lang="en-US" sz="1100"/>
          </a:p>
        </p:txBody>
      </p:sp>
      <p:sp>
        <p:nvSpPr>
          <p:cNvPr id="284" name="AutoShape 39"/>
          <p:cNvSpPr/>
          <p:nvPr/>
        </p:nvSpPr>
        <p:spPr>
          <a:xfrm>
            <a:off x="5334000" y="3962400"/>
            <a:ext cx="248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detect_pii_and_redact</a:t>
            </a:r>
            <a:endParaRPr lang="en-US" sz="1100"/>
          </a:p>
        </p:txBody>
      </p:sp>
      <p:sp>
        <p:nvSpPr>
          <p:cNvPr id="285" name="AutoShape 40"/>
          <p:cNvSpPr/>
          <p:nvPr/>
        </p:nvSpPr>
        <p:spPr>
          <a:xfrm>
            <a:off x="5334000" y="4216400"/>
            <a:ext cx="248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手机号/身份证/银行卡脱敏</a:t>
            </a:r>
            <a:endParaRPr lang="en-US" sz="1100"/>
          </a:p>
        </p:txBody>
      </p:sp>
      <p:sp>
        <p:nvSpPr>
          <p:cNvPr id="286" name="AutoShape 41"/>
          <p:cNvSpPr/>
          <p:nvPr/>
        </p:nvSpPr>
        <p:spPr>
          <a:xfrm>
            <a:off x="8128000" y="3835400"/>
            <a:ext cx="3251200" cy="736600"/>
          </a:xfrm>
          <a:prstGeom prst="roundRect">
            <a:avLst>
              <a:gd name="adj" fmla="val 1379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7" name="AutoShape 42"/>
          <p:cNvSpPr/>
          <p:nvPr/>
        </p:nvSpPr>
        <p:spPr>
          <a:xfrm>
            <a:off x="8280400" y="4013200"/>
            <a:ext cx="330200" cy="330200"/>
          </a:xfrm>
          <a:prstGeom prst="roundRect">
            <a:avLst>
              <a:gd name="adj" fmla="val 23076"/>
            </a:avLst>
          </a:prstGeom>
          <a:solidFill>
            <a:srgbClr val="109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8" name="AutoShape 43"/>
          <p:cNvSpPr/>
          <p:nvPr/>
        </p:nvSpPr>
        <p:spPr>
          <a:xfrm>
            <a:off x="8280400" y="4013200"/>
            <a:ext cx="33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6</a:t>
            </a:r>
            <a:endParaRPr lang="en-US" sz="1100"/>
          </a:p>
        </p:txBody>
      </p:sp>
      <p:sp>
        <p:nvSpPr>
          <p:cNvPr id="289" name="AutoShape 44"/>
          <p:cNvSpPr/>
          <p:nvPr/>
        </p:nvSpPr>
        <p:spPr>
          <a:xfrm>
            <a:off x="8737600" y="3962400"/>
            <a:ext cx="248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rank_action_items</a:t>
            </a:r>
            <a:endParaRPr lang="en-US" sz="1100"/>
          </a:p>
        </p:txBody>
      </p:sp>
      <p:sp>
        <p:nvSpPr>
          <p:cNvPr id="290" name="AutoShape 45"/>
          <p:cNvSpPr/>
          <p:nvPr/>
        </p:nvSpPr>
        <p:spPr>
          <a:xfrm>
            <a:off x="8737600" y="4216400"/>
            <a:ext cx="248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P0+P1 按紧迫度打分排序</a:t>
            </a:r>
            <a:endParaRPr lang="en-US" sz="1100"/>
          </a:p>
        </p:txBody>
      </p:sp>
      <p:sp>
        <p:nvSpPr>
          <p:cNvPr id="291" name="AutoShape 46"/>
          <p:cNvSpPr/>
          <p:nvPr/>
        </p:nvSpPr>
        <p:spPr>
          <a:xfrm>
            <a:off x="4724400" y="4699000"/>
            <a:ext cx="3251200" cy="736600"/>
          </a:xfrm>
          <a:prstGeom prst="roundRect">
            <a:avLst>
              <a:gd name="adj" fmla="val 1379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2" name="AutoShape 47"/>
          <p:cNvSpPr/>
          <p:nvPr/>
        </p:nvSpPr>
        <p:spPr>
          <a:xfrm>
            <a:off x="4876800" y="4876800"/>
            <a:ext cx="330200" cy="330200"/>
          </a:xfrm>
          <a:prstGeom prst="roundRect">
            <a:avLst>
              <a:gd name="adj" fmla="val 23076"/>
            </a:avLst>
          </a:prstGeom>
          <a:solidFill>
            <a:srgbClr val="109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3" name="AutoShape 48"/>
          <p:cNvSpPr/>
          <p:nvPr/>
        </p:nvSpPr>
        <p:spPr>
          <a:xfrm>
            <a:off x="4876800" y="4876800"/>
            <a:ext cx="33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7</a:t>
            </a:r>
            <a:endParaRPr lang="en-US" sz="1100"/>
          </a:p>
        </p:txBody>
      </p:sp>
      <p:sp>
        <p:nvSpPr>
          <p:cNvPr id="294" name="AutoShape 49"/>
          <p:cNvSpPr/>
          <p:nvPr/>
        </p:nvSpPr>
        <p:spPr>
          <a:xfrm>
            <a:off x="5334000" y="4826000"/>
            <a:ext cx="248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compose_report</a:t>
            </a:r>
            <a:endParaRPr lang="en-US" sz="1100"/>
          </a:p>
        </p:txBody>
      </p:sp>
      <p:sp>
        <p:nvSpPr>
          <p:cNvPr id="295" name="AutoShape 50"/>
          <p:cNvSpPr/>
          <p:nvPr/>
        </p:nvSpPr>
        <p:spPr>
          <a:xfrm>
            <a:off x="5334000" y="5080000"/>
            <a:ext cx="248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生成摘要/P0清单/趋势/建议</a:t>
            </a:r>
            <a:endParaRPr lang="en-US" sz="1100"/>
          </a:p>
        </p:txBody>
      </p:sp>
      <p:sp>
        <p:nvSpPr>
          <p:cNvPr id="296" name="AutoShape 51"/>
          <p:cNvSpPr/>
          <p:nvPr/>
        </p:nvSpPr>
        <p:spPr>
          <a:xfrm>
            <a:off x="8128000" y="4699000"/>
            <a:ext cx="3251200" cy="736600"/>
          </a:xfrm>
          <a:prstGeom prst="roundRect">
            <a:avLst>
              <a:gd name="adj" fmla="val 13793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A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7" name="AutoShape 52"/>
          <p:cNvSpPr/>
          <p:nvPr/>
        </p:nvSpPr>
        <p:spPr>
          <a:xfrm>
            <a:off x="8280400" y="4876800"/>
            <a:ext cx="330200" cy="330200"/>
          </a:xfrm>
          <a:prstGeom prst="roundRect">
            <a:avLst>
              <a:gd name="adj" fmla="val 23076"/>
            </a:avLst>
          </a:prstGeom>
          <a:solidFill>
            <a:srgbClr val="109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8" name="AutoShape 53"/>
          <p:cNvSpPr/>
          <p:nvPr/>
        </p:nvSpPr>
        <p:spPr>
          <a:xfrm>
            <a:off x="8280400" y="4876800"/>
            <a:ext cx="33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8</a:t>
            </a:r>
            <a:endParaRPr lang="en-US" sz="1100"/>
          </a:p>
        </p:txBody>
      </p:sp>
      <p:sp>
        <p:nvSpPr>
          <p:cNvPr id="299" name="AutoShape 54"/>
          <p:cNvSpPr/>
          <p:nvPr/>
        </p:nvSpPr>
        <p:spPr>
          <a:xfrm>
            <a:off x="8737600" y="4826000"/>
            <a:ext cx="248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trigger_approval_if_p0</a:t>
            </a:r>
            <a:endParaRPr lang="en-US" sz="1100"/>
          </a:p>
        </p:txBody>
      </p:sp>
      <p:sp>
        <p:nvSpPr>
          <p:cNvPr id="300" name="AutoShape 55"/>
          <p:cNvSpPr/>
          <p:nvPr/>
        </p:nvSpPr>
        <p:spPr>
          <a:xfrm>
            <a:off x="8737600" y="5080000"/>
            <a:ext cx="248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P0≥3 触发 R1 审批，否则跳过</a:t>
            </a:r>
            <a:endParaRPr lang="en-US" sz="1100"/>
          </a:p>
        </p:txBody>
      </p:sp>
      <p:sp>
        <p:nvSpPr>
          <p:cNvPr id="301" name="AutoShape 56"/>
          <p:cNvSpPr/>
          <p:nvPr/>
        </p:nvSpPr>
        <p:spPr>
          <a:xfrm>
            <a:off x="812800" y="5791200"/>
            <a:ext cx="10566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为什么不用多智能体：</a:t>
            </a:r>
            <a:r>
              <a:rPr lang="en-US" sz="12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所有 step 共享同一份"批次上下文"，任何并行拆分都会导致上下文重建成本大于并行收益——这是单 Agent 顺序流水线的典型场景。</a:t>
            </a:r>
            <a:endParaRPr lang="en-US" sz="1100"/>
          </a:p>
        </p:txBody>
      </p:sp>
      <p:sp>
        <p:nvSpPr>
          <p:cNvPr id="302" name="AutoShape 57"/>
          <p:cNvSpPr/>
          <p:nvPr/>
        </p:nvSpPr>
        <p:spPr>
          <a:xfrm>
            <a:off x="812800" y="64516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墨攻 · 企业级智能体功能补强规划</a:t>
            </a:r>
            <a:endParaRPr lang="en-US" sz="1100"/>
          </a:p>
        </p:txBody>
      </p:sp>
      <p:sp>
        <p:nvSpPr>
          <p:cNvPr id="303" name="AutoShape 58"/>
          <p:cNvSpPr/>
          <p:nvPr/>
        </p:nvSpPr>
        <p:spPr>
          <a:xfrm>
            <a:off x="10414000" y="6451600"/>
            <a:ext cx="96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zh-CN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AutoShape 2"/>
          <p:cNvSpPr/>
          <p:nvPr/>
        </p:nvSpPr>
        <p:spPr>
          <a:xfrm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6" name="AutoShape 3"/>
          <p:cNvSpPr/>
          <p:nvPr/>
        </p:nvSpPr>
        <p:spPr>
          <a:xfrm>
            <a:off x="990600" y="5588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200" b="1" dirty="0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10</a:t>
            </a:r>
            <a:r>
              <a:rPr lang="en-US" sz="1200" b="1" i="0" u="none" strike="noStrike" dirty="0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· </a:t>
            </a:r>
            <a:r>
              <a:rPr lang="en-US" sz="1200" b="1" i="0" u="none" strike="noStrike" dirty="0" err="1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标杆场景二</a:t>
            </a:r>
            <a:r>
              <a:rPr lang="en-US" sz="1200" b="1" i="0" u="none" strike="noStrike" dirty="0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· </a:t>
            </a:r>
            <a:r>
              <a:rPr lang="en-US" sz="1200" b="1" i="0" u="none" strike="noStrike" dirty="0" err="1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多智能体</a:t>
            </a:r>
            <a:r>
              <a:rPr lang="en-US" sz="1200" b="1" i="0" u="none" strike="noStrike" dirty="0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DAG</a:t>
            </a:r>
            <a:endParaRPr lang="en-US" sz="1100" dirty="0"/>
          </a:p>
        </p:txBody>
      </p:sp>
      <p:sp>
        <p:nvSpPr>
          <p:cNvPr id="307" name="AutoShape 4"/>
          <p:cNvSpPr/>
          <p:nvPr/>
        </p:nvSpPr>
        <p:spPr>
          <a:xfrm>
            <a:off x="812800" y="838200"/>
            <a:ext cx="1056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竞品深度调研：4 路并行分析，合成可追溯报告</a:t>
            </a:r>
            <a:endParaRPr lang="en-US" sz="1100"/>
          </a:p>
        </p:txBody>
      </p:sp>
      <p:cxnSp>
        <p:nvCxnSpPr>
          <p:cNvPr id="308" name="Connector 5"/>
          <p:cNvCxnSpPr/>
          <p:nvPr/>
        </p:nvCxnSpPr>
        <p:spPr>
          <a:xfrm rot="-4131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9" name="AutoShape 6"/>
          <p:cNvSpPr/>
          <p:nvPr/>
        </p:nvSpPr>
        <p:spPr>
          <a:xfrm>
            <a:off x="4318000" y="1651000"/>
            <a:ext cx="3556000" cy="558800"/>
          </a:xfrm>
          <a:prstGeom prst="roundRect">
            <a:avLst>
              <a:gd name="adj" fmla="val 18181"/>
            </a:avLst>
          </a:prstGeom>
          <a:solidFill>
            <a:srgbClr val="0D9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0" name="AutoShape 7"/>
          <p:cNvSpPr/>
          <p:nvPr/>
        </p:nvSpPr>
        <p:spPr>
          <a:xfrm>
            <a:off x="4318000" y="1651000"/>
            <a:ext cx="355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supervisor 协调（planner + aggregator）</a:t>
            </a:r>
            <a:endParaRPr lang="en-US" sz="1100"/>
          </a:p>
        </p:txBody>
      </p:sp>
      <p:cxnSp>
        <p:nvCxnSpPr>
          <p:cNvPr id="311" name="Connector 8"/>
          <p:cNvCxnSpPr/>
          <p:nvPr/>
        </p:nvCxnSpPr>
        <p:spPr>
          <a:xfrm rot="5267844">
            <a:off x="5930900" y="23686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2" name="Connector 9"/>
          <p:cNvCxnSpPr/>
          <p:nvPr/>
        </p:nvCxnSpPr>
        <p:spPr>
          <a:xfrm rot="-5617">
            <a:off x="2032005" y="2533650"/>
            <a:ext cx="777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" name="Connector 10"/>
          <p:cNvCxnSpPr/>
          <p:nvPr/>
        </p:nvCxnSpPr>
        <p:spPr>
          <a:xfrm rot="5267844">
            <a:off x="1866900" y="26988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" name="Connector 11"/>
          <p:cNvCxnSpPr/>
          <p:nvPr/>
        </p:nvCxnSpPr>
        <p:spPr>
          <a:xfrm rot="5267844">
            <a:off x="4457700" y="26988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5" name="Connector 12"/>
          <p:cNvCxnSpPr/>
          <p:nvPr/>
        </p:nvCxnSpPr>
        <p:spPr>
          <a:xfrm rot="5267844">
            <a:off x="7048500" y="26988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6" name="Connector 13"/>
          <p:cNvCxnSpPr/>
          <p:nvPr/>
        </p:nvCxnSpPr>
        <p:spPr>
          <a:xfrm rot="5267844">
            <a:off x="9639300" y="26988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7" name="AutoShape 14"/>
          <p:cNvSpPr/>
          <p:nvPr/>
        </p:nvSpPr>
        <p:spPr>
          <a:xfrm>
            <a:off x="812800" y="2870200"/>
            <a:ext cx="2438400" cy="965200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8" name="AutoShape 15"/>
          <p:cNvSpPr/>
          <p:nvPr/>
        </p:nvSpPr>
        <p:spPr>
          <a:xfrm>
            <a:off x="965200" y="3022600"/>
            <a:ext cx="2133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市场情报员</a:t>
            </a:r>
            <a:endParaRPr lang="en-US" sz="1100"/>
          </a:p>
        </p:txBody>
      </p:sp>
      <p:sp>
        <p:nvSpPr>
          <p:cNvPr id="319" name="AutoShape 16"/>
          <p:cNvSpPr/>
          <p:nvPr/>
        </p:nvSpPr>
        <p:spPr>
          <a:xfrm>
            <a:off x="965200" y="3327400"/>
            <a:ext cx="2133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检索 + 时间线新闻、融资、份额</a:t>
            </a:r>
            <a:endParaRPr lang="en-US" sz="1100"/>
          </a:p>
        </p:txBody>
      </p:sp>
      <p:sp>
        <p:nvSpPr>
          <p:cNvPr id="320" name="AutoShape 17"/>
          <p:cNvSpPr/>
          <p:nvPr/>
        </p:nvSpPr>
        <p:spPr>
          <a:xfrm>
            <a:off x="3403600" y="2870200"/>
            <a:ext cx="2438400" cy="965200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1" name="AutoShape 18"/>
          <p:cNvSpPr/>
          <p:nvPr/>
        </p:nvSpPr>
        <p:spPr>
          <a:xfrm>
            <a:off x="3556000" y="3022600"/>
            <a:ext cx="2133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产品分析师</a:t>
            </a:r>
            <a:endParaRPr lang="en-US" sz="1100"/>
          </a:p>
        </p:txBody>
      </p:sp>
      <p:sp>
        <p:nvSpPr>
          <p:cNvPr id="322" name="AutoShape 19"/>
          <p:cNvSpPr/>
          <p:nvPr/>
        </p:nvSpPr>
        <p:spPr>
          <a:xfrm>
            <a:off x="3556000" y="3327400"/>
            <a:ext cx="2133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浏览器抓取官网、功能对比</a:t>
            </a:r>
            <a:endParaRPr lang="en-US" sz="1100"/>
          </a:p>
        </p:txBody>
      </p:sp>
      <p:sp>
        <p:nvSpPr>
          <p:cNvPr id="323" name="AutoShape 20"/>
          <p:cNvSpPr/>
          <p:nvPr/>
        </p:nvSpPr>
        <p:spPr>
          <a:xfrm>
            <a:off x="5994400" y="2870200"/>
            <a:ext cx="2438400" cy="965200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4A3B8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4" name="AutoShape 21"/>
          <p:cNvSpPr/>
          <p:nvPr/>
        </p:nvSpPr>
        <p:spPr>
          <a:xfrm>
            <a:off x="6146800" y="3022600"/>
            <a:ext cx="2133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财务分析师</a:t>
            </a:r>
            <a:endParaRPr lang="en-US" sz="1100"/>
          </a:p>
        </p:txBody>
      </p:sp>
      <p:sp>
        <p:nvSpPr>
          <p:cNvPr id="325" name="AutoShape 22"/>
          <p:cNvSpPr/>
          <p:nvPr/>
        </p:nvSpPr>
        <p:spPr>
          <a:xfrm>
            <a:off x="6146800" y="3302000"/>
            <a:ext cx="2133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定量 + 估值模型</a:t>
            </a:r>
            <a:endParaRPr lang="en-US" sz="1100"/>
          </a:p>
        </p:txBody>
      </p:sp>
      <p:sp>
        <p:nvSpPr>
          <p:cNvPr id="326" name="AutoShape 23"/>
          <p:cNvSpPr/>
          <p:nvPr/>
        </p:nvSpPr>
        <p:spPr>
          <a:xfrm>
            <a:off x="6146800" y="3556000"/>
            <a:ext cx="2133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0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私有公司则条件跳过</a:t>
            </a:r>
            <a:endParaRPr lang="en-US" sz="1100"/>
          </a:p>
        </p:txBody>
      </p:sp>
      <p:sp>
        <p:nvSpPr>
          <p:cNvPr id="327" name="AutoShape 24"/>
          <p:cNvSpPr/>
          <p:nvPr/>
        </p:nvSpPr>
        <p:spPr>
          <a:xfrm>
            <a:off x="8585200" y="2870200"/>
            <a:ext cx="2438400" cy="965200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8" name="AutoShape 25"/>
          <p:cNvSpPr/>
          <p:nvPr/>
        </p:nvSpPr>
        <p:spPr>
          <a:xfrm>
            <a:off x="8737600" y="3022600"/>
            <a:ext cx="2133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舆情监测员</a:t>
            </a:r>
            <a:endParaRPr lang="en-US" sz="1100"/>
          </a:p>
        </p:txBody>
      </p:sp>
      <p:sp>
        <p:nvSpPr>
          <p:cNvPr id="329" name="AutoShape 26"/>
          <p:cNvSpPr/>
          <p:nvPr/>
        </p:nvSpPr>
        <p:spPr>
          <a:xfrm>
            <a:off x="8737600" y="3327400"/>
            <a:ext cx="2133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微博/知乎/Reddit 情感聚类</a:t>
            </a:r>
            <a:endParaRPr lang="en-US" sz="1100"/>
          </a:p>
        </p:txBody>
      </p:sp>
      <p:cxnSp>
        <p:nvCxnSpPr>
          <p:cNvPr id="330" name="Connector 27"/>
          <p:cNvCxnSpPr/>
          <p:nvPr/>
        </p:nvCxnSpPr>
        <p:spPr>
          <a:xfrm rot="5267844">
            <a:off x="1866900" y="39942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" name="Connector 28"/>
          <p:cNvCxnSpPr/>
          <p:nvPr/>
        </p:nvCxnSpPr>
        <p:spPr>
          <a:xfrm rot="5267844">
            <a:off x="4457700" y="39942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" name="Connector 29"/>
          <p:cNvCxnSpPr/>
          <p:nvPr/>
        </p:nvCxnSpPr>
        <p:spPr>
          <a:xfrm rot="5267844">
            <a:off x="7048500" y="39942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" name="Connector 30"/>
          <p:cNvCxnSpPr/>
          <p:nvPr/>
        </p:nvCxnSpPr>
        <p:spPr>
          <a:xfrm rot="5267844">
            <a:off x="9639300" y="39942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" name="Connector 31"/>
          <p:cNvCxnSpPr/>
          <p:nvPr/>
        </p:nvCxnSpPr>
        <p:spPr>
          <a:xfrm rot="-5617">
            <a:off x="2032005" y="4159250"/>
            <a:ext cx="777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" name="Connector 32"/>
          <p:cNvCxnSpPr/>
          <p:nvPr/>
        </p:nvCxnSpPr>
        <p:spPr>
          <a:xfrm rot="5256843">
            <a:off x="5943600" y="4311782"/>
            <a:ext cx="30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6" name="AutoShape 33"/>
          <p:cNvSpPr/>
          <p:nvPr/>
        </p:nvSpPr>
        <p:spPr>
          <a:xfrm>
            <a:off x="4191000" y="4470400"/>
            <a:ext cx="3810000" cy="584200"/>
          </a:xfrm>
          <a:prstGeom prst="roundRect">
            <a:avLst>
              <a:gd name="adj" fmla="val 17391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A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7" name="AutoShape 34"/>
          <p:cNvSpPr/>
          <p:nvPr/>
        </p:nvSpPr>
        <p:spPr>
          <a:xfrm>
            <a:off x="4191000" y="4470400"/>
            <a:ext cx="381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948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report_synthesis 引用四节点 + 综合判断</a:t>
            </a:r>
            <a:endParaRPr lang="en-US" sz="1100"/>
          </a:p>
        </p:txBody>
      </p:sp>
      <p:sp>
        <p:nvSpPr>
          <p:cNvPr id="338" name="AutoShape 35"/>
          <p:cNvSpPr/>
          <p:nvPr/>
        </p:nvSpPr>
        <p:spPr>
          <a:xfrm>
            <a:off x="812800" y="52832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失败容错</a:t>
            </a:r>
            <a:br>
              <a:rPr lang="en-US" sz="11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</a:br>
            <a:r>
              <a:rPr lang="en-US" sz="11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节点指数退避重试 2 次（5s→10s），总超时 30 分钟</a:t>
            </a:r>
            <a:endParaRPr lang="en-US" sz="1100"/>
          </a:p>
        </p:txBody>
      </p:sp>
      <p:sp>
        <p:nvSpPr>
          <p:cNvPr id="339" name="AutoShape 36"/>
          <p:cNvSpPr/>
          <p:nvPr/>
        </p:nvSpPr>
        <p:spPr>
          <a:xfrm>
            <a:off x="4445000" y="52832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降级策略</a:t>
            </a:r>
            <a:br>
              <a:rPr lang="en-US" sz="11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</a:br>
            <a:r>
              <a:rPr lang="en-US" sz="11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≥3 子节点完成正常合成；&lt;3 则输出数据不足降级报告</a:t>
            </a:r>
            <a:endParaRPr lang="en-US" sz="1100"/>
          </a:p>
        </p:txBody>
      </p:sp>
      <p:sp>
        <p:nvSpPr>
          <p:cNvPr id="340" name="AutoShape 37"/>
          <p:cNvSpPr/>
          <p:nvPr/>
        </p:nvSpPr>
        <p:spPr>
          <a:xfrm>
            <a:off x="8077200" y="52832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为什么用 graph</a:t>
            </a:r>
            <a:br>
              <a:rPr lang="en-US" sz="11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</a:br>
            <a:r>
              <a:rPr lang="en-US" sz="1100" b="0" i="0" u="none" strike="noStrike">
                <a:solidFill>
                  <a:srgbClr val="47556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4 维度静态可并行；sequential 太慢，hybrid 徒增监督开销</a:t>
            </a:r>
            <a:endParaRPr lang="en-US" sz="1100"/>
          </a:p>
        </p:txBody>
      </p:sp>
      <p:sp>
        <p:nvSpPr>
          <p:cNvPr id="341" name="AutoShape 38"/>
          <p:cNvSpPr/>
          <p:nvPr/>
        </p:nvSpPr>
        <p:spPr>
          <a:xfrm>
            <a:off x="812800" y="64516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墨攻 · 企业级智能体功能补强规划</a:t>
            </a:r>
            <a:endParaRPr lang="en-US" sz="1100"/>
          </a:p>
        </p:txBody>
      </p:sp>
      <p:sp>
        <p:nvSpPr>
          <p:cNvPr id="342" name="AutoShape 39"/>
          <p:cNvSpPr/>
          <p:nvPr/>
        </p:nvSpPr>
        <p:spPr>
          <a:xfrm>
            <a:off x="10414000" y="6451600"/>
            <a:ext cx="96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zh-CN" sz="1100" b="0" i="0" u="none" strike="noStrike">
                <a:solidFill>
                  <a:srgbClr val="94A3B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1" name="Connector 2"/>
          <p:cNvCxnSpPr/>
          <p:nvPr/>
        </p:nvCxnSpPr>
        <p:spPr>
          <a:xfrm rot="-3579">
            <a:off x="3" y="1708150"/>
            <a:ext cx="1219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2" name="Connector 3"/>
          <p:cNvCxnSpPr/>
          <p:nvPr/>
        </p:nvCxnSpPr>
        <p:spPr>
          <a:xfrm rot="-3579">
            <a:off x="3" y="3422650"/>
            <a:ext cx="1219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3" name="Connector 4"/>
          <p:cNvCxnSpPr/>
          <p:nvPr/>
        </p:nvCxnSpPr>
        <p:spPr>
          <a:xfrm rot="-3579">
            <a:off x="3" y="5137150"/>
            <a:ext cx="1219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4" name="Connector 5"/>
          <p:cNvCxnSpPr/>
          <p:nvPr/>
        </p:nvCxnSpPr>
        <p:spPr>
          <a:xfrm rot="5393633">
            <a:off x="-381000" y="3422656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5" name="Connector 6"/>
          <p:cNvCxnSpPr/>
          <p:nvPr/>
        </p:nvCxnSpPr>
        <p:spPr>
          <a:xfrm rot="5393633">
            <a:off x="2667000" y="3422656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6" name="Connector 7"/>
          <p:cNvCxnSpPr/>
          <p:nvPr/>
        </p:nvCxnSpPr>
        <p:spPr>
          <a:xfrm rot="5393633">
            <a:off x="5715000" y="3422656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7" name="AutoShape 8"/>
          <p:cNvSpPr/>
          <p:nvPr/>
        </p:nvSpPr>
        <p:spPr>
          <a:xfrm>
            <a:off x="812800" y="736600"/>
            <a:ext cx="711200" cy="762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8" name="AutoShape 9"/>
          <p:cNvSpPr/>
          <p:nvPr/>
        </p:nvSpPr>
        <p:spPr>
          <a:xfrm>
            <a:off x="812800" y="9398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A9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墨攻 · 企业级智能体平台</a:t>
            </a:r>
            <a:endParaRPr lang="en-US" sz="1100"/>
          </a:p>
        </p:txBody>
      </p:sp>
      <p:sp>
        <p:nvSpPr>
          <p:cNvPr id="439" name="AutoShape 10"/>
          <p:cNvSpPr/>
          <p:nvPr/>
        </p:nvSpPr>
        <p:spPr>
          <a:xfrm>
            <a:off x="812800" y="1854200"/>
            <a:ext cx="10566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 dirty="0" err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库代码</a:t>
            </a:r>
            <a:r>
              <a:rPr lang="en-US" sz="3600" b="1" i="0" u="none" strike="noStrike" dirty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+ </a:t>
            </a:r>
            <a:r>
              <a:rPr lang="en-US" sz="3600" b="1" i="0" u="none" strike="noStrike" dirty="0" err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单测全绿，生产接线与</a:t>
            </a:r>
            <a:r>
              <a:rPr lang="en-US" sz="3600" b="1" i="0" u="none" strike="noStrike" dirty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 UI </a:t>
            </a:r>
            <a:r>
              <a:rPr lang="en-US" sz="3600" b="1" i="0" u="none" strike="noStrike" dirty="0" err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触点全部闭合从能力走进生产</a:t>
            </a:r>
            <a:endParaRPr lang="en-US" sz="1100" dirty="0"/>
          </a:p>
        </p:txBody>
      </p:sp>
      <p:sp>
        <p:nvSpPr>
          <p:cNvPr id="440" name="AutoShape 11"/>
          <p:cNvSpPr/>
          <p:nvPr/>
        </p:nvSpPr>
        <p:spPr>
          <a:xfrm>
            <a:off x="812800" y="3276600"/>
            <a:ext cx="10566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1" name="AutoShape 12"/>
          <p:cNvSpPr/>
          <p:nvPr/>
        </p:nvSpPr>
        <p:spPr>
          <a:xfrm>
            <a:off x="812800" y="5181600"/>
            <a:ext cx="1524000" cy="381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42" name="AutoShape 13"/>
          <p:cNvSpPr/>
          <p:nvPr/>
        </p:nvSpPr>
        <p:spPr>
          <a:xfrm>
            <a:off x="9652000" y="62484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sz="1200" b="0" i="0" u="none" strike="noStrike">
                <a:solidFill>
                  <a:srgbClr val="FFFFFF">
                    <a:alpha val="45098"/>
                  </a:srgbClr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2745</Words>
  <Application>Microsoft Macintosh PowerPoint</Application>
  <PresentationFormat>宽屏</PresentationFormat>
  <Paragraphs>468</Paragraphs>
  <Slides>18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Hiragino Sans GB</vt:lpstr>
      <vt:lpstr>Noto Sans SC</vt:lpstr>
      <vt:lpstr>Songti SC</vt:lpstr>
      <vt:lpstr>Arial</vt:lpstr>
      <vt:lpstr>Office 主题​​</vt:lpstr>
      <vt:lpstr>默认主题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7</cp:revision>
  <dcterms:created xsi:type="dcterms:W3CDTF">2026-10-08T14:24:50Z</dcterms:created>
  <dcterms:modified xsi:type="dcterms:W3CDTF">2026-10-08T07:26:03Z</dcterms:modified>
</cp:coreProperties>
</file>
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firstSlideNum="1">
  <p:sldMasterIdLst>
    <p:sldMasterId id="2147483659" r:id="rId4"/>
    <p:sldMasterId id="2147483660" r:id="rId8"/>
    <p:sldMasterId id="2147483661" r:id="rId9"/>
  </p:sldMasterIdLst>
  <p:notesMasterIdLst>
    <p:notesMasterId r:id="rId6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theme" Target="theme/theme2.xml"/><Relationship Id="rId8" Type="http://schemas.openxmlformats.org/officeDocument/2006/relationships/slideMaster" Target="slideMasters/slideMaster2.xml"/><Relationship Id="rId9" Type="http://schemas.openxmlformats.org/officeDocument/2006/relationships/slideMaster" Target="slideMasters/slideMaster3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notesSlide" Target="notesSlides/notesSlide1.xml"/><Relationship Id="rId27" Type="http://schemas.openxmlformats.org/officeDocument/2006/relationships/notesSlide" Target="notesSlides/notesSlide2.xml"/><Relationship Id="rId28" Type="http://schemas.openxmlformats.org/officeDocument/2006/relationships/notesSlide" Target="notesSlides/notesSlide3.xml"/><Relationship Id="rId29" Type="http://schemas.openxmlformats.org/officeDocument/2006/relationships/notesSlide" Target="notesSlides/notesSlide4.xml"/><Relationship Id="rId30" Type="http://schemas.openxmlformats.org/officeDocument/2006/relationships/notesSlide" Target="notesSlides/notesSlide5.xml"/><Relationship Id="rId31" Type="http://schemas.openxmlformats.org/officeDocument/2006/relationships/notesSlide" Target="notesSlides/notesSlide6.xml"/><Relationship Id="rId32" Type="http://schemas.openxmlformats.org/officeDocument/2006/relationships/notesSlide" Target="notesSlides/notesSlide7.xml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notesSlide" Target="notesSlides/notesSlide13.xml"/><Relationship Id="rId39" Type="http://schemas.openxmlformats.org/officeDocument/2006/relationships/notesSlide" Target="notesSlides/notesSlide14.xml"/><Relationship Id="rId40" Type="http://schemas.openxmlformats.org/officeDocument/2006/relationships/notesSlide" Target="notesSlides/notesSlide15.xml"/><Relationship Id="rId41" Type="http://schemas.openxmlformats.org/officeDocument/2006/relationships/notesSlide" Target="notesSlides/notes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MOGONG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RAG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、多模态理解到部署桌面都已成型。这是后续补强的坚实基线。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后两件是生产底座：网关韧性解决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LLM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单点，驾驶舱让成本、使用、质量、趋势四维可观测。两者改动集中、复用现有模块，收益直接。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三件套：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Hooks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先单事件低成本切入，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通用化现有编排，会话与工作流双版本化让工作可交接、可回放。会话级是贯穿多条补强的横切维度。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P2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Dream Cycle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Skill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6" type="body" sz="quarter" hasCustomPrompt="true"/>
          </p:nvPr>
        </p:nvSpPr>
        <p:spPr>
          <a:xfrm rot="0" flipH="false" flipV="false"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7" type="body" sz="quarter" hasCustomPrompt="true"/>
          </p:nvPr>
        </p:nvSpPr>
        <p:spPr>
          <a:xfrm rot="0" flipH="false" flipV="false"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18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457200" indent="-36195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</a:p>
        </p:txBody>
      </p:sp>
      <p:sp>
        <p:nvSpPr>
          <p:cNvPr name="AutoShape 4" id="4"/>
          <p:cNvSpPr/>
          <p:nvPr>
            <p:ph idx="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F15BA87E-0511-403F-8208-00DFF90F47E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B85030D2-7057-4DDF-ADB6-784244A9F46D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6" type="body" sz="quarter" hasCustomPrompt="true"/>
          </p:nvPr>
        </p:nvSpPr>
        <p:spPr>
          <a:xfrm rot="0" flipH="false" flipV="false"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7" type="body" sz="quarter" hasCustomPrompt="true"/>
          </p:nvPr>
        </p:nvSpPr>
        <p:spPr>
          <a:xfrm rot="0" flipH="false" flipV="false"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2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2BC57320-2551-4BE9-A720-62A40845B097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2" type="body" sz="quarter" hasCustomPrompt="true"/>
          </p:nvPr>
        </p:nvSpPr>
        <p:spPr>
          <a:xfrm rot="0" flipH="false" flipV="false"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3" type="body" sz="quarter" hasCustomPrompt="true"/>
          </p:nvPr>
        </p:nvSpPr>
        <p:spPr>
          <a:xfrm rot="0" flipH="false" flipV="false"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24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25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26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DC39A48B-50F7-4D84-82CD-39943793969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7" type="body" sz="quarter" hasCustomPrompt="true"/>
          </p:nvPr>
        </p:nvSpPr>
        <p:spPr>
          <a:xfrm rot="0" flipH="false" flipV="false"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8" type="body" sz="quarter" hasCustomPrompt="true"/>
          </p:nvPr>
        </p:nvSpPr>
        <p:spPr>
          <a:xfrm rot="0" flipH="false" flipV="false"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9" type="body" sz="quarter" hasCustomPrompt="true"/>
          </p:nvPr>
        </p:nvSpPr>
        <p:spPr>
          <a:xfrm rot="0" flipH="false" flipV="false"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30" type="body" sz="quarter" hasCustomPrompt="true"/>
          </p:nvPr>
        </p:nvSpPr>
        <p:spPr>
          <a:xfrm rot="0" flipH="false" flipV="false"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6" id="6"/>
          <p:cNvSpPr/>
          <p:nvPr>
            <p:ph idx="31" type="body" sz="quarter" hasCustomPrompt="true"/>
          </p:nvPr>
        </p:nvSpPr>
        <p:spPr>
          <a:xfrm rot="0" flipH="false" flipV="false"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7" id="7"/>
          <p:cNvSpPr/>
          <p:nvPr>
            <p:ph idx="32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8" id="8"/>
          <p:cNvSpPr/>
          <p:nvPr>
            <p:ph idx="33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9" id="9"/>
          <p:cNvSpPr/>
          <p:nvPr>
            <p:ph idx="34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9FA9FBFF-0D92-41E1-B35A-E21CA4CFE281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5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3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3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5" id="5"/>
          <p:cNvSpPr/>
          <p:nvPr>
            <p:ph idx="3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5338049-1806-452C-A362-26701BAB893B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9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3" id="3"/>
          <p:cNvSpPr/>
          <p:nvPr>
            <p:ph idx="40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4" id="4"/>
          <p:cNvSpPr/>
          <p:nvPr>
            <p:ph idx="41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8D52007-29D0-447E-9725-1CE814C3117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2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3" type="body" sz="quarter" hasCustomPrompt="true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810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44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45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46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47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02DCA6F-A194-4080-9006-BB4DBB3F9D28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8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9" type="pic" sz="quarter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lIns="63500" rIns="63500" tIns="63500" bIns="63500"/>
          <a:lstStyle>
            <a:lvl1pPr algn="ctr">
              <a:defRPr sz="16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name="AutoShape 4" id="4"/>
          <p:cNvSpPr/>
          <p:nvPr>
            <p:ph idx="50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5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5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5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82A30D4-F5E0-497D-B220-A50D264F9C0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4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55" type="body" sz="quarter" hasCustomPrompt="true"/>
          </p:nvPr>
        </p:nvSpPr>
        <p:spPr>
          <a:xfrm rot="5400000" flipH="false" flipV="false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5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5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388FBF1B-F6B4-419F-BC46-C3FC20252815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9" type="body" sz="quarter" hasCustomPrompt="true"/>
          </p:nvPr>
        </p:nvSpPr>
        <p:spPr>
          <a:xfrm rot="5400000" flipH="false" flipV="false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60" type="body" sz="quarter" hasCustomPrompt="true"/>
          </p:nvPr>
        </p:nvSpPr>
        <p:spPr>
          <a:xfrm rot="5400000" flipH="false" flipV="false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6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6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6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E2328B29-69DA-442B-B55E-BF232F43205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Office 主题​​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1" id="1"/>
          <p:cNvSpPr/>
          <p:nvPr>
            <p:ph idx="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2" id="2"/>
          <p:cNvSpPr/>
          <p:nvPr>
            <p:ph idx="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3" id="3"/>
          <p:cNvSpPr/>
          <p:nvPr>
            <p:ph idx="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B99EBBD-B61C-45CA-BD84-CCB153DD23F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57483700" r:id="rId2"/>
    <p:sldLayoutId id="2157483701" r:id="rId3"/>
    <p:sldLayoutId id="2157483702" r:id="rId4"/>
    <p:sldLayoutId id="2157483703" r:id="rId5"/>
    <p:sldLayoutId id="2157483704" r:id="rId6"/>
    <p:sldLayoutId id="2157483705" r:id="rId7"/>
    <p:sldLayoutId id="2157483706" r:id="rId8"/>
    <p:sldLayoutId id="2157483707" r:id="rId9"/>
    <p:sldLayoutId id="2157483708" r:id="rId10"/>
    <p:sldLayoutId id="2157483709" r:id="rId11"/>
    <p:sldLayoutId id="215748371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墨攻基于DSH的企业级智能体平台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489200"/>
            <a:ext cx="10566400" cy="685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从能力底座到生产就绪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512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FFFFFF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企业级智能体功能补强 · 按 SDD 全流程落地进展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2026-10 · 至 020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 · 定位与主线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管运行，墨攻管进企业——15 项补强已按 SDD 落地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2032000"/>
            <a:ext cx="3251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DD4B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一句话定位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438400"/>
            <a:ext cx="3251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7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= DSH Runtime（执行底座）+ 墨攻企业层（进入生产）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3860800"/>
            <a:ext cx="32512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E2E8F0">
                    <a:alpha val="74902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029200" y="1778000"/>
            <a:ext cx="635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本材料按四步回答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5257800" y="22606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5867400" y="22606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已有哪些能力，哪些已领先、不重复投入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257800" y="30480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67400" y="30480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与 EntAgent / AgentGit 对比，缺哪六处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257800" y="38354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867400" y="38354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P0 / P1 / P2 优先级逐项补强什么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5257800" y="46228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5867400" y="46228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三阶段多久落地、各交付什么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'2 / 16'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已有基线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墨攻已具备九大能力域，执行与内容生成完整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414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 Runtime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414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228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 / RAG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6228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042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多模态理解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2042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内容生成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 / 文章 / PPTX / 表格 / PDF / MD 交付物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228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集成（MCP）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228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工作流型 Skill、HTTP / MCP 连接业务系统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042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自动化与治理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042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414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414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部署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12 服务、自托管、模型数据自主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042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桌面扩展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042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Desktop 连接浏览器 / Code Agent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'3 / 16'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已领先边界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272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容器化自托管部署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3962400" y="17272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12 服务 + CLI 启动器 + 备份/恢复，生产运维底座已就绪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4638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Docling 多格式解析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962400" y="24638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2004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内容与文件生成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3962400" y="32004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报告/文章/PPTX/表格/PDF/翻译/表单——对标几乎空白，墨攻差异化强项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66800" y="39370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多形态 Agent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962400" y="39370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6736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SkillHub 生态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3962400" y="46736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66800" y="5537200"/>
            <a:ext cx="1524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结论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2540000" y="5537200"/>
            <a:ext cx="863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'4 / 16'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 · GAP — 六大缺口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缺口分级：P0 合规刚需 → P1 可靠协作 → P2 生态自进化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7780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企业入场券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482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3594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296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9408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治理与风控层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六层门禁 · 风险分级 · RBAC 码 · 脱敏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414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0414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故障转移 · 降级链 · 退避重试 · 计量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414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414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 / 使用 / 质量 / 趋势 四维看板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228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拦截机制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6228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五事件钩子 · 声明式规则 · fail-closed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通用编排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 · 拓扑排序 · 环检测 · 节点重试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46228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会话/工作流双版本化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46228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commit / resume / share + GraphSpec 契约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042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042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 → 经验 → Skill 闭环 · 自动淘汰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042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会话级与生态清单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2042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秘密不上链 · A2A · 多 IM · 知识图谱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2042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2042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 · 能力资产化 · 厚/薄 Harness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486400"/>
            <a:ext cx="10566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最新进展：15 项 + 020 已按 SDD 落地，库代码 + 单测全绿，接线与 UI 触点闭合；specs/ 20 个特性（16 份 tasks.md / 332 项）已归档。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'5 / 16'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治理与风控层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510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812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身份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22860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24892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39624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1656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脱敏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6388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420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审批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3152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5184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配额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9916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9194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审计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6800" y="29972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66800" y="33020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578600" y="29972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578600" y="33020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1066800" y="43688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脱敏层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66800" y="46736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578600" y="43688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会话保存/分享秘密过滤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578600" y="46736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134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挂载点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489200" y="56134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复用墨攻已有审批/配额/审计作门禁链挂载点，预留四类门禁可插拔接入，不推倒现有实现。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'6 / 16'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生产可靠与可观测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1930400"/>
            <a:ext cx="4597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2235200"/>
            <a:ext cx="4597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269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524000" y="266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主→备故障转移 failover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524000" y="292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供应商自动切换，服务不中断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92200" y="332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524000" y="330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降级链 degradation_chain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524000" y="355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主模型失败逐级降档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92200" y="396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524000" y="393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指数退避重试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524000" y="419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瞬时故障自恢复，避免雪崩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92200" y="459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524000" y="457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用量 / 成本计量上报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524000" y="482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按模型与部门归集，支撑账单与配额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604000" y="1930400"/>
            <a:ext cx="4495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总览数据统计驾驶舱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2235200"/>
            <a:ext cx="4495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604000" y="26670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7061200" y="26670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7061200" y="29210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604000" y="33274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7061200" y="33274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使用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7061200" y="35814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调用量 · 活跃用户 · Skill/检索频次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6604000" y="39878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7061200" y="39878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质量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7061200" y="42418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6604000" y="46482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7061200" y="46482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趋势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7061200" y="49022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环比同比 · 瓶颈识别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1066800" y="56642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影响可控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2489200" y="56642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'7 / 16'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05 · P1 — 可靠执行与会话交接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① Hooks 拦截机制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低成本高扩展的合规扩展点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2446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244600" y="34036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244600" y="42672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6482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② DAG 通用编排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从"规划/研究"到通用编排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826000" y="2590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四模式：sequential / supervisor / hybrid / graph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826000" y="3352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拓扑排序 + 环检测，杜绝依赖回路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826000" y="4114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2296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③ 会话/工作流双版本化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82296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解决"换个人从头来""工作即沉没"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4074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407400" y="34290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407400" y="42672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64200"/>
            <a:ext cx="152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会话级是横切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692400" y="5664200"/>
            <a:ext cx="8559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'8 / 16'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06 · P2 — 自进化与生态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764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Cycle 三层自进化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21590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473200" y="21590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经验沉淀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473200" y="24384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251200" y="29464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3528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473200" y="33528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自动发现 → 生成 Skill 草稿 + 自动建 MR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473200" y="36322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周期扫描重复模式，产出可复用 Skill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3251200" y="41402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66800" y="45466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473200" y="45466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低采纳率自动淘汰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473200" y="48260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未验证的经验自动下线，保持生态质量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223000" y="1676400"/>
            <a:ext cx="5156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生态清单（P2 其余项 + 清单外新增）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400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Agent 互通网关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9067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IM 入口（飞书/钉钉/企微）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223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400800" y="27432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业务系统语义索引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890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9067800" y="27432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知识图谱层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223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6400800" y="3479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市场强化（版本/监控）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890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9067800" y="3479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Memory（个人/组织）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223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223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400800" y="4216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能力资产化「发现→注册」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400800" y="49530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1" i="false" strike="noStrike" u="none" sz="11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020 平台化多租户（清单外新增）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890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9067800" y="4216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厚 / 薄 Harness 弹性配置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66800" y="5613400"/>
            <a:ext cx="1397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目标形态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2489200" y="5613400"/>
            <a:ext cx="8763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'9 / 16'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07 · 实施路线图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项 + 020 已按 SDD 落地，库代码 + 单测全绿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生产底座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446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244600" y="32512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网关韧性：failover · 降级 · 退避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244600" y="38100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运营驾驶舱：成本 / 使用 / 质量 / 趋势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244600" y="45720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244600" y="4800600"/>
            <a:ext cx="25146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已落地（库+单测+生产接线）：合规入场券 · 生产可用性 · 可观测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2070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8260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拦截：五事件 + 会话生命周期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8260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8260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双版本化：版本 / 交接 / 多人协同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260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8260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已落地（库+单测+生产接线）：多步骤可靠 · 合规扩展 · 工作可交接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296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7884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4074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 · 会话→经验→Skill 闭环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4074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· 多 IM · 业务索引 · 知识图谱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4074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4074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4074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已落地（库+单测+生产接线）：组织级「数字组织」· 越用越聪明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5880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'10 / 16'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08 · 落地进展与接线闭合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项 + 020 已按 SDD 落地，库代码 + 单测全绿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03400"/>
            <a:ext cx="304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16 项全绿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625600" y="20828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P0/P1/P2 共 15 项 + 清单外 020，已按 SDD 落地为库代码 + 单测，全部通过（chat-api 1562 / admin-api 236，2026-09 基线）。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25654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625600" y="2667000"/>
            <a:ext cx="330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2 案例可运行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625600" y="29464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34290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625600" y="35306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生产接线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625600" y="38100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007 网关韧性（ResilientLLMClient 已挂生产调用）/ 009 钩子挂载 + 规则页 / 002 会话版本化端点 + UI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2926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625600" y="43942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审计与门禁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625600" y="46736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T999 横切审计已接入 012/014/015/016/017/018 业务模块；001 六层门禁已通过 run_gate_plan 挂入运行时。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66800" y="51562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625600" y="5257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不变 · 既有优势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625600" y="55372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'11 / 16'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 · 标杆场景验证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案例一 · 单 Skill / 单会话 / 单智能体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客户反馈智能分诊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name="Connector 10" id="10"/>
          <p:cNvCxnSpPr/>
          <p:nvPr/>
        </p:nvCxnSpPr>
        <p:spPr>
          <a:xfrm rot="-9766" flipH="false" flipV="false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11176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≤3 分钟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1176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500 条端到端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2667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≥95%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2667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识别召回率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2164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2164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泄漏率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1176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6040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案例二 · 多 Skill / 多智能体 / DAG graph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6040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6040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name="Connector 22" id="22"/>
          <p:cNvCxnSpPr/>
          <p:nvPr/>
        </p:nvCxnSpPr>
        <p:spPr>
          <a:xfrm rot="-9766" flipH="false" flipV="false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3" id="23"/>
          <p:cNvSpPr/>
          <p:nvPr/>
        </p:nvSpPr>
        <p:spPr>
          <a:xfrm rot="0" flipH="false" flipV="false">
            <a:off x="6604000" y="3556000"/>
            <a:ext cx="1651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≤15 分钟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604000" y="4089400"/>
            <a:ext cx="1651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标准深度端到端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382000" y="3556000"/>
            <a:ext cx="127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路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382000" y="4089400"/>
            <a:ext cx="127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分析节点并行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9779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全追溯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9779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evidence.json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选型原则：顺序依赖、共享上下文 → 单 Agent（案例一）；维度可并行、依赖静态 → DAG graph（案例二）；依赖需运行时动态决定 → hybrid。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12 / 16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 · 标杆场景一 · 单智能体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19812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痛点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260600"/>
            <a:ext cx="2997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4566" flipH="false" flipV="false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92200" y="35814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一次交互产出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38608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triage_report.md 分诊报告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92200" y="41910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action_items.csv 跟进清单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92200" y="45212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P0≥3 自动触发 R1 审批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4978400"/>
            <a:ext cx="29972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724400" y="1778000"/>
            <a:ext cx="665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个顺序 Step · 共享同一批反馈上下文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8768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3340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load_feedback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3340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读取 xlsx / csv / pdf / 文本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804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7376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normalize_batch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去重、剔除空条目、字段规范化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768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53340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classify_severity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53340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逐条打 P0–P3 严重度标签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804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7376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categorize_issue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7376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归入登录/数据/计费等 8 大类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48768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53340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detect_pii_and_redact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53340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手机号/身份证/银行卡脱敏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2804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87376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rank_action_items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7376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P0+P1 按紧迫度打分排序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7" id="47"/>
          <p:cNvSpPr/>
          <p:nvPr/>
        </p:nvSpPr>
        <p:spPr>
          <a:xfrm rot="0" flipH="false" flipV="false"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8" id="48"/>
          <p:cNvSpPr/>
          <p:nvPr/>
        </p:nvSpPr>
        <p:spPr>
          <a:xfrm rot="0" flipH="false" flipV="false">
            <a:off x="48768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endParaRPr lang="en-US" sz="1100"/>
          </a:p>
        </p:txBody>
      </p:sp>
      <p:sp>
        <p:nvSpPr>
          <p:cNvPr name="AutoShape 49" id="49"/>
          <p:cNvSpPr/>
          <p:nvPr/>
        </p:nvSpPr>
        <p:spPr>
          <a:xfrm rot="0" flipH="false" flipV="false">
            <a:off x="53340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compose_report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 rot="0" flipH="false" flipV="false">
            <a:off x="53340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生成摘要/P0清单/趋势/建议</a:t>
            </a:r>
            <a:endParaRPr lang="en-US" sz="1100"/>
          </a:p>
        </p:txBody>
      </p:sp>
      <p:sp>
        <p:nvSpPr>
          <p:cNvPr name="AutoShape 51" id="51"/>
          <p:cNvSpPr/>
          <p:nvPr/>
        </p:nvSpPr>
        <p:spPr>
          <a:xfrm rot="0" flipH="false" flipV="false"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2" id="52"/>
          <p:cNvSpPr/>
          <p:nvPr/>
        </p:nvSpPr>
        <p:spPr>
          <a:xfrm rot="0" flipH="false" flipV="false"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3" id="53"/>
          <p:cNvSpPr/>
          <p:nvPr/>
        </p:nvSpPr>
        <p:spPr>
          <a:xfrm rot="0" flipH="false" flipV="false">
            <a:off x="82804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</a:t>
            </a:r>
            <a:endParaRPr lang="en-US" sz="1100"/>
          </a:p>
        </p:txBody>
      </p:sp>
      <p:sp>
        <p:nvSpPr>
          <p:cNvPr name="AutoShape 54" id="54"/>
          <p:cNvSpPr/>
          <p:nvPr/>
        </p:nvSpPr>
        <p:spPr>
          <a:xfrm rot="0" flipH="false" flipV="false">
            <a:off x="87376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trigger_approval_if_p0</a:t>
            </a:r>
            <a:endParaRPr lang="en-US" sz="1100"/>
          </a:p>
        </p:txBody>
      </p:sp>
      <p:sp>
        <p:nvSpPr>
          <p:cNvPr name="AutoShape 55" id="55"/>
          <p:cNvSpPr/>
          <p:nvPr/>
        </p:nvSpPr>
        <p:spPr>
          <a:xfrm rot="0" flipH="false" flipV="false">
            <a:off x="87376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P0≥3 触发 R1 审批，否则跳过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为什么不用多智能体：</a:t>
            </a: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13 / 16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 · 标杆场景二 · 多智能体 DAG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4318000" y="1651000"/>
            <a:ext cx="355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supervisor 协调（planner + aggregator）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5267844" flipH="false" flipV="false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9" id="9"/>
          <p:cNvCxnSpPr/>
          <p:nvPr/>
        </p:nvCxnSpPr>
        <p:spPr>
          <a:xfrm rot="-5617" flipH="false" flipV="false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0" id="10"/>
          <p:cNvCxnSpPr/>
          <p:nvPr/>
        </p:nvCxnSpPr>
        <p:spPr>
          <a:xfrm rot="5267844" flipH="false" flipV="false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1" id="11"/>
          <p:cNvCxnSpPr/>
          <p:nvPr/>
        </p:nvCxnSpPr>
        <p:spPr>
          <a:xfrm rot="5267844" flipH="false" flipV="false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2" id="12"/>
          <p:cNvCxnSpPr/>
          <p:nvPr/>
        </p:nvCxnSpPr>
        <p:spPr>
          <a:xfrm rot="5267844" flipH="false" flipV="false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3" id="13"/>
          <p:cNvCxnSpPr/>
          <p:nvPr/>
        </p:nvCxnSpPr>
        <p:spPr>
          <a:xfrm rot="5267844" flipH="false" flipV="false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9652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市场情报员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9652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检索 + 时间线新闻、融资、份额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35560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产品分析师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35560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浏览器抓取官网、功能对比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1468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财务分析师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146800" y="3302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定量 + 估值模型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146800" y="3556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私有公司则条件跳过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舆情监测员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7376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微博/知乎/Reddit 情感聚类</a:t>
            </a:r>
            <a:endParaRPr lang="en-US" sz="1100"/>
          </a:p>
        </p:txBody>
      </p:sp>
      <p:cxnSp>
        <p:nvCxnSpPr>
          <p:cNvPr name="Connector 27" id="27"/>
          <p:cNvCxnSpPr/>
          <p:nvPr/>
        </p:nvCxnSpPr>
        <p:spPr>
          <a:xfrm rot="5267844" flipH="false" flipV="false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8" id="28"/>
          <p:cNvCxnSpPr/>
          <p:nvPr/>
        </p:nvCxnSpPr>
        <p:spPr>
          <a:xfrm rot="5267844" flipH="false" flipV="false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9" id="29"/>
          <p:cNvCxnSpPr/>
          <p:nvPr/>
        </p:nvCxnSpPr>
        <p:spPr>
          <a:xfrm rot="5267844" flipH="false" flipV="false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0" id="30"/>
          <p:cNvCxnSpPr/>
          <p:nvPr/>
        </p:nvCxnSpPr>
        <p:spPr>
          <a:xfrm rot="5267844" flipH="false" flipV="false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1" id="31"/>
          <p:cNvCxnSpPr/>
          <p:nvPr/>
        </p:nvCxnSpPr>
        <p:spPr>
          <a:xfrm rot="-5617" flipH="false" flipV="false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2" id="32"/>
          <p:cNvCxnSpPr/>
          <p:nvPr/>
        </p:nvCxnSpPr>
        <p:spPr>
          <a:xfrm rot="5256843" flipH="false" flipV="false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33" id="33"/>
          <p:cNvSpPr/>
          <p:nvPr/>
        </p:nvSpPr>
        <p:spPr>
          <a:xfrm rot="0" flipH="false" flipV="false"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4191000" y="4470400"/>
            <a:ext cx="38100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report_synthesis 引用四节点 + 综合判断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128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失败容错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4450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降级策略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077200" y="5283200"/>
            <a:ext cx="3302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为什么用 graph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14 / 16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 · 生产部署扩展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多实例运行改造：本轮先做 runtime-host 水平扩展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A · 本轮主交付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runtime-host 水平扩展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117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dsh-runtime-host 实例共享命名空间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前置 sticky LB，按 kernel_session_id 一致性哈希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保持单实例，改动面最小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117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复杂度：低 · 无阻塞依赖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673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B · 后续 P4–P5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673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无状态化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673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_sessions / _runtimes / 凭据锁外置 Redis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conversation_id 一致性哈希路由实例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Mongo claim_turn 乐观锁已就绪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673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复杂度：中高 · 触发于需要多实例时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229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C · 后续 P6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229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Browser Agent WS 集群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29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agent_registry 跨实例改 Redis pub/sub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闭源客户端 WS 重连能力待调研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滚动升级容忍 5–30 秒命令闪断</a:t>
            </a:r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29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复杂度：高 · 依赖层 B 与调研结论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5283200"/>
            <a:ext cx="5207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硬约束：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299200" y="5283200"/>
            <a:ext cx="5080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验收：</a:t>
            </a:r>
            <a:r>
              <a:rPr lang="en-US" b="false" i="false" strike="noStrike" u="none" sz="1100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/ 16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1854200"/>
            <a:ext cx="105664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360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库代码 + 单测全绿，生产接线与 UI 触点全部闭合（15 项 + 020 的 SDD 全流程），从能力走进生产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76600"/>
            <a:ext cx="10566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E2E8F0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下一步：以 020 平台化多租户收尾的 SDD 全流程已就绪，可进入 PR 评审与版本发布——库能力、生产接线与治理资产齐备。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16 / 16</a:t>
            </a:r>
            <a:endParaRPr lang="en-US" sz="1100"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
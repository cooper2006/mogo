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ppt/notesSlides/notesSlide14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1.xml" ContentType="application/vnd.openxmlformats-officedocument.presentationml.notesSlide+xml"/>
  <Override PartName="/ppt/theme/theme3.xml" ContentType="application/vnd.openxmlformats-officedocument.theme+xml"/>
  <Override PartName="/ppt/theme/theme2.xml" ContentType="application/vnd.openxmlformats-officedocument.theme+xml"/>
  <Override PartName="/ppt/slides/slide6.xml" ContentType="application/vnd.openxmlformats-officedocument.presentationml.slide+xml"/>
  <Override PartName="/ppt/slides/slide9.xml" ContentType="application/vnd.openxmlformats-officedocument.presentationml.slide+xml"/>
  <Override PartName="/ppt/slides/slide13.xml" ContentType="application/vnd.openxmlformats-officedocument.presentationml.slide+xml"/>
  <Override PartName="/ppt/slides/slide15.xml" ContentType="application/vnd.openxmlformats-officedocument.presentationml.slide+xml"/>
  <Override PartName="/ppt/slides/slide14.xml" ContentType="application/vnd.openxmlformats-officedocument.presentationml.slide+xml"/>
  <Override PartName="/ppt/slides/slide11.xml" ContentType="application/vnd.openxmlformats-officedocument.presentationml.slide+xml"/>
  <Override PartName="/ppt/slides/slide7.xml" ContentType="application/vnd.openxmlformats-officedocument.presentationml.slide+xml"/>
  <Override PartName="/ppt/slides/slide4.xml" ContentType="application/vnd.openxmlformats-officedocument.presentationml.slide+xml"/>
  <Override PartName="/ppt/slideLayouts/slideLayout3.xml" ContentType="application/vnd.openxmlformats-officedocument.presentationml.slideLayout+xml"/>
  <Override PartName="/ppt/presProps.xml" ContentType="application/vnd.openxmlformats-officedocument.presentationml.presProps+xml"/>
  <Override PartName="/ppt/notesSlides/notesSlide8.xml" ContentType="application/vnd.openxmlformats-officedocument.presentationml.notesSlide+xml"/>
  <Override PartName="/ppt/theme/theme4.xml" ContentType="application/vnd.openxmlformats-officedocument.theme+xml"/>
  <Override PartName="/ppt/tableStyles.xml" ContentType="application/vnd.openxmlformats-officedocument.presentationml.tableStyles+xml"/>
  <Override PartName="/ppt/notesSlides/notesSlide12.xml" ContentType="application/vnd.openxmlformats-officedocument.presentationml.notesSlide+xml"/>
  <Override PartName="/ppt/slides/slide5.xml" ContentType="application/vnd.openxmlformats-officedocument.presentationml.slide+xml"/>
  <Override PartName="/ppt/slideLayouts/slideLayout8.xml" ContentType="application/vnd.openxmlformats-officedocument.presentationml.slideLayout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1.xml" ContentType="application/vnd.openxmlformats-officedocument.presentationml.slideLayout+xml"/>
  <Override PartName="/ppt/viewProps.xml" ContentType="application/vnd.openxmlformats-officedocument.presentationml.viewProps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1.xml" ContentType="application/vnd.openxmlformats-officedocument.presentationml.notesSlide+xml"/>
  <Override PartName="/ppt/notesSlides/notesSlide4.xml" ContentType="application/vnd.openxmlformats-officedocument.presentationml.notesSlide+xml"/>
  <Override PartName="/ppt/slideLayouts/slideLayout6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notesSlides/notesSlide3.xml" ContentType="application/vnd.openxmlformats-officedocument.presentationml.notesSlide+xml"/>
  <Override PartName="/ppt/slideMasters/slideMaster1.xml" ContentType="application/vnd.openxmlformats-officedocument.presentationml.slideMaster+xml"/>
  <Override PartName="/ppt/slideLayouts/slideLayout10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s/slide1.xml" ContentType="application/vnd.openxmlformats-officedocument.presentationml.slide+xml"/>
  <Override PartName="/ppt/slideLayouts/slideLayout16.xml" ContentType="application/vnd.openxmlformats-officedocument.presentationml.slideLayout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slideLayouts/slideLayout14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app.xml" ContentType="application/vnd.openxmlformats-officedocument.extended-properties+xml"/>
  <Override PartName="/ppt/slides/slide8.xml" ContentType="application/vnd.openxmlformats-officedocument.presentationml.slide+xml"/>
  <Override PartName="/ppt/slideLayouts/slideLayout19.xml" ContentType="application/vnd.openxmlformats-officedocument.presentationml.slideLayout+xml"/>
  <Override PartName="/ppt/slideMasters/slideMaster2.xml" ContentType="application/vnd.openxmlformats-officedocument.presentationml.slideMaster+xml"/>
  <Override PartName="/ppt/slides/slide3.xml" ContentType="application/vnd.openxmlformats-officedocument.presentationml.slide+xml"/>
  <Override PartName="/ppt/slides/slide18.xml" ContentType="application/vnd.openxmlformats-officedocument.presentationml.slide+xml"/>
  <Override PartName="/ppt/slideLayouts/slideLayout12.xml" ContentType="application/vnd.openxmlformats-officedocument.presentationml.slideLayout+xml"/>
  <Override PartName="/ppt/notesSlides/notesSlide6.xml" ContentType="application/vnd.openxmlformats-officedocument.presentationml.notesSlide+xml"/>
  <Override PartName="/ppt/slideLayouts/slideLayout22.xml" ContentType="application/vnd.openxmlformats-officedocument.presentationml.slideLayout+xml"/>
  <Override PartName="/ppt/slides/slide16.xml" ContentType="application/vnd.openxmlformats-officedocument.presentationml.slide+xml"/>
  <Override PartName="/ppt/slideLayouts/slideLayout21.xml" ContentType="application/vnd.openxmlformats-officedocument.presentationml.slideLayout+xml"/>
  <Override PartName="/docProps/core.xml" ContentType="application/vnd.openxmlformats-package.core-properties+xml"/>
  <Override PartName="/ppt/slideMasters/slideMaster3.xml" ContentType="application/vnd.openxmlformats-officedocument.presentationml.slideMaster+xml"/>
  <Override PartName="/ppt/slides/slide17.xml" ContentType="application/vnd.openxmlformats-officedocument.presentationml.slide+xml"/>
  <Override PartName="/ppt/presentation.xml" ContentType="application/vnd.openxmlformats-officedocument.presentationml.presentation.main+xml"/>
  <Override PartName="/ppt/slideLayouts/slideLayout15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2" Type="http://schemas.openxmlformats.org/officeDocument/2006/relationships/extended-properties" Target="docProps/app.xml" /><Relationship Id="rId1" Type="http://schemas.openxmlformats.org/package/2006/relationships/metadata/core-properties" Target="docProps/core.xml" /><Relationship Id="rId0" Type="http://schemas.openxmlformats.org/officeDocument/2006/relationships/officeDocument" Target="ppt/presentation.xml" /></Relationships>
</file>

<file path=ppt/presentation.xml><?xml version="1.0" encoding="utf-8"?>
<p:presentation xmlns:p15="http://schemas.microsoft.com/office/powerpoint/2012/main" xmlns:r="http://schemas.openxmlformats.org/officeDocument/2006/relationships" xmlns:p="http://schemas.openxmlformats.org/presentationml/2006/main" xmlns:a="http://schemas.openxmlformats.org/drawingml/2006/main" xmlns:mc="http://schemas.openxmlformats.org/markup-compatibility/2006" firstSlideNum="1" mc:Ignorable="p15">
  <p:sldMasterIdLst>
    <p:sldMasterId id="2147483648" r:id="rId0"/>
    <p:sldMasterId id="2147483660" r:id="rId1"/>
    <p:sldMasterId id="2147483662" r:id="rId2"/>
  </p:sldMasterIdLst>
  <p:notesMasterIdLst>
    <p:notesMasterId r:id="rId21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L="0"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L="457200"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L="914400"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L="1371600"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L="1828800"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L="2286000"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L="2743200"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L="3200400"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L="3657600"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>
  <p:normalViewPr>
    <p:restoredLeft sz="15611"/>
    <p:restoredTop sz="94625"/>
  </p:normalViewPr>
  <p:slideViewPr>
    <p:cSldViewPr snapToGrid="0">
      <p:cViewPr varScale="1">
        <p:scale>
          <a:sx n="100" d="100"/>
          <a:sy n="100" d="100"/>
        </p:scale>
        <p:origin x="904" y="16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<Relationships xmlns="http://schemas.openxmlformats.org/package/2006/relationships"><Relationship Id="rId4" Type="http://schemas.openxmlformats.org/officeDocument/2006/relationships/slide" Target="slides/slide2.xml" /><Relationship Id="rId23" Type="http://schemas.openxmlformats.org/officeDocument/2006/relationships/tableStyles" Target="tableStyles.xml" /><Relationship Id="rId7" Type="http://schemas.openxmlformats.org/officeDocument/2006/relationships/slide" Target="slides/slide5.xml" /><Relationship Id="rId22" Type="http://schemas.openxmlformats.org/officeDocument/2006/relationships/presProps" Target="presProps.xml" /><Relationship Id="rId21" Type="http://schemas.openxmlformats.org/officeDocument/2006/relationships/notesMaster" Target="notesMasters/notesMaster1.xml" /><Relationship Id="rId6" Type="http://schemas.openxmlformats.org/officeDocument/2006/relationships/slide" Target="slides/slide4.xml" /><Relationship Id="rId20" Type="http://schemas.openxmlformats.org/officeDocument/2006/relationships/slide" Target="slides/slide18.xml" /><Relationship Id="rId3" Type="http://schemas.openxmlformats.org/officeDocument/2006/relationships/slide" Target="slides/slide1.xml" /><Relationship Id="rId14" Type="http://schemas.openxmlformats.org/officeDocument/2006/relationships/slide" Target="slides/slide12.xml" /><Relationship Id="rId2" Type="http://schemas.openxmlformats.org/officeDocument/2006/relationships/slideMaster" Target="slideMasters/slideMaster3.xml" /><Relationship Id="rId9" Type="http://schemas.openxmlformats.org/officeDocument/2006/relationships/slide" Target="slides/slide7.xml" /><Relationship Id="rId19" Type="http://schemas.openxmlformats.org/officeDocument/2006/relationships/slide" Target="slides/slide17.xml" /><Relationship Id="rId18" Type="http://schemas.openxmlformats.org/officeDocument/2006/relationships/slide" Target="slides/slide16.xml" /><Relationship Id="rId13" Type="http://schemas.openxmlformats.org/officeDocument/2006/relationships/slide" Target="slides/slide11.xml" /><Relationship Id="rId1" Type="http://schemas.openxmlformats.org/officeDocument/2006/relationships/slideMaster" Target="slideMasters/slideMaster2.xml" /><Relationship Id="rId16" Type="http://schemas.openxmlformats.org/officeDocument/2006/relationships/slide" Target="slides/slide14.xml" /><Relationship Id="rId17" Type="http://schemas.openxmlformats.org/officeDocument/2006/relationships/slide" Target="slides/slide15.xml" /><Relationship Id="rId15" Type="http://schemas.openxmlformats.org/officeDocument/2006/relationships/slide" Target="slides/slide13.xml" /><Relationship Id="rId12" Type="http://schemas.openxmlformats.org/officeDocument/2006/relationships/slide" Target="slides/slide10.xml" /><Relationship Id="rId10" Type="http://schemas.openxmlformats.org/officeDocument/2006/relationships/slide" Target="slides/slide8.xml" /><Relationship Id="rId24" Type="http://schemas.openxmlformats.org/officeDocument/2006/relationships/viewProps" Target="viewProps.xml" /><Relationship Id="rId11" Type="http://schemas.openxmlformats.org/officeDocument/2006/relationships/slide" Target="slides/slide9.xml" /><Relationship Id="rId5" Type="http://schemas.openxmlformats.org/officeDocument/2006/relationships/slide" Target="slides/slide3.xml" /><Relationship Id="rId8" Type="http://schemas.openxmlformats.org/officeDocument/2006/relationships/slide" Target="slides/slide6.xml" /><Relationship Id="rId0" Type="http://schemas.openxmlformats.org/officeDocument/2006/relationships/slideMaster" Target="slideMasters/slideMaster1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3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/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/>
            <a:fld id="{B7268E1E-0E44-426D-905E-8AD9B19D2182}" type="datetimeFigureOut">
              <a:rPr lang="cs-CZ" smtClean="0"/>
              <a:t>08.10.2026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/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/>
          </a:p>
          <a:p>
            <a:pPr lvl="1"/>
            <a:r>
              <a:rPr lang="en-US"/>
              <a:t>Second level</a:t>
            </a:r>
            <a:endParaRPr/>
          </a:p>
          <a:p>
            <a:pPr lvl="2"/>
            <a:r>
              <a:rPr lang="en-US"/>
              <a:t>Third level</a:t>
            </a:r>
            <a:endParaRPr/>
          </a:p>
          <a:p>
            <a:pPr lvl="3"/>
            <a:r>
              <a:rPr lang="en-US"/>
              <a:t>Fourth level</a:t>
            </a:r>
            <a:endParaRPr/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/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/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8.xml" /></Relationships>
</file>

<file path=ppt/notesSlides/_rels/notesSlide2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9.xml" /></Relationships>
</file>

<file path=ppt/notesSlides/_rels/notesSlide3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10.xml" /></Relationships>
</file>

<file path=ppt/notesSlides/_rels/notesSlide4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11.xml" /></Relationships>
</file>

<file path=ppt/notesSlides/_rels/notesSlide5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12.xml" /></Relationships>
</file>

<file path=ppt/notesSlides/_rels/notesSlide6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13.xml" /></Relationships>
</file>

<file path=ppt/notesSlides/_rels/notesSlide7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14.xml" /></Relationships>
</file>

<file path=ppt/notesSlides/_rels/notesSlide8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15.xml" /></Relationships>
</file>

<file path=ppt/notesSlides/_rels/notesSlide9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16.xml" /></Relationships>
</file>

<file path=ppt/notesSlides/_rels/notesSlide10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17.xml" /></Relationships>
</file>

<file path=ppt/notesSlides/_rels/notesSlide11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18.xml" /></Relationships>
</file>

<file path=ppt/notesSlides/_rels/notesSlide12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1.xml" /></Relationships>
</file>

<file path=ppt/notesSlides/_rels/notesSlide13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2.xml" /></Relationships>
</file>

<file path=ppt/notesSlides/_rels/notesSlide14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4.xml" /></Relationships>
</file>

<file path=ppt/notesSlides/_rels/notesSlide15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5.xml" /></Relationships>
</file>

<file path=ppt/notesSlides/_rels/notesSlide16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6.xml" /></Relationships>
</file>

<file path=ppt/notesSlides/notesSlide1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/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/>
            <a:r>
              <a:rPr lang="cs-CZ"/>
              <a:t>1.7.2013</a:t>
            </a:r>
            <a:endParaRPr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/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l" defTabSz="914400">
              <a:lnSpc>
                <a:spcPct val="100000"/>
              </a:lnSpc>
              <a:defRPr sz="1400" b="0" i="0" u="none" strike="noStrike">
                <a:solidFill>
                  <a:srgbClr val="000000">
                    <a:alpha val="100000"/>
                  </a:srgbClr>
                </a:solidFill>
              </a:defRPr>
            </a:lvl1pPr>
          </a:lstStyle>
          <a:p>
            <a:pPr marL="0" indent="0" algn="l" defTabSz="914400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治理风控是 MOGONG 当前最大缺口。Gatekeeper 六层门禁串行放行，配合风险矩阵和细粒度权限码，PII 脱敏同时覆盖运行时和保存分享两个场景。</a:t>
            </a: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/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/>
            <a:r>
              <a:rPr lang="cs-CZ"/>
              <a:t>‹#›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>
      <p:nvGrpSpPr>
        <p:cNvPr id="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/>
            <a:endParaRPr/>
          </a:p>
        </p:txBody>
      </p:sp>
      <p:sp>
        <p:nvSpPr>
          <p:cNvPr id="10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/>
            <a:r>
              <a:rPr lang="cs-CZ"/>
              <a:t>1.7.2013</a:t>
            </a:r>
            <a:endParaRPr/>
          </a:p>
        </p:txBody>
      </p:sp>
      <p:sp>
        <p:nvSpPr>
          <p:cNvPr id="11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/>
            <a:endParaRPr/>
          </a:p>
        </p:txBody>
      </p:sp>
      <p:sp>
        <p:nvSpPr>
          <p:cNvPr id="12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l" defTabSz="914400">
              <a:lnSpc>
                <a:spcPct val="100000"/>
              </a:lnSpc>
              <a:defRPr sz="1400" b="0" i="0" u="none" strike="noStrike">
                <a:solidFill>
                  <a:srgbClr val="000000">
                    <a:alpha val="100000"/>
                  </a:srgbClr>
                </a:solidFill>
                <a:latin typeface="Arial"/>
              </a:defRPr>
            </a:lvl1pPr>
          </a:lstStyle>
          <a:p>
            <a:pPr marL="0" indent="0" algn="l" defTabSz="914400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P0 后两件是生产底座：网关韧性解决 LLM 单点，驾驶舱让成本、使用、质量、趋势四维可观测。两者改动集中、复用现有模块，收益直接。</a:t>
            </a:r>
            <a:endParaRPr/>
          </a:p>
        </p:txBody>
      </p:sp>
      <p:sp>
        <p:nvSpPr>
          <p:cNvPr id="13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/>
            <a:endParaRPr/>
          </a:p>
        </p:txBody>
      </p:sp>
      <p:sp>
        <p:nvSpPr>
          <p:cNvPr id="14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/>
            <a:r>
              <a:rPr lang="cs-CZ"/>
              <a:t>‹#›</a:t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>
      <p:nvGrpSpPr>
        <p:cNvPr id="1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/>
            <a:endParaRPr/>
          </a:p>
        </p:txBody>
      </p:sp>
      <p:sp>
        <p:nvSpPr>
          <p:cNvPr id="17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/>
            <a:r>
              <a:rPr lang="cs-CZ"/>
              <a:t>1.7.2013</a:t>
            </a:r>
            <a:endParaRPr/>
          </a:p>
        </p:txBody>
      </p:sp>
      <p:sp>
        <p:nvSpPr>
          <p:cNvPr id="18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/>
            <a:endParaRPr/>
          </a:p>
        </p:txBody>
      </p:sp>
      <p:sp>
        <p:nvSpPr>
          <p:cNvPr id="19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l" defTabSz="914400">
              <a:lnSpc>
                <a:spcPct val="100000"/>
              </a:lnSpc>
              <a:defRPr sz="1400" b="0" i="0" u="none" strike="noStrike">
                <a:solidFill>
                  <a:srgbClr val="000000">
                    <a:alpha val="100000"/>
                  </a:srgbClr>
                </a:solidFill>
                <a:latin typeface="Arial"/>
              </a:defRPr>
            </a:lvl1pPr>
          </a:lstStyle>
          <a:p>
            <a:pPr marL="0" indent="0" algn="l" defTabSz="914400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P1 三件套：Hooks 先单事件低成本切入，DAG 通用化现有编排，会话与工作流双版本化让工作可交接、可回放。会话级是贯穿多条补强的横切维度。</a:t>
            </a:r>
            <a:endParaRPr/>
          </a:p>
        </p:txBody>
      </p:sp>
      <p:sp>
        <p:nvSpPr>
          <p:cNvPr id="20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/>
            <a:endParaRPr/>
          </a:p>
        </p:txBody>
      </p:sp>
      <p:sp>
        <p:nvSpPr>
          <p:cNvPr id="21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/>
            <a:r>
              <a:rPr lang="cs-CZ"/>
              <a:t>‹#›</a:t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>
      <p:nvGrpSpPr>
        <p:cNvPr id="2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/>
            <a:endParaRPr/>
          </a:p>
        </p:txBody>
      </p:sp>
      <p:sp>
        <p:nvSpPr>
          <p:cNvPr id="24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/>
            <a:r>
              <a:rPr lang="cs-CZ"/>
              <a:t>1.7.2013</a:t>
            </a:r>
            <a:endParaRPr/>
          </a:p>
        </p:txBody>
      </p:sp>
      <p:sp>
        <p:nvSpPr>
          <p:cNvPr id="25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/>
            <a:endParaRPr/>
          </a:p>
        </p:txBody>
      </p:sp>
      <p:sp>
        <p:nvSpPr>
          <p:cNvPr id="26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l" defTabSz="914400">
              <a:lnSpc>
                <a:spcPct val="100000"/>
              </a:lnSpc>
              <a:defRPr sz="1400" b="0" i="0" u="none" strike="noStrike">
                <a:solidFill>
                  <a:srgbClr val="000000">
                    <a:alpha val="100000"/>
                  </a:srgbClr>
                </a:solidFill>
                <a:latin typeface="Arial"/>
              </a:defRPr>
            </a:lvl1pPr>
          </a:lstStyle>
          <a:p>
            <a:pPr marL="0" indent="0" algn="l" defTabSz="914400">
              <a:lnSpc>
                <a:spcPct val="100000"/>
              </a:lnSpc>
            </a:pPr>
            <a:r>
              <a:rPr lang="en-US" sz="1400" b="0" i="0" u="none" strike="noStrik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 xml:space="preserve">P2 </a:t>
            </a:r>
            <a:r>
              <a:rPr lang="en-US" sz="1400" b="0" i="0" u="none" strike="noStrik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是规模化生态。Dream</a:t>
            </a:r>
            <a:r>
              <a:rPr lang="en-US" sz="1400" b="0" i="0" u="none" strike="noStrik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 xml:space="preserve"> Cycle </a:t>
            </a:r>
            <a:r>
              <a:rPr lang="en-US" sz="1400" b="0" i="0" u="none" strike="noStrik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把会话沉淀成</a:t>
            </a:r>
            <a:r>
              <a:rPr lang="en-US" sz="1400" b="0" i="0" u="none" strike="noStrik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 xml:space="preserve"> Skill </a:t>
            </a:r>
            <a:r>
              <a:rPr lang="en-US" sz="1400" b="0" i="0" u="none" strike="noStrik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让平台越用越聪明；右侧清单是其余高阶能力，工作量最大可后置</a:t>
            </a:r>
            <a:r>
              <a:rPr lang="en-US" sz="1400" b="0" i="0" u="none" strike="noStrik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。</a:t>
            </a:r>
            <a:endParaRPr/>
          </a:p>
        </p:txBody>
      </p:sp>
      <p:sp>
        <p:nvSpPr>
          <p:cNvPr id="27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/>
            <a:endParaRPr/>
          </a:p>
        </p:txBody>
      </p:sp>
      <p:sp>
        <p:nvSpPr>
          <p:cNvPr id="28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/>
            <a:r>
              <a:rPr lang="cs-CZ"/>
              <a:t>‹#›</a:t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>
      <p:nvGrpSpPr>
        <p:cNvPr id="2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/>
            <a:endParaRPr/>
          </a:p>
        </p:txBody>
      </p:sp>
      <p:sp>
        <p:nvSpPr>
          <p:cNvPr id="31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/>
            <a:r>
              <a:rPr lang="cs-CZ"/>
              <a:t>1.7.2013</a:t>
            </a:r>
            <a:endParaRPr/>
          </a:p>
        </p:txBody>
      </p:sp>
      <p:sp>
        <p:nvSpPr>
          <p:cNvPr id="32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/>
            <a:endParaRPr/>
          </a:p>
        </p:txBody>
      </p:sp>
      <p:sp>
        <p:nvSpPr>
          <p:cNvPr id="33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l" defTabSz="914400">
              <a:lnSpc>
                <a:spcPct val="100000"/>
              </a:lnSpc>
              <a:defRPr sz="1400" b="0" i="0" u="none" strike="noStrike">
                <a:solidFill>
                  <a:srgbClr val="000000">
                    <a:alpha val="100000"/>
                  </a:srgbClr>
                </a:solidFill>
              </a:defRPr>
            </a:lvl1pPr>
          </a:lstStyle>
          <a:p>
            <a:pPr marL="0" indent="0" algn="l" defTabSz="914400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三阶段：1-2 月先把生产底座做扎实，3-6 月做可靠协作与会话交接，6-12 月以上做规模化生态。全程复用现有底座，不推倒重来。</a:t>
            </a:r>
            <a:endParaRPr/>
          </a:p>
        </p:txBody>
      </p:sp>
      <p:sp>
        <p:nvSpPr>
          <p:cNvPr id="34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/>
            <a:endParaRPr/>
          </a:p>
        </p:txBody>
      </p:sp>
      <p:sp>
        <p:nvSpPr>
          <p:cNvPr id="35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/>
            <a:r>
              <a:rPr lang="cs-CZ"/>
              <a:t>‹#›</a:t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p="http://schemas.openxmlformats.org/presentationml/2006/main" xmlns:a="http://schemas.openxmlformats.org/drawingml/2006/main">
  <p:cSld>
    <p:spTree>
      <p:nvGrpSpPr>
        <p:cNvPr id="3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/>
            <a:endParaRPr/>
          </a:p>
        </p:txBody>
      </p:sp>
      <p:sp>
        <p:nvSpPr>
          <p:cNvPr id="38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/>
            <a:r>
              <a:rPr lang="cs-CZ"/>
              <a:t>1.7.2013</a:t>
            </a:r>
            <a:endParaRPr/>
          </a:p>
        </p:txBody>
      </p:sp>
      <p:sp>
        <p:nvSpPr>
          <p:cNvPr id="39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/>
            <a:endParaRPr/>
          </a:p>
        </p:txBody>
      </p:sp>
      <p:sp>
        <p:nvSpPr>
          <p:cNvPr id="40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l" defTabSz="914400">
              <a:lnSpc>
                <a:spcPct val="100000"/>
              </a:lnSpc>
              <a:defRPr sz="1400" b="0" i="0" u="none" strike="noStrike">
                <a:solidFill>
                  <a:srgbClr val="000000">
                    <a:alpha val="100000"/>
                  </a:srgbClr>
                </a:solidFill>
              </a:defRPr>
            </a:lvl1pPr>
          </a:lstStyle>
          <a:p>
            <a:pPr marL="0" indent="0" algn="l" defTabSz="914400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落地从 P0 风控开始，网关韧性改动小收益大，Hooks 先单事件验证，用一个标杆场景同时打通 P0 与 P1，始终守住自托管与数据自主。</a:t>
            </a:r>
            <a:endParaRPr/>
          </a:p>
        </p:txBody>
      </p:sp>
      <p:sp>
        <p:nvSpPr>
          <p:cNvPr id="41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/>
            <a:endParaRPr/>
          </a:p>
        </p:txBody>
      </p:sp>
      <p:sp>
        <p:nvSpPr>
          <p:cNvPr id="42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/>
            <a:r>
              <a:rPr lang="cs-CZ"/>
              <a:t>‹#›</a:t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p="http://schemas.openxmlformats.org/presentationml/2006/main" xmlns:a="http://schemas.openxmlformats.org/drawingml/2006/main">
  <p:cSld>
    <p:spTree>
      <p:nvGrpSpPr>
        <p:cNvPr id="4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/>
            <a:endParaRPr/>
          </a:p>
        </p:txBody>
      </p:sp>
      <p:sp>
        <p:nvSpPr>
          <p:cNvPr id="45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/>
            <a:r>
              <a:rPr lang="cs-CZ"/>
              <a:t>1.7.2013</a:t>
            </a:r>
            <a:endParaRPr/>
          </a:p>
        </p:txBody>
      </p:sp>
      <p:sp>
        <p:nvSpPr>
          <p:cNvPr id="46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/>
            <a:endParaRPr/>
          </a:p>
        </p:txBody>
      </p:sp>
      <p:sp>
        <p:nvSpPr>
          <p:cNvPr id="47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这页讲生产部署的扩展路线，分三层。层 A 是本轮真正交付的：多个 dsh-runtime-host 实例，前面加一个 sticky 负载均衡，按 kernel_session_id 做一致性哈希，保证同一会话总落到同一台 host；chat-api 自己还是单实例，所以改动面很小、风险低。层 B 是后续——等业务真的需要多 chat-api 实例时，再把进程内的 session、runtime 和凭据锁外置到 Redis，这一层目前 Mongo 的乐观锁已经准备好了。层 C 更靠后，涉及桌面端浏览器 Agent 的 WebSocket 跨实例路由，因为客户端是闭源的，重连能力还要先向维护方调研。底部讲两条底线：一是绝不允许同一会话被两个实例同时处理，二是本轮不引入 Celery。验收标准是压测、滚动升级和实例切换续聊。</a:t>
            </a:r>
            <a:endParaRPr/>
          </a:p>
        </p:txBody>
      </p:sp>
      <p:sp>
        <p:nvSpPr>
          <p:cNvPr id="48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/>
            <a:endParaRPr/>
          </a:p>
        </p:txBody>
      </p:sp>
      <p:sp>
        <p:nvSpPr>
          <p:cNvPr id="49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/>
            <a:r>
              <a:rPr lang="cs-CZ"/>
              <a:t>‹#›</a:t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p="http://schemas.openxmlformats.org/presentationml/2006/main" xmlns:a="http://schemas.openxmlformats.org/drawingml/2006/main">
  <p:cSld>
    <p:spTree>
      <p:nvGrpSpPr>
        <p:cNvPr id="5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/>
            <a:endParaRPr/>
          </a:p>
        </p:txBody>
      </p:sp>
      <p:sp>
        <p:nvSpPr>
          <p:cNvPr id="52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/>
            <a:r>
              <a:rPr lang="cs-CZ"/>
              <a:t>1.7.2013</a:t>
            </a:r>
            <a:endParaRPr/>
          </a:p>
        </p:txBody>
      </p:sp>
      <p:sp>
        <p:nvSpPr>
          <p:cNvPr id="53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/>
            <a:endParaRPr/>
          </a:p>
        </p:txBody>
      </p:sp>
      <p:sp>
        <p:nvSpPr>
          <p:cNvPr id="54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这一页用两个真实业务场景收口前面的能力规划。左边是单智能体场景：客户反馈分诊，任务是顺序依赖的，一批上下文共享，所以不需要多智能体，单 Skill 单会话就能覆盖，把人工每天四到六小时压到三分钟以内。右边是多智能体场景：竞品调研，四个维度数据源互不依赖，可以并行，用 DAG graph 编排，人工两到三周压到十五分钟。两个场景分别验证 P0 治理能力和 P1 编排能力。底部一句话点选型原则：顺序依赖用单 Agent，静态并行用 graph，运行时动态依赖才用 hybrid。</a:t>
            </a:r>
            <a:endParaRPr/>
          </a:p>
        </p:txBody>
      </p:sp>
      <p:sp>
        <p:nvSpPr>
          <p:cNvPr id="55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/>
            <a:endParaRPr/>
          </a:p>
        </p:txBody>
      </p:sp>
      <p:sp>
        <p:nvSpPr>
          <p:cNvPr id="56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/>
            <a:r>
              <a:rPr lang="cs-CZ"/>
              <a:t>‹#›</a:t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p="http://schemas.openxmlformats.org/presentationml/2006/main" xmlns:a="http://schemas.openxmlformats.org/drawingml/2006/main">
  <p:cSld>
    <p:spTree>
      <p:nvGrpSpPr>
        <p:cNvPr id="5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/>
            <a:endParaRPr/>
          </a:p>
        </p:txBody>
      </p:sp>
      <p:sp>
        <p:nvSpPr>
          <p:cNvPr id="59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/>
            <a:r>
              <a:rPr lang="cs-CZ"/>
              <a:t>1.7.2013</a:t>
            </a:r>
            <a:endParaRPr/>
          </a:p>
        </p:txBody>
      </p:sp>
      <p:sp>
        <p:nvSpPr>
          <p:cNvPr id="60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/>
            <a:endParaRPr/>
          </a:p>
        </p:txBody>
      </p:sp>
      <p:sp>
        <p:nvSpPr>
          <p:cNvPr id="61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案例一是单智能体的标杆。左边讲痛点和产出：每天两三百到五百条反馈，人工要四到六小时，一次交互直接出分诊报告、跟进清单，P0 达到三条以上自动触发 R1 审批。右边是八个顺序步骤：读取、规范化、严重度分级、归类、PII 脱敏、排序、写报告、最后一步按 P0 数量决定是否触发审批。最后一步用 teal 描边突出，因为它是条件分支——P0 不够三条就跳过。底部点题：这个场景为什么不用多智能体，因为所有步骤共享同一批上下文，并行拆出去反而要重建上下文，得不偿失。</a:t>
            </a:r>
            <a:endParaRPr/>
          </a:p>
        </p:txBody>
      </p:sp>
      <p:sp>
        <p:nvSpPr>
          <p:cNvPr id="62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/>
            <a:endParaRPr/>
          </a:p>
        </p:txBody>
      </p:sp>
      <p:sp>
        <p:nvSpPr>
          <p:cNvPr id="63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/>
            <a:r>
              <a:rPr lang="cs-CZ"/>
              <a:t>‹#›</a:t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p="http://schemas.openxmlformats.org/presentationml/2006/main" xmlns:a="http://schemas.openxmlformats.org/drawingml/2006/main">
  <p:cSld>
    <p:spTree>
      <p:nvGrpSpPr>
        <p:cNvPr id="6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/>
            <a:endParaRPr/>
          </a:p>
        </p:txBody>
      </p:sp>
      <p:sp>
        <p:nvSpPr>
          <p:cNvPr id="66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/>
            <a:r>
              <a:rPr lang="cs-CZ"/>
              <a:t>1.7.2013</a:t>
            </a:r>
            <a:endParaRPr/>
          </a:p>
        </p:txBody>
      </p:sp>
      <p:sp>
        <p:nvSpPr>
          <p:cNvPr id="67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/>
            <a:endParaRPr/>
          </a:p>
        </p:txBody>
      </p:sp>
      <p:sp>
        <p:nvSpPr>
          <p:cNvPr id="68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案例二是多智能体 DAG 的标杆。顶部 supervisor 协调节点，往下扇出四个可并行的分析子 Agent：市场情报、产品分析、财务分析、舆情监测。财务节点特意画成虚线框并标注"私有公司则跳过"，对应条件跳过能力——竞品是私有或子公司没有独立财报时自动跳过。四个节点全部完成后汇聚到报告合成节点，产出带证据追溯的深度报告。底部三列讲工程容错：节点失败指数退避重试、合成节点看完成数决定正常出报告还是降级、以及为什么这里用 graph 而不是 sequential 或 hybrid。整份报告人工两到三周，压到十五分钟以内。</a:t>
            </a:r>
            <a:endParaRPr/>
          </a:p>
        </p:txBody>
      </p:sp>
      <p:sp>
        <p:nvSpPr>
          <p:cNvPr id="69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/>
            <a:endParaRPr/>
          </a:p>
        </p:txBody>
      </p:sp>
      <p:sp>
        <p:nvSpPr>
          <p:cNvPr id="70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/>
            <a:r>
              <a:rPr lang="cs-CZ"/>
              <a:t>‹#›</a:t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p="http://schemas.openxmlformats.org/presentationml/2006/main" xmlns:a="http://schemas.openxmlformats.org/drawingml/2006/main">
  <p:cSld>
    <p:spTree>
      <p:nvGrpSpPr>
        <p:cNvPr id="7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/>
            <a:endParaRPr/>
          </a:p>
        </p:txBody>
      </p:sp>
      <p:sp>
        <p:nvSpPr>
          <p:cNvPr id="7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/>
            <a:r>
              <a:rPr lang="cs-CZ"/>
              <a:t>1.7.2013</a:t>
            </a:r>
            <a:endParaRPr/>
          </a:p>
        </p:txBody>
      </p:sp>
      <p:sp>
        <p:nvSpPr>
          <p:cNvPr id="7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/>
            <a:endParaRPr/>
          </a:p>
        </p:txBody>
      </p:sp>
      <p:sp>
        <p:nvSpPr>
          <p:cNvPr id="7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l" defTabSz="914400">
              <a:lnSpc>
                <a:spcPct val="100000"/>
              </a:lnSpc>
              <a:defRPr sz="1400" b="0" i="0" u="none" strike="noStrike">
                <a:solidFill>
                  <a:srgbClr val="000000">
                    <a:alpha val="100000"/>
                  </a:srgbClr>
                </a:solidFill>
              </a:defRPr>
            </a:lvl1pPr>
          </a:lstStyle>
          <a:p>
            <a:pPr marL="0" indent="0" algn="l" defTabSz="914400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收尾：能力与治理一起补齐，MOGONG 就能从 Demo 走进生产。欢迎通过 GitHub 或邮箱联系，支持私有化部署。</a:t>
            </a:r>
            <a:endParaRPr/>
          </a:p>
        </p:txBody>
      </p:sp>
      <p:sp>
        <p:nvSpPr>
          <p:cNvPr id="7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/>
            <a:endParaRPr/>
          </a:p>
        </p:txBody>
      </p:sp>
      <p:sp>
        <p:nvSpPr>
          <p:cNvPr id="7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/>
            <a:r>
              <a:rPr lang="cs-CZ"/>
              <a:t>‹#›</a:t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p="http://schemas.openxmlformats.org/presentationml/2006/main" xmlns:a="http://schemas.openxmlformats.org/drawingml/2006/main">
  <p:cSld>
    <p:spTree>
      <p:nvGrpSpPr>
        <p:cNvPr id="7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/>
            <a:endParaRPr/>
          </a:p>
        </p:txBody>
      </p:sp>
      <p:sp>
        <p:nvSpPr>
          <p:cNvPr id="80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/>
            <a:r>
              <a:rPr lang="cs-CZ"/>
              <a:t>1.7.2013</a:t>
            </a:r>
            <a:endParaRPr/>
          </a:p>
        </p:txBody>
      </p:sp>
      <p:sp>
        <p:nvSpPr>
          <p:cNvPr id="81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/>
            <a:endParaRPr/>
          </a:p>
        </p:txBody>
      </p:sp>
      <p:sp>
        <p:nvSpPr>
          <p:cNvPr id="82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l" defTabSz="914400">
              <a:lnSpc>
                <a:spcPct val="100000"/>
              </a:lnSpc>
              <a:defRPr sz="1400" b="0" i="0" u="none" strike="noStrike">
                <a:solidFill>
                  <a:srgbClr val="000000">
                    <a:alpha val="100000"/>
                  </a:srgbClr>
                </a:solidFill>
              </a:defRPr>
            </a:lvl1pPr>
          </a:lstStyle>
          <a:p>
            <a:pPr marL="0" indent="0" algn="l" defTabSz="914400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开场。本规划依据知识库 7 篇核心文章、与 EntAgent 开源方案的代码级对比，以及 AgentGit 会话级实践。主线是 DSH 管运行、MOGONG 管进企业，聚焦企业级补强的缺口与三阶段路线。</a:t>
            </a:r>
            <a:endParaRPr/>
          </a:p>
        </p:txBody>
      </p:sp>
      <p:sp>
        <p:nvSpPr>
          <p:cNvPr id="83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/>
            <a:endParaRPr/>
          </a:p>
        </p:txBody>
      </p:sp>
      <p:sp>
        <p:nvSpPr>
          <p:cNvPr id="84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/>
            <a:r>
              <a:rPr lang="cs-CZ"/>
              <a:t>‹#›</a:t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p="http://schemas.openxmlformats.org/presentationml/2006/main" xmlns:a="http://schemas.openxmlformats.org/drawingml/2006/main">
  <p:cSld>
    <p:spTree>
      <p:nvGrpSpPr>
        <p:cNvPr id="8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/>
            <a:endParaRPr/>
          </a:p>
        </p:txBody>
      </p:sp>
      <p:sp>
        <p:nvSpPr>
          <p:cNvPr id="87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/>
            <a:r>
              <a:rPr lang="cs-CZ"/>
              <a:t>1.7.2013</a:t>
            </a:r>
            <a:endParaRPr/>
          </a:p>
        </p:txBody>
      </p:sp>
      <p:sp>
        <p:nvSpPr>
          <p:cNvPr id="88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/>
            <a:endParaRPr/>
          </a:p>
        </p:txBody>
      </p:sp>
      <p:sp>
        <p:nvSpPr>
          <p:cNvPr id="89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l" defTabSz="914400">
              <a:lnSpc>
                <a:spcPct val="100000"/>
              </a:lnSpc>
              <a:defRPr sz="1400" b="0" i="0" u="none" strike="noStrike">
                <a:solidFill>
                  <a:srgbClr val="000000">
                    <a:alpha val="100000"/>
                  </a:srgbClr>
                </a:solidFill>
              </a:defRPr>
            </a:lvl1pPr>
          </a:lstStyle>
          <a:p>
            <a:pPr marL="0" indent="0" algn="l" defTabSz="914400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一句话：MOGONG 是 DSH 执行底座加企业层。本材料按已有基线、六大缺口、分级补强、三阶段落地四步展开。</a:t>
            </a:r>
            <a:endParaRPr/>
          </a:p>
        </p:txBody>
      </p:sp>
      <p:sp>
        <p:nvSpPr>
          <p:cNvPr id="90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/>
            <a:endParaRPr/>
          </a:p>
        </p:txBody>
      </p:sp>
      <p:sp>
        <p:nvSpPr>
          <p:cNvPr id="91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/>
            <a:r>
              <a:rPr lang="cs-CZ"/>
              <a:t>‹#›</a:t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p="http://schemas.openxmlformats.org/presentationml/2006/main" xmlns:a="http://schemas.openxmlformats.org/drawingml/2006/main">
  <p:cSld>
    <p:spTree>
      <p:nvGrpSpPr>
        <p:cNvPr id="9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/>
            <a:endParaRPr/>
          </a:p>
        </p:txBody>
      </p:sp>
      <p:sp>
        <p:nvSpPr>
          <p:cNvPr id="94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/>
            <a:r>
              <a:rPr lang="cs-CZ"/>
              <a:t>1.7.2013</a:t>
            </a:r>
            <a:endParaRPr/>
          </a:p>
        </p:txBody>
      </p:sp>
      <p:sp>
        <p:nvSpPr>
          <p:cNvPr id="95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/>
            <a:endParaRPr/>
          </a:p>
        </p:txBody>
      </p:sp>
      <p:sp>
        <p:nvSpPr>
          <p:cNvPr id="96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l" defTabSz="914400">
              <a:lnSpc>
                <a:spcPct val="100000"/>
              </a:lnSpc>
              <a:defRPr sz="1400" b="0" i="0" u="none" strike="noStrike">
                <a:solidFill>
                  <a:srgbClr val="000000">
                    <a:alpha val="100000"/>
                  </a:srgbClr>
                </a:solidFill>
                <a:latin typeface="Arial"/>
              </a:defRPr>
            </a:lvl1pPr>
          </a:lstStyle>
          <a:p>
            <a:pPr marL="0" indent="0" algn="l" defTabSz="914400">
              <a:lnSpc>
                <a:spcPct val="100000"/>
              </a:lnSpc>
            </a:pPr>
            <a:r>
              <a:rPr lang="en-US" sz="1400" b="0" i="0" u="none" strike="noStrik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 xml:space="preserve">MOGONG </a:t>
            </a:r>
            <a:r>
              <a:rPr lang="en-US" sz="1400" b="0" i="0" u="none" strike="noStrik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已有九大能力域，从执行底座、知识RAG、多模态理解到部署桌面都已成型。这是后续补强的坚实基线</a:t>
            </a:r>
            <a:r>
              <a:rPr lang="en-US" sz="1400" b="0" i="0" u="none" strike="noStrik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。</a:t>
            </a:r>
            <a:endParaRPr dirty="0"/>
          </a:p>
        </p:txBody>
      </p:sp>
      <p:sp>
        <p:nvSpPr>
          <p:cNvPr id="97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/>
            <a:endParaRPr/>
          </a:p>
        </p:txBody>
      </p:sp>
      <p:sp>
        <p:nvSpPr>
          <p:cNvPr id="98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/>
            <a:r>
              <a:rPr lang="cs-CZ"/>
              <a:t>‹#›</a:t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p="http://schemas.openxmlformats.org/presentationml/2006/main" xmlns:a="http://schemas.openxmlformats.org/drawingml/2006/main">
  <p:cSld>
    <p:spTree>
      <p:nvGrpSpPr>
        <p:cNvPr id="9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/>
            <a:endParaRPr/>
          </a:p>
        </p:txBody>
      </p:sp>
      <p:sp>
        <p:nvSpPr>
          <p:cNvPr id="101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/>
            <a:r>
              <a:rPr lang="cs-CZ"/>
              <a:t>1.7.2013</a:t>
            </a:r>
            <a:endParaRPr/>
          </a:p>
        </p:txBody>
      </p:sp>
      <p:sp>
        <p:nvSpPr>
          <p:cNvPr id="102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/>
            <a:endParaRPr/>
          </a:p>
        </p:txBody>
      </p:sp>
      <p:sp>
        <p:nvSpPr>
          <p:cNvPr id="103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l" defTabSz="914400">
              <a:lnSpc>
                <a:spcPct val="100000"/>
              </a:lnSpc>
              <a:defRPr sz="1400" b="0" i="0" u="none" strike="noStrike">
                <a:solidFill>
                  <a:srgbClr val="000000">
                    <a:alpha val="100000"/>
                  </a:srgbClr>
                </a:solidFill>
              </a:defRPr>
            </a:lvl1pPr>
          </a:lstStyle>
          <a:p>
            <a:pPr marL="0" indent="0" algn="l" defTabSz="914400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与对标方案反向确认，这五块 MOGONG 已经领先，不应重复投入。它们同时也是后续补强的挂载点与安全边界。</a:t>
            </a:r>
            <a:endParaRPr/>
          </a:p>
        </p:txBody>
      </p:sp>
      <p:sp>
        <p:nvSpPr>
          <p:cNvPr id="104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/>
            <a:endParaRPr/>
          </a:p>
        </p:txBody>
      </p:sp>
      <p:sp>
        <p:nvSpPr>
          <p:cNvPr id="105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/>
            <a:r>
              <a:rPr lang="cs-CZ"/>
              <a:t>‹#›</a:t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p="http://schemas.openxmlformats.org/presentationml/2006/main" xmlns:a="http://schemas.openxmlformats.org/drawingml/2006/main">
  <p:cSld>
    <p:spTree>
      <p:nvGrpSpPr>
        <p:cNvPr id="10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/>
            <a:endParaRPr/>
          </a:p>
        </p:txBody>
      </p:sp>
      <p:sp>
        <p:nvSpPr>
          <p:cNvPr id="108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/>
            <a:r>
              <a:rPr lang="cs-CZ"/>
              <a:t>1.7.2013</a:t>
            </a:r>
            <a:endParaRPr/>
          </a:p>
        </p:txBody>
      </p:sp>
      <p:sp>
        <p:nvSpPr>
          <p:cNvPr id="109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/>
            <a:endParaRPr/>
          </a:p>
        </p:txBody>
      </p:sp>
      <p:sp>
        <p:nvSpPr>
          <p:cNvPr id="110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l" defTabSz="914400">
              <a:lnSpc>
                <a:spcPct val="100000"/>
              </a:lnSpc>
              <a:defRPr sz="1400" b="0" i="0" u="none" strike="noStrike">
                <a:solidFill>
                  <a:srgbClr val="000000">
                    <a:alpha val="100000"/>
                  </a:srgbClr>
                </a:solidFill>
              </a:defRPr>
            </a:lvl1pPr>
          </a:lstStyle>
          <a:p>
            <a:pPr marL="0" indent="0" algn="l" defTabSz="914400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六大缺口按优先级分三档。P0 三件是企业入场券，P1 三件解决可靠协作与会话交接，P2 是规模化生态，工作量最大可后置。</a:t>
            </a:r>
            <a:endParaRPr/>
          </a:p>
        </p:txBody>
      </p:sp>
      <p:sp>
        <p:nvSpPr>
          <p:cNvPr id="111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/>
            <a:endParaRPr/>
          </a:p>
        </p:txBody>
      </p:sp>
      <p:sp>
        <p:nvSpPr>
          <p:cNvPr id="112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/>
            <a:r>
              <a:rPr lang="cs-CZ"/>
              <a:t>‹#›</a:t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2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3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4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5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6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7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8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9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10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1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12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2.xml" /></Relationships>
</file>

<file path=ppt/slideLayouts/_rels/slideLayout13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3.xml" /></Relationships>
</file>

<file path=ppt/slideLayouts/_rels/slideLayout14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3.xml" /></Relationships>
</file>

<file path=ppt/slideLayouts/_rels/slideLayout15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3.xml" /></Relationships>
</file>

<file path=ppt/slideLayouts/_rels/slideLayout16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3.xml" /></Relationships>
</file>

<file path=ppt/slideLayouts/_rels/slideLayout17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3.xml" /></Relationships>
</file>

<file path=ppt/slideLayouts/_rels/slideLayout18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3.xml" /></Relationships>
</file>

<file path=ppt/slideLayouts/_rels/slideLayout19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3.xml" /></Relationships>
</file>

<file path=ppt/slideLayouts/_rels/slideLayout20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3.xml" /></Relationships>
</file>

<file path=ppt/slideLayouts/_rels/slideLayout2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3.xml" /></Relationships>
</file>

<file path=ppt/slideLayouts/_rels/slideLayout22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3.xml" /></Relationships>
</file>

<file path=ppt/slideLayouts/_rels/slideLayout23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3.xml" /></Relationships>
</file>

<file path=ppt/slideLayouts/slideLayout1.xml><?xml version="1.0" encoding="utf-8"?>
<p:sldLayout xmlns:p="http://schemas.openxmlformats.org/presentationml/2006/main" xmlns:a="http://schemas.openxmlformats.org/drawingml/2006/main" type="title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30"/>
          <p:cNvSpPr txBox="1"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/>
            <a:endParaRPr/>
          </a:p>
        </p:txBody>
      </p:sp>
      <p:sp>
        <p:nvSpPr>
          <p:cNvPr id="3" name="Shape 31"/>
          <p:cNvSpPr txBox="1"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pPr/>
            <a:endParaRPr/>
          </a:p>
        </p:txBody>
      </p:sp>
      <p:sp>
        <p:nvSpPr>
          <p:cNvPr id="4" name="Shape 3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/>
            <a:endParaRPr/>
          </a:p>
        </p:txBody>
      </p:sp>
      <p:sp>
        <p:nvSpPr>
          <p:cNvPr id="5" name="Shape 3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/>
            <a:endParaRPr/>
          </a:p>
        </p:txBody>
      </p:sp>
      <p:sp>
        <p:nvSpPr>
          <p:cNvPr id="6" name="Shape 3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p="http://schemas.openxmlformats.org/presentationml/2006/main" xmlns:a="http://schemas.openxmlformats.org/drawingml/2006/main" type="obj">
  <p:cSld name="OBJECT">
    <p:spTree>
      <p:nvGrpSpPr>
        <p:cNvPr id="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54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/>
            <a:endParaRPr/>
          </a:p>
        </p:txBody>
      </p:sp>
      <p:sp>
        <p:nvSpPr>
          <p:cNvPr id="9" name="Shape 55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pPr/>
            <a:endParaRPr/>
          </a:p>
        </p:txBody>
      </p:sp>
      <p:sp>
        <p:nvSpPr>
          <p:cNvPr id="10" name="Shape 5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/>
            <a:endParaRPr/>
          </a:p>
        </p:txBody>
      </p:sp>
      <p:sp>
        <p:nvSpPr>
          <p:cNvPr id="11" name="Shape 5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/>
            <a:endParaRPr/>
          </a:p>
        </p:txBody>
      </p:sp>
      <p:sp>
        <p:nvSpPr>
          <p:cNvPr id="12" name="Shape 5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p="http://schemas.openxmlformats.org/presentationml/2006/main" xmlns:a="http://schemas.openxmlformats.org/drawingml/2006/main" type="secHead">
  <p:cSld name="SECTION_HEADER">
    <p:spTree>
      <p:nvGrpSpPr>
        <p:cNvPr id="1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59"/>
          <p:cNvSpPr txBox="1"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/>
            <a:endParaRPr/>
          </a:p>
        </p:txBody>
      </p:sp>
      <p:sp>
        <p:nvSpPr>
          <p:cNvPr id="21" name="Shape 60"/>
          <p:cNvSpPr txBox="1">
            <a:spLocks noGrp="1"/>
          </p:cNvSpPr>
          <p:nvPr>
            <p:ph type="body" idx="1"/>
          </p:nvPr>
        </p:nvSpPr>
        <p:spPr>
          <a:xfrm>
            <a:off x="623888" y="3442097"/>
            <a:ext cx="7886700" cy="1125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>
            <a:pPr/>
            <a:endParaRPr/>
          </a:p>
        </p:txBody>
      </p:sp>
      <p:sp>
        <p:nvSpPr>
          <p:cNvPr id="22" name="Shape 6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/>
            <a:endParaRPr/>
          </a:p>
        </p:txBody>
      </p:sp>
      <p:sp>
        <p:nvSpPr>
          <p:cNvPr id="23" name="Shape 6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/>
            <a:endParaRPr/>
          </a:p>
        </p:txBody>
      </p:sp>
      <p:sp>
        <p:nvSpPr>
          <p:cNvPr id="24" name="Shape 6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p="http://schemas.openxmlformats.org/presentationml/2006/main" xmlns:a="http://schemas.openxmlformats.org/drawingml/2006/main" type="twoObj">
  <p:cSld name="TWO_OBJECTS">
    <p:spTree>
      <p:nvGrpSpPr>
        <p:cNvPr id="2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Shape 9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/>
            <a:endParaRPr/>
          </a:p>
        </p:txBody>
      </p:sp>
      <p:sp>
        <p:nvSpPr>
          <p:cNvPr id="27" name="Shape 10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pPr/>
            <a:endParaRPr/>
          </a:p>
        </p:txBody>
      </p:sp>
      <p:sp>
        <p:nvSpPr>
          <p:cNvPr id="28" name="Shape 11"/>
          <p:cNvSpPr txBox="1">
            <a:spLocks noGrp="1"/>
          </p:cNvSpPr>
          <p:nvPr>
            <p:ph type="body" idx="2"/>
          </p:nvPr>
        </p:nvSpPr>
        <p:spPr>
          <a:xfrm>
            <a:off x="46291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pPr/>
            <a:endParaRPr/>
          </a:p>
        </p:txBody>
      </p:sp>
      <p:sp>
        <p:nvSpPr>
          <p:cNvPr id="29" name="Shape 1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/>
            <a:endParaRPr/>
          </a:p>
        </p:txBody>
      </p:sp>
      <p:sp>
        <p:nvSpPr>
          <p:cNvPr id="30" name="Shape 1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/>
            <a:endParaRPr/>
          </a:p>
        </p:txBody>
      </p:sp>
      <p:sp>
        <p:nvSpPr>
          <p:cNvPr id="31" name="Shape 1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p="http://schemas.openxmlformats.org/presentationml/2006/main" xmlns:a="http://schemas.openxmlformats.org/drawingml/2006/main" type="twoTxTwoObj">
  <p:cSld name="TWO_OBJECTS_WITH_TEXT">
    <p:spTree>
      <p:nvGrpSpPr>
        <p:cNvPr id="3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35"/>
          <p:cNvSpPr txBox="1"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/>
            <a:endParaRPr/>
          </a:p>
        </p:txBody>
      </p:sp>
      <p:sp>
        <p:nvSpPr>
          <p:cNvPr id="34" name="Shape 36"/>
          <p:cNvSpPr txBox="1">
            <a:spLocks noGrp="1"/>
          </p:cNvSpPr>
          <p:nvPr>
            <p:ph type="body" idx="1"/>
          </p:nvPr>
        </p:nvSpPr>
        <p:spPr>
          <a:xfrm>
            <a:off x="629841" y="1260872"/>
            <a:ext cx="3868340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pPr/>
            <a:endParaRPr/>
          </a:p>
        </p:txBody>
      </p:sp>
      <p:sp>
        <p:nvSpPr>
          <p:cNvPr id="35" name="Shape 37"/>
          <p:cNvSpPr txBox="1">
            <a:spLocks noGrp="1"/>
          </p:cNvSpPr>
          <p:nvPr>
            <p:ph type="body" idx="2"/>
          </p:nvPr>
        </p:nvSpPr>
        <p:spPr>
          <a:xfrm>
            <a:off x="629841" y="1878806"/>
            <a:ext cx="3868340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pPr/>
            <a:endParaRPr/>
          </a:p>
        </p:txBody>
      </p:sp>
      <p:sp>
        <p:nvSpPr>
          <p:cNvPr id="36" name="Shape 38"/>
          <p:cNvSpPr txBox="1">
            <a:spLocks noGrp="1"/>
          </p:cNvSpPr>
          <p:nvPr>
            <p:ph type="body" idx="3"/>
          </p:nvPr>
        </p:nvSpPr>
        <p:spPr>
          <a:xfrm>
            <a:off x="4629150" y="1260872"/>
            <a:ext cx="3887391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pPr/>
            <a:endParaRPr/>
          </a:p>
        </p:txBody>
      </p:sp>
      <p:sp>
        <p:nvSpPr>
          <p:cNvPr id="37" name="Shape 39"/>
          <p:cNvSpPr txBox="1">
            <a:spLocks noGrp="1"/>
          </p:cNvSpPr>
          <p:nvPr>
            <p:ph type="body" idx="4"/>
          </p:nvPr>
        </p:nvSpPr>
        <p:spPr>
          <a:xfrm>
            <a:off x="4629150" y="1878806"/>
            <a:ext cx="3887391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pPr/>
            <a:endParaRPr/>
          </a:p>
        </p:txBody>
      </p:sp>
      <p:sp>
        <p:nvSpPr>
          <p:cNvPr id="38" name="Shape 40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/>
            <a:endParaRPr/>
          </a:p>
        </p:txBody>
      </p:sp>
      <p:sp>
        <p:nvSpPr>
          <p:cNvPr id="39" name="Shape 41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/>
            <a:endParaRPr/>
          </a:p>
        </p:txBody>
      </p:sp>
      <p:sp>
        <p:nvSpPr>
          <p:cNvPr id="40" name="Shape 42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p="http://schemas.openxmlformats.org/presentationml/2006/main" xmlns:a="http://schemas.openxmlformats.org/drawingml/2006/main" type="titleOnly">
  <p:cSld name="TITLE_ONLY">
    <p:spTree>
      <p:nvGrpSpPr>
        <p:cNvPr id="4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Shape 20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/>
            <a:endParaRPr/>
          </a:p>
        </p:txBody>
      </p:sp>
      <p:sp>
        <p:nvSpPr>
          <p:cNvPr id="43" name="Shape 2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/>
            <a:endParaRPr/>
          </a:p>
        </p:txBody>
      </p:sp>
      <p:sp>
        <p:nvSpPr>
          <p:cNvPr id="44" name="Shape 2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/>
            <a:endParaRPr/>
          </a:p>
        </p:txBody>
      </p:sp>
      <p:sp>
        <p:nvSpPr>
          <p:cNvPr id="45" name="Shape 2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p="http://schemas.openxmlformats.org/presentationml/2006/main" xmlns:a="http://schemas.openxmlformats.org/drawingml/2006/main" type="blank">
  <p:cSld name="BLANK">
    <p:spTree>
      <p:nvGrpSpPr>
        <p:cNvPr id="4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Shape 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/>
            <a:endParaRPr/>
          </a:p>
        </p:txBody>
      </p:sp>
      <p:sp>
        <p:nvSpPr>
          <p:cNvPr id="48" name="Shape 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/>
            <a:endParaRPr/>
          </a:p>
        </p:txBody>
      </p:sp>
      <p:sp>
        <p:nvSpPr>
          <p:cNvPr id="49" name="Shape 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p="http://schemas.openxmlformats.org/presentationml/2006/main" xmlns:a="http://schemas.openxmlformats.org/drawingml/2006/main" type="objTx">
  <p:cSld name="OBJECT_WITH_CAPTION_TEXT">
    <p:spTree>
      <p:nvGrpSpPr>
        <p:cNvPr id="5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Shape 43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/>
            <a:endParaRPr/>
          </a:p>
        </p:txBody>
      </p:sp>
      <p:sp>
        <p:nvSpPr>
          <p:cNvPr id="52" name="Shape 44"/>
          <p:cNvSpPr txBox="1">
            <a:spLocks noGrp="1"/>
          </p:cNvSpPr>
          <p:nvPr>
            <p:ph type="body" idx="1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619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pPr/>
            <a:endParaRPr/>
          </a:p>
        </p:txBody>
      </p:sp>
      <p:sp>
        <p:nvSpPr>
          <p:cNvPr id="53" name="Shape 45"/>
          <p:cNvSpPr txBox="1">
            <a:spLocks noGrp="1"/>
          </p:cNvSpPr>
          <p:nvPr>
            <p:ph type="body" idx="2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pPr/>
            <a:endParaRPr/>
          </a:p>
        </p:txBody>
      </p:sp>
      <p:sp>
        <p:nvSpPr>
          <p:cNvPr id="54" name="Shape 4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/>
            <a:endParaRPr/>
          </a:p>
        </p:txBody>
      </p:sp>
      <p:sp>
        <p:nvSpPr>
          <p:cNvPr id="55" name="Shape 4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/>
            <a:endParaRPr/>
          </a:p>
        </p:txBody>
      </p:sp>
      <p:sp>
        <p:nvSpPr>
          <p:cNvPr id="56" name="Shape 4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p="http://schemas.openxmlformats.org/presentationml/2006/main" xmlns:a="http://schemas.openxmlformats.org/drawingml/2006/main" type="picTx">
  <p:cSld name="PICTURE_WITH_CAPTION_TEXT">
    <p:spTree>
      <p:nvGrpSpPr>
        <p:cNvPr id="5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Shape 24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/>
            <a:endParaRPr/>
          </a:p>
        </p:txBody>
      </p:sp>
      <p:sp>
        <p:nvSpPr>
          <p:cNvPr id="59" name="Shape 25"/>
          <p:cNvSpPr>
            <a:spLocks noGrp="1"/>
          </p:cNvSpPr>
          <p:nvPr>
            <p:ph type="pic" idx="2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endParaRPr/>
          </a:p>
        </p:txBody>
      </p:sp>
      <p:sp>
        <p:nvSpPr>
          <p:cNvPr id="60" name="Shape 26"/>
          <p:cNvSpPr txBox="1">
            <a:spLocks noGrp="1"/>
          </p:cNvSpPr>
          <p:nvPr>
            <p:ph type="body" idx="1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pPr/>
            <a:endParaRPr/>
          </a:p>
        </p:txBody>
      </p:sp>
      <p:sp>
        <p:nvSpPr>
          <p:cNvPr id="61" name="Shape 27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/>
            <a:endParaRPr/>
          </a:p>
        </p:txBody>
      </p:sp>
      <p:sp>
        <p:nvSpPr>
          <p:cNvPr id="62" name="Shape 28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/>
            <a:endParaRPr/>
          </a:p>
        </p:txBody>
      </p:sp>
      <p:sp>
        <p:nvSpPr>
          <p:cNvPr id="63" name="Shape 29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p="http://schemas.openxmlformats.org/presentationml/2006/main" xmlns:a="http://schemas.openxmlformats.org/drawingml/2006/main" type="vertTx">
  <p:cSld name="VERTICAL_TEXT">
    <p:spTree>
      <p:nvGrpSpPr>
        <p:cNvPr id="6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Shape 49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/>
            <a:endParaRPr/>
          </a:p>
        </p:txBody>
      </p:sp>
      <p:sp>
        <p:nvSpPr>
          <p:cNvPr id="66" name="Shape 50"/>
          <p:cNvSpPr txBox="1">
            <a:spLocks noGrp="1"/>
          </p:cNvSpPr>
          <p:nvPr>
            <p:ph type="body" idx="1"/>
          </p:nvPr>
        </p:nvSpPr>
        <p:spPr>
          <a:xfrm rot="5400000">
            <a:off x="2940248" y="-942379"/>
            <a:ext cx="3263504" cy="78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pPr/>
            <a:endParaRPr/>
          </a:p>
        </p:txBody>
      </p:sp>
      <p:sp>
        <p:nvSpPr>
          <p:cNvPr id="67" name="Shape 5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/>
            <a:endParaRPr/>
          </a:p>
        </p:txBody>
      </p:sp>
      <p:sp>
        <p:nvSpPr>
          <p:cNvPr id="68" name="Shape 5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/>
            <a:endParaRPr/>
          </a:p>
        </p:txBody>
      </p:sp>
      <p:sp>
        <p:nvSpPr>
          <p:cNvPr id="69" name="Shape 5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p="http://schemas.openxmlformats.org/presentationml/2006/main" xmlns:a="http://schemas.openxmlformats.org/drawingml/2006/main" type="vertTitleAndTx">
  <p:cSld name="VERTICAL_TITLE_AND_VERTICAL_TEXT">
    <p:spTree>
      <p:nvGrpSpPr>
        <p:cNvPr id="1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hape 15"/>
          <p:cNvSpPr txBox="1">
            <a:spLocks noGrp="1"/>
          </p:cNvSpPr>
          <p:nvPr>
            <p:ph type="title"/>
          </p:nvPr>
        </p:nvSpPr>
        <p:spPr>
          <a:xfrm rot="5400000">
            <a:off x="5350073" y="1467445"/>
            <a:ext cx="4358879" cy="1971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/>
            <a:endParaRPr/>
          </a:p>
        </p:txBody>
      </p:sp>
      <p:sp>
        <p:nvSpPr>
          <p:cNvPr id="15" name="Shape 16"/>
          <p:cNvSpPr txBox="1">
            <a:spLocks noGrp="1"/>
          </p:cNvSpPr>
          <p:nvPr>
            <p:ph type="body" idx="1"/>
          </p:nvPr>
        </p:nvSpPr>
        <p:spPr>
          <a:xfrm rot="5400000">
            <a:off x="1349573" y="-447080"/>
            <a:ext cx="4358879" cy="5800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pPr/>
            <a:endParaRPr/>
          </a:p>
        </p:txBody>
      </p:sp>
      <p:sp>
        <p:nvSpPr>
          <p:cNvPr id="16" name="Shape 17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/>
            <a:endParaRPr/>
          </a:p>
        </p:txBody>
      </p:sp>
      <p:sp>
        <p:nvSpPr>
          <p:cNvPr id="17" name="Shape 18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/>
            <a:endParaRPr/>
          </a:p>
        </p:txBody>
      </p:sp>
      <p:sp>
        <p:nvSpPr>
          <p:cNvPr id="18" name="Shape 19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p="http://schemas.openxmlformats.org/presentationml/2006/main" xmlns:a="http://schemas.openxmlformats.org/drawingml/2006/main" type="title">
  <p:cSld>
    <p:spTree>
      <p:nvGrpSpPr>
        <p:cNvPr id="7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p="http://schemas.openxmlformats.org/presentationml/2006/main" xmlns:a="http://schemas.openxmlformats.org/drawingml/2006/main" type="title">
  <p:cSld name="TITLE">
    <p:spTree>
      <p:nvGrpSpPr>
        <p:cNvPr id="7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AutoShape 2"/>
          <p:cNvSpPr>
            <a:spLocks noGrp="1"/>
          </p:cNvSpPr>
          <p:nvPr>
            <p:ph type="body" sz="quarter" idx="6" hasCustomPrompt="1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b">
            <a:normAutofit/>
          </a:bodyPr>
          <a:lstStyle>
            <a:lvl1pPr algn="ctr">
              <a:lnSpc>
                <a:spcPct val="91666"/>
              </a:lnSpc>
              <a:defRPr sz="4500" b="1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>
              <a:lnSpc>
                <a:spcPct val="91666"/>
              </a:lnSpc>
            </a:pPr>
            <a:r>
              <a:rPr lang="en-US" sz="45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title</a:t>
            </a:r>
            <a:endParaRPr/>
          </a:p>
        </p:txBody>
      </p:sp>
      <p:sp>
        <p:nvSpPr>
          <p:cNvPr id="73" name="AutoShape 3"/>
          <p:cNvSpPr>
            <a:spLocks noGrp="1"/>
          </p:cNvSpPr>
          <p:nvPr>
            <p:ph type="body" sz="quarter" idx="7" hasCustomPrompt="1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t">
            <a:normAutofit/>
          </a:bodyPr>
          <a:lstStyle>
            <a:lvl1pPr algn="ctr">
              <a:lnSpc>
                <a:spcPct val="91666"/>
              </a:lnSpc>
              <a:defRPr sz="1800" b="1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457200" indent="-361950" algn="ctr">
              <a:lnSpc>
                <a:spcPct val="91666"/>
              </a:lnSpc>
              <a:spcBef>
                <a:spcPts val="800"/>
              </a:spcBef>
            </a:pPr>
            <a:r>
              <a:rPr lang="en-US" sz="18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subtitle</a:t>
            </a:r>
            <a:endParaRPr/>
          </a:p>
        </p:txBody>
      </p:sp>
      <p:sp>
        <p:nvSpPr>
          <p:cNvPr id="74" name="AutoShape 4"/>
          <p:cNvSpPr>
            <a:spLocks noGrp="1"/>
          </p:cNvSpPr>
          <p:nvPr>
            <p:ph type="body" sz="quarter" idx="8" hasCustomPrompt="1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l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Date</a:t>
            </a:r>
            <a:endParaRPr/>
          </a:p>
        </p:txBody>
      </p:sp>
      <p:sp>
        <p:nvSpPr>
          <p:cNvPr id="75" name="AutoShape 5"/>
          <p:cNvSpPr>
            <a:spLocks noGrp="1"/>
          </p:cNvSpPr>
          <p:nvPr>
            <p:ph type="body" sz="quarter" idx="9" hasCustomPrompt="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ctr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Footer</a:t>
            </a:r>
            <a:endParaRPr/>
          </a:p>
        </p:txBody>
      </p:sp>
      <p:sp>
        <p:nvSpPr>
          <p:cNvPr id="76" name="AutoShape 6"/>
          <p:cNvSpPr>
            <a:spLocks noGrp="1"/>
          </p:cNvSpPr>
          <p:nvPr>
            <p:ph type="body" sz="quarter" idx="10" hasCustomPrompt="1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r">
              <a:lnSpc>
                <a:spcPct val="100000"/>
              </a:lnSpc>
              <a:defRPr sz="900" b="0" i="0" u="none" strike="noStrike" spc="0">
                <a:solidFill>
                  <a:srgbClr val="888888">
                    <a:alpha val="100000"/>
                  </a:srgbClr>
                </a:solidFill>
                <a:latin typeface="Arial"/>
              </a:defRPr>
            </a:lvl1pPr>
          </a:lstStyle>
          <a:p>
            <a:pPr marL="0" indent="0" algn="r">
              <a:lnSpc>
                <a:spcPct val="100000"/>
              </a:lnSpc>
            </a:pPr>
            <a:fld id="{F15BA87E-0511-403F-8208-00DFF90F47E3}" type="slidenum">
              <a:rPr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900" b="0" i="0" u="none" strike="noStrike">
              <a:solidFill>
                <a:srgbClr val="888888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p="http://schemas.openxmlformats.org/presentationml/2006/main" xmlns:a="http://schemas.openxmlformats.org/drawingml/2006/main" type="title">
  <p:cSld name="OBJECT">
    <p:spTree>
      <p:nvGrpSpPr>
        <p:cNvPr id="7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AutoShape 2"/>
          <p:cNvSpPr>
            <a:spLocks noGrp="1"/>
          </p:cNvSpPr>
          <p:nvPr>
            <p:ph type="body" sz="quarter" idx="11" hasCustomPrompt="1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rmAutofit/>
          </a:bodyPr>
          <a:lstStyle>
            <a:lvl1pPr algn="l">
              <a:lnSpc>
                <a:spcPct val="91666"/>
              </a:lnSpc>
              <a:defRPr sz="3300" b="1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l">
              <a:lnSpc>
                <a:spcPct val="91666"/>
              </a:lnSpc>
            </a:pPr>
            <a:r>
              <a:rPr lang="en-US" sz="33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title</a:t>
            </a:r>
            <a:endParaRPr/>
          </a:p>
        </p:txBody>
      </p:sp>
      <p:sp>
        <p:nvSpPr>
          <p:cNvPr id="79" name="AutoShape 3"/>
          <p:cNvSpPr>
            <a:spLocks noGrp="1"/>
          </p:cNvSpPr>
          <p:nvPr>
            <p:ph type="body" sz="quarter" idx="12" hasCustomPrompt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t">
            <a:normAutofit/>
          </a:bodyPr>
          <a:lstStyle>
            <a:lvl1pPr algn="l">
              <a:lnSpc>
                <a:spcPct val="91666"/>
              </a:lnSpc>
              <a:defRPr sz="21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457200" indent="-317500" algn="l">
              <a:lnSpc>
                <a:spcPct val="91666"/>
              </a:lnSpc>
              <a:spcBef>
                <a:spcPts val="800"/>
              </a:spcBef>
            </a:pPr>
            <a:r>
              <a:rPr lang="en-US" sz="21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text</a:t>
            </a:r>
            <a:endParaRPr/>
          </a:p>
        </p:txBody>
      </p:sp>
      <p:sp>
        <p:nvSpPr>
          <p:cNvPr id="80" name="AutoShape 4"/>
          <p:cNvSpPr>
            <a:spLocks noGrp="1"/>
          </p:cNvSpPr>
          <p:nvPr>
            <p:ph type="body" sz="quarter" idx="13" hasCustomPrompt="1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l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Date</a:t>
            </a:r>
            <a:endParaRPr/>
          </a:p>
        </p:txBody>
      </p:sp>
      <p:sp>
        <p:nvSpPr>
          <p:cNvPr id="81" name="AutoShape 5"/>
          <p:cNvSpPr>
            <a:spLocks noGrp="1"/>
          </p:cNvSpPr>
          <p:nvPr>
            <p:ph type="body" sz="quarter" idx="14" hasCustomPrompt="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ctr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Footer</a:t>
            </a:r>
            <a:endParaRPr/>
          </a:p>
        </p:txBody>
      </p:sp>
      <p:sp>
        <p:nvSpPr>
          <p:cNvPr id="82" name="AutoShape 6"/>
          <p:cNvSpPr>
            <a:spLocks noGrp="1"/>
          </p:cNvSpPr>
          <p:nvPr>
            <p:ph type="body" sz="quarter" idx="15" hasCustomPrompt="1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r">
              <a:lnSpc>
                <a:spcPct val="100000"/>
              </a:lnSpc>
              <a:defRPr sz="900" b="0" i="0" u="none" strike="noStrike" spc="0">
                <a:solidFill>
                  <a:srgbClr val="888888">
                    <a:alpha val="100000"/>
                  </a:srgbClr>
                </a:solidFill>
                <a:latin typeface="Arial"/>
              </a:defRPr>
            </a:lvl1pPr>
          </a:lstStyle>
          <a:p>
            <a:pPr marL="0" indent="0" algn="r">
              <a:lnSpc>
                <a:spcPct val="100000"/>
              </a:lnSpc>
            </a:pPr>
            <a:fld id="{B85030D2-7057-4DDF-ADB6-784244A9F46D}" type="slidenum">
              <a:rPr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900" b="0" i="0" u="none" strike="noStrike">
              <a:solidFill>
                <a:srgbClr val="888888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p="http://schemas.openxmlformats.org/presentationml/2006/main" xmlns:a="http://schemas.openxmlformats.org/drawingml/2006/main" type="title">
  <p:cSld name="SECTION_HEADER">
    <p:spTree>
      <p:nvGrpSpPr>
        <p:cNvPr id="8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AutoShape 2"/>
          <p:cNvSpPr>
            <a:spLocks noGrp="1"/>
          </p:cNvSpPr>
          <p:nvPr>
            <p:ph type="body" sz="quarter" idx="16" hasCustomPrompt="1"/>
          </p:nvPr>
        </p:nvSpPr>
        <p:spPr>
          <a:xfrm>
            <a:off x="623888" y="1282304"/>
            <a:ext cx="7886700" cy="2139553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b">
            <a:normAutofit/>
          </a:bodyPr>
          <a:lstStyle>
            <a:lvl1pPr algn="l">
              <a:lnSpc>
                <a:spcPct val="91666"/>
              </a:lnSpc>
              <a:defRPr sz="4500" b="1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l">
              <a:lnSpc>
                <a:spcPct val="91666"/>
              </a:lnSpc>
            </a:pPr>
            <a:r>
              <a:rPr lang="en-US" sz="45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title</a:t>
            </a:r>
            <a:endParaRPr/>
          </a:p>
        </p:txBody>
      </p:sp>
      <p:sp>
        <p:nvSpPr>
          <p:cNvPr id="91" name="AutoShape 3"/>
          <p:cNvSpPr>
            <a:spLocks noGrp="1"/>
          </p:cNvSpPr>
          <p:nvPr>
            <p:ph type="body" sz="quarter" idx="17" hasCustomPrompt="1"/>
          </p:nvPr>
        </p:nvSpPr>
        <p:spPr>
          <a:xfrm>
            <a:off x="623888" y="3442097"/>
            <a:ext cx="7886700" cy="112514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t">
            <a:normAutofit/>
          </a:bodyPr>
          <a:lstStyle>
            <a:lvl1pPr algn="l">
              <a:lnSpc>
                <a:spcPct val="91666"/>
              </a:lnSpc>
              <a:defRPr sz="18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457200" indent="-228600" algn="l">
              <a:lnSpc>
                <a:spcPct val="91666"/>
              </a:lnSpc>
              <a:spcBef>
                <a:spcPts val="800"/>
              </a:spcBef>
            </a:pPr>
            <a:r>
              <a:rPr lang="en-US" sz="18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Click to add text</a:t>
            </a:r>
            <a:endParaRPr/>
          </a:p>
        </p:txBody>
      </p:sp>
      <p:sp>
        <p:nvSpPr>
          <p:cNvPr id="92" name="AutoShape 4"/>
          <p:cNvSpPr>
            <a:spLocks noGrp="1"/>
          </p:cNvSpPr>
          <p:nvPr>
            <p:ph type="body" sz="quarter" idx="18" hasCustomPrompt="1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l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Date</a:t>
            </a:r>
            <a:endParaRPr/>
          </a:p>
        </p:txBody>
      </p:sp>
      <p:sp>
        <p:nvSpPr>
          <p:cNvPr id="93" name="AutoShape 5"/>
          <p:cNvSpPr>
            <a:spLocks noGrp="1"/>
          </p:cNvSpPr>
          <p:nvPr>
            <p:ph type="body" sz="quarter" idx="19" hasCustomPrompt="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ctr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Footer</a:t>
            </a:r>
            <a:endParaRPr/>
          </a:p>
        </p:txBody>
      </p:sp>
      <p:sp>
        <p:nvSpPr>
          <p:cNvPr id="94" name="AutoShape 6"/>
          <p:cNvSpPr>
            <a:spLocks noGrp="1"/>
          </p:cNvSpPr>
          <p:nvPr>
            <p:ph type="body" sz="quarter" idx="20" hasCustomPrompt="1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r">
              <a:lnSpc>
                <a:spcPct val="100000"/>
              </a:lnSpc>
              <a:defRPr sz="900" b="0" i="0" u="none" strike="noStrike" spc="0">
                <a:solidFill>
                  <a:srgbClr val="888888">
                    <a:alpha val="100000"/>
                  </a:srgbClr>
                </a:solidFill>
                <a:latin typeface="Arial"/>
              </a:defRPr>
            </a:lvl1pPr>
          </a:lstStyle>
          <a:p>
            <a:pPr marL="0" indent="0" algn="r">
              <a:lnSpc>
                <a:spcPct val="100000"/>
              </a:lnSpc>
            </a:pPr>
            <a:fld id="{2BC57320-2551-4BE9-A720-62A40845B097}" type="slidenum">
              <a:rPr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900" b="0" i="0" u="none" strike="noStrike">
              <a:solidFill>
                <a:srgbClr val="888888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p="http://schemas.openxmlformats.org/presentationml/2006/main" xmlns:a="http://schemas.openxmlformats.org/drawingml/2006/main" type="title">
  <p:cSld name="TWO_OBJECTS">
    <p:spTree>
      <p:nvGrpSpPr>
        <p:cNvPr id="9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AutoShape 2"/>
          <p:cNvSpPr>
            <a:spLocks noGrp="1"/>
          </p:cNvSpPr>
          <p:nvPr>
            <p:ph type="body" sz="quarter" idx="21" hasCustomPrompt="1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rmAutofit/>
          </a:bodyPr>
          <a:lstStyle>
            <a:lvl1pPr algn="l">
              <a:lnSpc>
                <a:spcPct val="91666"/>
              </a:lnSpc>
              <a:defRPr sz="3300" b="1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l">
              <a:lnSpc>
                <a:spcPct val="91666"/>
              </a:lnSpc>
            </a:pPr>
            <a:r>
              <a:rPr lang="en-US" sz="33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title</a:t>
            </a:r>
            <a:endParaRPr/>
          </a:p>
        </p:txBody>
      </p:sp>
      <p:sp>
        <p:nvSpPr>
          <p:cNvPr id="97" name="AutoShape 3"/>
          <p:cNvSpPr>
            <a:spLocks noGrp="1"/>
          </p:cNvSpPr>
          <p:nvPr>
            <p:ph type="body" sz="quarter" idx="22" hasCustomPrompt="1"/>
          </p:nvPr>
        </p:nvSpPr>
        <p:spPr>
          <a:xfrm>
            <a:off x="628650" y="1369219"/>
            <a:ext cx="3886200" cy="326350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t">
            <a:normAutofit/>
          </a:bodyPr>
          <a:lstStyle>
            <a:lvl1pPr algn="l">
              <a:lnSpc>
                <a:spcPct val="91666"/>
              </a:lnSpc>
              <a:defRPr sz="21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457200" indent="-317500" algn="l">
              <a:lnSpc>
                <a:spcPct val="91666"/>
              </a:lnSpc>
              <a:spcBef>
                <a:spcPts val="800"/>
              </a:spcBef>
            </a:pPr>
            <a:r>
              <a:rPr lang="en-US" sz="21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text</a:t>
            </a:r>
            <a:endParaRPr/>
          </a:p>
        </p:txBody>
      </p:sp>
      <p:sp>
        <p:nvSpPr>
          <p:cNvPr id="98" name="AutoShape 4"/>
          <p:cNvSpPr>
            <a:spLocks noGrp="1"/>
          </p:cNvSpPr>
          <p:nvPr>
            <p:ph type="body" sz="quarter" idx="23" hasCustomPrompt="1"/>
          </p:nvPr>
        </p:nvSpPr>
        <p:spPr>
          <a:xfrm>
            <a:off x="4629150" y="1369219"/>
            <a:ext cx="3886200" cy="326350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t">
            <a:normAutofit/>
          </a:bodyPr>
          <a:lstStyle>
            <a:lvl1pPr algn="l">
              <a:lnSpc>
                <a:spcPct val="91666"/>
              </a:lnSpc>
              <a:defRPr sz="21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457200" indent="-317500" algn="l">
              <a:lnSpc>
                <a:spcPct val="91666"/>
              </a:lnSpc>
              <a:spcBef>
                <a:spcPts val="800"/>
              </a:spcBef>
            </a:pPr>
            <a:r>
              <a:rPr lang="en-US" sz="21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text</a:t>
            </a:r>
            <a:endParaRPr/>
          </a:p>
        </p:txBody>
      </p:sp>
      <p:sp>
        <p:nvSpPr>
          <p:cNvPr id="99" name="AutoShape 5"/>
          <p:cNvSpPr>
            <a:spLocks noGrp="1"/>
          </p:cNvSpPr>
          <p:nvPr>
            <p:ph type="body" sz="quarter" idx="24" hasCustomPrompt="1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l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Date</a:t>
            </a:r>
            <a:endParaRPr/>
          </a:p>
        </p:txBody>
      </p:sp>
      <p:sp>
        <p:nvSpPr>
          <p:cNvPr id="100" name="AutoShape 6"/>
          <p:cNvSpPr>
            <a:spLocks noGrp="1"/>
          </p:cNvSpPr>
          <p:nvPr>
            <p:ph type="body" sz="quarter" idx="25" hasCustomPrompt="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ctr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Footer</a:t>
            </a:r>
            <a:endParaRPr/>
          </a:p>
        </p:txBody>
      </p:sp>
      <p:sp>
        <p:nvSpPr>
          <p:cNvPr id="101" name="AutoShape 7"/>
          <p:cNvSpPr>
            <a:spLocks noGrp="1"/>
          </p:cNvSpPr>
          <p:nvPr>
            <p:ph type="body" sz="quarter" idx="26" hasCustomPrompt="1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r">
              <a:lnSpc>
                <a:spcPct val="100000"/>
              </a:lnSpc>
              <a:defRPr sz="900" b="0" i="0" u="none" strike="noStrike" spc="0">
                <a:solidFill>
                  <a:srgbClr val="888888">
                    <a:alpha val="100000"/>
                  </a:srgbClr>
                </a:solidFill>
                <a:latin typeface="Arial"/>
              </a:defRPr>
            </a:lvl1pPr>
          </a:lstStyle>
          <a:p>
            <a:pPr marL="0" indent="0" algn="r">
              <a:lnSpc>
                <a:spcPct val="100000"/>
              </a:lnSpc>
            </a:pPr>
            <a:fld id="{DC39A48B-50F7-4D84-82CD-399437939692}" type="slidenum">
              <a:rPr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900" b="0" i="0" u="none" strike="noStrike">
              <a:solidFill>
                <a:srgbClr val="888888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p="http://schemas.openxmlformats.org/presentationml/2006/main" xmlns:a="http://schemas.openxmlformats.org/drawingml/2006/main" type="title">
  <p:cSld name="TWO_OBJECTS_WITH_TEXT">
    <p:spTree>
      <p:nvGrpSpPr>
        <p:cNvPr id="10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AutoShape 2"/>
          <p:cNvSpPr>
            <a:spLocks noGrp="1"/>
          </p:cNvSpPr>
          <p:nvPr>
            <p:ph type="body" sz="quarter" idx="27" hasCustomPrompt="1"/>
          </p:nvPr>
        </p:nvSpPr>
        <p:spPr>
          <a:xfrm>
            <a:off x="629841" y="273844"/>
            <a:ext cx="7886700" cy="99417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rmAutofit/>
          </a:bodyPr>
          <a:lstStyle>
            <a:lvl1pPr algn="l">
              <a:lnSpc>
                <a:spcPct val="91666"/>
              </a:lnSpc>
              <a:defRPr sz="3300" b="1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l">
              <a:lnSpc>
                <a:spcPct val="91666"/>
              </a:lnSpc>
            </a:pPr>
            <a:r>
              <a:rPr lang="en-US" sz="33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title</a:t>
            </a:r>
            <a:endParaRPr/>
          </a:p>
        </p:txBody>
      </p:sp>
      <p:sp>
        <p:nvSpPr>
          <p:cNvPr id="104" name="AutoShape 3"/>
          <p:cNvSpPr>
            <a:spLocks noGrp="1"/>
          </p:cNvSpPr>
          <p:nvPr>
            <p:ph type="body" sz="quarter" idx="28" hasCustomPrompt="1"/>
          </p:nvPr>
        </p:nvSpPr>
        <p:spPr>
          <a:xfrm>
            <a:off x="629841" y="1260872"/>
            <a:ext cx="3868340" cy="61793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b">
            <a:normAutofit/>
          </a:bodyPr>
          <a:lstStyle>
            <a:lvl1pPr algn="l">
              <a:lnSpc>
                <a:spcPct val="91666"/>
              </a:lnSpc>
              <a:defRPr sz="18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457200" indent="-228600" algn="l">
              <a:lnSpc>
                <a:spcPct val="91666"/>
              </a:lnSpc>
              <a:spcBef>
                <a:spcPts val="800"/>
              </a:spcBef>
            </a:pPr>
            <a:r>
              <a:rPr lang="en-US" sz="1800" b="1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text</a:t>
            </a:r>
            <a:endParaRPr/>
          </a:p>
        </p:txBody>
      </p:sp>
      <p:sp>
        <p:nvSpPr>
          <p:cNvPr id="105" name="AutoShape 4"/>
          <p:cNvSpPr>
            <a:spLocks noGrp="1"/>
          </p:cNvSpPr>
          <p:nvPr>
            <p:ph type="body" sz="quarter" idx="29" hasCustomPrompt="1"/>
          </p:nvPr>
        </p:nvSpPr>
        <p:spPr>
          <a:xfrm>
            <a:off x="629841" y="1878806"/>
            <a:ext cx="3868340" cy="2763441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t">
            <a:normAutofit/>
          </a:bodyPr>
          <a:lstStyle>
            <a:lvl1pPr algn="l">
              <a:lnSpc>
                <a:spcPct val="91666"/>
              </a:lnSpc>
              <a:defRPr sz="21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457200" indent="-317500" algn="l">
              <a:lnSpc>
                <a:spcPct val="91666"/>
              </a:lnSpc>
              <a:spcBef>
                <a:spcPts val="800"/>
              </a:spcBef>
            </a:pPr>
            <a:r>
              <a:rPr lang="en-US" sz="21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text</a:t>
            </a:r>
            <a:endParaRPr/>
          </a:p>
        </p:txBody>
      </p:sp>
      <p:sp>
        <p:nvSpPr>
          <p:cNvPr id="106" name="AutoShape 5"/>
          <p:cNvSpPr>
            <a:spLocks noGrp="1"/>
          </p:cNvSpPr>
          <p:nvPr>
            <p:ph type="body" sz="quarter" idx="30" hasCustomPrompt="1"/>
          </p:nvPr>
        </p:nvSpPr>
        <p:spPr>
          <a:xfrm>
            <a:off x="4629150" y="1260872"/>
            <a:ext cx="3887391" cy="61793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b">
            <a:normAutofit/>
          </a:bodyPr>
          <a:lstStyle>
            <a:lvl1pPr algn="l">
              <a:lnSpc>
                <a:spcPct val="91666"/>
              </a:lnSpc>
              <a:defRPr sz="18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457200" indent="-228600" algn="l">
              <a:lnSpc>
                <a:spcPct val="91666"/>
              </a:lnSpc>
              <a:spcBef>
                <a:spcPts val="800"/>
              </a:spcBef>
            </a:pPr>
            <a:r>
              <a:rPr lang="en-US" sz="1800" b="1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text</a:t>
            </a:r>
            <a:endParaRPr/>
          </a:p>
        </p:txBody>
      </p:sp>
      <p:sp>
        <p:nvSpPr>
          <p:cNvPr id="107" name="AutoShape 6"/>
          <p:cNvSpPr>
            <a:spLocks noGrp="1"/>
          </p:cNvSpPr>
          <p:nvPr>
            <p:ph type="body" sz="quarter" idx="31" hasCustomPrompt="1"/>
          </p:nvPr>
        </p:nvSpPr>
        <p:spPr>
          <a:xfrm>
            <a:off x="4629150" y="1878806"/>
            <a:ext cx="3887391" cy="2763441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t">
            <a:normAutofit/>
          </a:bodyPr>
          <a:lstStyle>
            <a:lvl1pPr algn="l">
              <a:lnSpc>
                <a:spcPct val="91666"/>
              </a:lnSpc>
              <a:defRPr sz="21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457200" indent="-317500" algn="l">
              <a:lnSpc>
                <a:spcPct val="91666"/>
              </a:lnSpc>
              <a:spcBef>
                <a:spcPts val="800"/>
              </a:spcBef>
            </a:pPr>
            <a:r>
              <a:rPr lang="en-US" sz="21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text</a:t>
            </a:r>
            <a:endParaRPr/>
          </a:p>
        </p:txBody>
      </p:sp>
      <p:sp>
        <p:nvSpPr>
          <p:cNvPr id="108" name="AutoShape 7"/>
          <p:cNvSpPr>
            <a:spLocks noGrp="1"/>
          </p:cNvSpPr>
          <p:nvPr>
            <p:ph type="body" sz="quarter" idx="32" hasCustomPrompt="1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l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Date</a:t>
            </a:r>
            <a:endParaRPr/>
          </a:p>
        </p:txBody>
      </p:sp>
      <p:sp>
        <p:nvSpPr>
          <p:cNvPr id="109" name="AutoShape 8"/>
          <p:cNvSpPr>
            <a:spLocks noGrp="1"/>
          </p:cNvSpPr>
          <p:nvPr>
            <p:ph type="body" sz="quarter" idx="33" hasCustomPrompt="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ctr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Footer</a:t>
            </a:r>
            <a:endParaRPr/>
          </a:p>
        </p:txBody>
      </p:sp>
      <p:sp>
        <p:nvSpPr>
          <p:cNvPr id="110" name="AutoShape 9"/>
          <p:cNvSpPr>
            <a:spLocks noGrp="1"/>
          </p:cNvSpPr>
          <p:nvPr>
            <p:ph type="body" sz="quarter" idx="34" hasCustomPrompt="1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r">
              <a:lnSpc>
                <a:spcPct val="100000"/>
              </a:lnSpc>
              <a:defRPr sz="900" b="0" i="0" u="none" strike="noStrike" spc="0">
                <a:solidFill>
                  <a:srgbClr val="888888">
                    <a:alpha val="100000"/>
                  </a:srgbClr>
                </a:solidFill>
                <a:latin typeface="Arial"/>
              </a:defRPr>
            </a:lvl1pPr>
          </a:lstStyle>
          <a:p>
            <a:pPr marL="0" indent="0" algn="r">
              <a:lnSpc>
                <a:spcPct val="100000"/>
              </a:lnSpc>
            </a:pPr>
            <a:fld id="{9FA9FBFF-0D92-41E1-B35A-E21CA4CFE281}" type="slidenum">
              <a:rPr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900" b="0" i="0" u="none" strike="noStrike">
              <a:solidFill>
                <a:srgbClr val="888888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p="http://schemas.openxmlformats.org/presentationml/2006/main" xmlns:a="http://schemas.openxmlformats.org/drawingml/2006/main" type="title">
  <p:cSld name="TITLE_ONLY">
    <p:spTree>
      <p:nvGrpSpPr>
        <p:cNvPr id="11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AutoShape 2"/>
          <p:cNvSpPr>
            <a:spLocks noGrp="1"/>
          </p:cNvSpPr>
          <p:nvPr>
            <p:ph type="body" sz="quarter" idx="35" hasCustomPrompt="1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rmAutofit/>
          </a:bodyPr>
          <a:lstStyle>
            <a:lvl1pPr algn="l">
              <a:lnSpc>
                <a:spcPct val="91666"/>
              </a:lnSpc>
              <a:defRPr sz="3300" b="1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l">
              <a:lnSpc>
                <a:spcPct val="91666"/>
              </a:lnSpc>
            </a:pPr>
            <a:r>
              <a:rPr lang="en-US" sz="33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title</a:t>
            </a:r>
            <a:endParaRPr/>
          </a:p>
        </p:txBody>
      </p:sp>
      <p:sp>
        <p:nvSpPr>
          <p:cNvPr id="113" name="AutoShape 3"/>
          <p:cNvSpPr>
            <a:spLocks noGrp="1"/>
          </p:cNvSpPr>
          <p:nvPr>
            <p:ph type="body" sz="quarter" idx="36" hasCustomPrompt="1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l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Date</a:t>
            </a:r>
            <a:endParaRPr/>
          </a:p>
        </p:txBody>
      </p:sp>
      <p:sp>
        <p:nvSpPr>
          <p:cNvPr id="114" name="AutoShape 4"/>
          <p:cNvSpPr>
            <a:spLocks noGrp="1"/>
          </p:cNvSpPr>
          <p:nvPr>
            <p:ph type="body" sz="quarter" idx="37" hasCustomPrompt="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ctr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Footer</a:t>
            </a:r>
            <a:endParaRPr/>
          </a:p>
        </p:txBody>
      </p:sp>
      <p:sp>
        <p:nvSpPr>
          <p:cNvPr id="115" name="AutoShape 5"/>
          <p:cNvSpPr>
            <a:spLocks noGrp="1"/>
          </p:cNvSpPr>
          <p:nvPr>
            <p:ph type="body" sz="quarter" idx="38" hasCustomPrompt="1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r">
              <a:lnSpc>
                <a:spcPct val="100000"/>
              </a:lnSpc>
              <a:defRPr sz="900" b="0" i="0" u="none" strike="noStrike" spc="0">
                <a:solidFill>
                  <a:srgbClr val="888888">
                    <a:alpha val="100000"/>
                  </a:srgbClr>
                </a:solidFill>
                <a:latin typeface="Arial"/>
              </a:defRPr>
            </a:lvl1pPr>
          </a:lstStyle>
          <a:p>
            <a:pPr marL="0" indent="0" algn="r">
              <a:lnSpc>
                <a:spcPct val="100000"/>
              </a:lnSpc>
            </a:pPr>
            <a:fld id="{85338049-1806-452C-A362-26701BAB893B}" type="slidenum">
              <a:rPr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900" b="0" i="0" u="none" strike="noStrike">
              <a:solidFill>
                <a:srgbClr val="888888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p="http://schemas.openxmlformats.org/presentationml/2006/main" xmlns:a="http://schemas.openxmlformats.org/drawingml/2006/main" type="title">
  <p:cSld name="BLANK">
    <p:spTree>
      <p:nvGrpSpPr>
        <p:cNvPr id="11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AutoShape 2"/>
          <p:cNvSpPr>
            <a:spLocks noGrp="1"/>
          </p:cNvSpPr>
          <p:nvPr>
            <p:ph type="body" sz="quarter" idx="39" hasCustomPrompt="1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l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Date</a:t>
            </a:r>
            <a:endParaRPr/>
          </a:p>
        </p:txBody>
      </p:sp>
      <p:sp>
        <p:nvSpPr>
          <p:cNvPr id="118" name="AutoShape 3"/>
          <p:cNvSpPr>
            <a:spLocks noGrp="1"/>
          </p:cNvSpPr>
          <p:nvPr>
            <p:ph type="body" sz="quarter" idx="40" hasCustomPrompt="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ctr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Footer</a:t>
            </a:r>
            <a:endParaRPr/>
          </a:p>
        </p:txBody>
      </p:sp>
      <p:sp>
        <p:nvSpPr>
          <p:cNvPr id="119" name="AutoShape 4"/>
          <p:cNvSpPr>
            <a:spLocks noGrp="1"/>
          </p:cNvSpPr>
          <p:nvPr>
            <p:ph type="body" sz="quarter" idx="41" hasCustomPrompt="1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r">
              <a:lnSpc>
                <a:spcPct val="100000"/>
              </a:lnSpc>
              <a:defRPr sz="900" b="0" i="0" u="none" strike="noStrike" spc="0">
                <a:solidFill>
                  <a:srgbClr val="888888">
                    <a:alpha val="100000"/>
                  </a:srgbClr>
                </a:solidFill>
                <a:latin typeface="Arial"/>
              </a:defRPr>
            </a:lvl1pPr>
          </a:lstStyle>
          <a:p>
            <a:pPr marL="0" indent="0" algn="r">
              <a:lnSpc>
                <a:spcPct val="100000"/>
              </a:lnSpc>
            </a:pPr>
            <a:fld id="{88D52007-29D0-447E-9725-1CE814C31172}" type="slidenum">
              <a:rPr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900" b="0" i="0" u="none" strike="noStrike">
              <a:solidFill>
                <a:srgbClr val="888888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p="http://schemas.openxmlformats.org/presentationml/2006/main" xmlns:a="http://schemas.openxmlformats.org/drawingml/2006/main" type="title">
  <p:cSld name="OBJECT_WITH_CAPTION_TEXT">
    <p:spTree>
      <p:nvGrpSpPr>
        <p:cNvPr id="12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AutoShape 2"/>
          <p:cNvSpPr>
            <a:spLocks noGrp="1"/>
          </p:cNvSpPr>
          <p:nvPr>
            <p:ph type="body" sz="quarter" idx="42" hasCustomPrompt="1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b">
            <a:normAutofit/>
          </a:bodyPr>
          <a:lstStyle>
            <a:lvl1pPr algn="l">
              <a:lnSpc>
                <a:spcPct val="91666"/>
              </a:lnSpc>
              <a:defRPr sz="2400" b="1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l">
              <a:lnSpc>
                <a:spcPct val="91666"/>
              </a:lnSpc>
            </a:pPr>
            <a:r>
              <a:rPr lang="en-US" sz="24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title</a:t>
            </a:r>
            <a:endParaRPr/>
          </a:p>
        </p:txBody>
      </p:sp>
      <p:sp>
        <p:nvSpPr>
          <p:cNvPr id="122" name="AutoShape 3"/>
          <p:cNvSpPr>
            <a:spLocks noGrp="1"/>
          </p:cNvSpPr>
          <p:nvPr>
            <p:ph type="body" sz="quarter" idx="43" hasCustomPrompt="1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t">
            <a:normAutofit/>
          </a:bodyPr>
          <a:lstStyle>
            <a:lvl1pPr algn="l">
              <a:lnSpc>
                <a:spcPct val="91666"/>
              </a:lnSpc>
              <a:defRPr sz="24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457200" indent="-381000" algn="l">
              <a:lnSpc>
                <a:spcPct val="91666"/>
              </a:lnSpc>
              <a:spcBef>
                <a:spcPts val="800"/>
              </a:spcBef>
            </a:pPr>
            <a:r>
              <a:rPr lang="en-US" sz="24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text</a:t>
            </a:r>
            <a:endParaRPr/>
          </a:p>
        </p:txBody>
      </p:sp>
      <p:sp>
        <p:nvSpPr>
          <p:cNvPr id="123" name="AutoShape 4"/>
          <p:cNvSpPr>
            <a:spLocks noGrp="1"/>
          </p:cNvSpPr>
          <p:nvPr>
            <p:ph type="body" sz="quarter" idx="44" hasCustomPrompt="1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t">
            <a:normAutofit/>
          </a:bodyPr>
          <a:lstStyle>
            <a:lvl1pPr algn="l">
              <a:lnSpc>
                <a:spcPct val="91666"/>
              </a:lnSpc>
              <a:defRPr sz="12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457200" indent="-228600" algn="l">
              <a:lnSpc>
                <a:spcPct val="91666"/>
              </a:lnSpc>
              <a:spcBef>
                <a:spcPts val="800"/>
              </a:spcBef>
            </a:pPr>
            <a:r>
              <a:rPr lang="en-US" sz="12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text</a:t>
            </a:r>
            <a:endParaRPr/>
          </a:p>
        </p:txBody>
      </p:sp>
      <p:sp>
        <p:nvSpPr>
          <p:cNvPr id="124" name="AutoShape 5"/>
          <p:cNvSpPr>
            <a:spLocks noGrp="1"/>
          </p:cNvSpPr>
          <p:nvPr>
            <p:ph type="body" sz="quarter" idx="45" hasCustomPrompt="1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l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Date</a:t>
            </a:r>
            <a:endParaRPr/>
          </a:p>
        </p:txBody>
      </p:sp>
      <p:sp>
        <p:nvSpPr>
          <p:cNvPr id="125" name="AutoShape 6"/>
          <p:cNvSpPr>
            <a:spLocks noGrp="1"/>
          </p:cNvSpPr>
          <p:nvPr>
            <p:ph type="body" sz="quarter" idx="46" hasCustomPrompt="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ctr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Footer</a:t>
            </a:r>
            <a:endParaRPr/>
          </a:p>
        </p:txBody>
      </p:sp>
      <p:sp>
        <p:nvSpPr>
          <p:cNvPr id="126" name="AutoShape 7"/>
          <p:cNvSpPr>
            <a:spLocks noGrp="1"/>
          </p:cNvSpPr>
          <p:nvPr>
            <p:ph type="body" sz="quarter" idx="47" hasCustomPrompt="1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r">
              <a:lnSpc>
                <a:spcPct val="100000"/>
              </a:lnSpc>
              <a:defRPr sz="900" b="0" i="0" u="none" strike="noStrike" spc="0">
                <a:solidFill>
                  <a:srgbClr val="888888">
                    <a:alpha val="100000"/>
                  </a:srgbClr>
                </a:solidFill>
                <a:latin typeface="Arial"/>
              </a:defRPr>
            </a:lvl1pPr>
          </a:lstStyle>
          <a:p>
            <a:pPr marL="0" indent="0" algn="r">
              <a:lnSpc>
                <a:spcPct val="100000"/>
              </a:lnSpc>
            </a:pPr>
            <a:fld id="{502DCA6F-A194-4080-9006-BB4DBB3F9D28}" type="slidenum">
              <a:rPr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900" b="0" i="0" u="none" strike="noStrike">
              <a:solidFill>
                <a:srgbClr val="888888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p="http://schemas.openxmlformats.org/presentationml/2006/main" xmlns:a="http://schemas.openxmlformats.org/drawingml/2006/main" type="title">
  <p:cSld name="PICTURE_WITH_CAPTION_TEXT">
    <p:spTree>
      <p:nvGrpSpPr>
        <p:cNvPr id="12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AutoShape 2"/>
          <p:cNvSpPr>
            <a:spLocks noGrp="1"/>
          </p:cNvSpPr>
          <p:nvPr>
            <p:ph type="body" sz="quarter" idx="48" hasCustomPrompt="1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b">
            <a:normAutofit/>
          </a:bodyPr>
          <a:lstStyle>
            <a:lvl1pPr algn="l">
              <a:lnSpc>
                <a:spcPct val="91666"/>
              </a:lnSpc>
              <a:defRPr sz="2400" b="1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l">
              <a:lnSpc>
                <a:spcPct val="91666"/>
              </a:lnSpc>
            </a:pPr>
            <a:r>
              <a:rPr lang="en-US" sz="24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title</a:t>
            </a:r>
            <a:endParaRPr/>
          </a:p>
        </p:txBody>
      </p:sp>
      <p:sp>
        <p:nvSpPr>
          <p:cNvPr id="129" name="AutoShape 3"/>
          <p:cNvSpPr>
            <a:spLocks noGrp="1"/>
          </p:cNvSpPr>
          <p:nvPr>
            <p:ph type="pic" sz="quarter" idx="49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lIns="63500" tIns="63500" rIns="63500" bIns="63500" anchor="ctr"/>
          <a:lstStyle>
            <a:lvl1pPr algn="ctr">
              <a:defRPr sz="16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/>
            <a:endParaRPr/>
          </a:p>
        </p:txBody>
      </p:sp>
      <p:sp>
        <p:nvSpPr>
          <p:cNvPr id="130" name="AutoShape 4"/>
          <p:cNvSpPr>
            <a:spLocks noGrp="1"/>
          </p:cNvSpPr>
          <p:nvPr>
            <p:ph type="body" sz="quarter" idx="50" hasCustomPrompt="1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t">
            <a:normAutofit/>
          </a:bodyPr>
          <a:lstStyle>
            <a:lvl1pPr algn="l">
              <a:lnSpc>
                <a:spcPct val="91666"/>
              </a:lnSpc>
              <a:defRPr sz="12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457200" indent="-228600" algn="l">
              <a:lnSpc>
                <a:spcPct val="91666"/>
              </a:lnSpc>
              <a:spcBef>
                <a:spcPts val="800"/>
              </a:spcBef>
            </a:pPr>
            <a:r>
              <a:rPr lang="en-US" sz="12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text</a:t>
            </a:r>
            <a:endParaRPr/>
          </a:p>
        </p:txBody>
      </p:sp>
      <p:sp>
        <p:nvSpPr>
          <p:cNvPr id="131" name="AutoShape 5"/>
          <p:cNvSpPr>
            <a:spLocks noGrp="1"/>
          </p:cNvSpPr>
          <p:nvPr>
            <p:ph type="body" sz="quarter" idx="51" hasCustomPrompt="1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l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Date</a:t>
            </a:r>
            <a:endParaRPr/>
          </a:p>
        </p:txBody>
      </p:sp>
      <p:sp>
        <p:nvSpPr>
          <p:cNvPr id="132" name="AutoShape 6"/>
          <p:cNvSpPr>
            <a:spLocks noGrp="1"/>
          </p:cNvSpPr>
          <p:nvPr>
            <p:ph type="body" sz="quarter" idx="52" hasCustomPrompt="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ctr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Footer</a:t>
            </a:r>
            <a:endParaRPr/>
          </a:p>
        </p:txBody>
      </p:sp>
      <p:sp>
        <p:nvSpPr>
          <p:cNvPr id="133" name="AutoShape 7"/>
          <p:cNvSpPr>
            <a:spLocks noGrp="1"/>
          </p:cNvSpPr>
          <p:nvPr>
            <p:ph type="body" sz="quarter" idx="53" hasCustomPrompt="1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r">
              <a:lnSpc>
                <a:spcPct val="100000"/>
              </a:lnSpc>
              <a:defRPr sz="900" b="0" i="0" u="none" strike="noStrike" spc="0">
                <a:solidFill>
                  <a:srgbClr val="888888">
                    <a:alpha val="100000"/>
                  </a:srgbClr>
                </a:solidFill>
                <a:latin typeface="Arial"/>
              </a:defRPr>
            </a:lvl1pPr>
          </a:lstStyle>
          <a:p>
            <a:pPr marL="0" indent="0" algn="r">
              <a:lnSpc>
                <a:spcPct val="100000"/>
              </a:lnSpc>
            </a:pPr>
            <a:fld id="{582A30D4-F5E0-497D-B220-A50D264F9C03}" type="slidenum">
              <a:rPr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900" b="0" i="0" u="none" strike="noStrike">
              <a:solidFill>
                <a:srgbClr val="888888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p="http://schemas.openxmlformats.org/presentationml/2006/main" xmlns:a="http://schemas.openxmlformats.org/drawingml/2006/main" type="title">
  <p:cSld name="VERTICAL_TEXT">
    <p:spTree>
      <p:nvGrpSpPr>
        <p:cNvPr id="13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AutoShape 2"/>
          <p:cNvSpPr>
            <a:spLocks noGrp="1"/>
          </p:cNvSpPr>
          <p:nvPr>
            <p:ph type="body" sz="quarter" idx="54" hasCustomPrompt="1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rmAutofit/>
          </a:bodyPr>
          <a:lstStyle>
            <a:lvl1pPr algn="l">
              <a:lnSpc>
                <a:spcPct val="91666"/>
              </a:lnSpc>
              <a:defRPr sz="3300" b="1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l">
              <a:lnSpc>
                <a:spcPct val="91666"/>
              </a:lnSpc>
            </a:pPr>
            <a:r>
              <a:rPr lang="en-US" sz="33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title</a:t>
            </a:r>
            <a:endParaRPr/>
          </a:p>
        </p:txBody>
      </p:sp>
      <p:sp>
        <p:nvSpPr>
          <p:cNvPr id="136" name="AutoShape 3"/>
          <p:cNvSpPr>
            <a:spLocks noGrp="1"/>
          </p:cNvSpPr>
          <p:nvPr>
            <p:ph type="body" sz="quarter" idx="55" hasCustomPrompt="1"/>
          </p:nvPr>
        </p:nvSpPr>
        <p:spPr>
          <a:xfrm rot="5400000">
            <a:off x="2940248" y="-942379"/>
            <a:ext cx="3263504" cy="78867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t">
            <a:normAutofit/>
          </a:bodyPr>
          <a:lstStyle>
            <a:lvl1pPr algn="l">
              <a:lnSpc>
                <a:spcPct val="91666"/>
              </a:lnSpc>
              <a:defRPr sz="21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457200" indent="-317500" algn="l">
              <a:lnSpc>
                <a:spcPct val="91666"/>
              </a:lnSpc>
              <a:spcBef>
                <a:spcPts val="800"/>
              </a:spcBef>
            </a:pPr>
            <a:r>
              <a:rPr lang="en-US" sz="21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text</a:t>
            </a:r>
            <a:endParaRPr/>
          </a:p>
        </p:txBody>
      </p:sp>
      <p:sp>
        <p:nvSpPr>
          <p:cNvPr id="137" name="AutoShape 4"/>
          <p:cNvSpPr>
            <a:spLocks noGrp="1"/>
          </p:cNvSpPr>
          <p:nvPr>
            <p:ph type="body" sz="quarter" idx="56" hasCustomPrompt="1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l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Date</a:t>
            </a:r>
            <a:endParaRPr/>
          </a:p>
        </p:txBody>
      </p:sp>
      <p:sp>
        <p:nvSpPr>
          <p:cNvPr id="138" name="AutoShape 5"/>
          <p:cNvSpPr>
            <a:spLocks noGrp="1"/>
          </p:cNvSpPr>
          <p:nvPr>
            <p:ph type="body" sz="quarter" idx="57" hasCustomPrompt="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ctr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Footer</a:t>
            </a:r>
            <a:endParaRPr/>
          </a:p>
        </p:txBody>
      </p:sp>
      <p:sp>
        <p:nvSpPr>
          <p:cNvPr id="139" name="AutoShape 6"/>
          <p:cNvSpPr>
            <a:spLocks noGrp="1"/>
          </p:cNvSpPr>
          <p:nvPr>
            <p:ph type="body" sz="quarter" idx="58" hasCustomPrompt="1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r">
              <a:lnSpc>
                <a:spcPct val="100000"/>
              </a:lnSpc>
              <a:defRPr sz="900" b="0" i="0" u="none" strike="noStrike" spc="0">
                <a:solidFill>
                  <a:srgbClr val="888888">
                    <a:alpha val="100000"/>
                  </a:srgbClr>
                </a:solidFill>
                <a:latin typeface="Arial"/>
              </a:defRPr>
            </a:lvl1pPr>
          </a:lstStyle>
          <a:p>
            <a:pPr marL="0" indent="0" algn="r">
              <a:lnSpc>
                <a:spcPct val="100000"/>
              </a:lnSpc>
            </a:pPr>
            <a:fld id="{388FBF1B-F6B4-419F-BC46-C3FC20252815}" type="slidenum">
              <a:rPr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900" b="0" i="0" u="none" strike="noStrike">
              <a:solidFill>
                <a:srgbClr val="888888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p="http://schemas.openxmlformats.org/presentationml/2006/main" xmlns:a="http://schemas.openxmlformats.org/drawingml/2006/main" type="title">
  <p:cSld name="VERTICAL_TITLE_AND_VERTICAL_TEXT">
    <p:spTree>
      <p:nvGrpSpPr>
        <p:cNvPr id="8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AutoShape 2"/>
          <p:cNvSpPr>
            <a:spLocks noGrp="1"/>
          </p:cNvSpPr>
          <p:nvPr>
            <p:ph type="body" sz="quarter" idx="59" hasCustomPrompt="1"/>
          </p:nvPr>
        </p:nvSpPr>
        <p:spPr>
          <a:xfrm rot="5400000">
            <a:off x="5350073" y="1467445"/>
            <a:ext cx="4358879" cy="197167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rmAutofit/>
          </a:bodyPr>
          <a:lstStyle>
            <a:lvl1pPr algn="l">
              <a:lnSpc>
                <a:spcPct val="91666"/>
              </a:lnSpc>
              <a:defRPr sz="3300" b="1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l">
              <a:lnSpc>
                <a:spcPct val="91666"/>
              </a:lnSpc>
            </a:pPr>
            <a:r>
              <a:rPr lang="en-US" sz="33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title</a:t>
            </a:r>
            <a:endParaRPr/>
          </a:p>
        </p:txBody>
      </p:sp>
      <p:sp>
        <p:nvSpPr>
          <p:cNvPr id="85" name="AutoShape 3"/>
          <p:cNvSpPr>
            <a:spLocks noGrp="1"/>
          </p:cNvSpPr>
          <p:nvPr>
            <p:ph type="body" sz="quarter" idx="60" hasCustomPrompt="1"/>
          </p:nvPr>
        </p:nvSpPr>
        <p:spPr>
          <a:xfrm rot="5400000">
            <a:off x="1349573" y="-447080"/>
            <a:ext cx="4358879" cy="58007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t">
            <a:normAutofit/>
          </a:bodyPr>
          <a:lstStyle>
            <a:lvl1pPr algn="l">
              <a:lnSpc>
                <a:spcPct val="91666"/>
              </a:lnSpc>
              <a:defRPr sz="21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457200" indent="-317500" algn="l">
              <a:lnSpc>
                <a:spcPct val="91666"/>
              </a:lnSpc>
              <a:spcBef>
                <a:spcPts val="800"/>
              </a:spcBef>
            </a:pPr>
            <a:r>
              <a:rPr lang="en-US" sz="21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text</a:t>
            </a:r>
            <a:endParaRPr/>
          </a:p>
        </p:txBody>
      </p:sp>
      <p:sp>
        <p:nvSpPr>
          <p:cNvPr id="86" name="AutoShape 4"/>
          <p:cNvSpPr>
            <a:spLocks noGrp="1"/>
          </p:cNvSpPr>
          <p:nvPr>
            <p:ph type="body" sz="quarter" idx="61" hasCustomPrompt="1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l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Date</a:t>
            </a:r>
            <a:endParaRPr/>
          </a:p>
        </p:txBody>
      </p:sp>
      <p:sp>
        <p:nvSpPr>
          <p:cNvPr id="87" name="AutoShape 5"/>
          <p:cNvSpPr>
            <a:spLocks noGrp="1"/>
          </p:cNvSpPr>
          <p:nvPr>
            <p:ph type="body" sz="quarter" idx="62" hasCustomPrompt="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ctr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Footer</a:t>
            </a:r>
            <a:endParaRPr/>
          </a:p>
        </p:txBody>
      </p:sp>
      <p:sp>
        <p:nvSpPr>
          <p:cNvPr id="88" name="AutoShape 6"/>
          <p:cNvSpPr>
            <a:spLocks noGrp="1"/>
          </p:cNvSpPr>
          <p:nvPr>
            <p:ph type="body" sz="quarter" idx="63" hasCustomPrompt="1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r">
              <a:lnSpc>
                <a:spcPct val="100000"/>
              </a:lnSpc>
              <a:defRPr sz="900" b="0" i="0" u="none" strike="noStrike" spc="0">
                <a:solidFill>
                  <a:srgbClr val="888888">
                    <a:alpha val="100000"/>
                  </a:srgbClr>
                </a:solidFill>
                <a:latin typeface="Arial"/>
              </a:defRPr>
            </a:lvl1pPr>
          </a:lstStyle>
          <a:p>
            <a:pPr marL="0" indent="0" algn="r">
              <a:lnSpc>
                <a:spcPct val="100000"/>
              </a:lnSpc>
            </a:pPr>
            <a:fld id="{E2328B29-69DA-442B-B55E-BF232F432050}" type="slidenum">
              <a:rPr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900" b="0" i="0" u="none" strike="noStrike">
              <a:solidFill>
                <a:srgbClr val="888888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9" Type="http://schemas.openxmlformats.org/officeDocument/2006/relationships/slideLayout" Target="../slideLayouts/slideLayout10.xml" /><Relationship Id="rId8" Type="http://schemas.openxmlformats.org/officeDocument/2006/relationships/slideLayout" Target="../slideLayouts/slideLayout9.xml" /><Relationship Id="rId4" Type="http://schemas.openxmlformats.org/officeDocument/2006/relationships/slideLayout" Target="../slideLayouts/slideLayout5.xml" /><Relationship Id="rId5" Type="http://schemas.openxmlformats.org/officeDocument/2006/relationships/slideLayout" Target="../slideLayouts/slideLayout6.xml" /><Relationship Id="rId3" Type="http://schemas.openxmlformats.org/officeDocument/2006/relationships/slideLayout" Target="../slideLayouts/slideLayout4.xml" /><Relationship Id="rId2" Type="http://schemas.openxmlformats.org/officeDocument/2006/relationships/slideLayout" Target="../slideLayouts/slideLayout3.xml" /><Relationship Id="rId6" Type="http://schemas.openxmlformats.org/officeDocument/2006/relationships/slideLayout" Target="../slideLayouts/slideLayout7.xml" /><Relationship Id="rId10" Type="http://schemas.openxmlformats.org/officeDocument/2006/relationships/slideLayout" Target="../slideLayouts/slideLayout11.xml" /><Relationship Id="rId1" Type="http://schemas.openxmlformats.org/officeDocument/2006/relationships/slideLayout" Target="../slideLayouts/slideLayout2.xml" /><Relationship Id="rId0" Type="http://schemas.openxmlformats.org/officeDocument/2006/relationships/slideLayout" Target="../slideLayouts/slideLayout1.xml" /><Relationship Id="rId11" Type="http://schemas.openxmlformats.org/officeDocument/2006/relationships/theme" Target="../theme/theme1.xml" /><Relationship Id="rId7" Type="http://schemas.openxmlformats.org/officeDocument/2006/relationships/slideLayout" Target="../slideLayouts/slideLayout8.xml" /></Relationships>
</file>

<file path=ppt/slideMasters/_rels/slideMaster2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 /><Relationship Id="rId0" Type="http://schemas.openxmlformats.org/officeDocument/2006/relationships/slideLayout" Target="../slideLayouts/slideLayout12.xml" /></Relationships>
</file>

<file path=ppt/slideMasters/_rels/slideMaster3.xml.rels><?xml version="1.0" encoding="UTF-8" standalone="yes"?><Relationships xmlns="http://schemas.openxmlformats.org/package/2006/relationships"><Relationship Id="rId9" Type="http://schemas.openxmlformats.org/officeDocument/2006/relationships/slideLayout" Target="../slideLayouts/slideLayout22.xml" /><Relationship Id="rId6" Type="http://schemas.openxmlformats.org/officeDocument/2006/relationships/slideLayout" Target="../slideLayouts/slideLayout19.xml" /><Relationship Id="rId7" Type="http://schemas.openxmlformats.org/officeDocument/2006/relationships/slideLayout" Target="../slideLayouts/slideLayout20.xml" /><Relationship Id="rId8" Type="http://schemas.openxmlformats.org/officeDocument/2006/relationships/slideLayout" Target="../slideLayouts/slideLayout21.xml" /><Relationship Id="rId5" Type="http://schemas.openxmlformats.org/officeDocument/2006/relationships/slideLayout" Target="../slideLayouts/slideLayout18.xml" /><Relationship Id="rId3" Type="http://schemas.openxmlformats.org/officeDocument/2006/relationships/slideLayout" Target="../slideLayouts/slideLayout16.xml" /><Relationship Id="rId4" Type="http://schemas.openxmlformats.org/officeDocument/2006/relationships/slideLayout" Target="../slideLayouts/slideLayout17.xml" /><Relationship Id="rId11" Type="http://schemas.openxmlformats.org/officeDocument/2006/relationships/theme" Target="../theme/theme4.xml" /><Relationship Id="rId1" Type="http://schemas.openxmlformats.org/officeDocument/2006/relationships/slideLayout" Target="../slideLayouts/slideLayout14.xml" /><Relationship Id="rId10" Type="http://schemas.openxmlformats.org/officeDocument/2006/relationships/slideLayout" Target="../slideLayouts/slideLayout23.xml" /><Relationship Id="rId2" Type="http://schemas.openxmlformats.org/officeDocument/2006/relationships/slideLayout" Target="../slideLayouts/slideLayout15.xml" /><Relationship Id="rId0" Type="http://schemas.openxmlformats.org/officeDocument/2006/relationships/slideLayout" Target="../slideLayouts/slideLayout13.xml" /></Relationships>
</file>

<file path=ppt/slideMasters/slideMaster1.xml><?xml version="1.0" encoding="utf-8"?>
<p:sldMaster xmlns:r="http://schemas.openxmlformats.org/officeDocument/2006/relationships" xmlns:p="http://schemas.openxmlformats.org/presentationml/2006/main" xmlns:a="http://schemas.openxmlformats.org/drawing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1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/>
              <a:buNone/>
              <a:defRPr sz="3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>
            <a:pPr/>
            <a:endParaRPr/>
          </a:p>
        </p:txBody>
      </p:sp>
      <p:sp>
        <p:nvSpPr>
          <p:cNvPr id="3" name="Shape 2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3619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sz="2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/>
            <a:endParaRPr/>
          </a:p>
        </p:txBody>
      </p:sp>
      <p:sp>
        <p:nvSpPr>
          <p:cNvPr id="4" name="Shape 3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/>
            <a:endParaRPr/>
          </a:p>
        </p:txBody>
      </p:sp>
      <p:sp>
        <p:nvSpPr>
          <p:cNvPr id="5" name="Shape 4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/>
            <a:endParaRPr/>
          </a:p>
        </p:txBody>
      </p:sp>
      <p:sp>
        <p:nvSpPr>
          <p:cNvPr id="6" name="Shape 5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0"/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r="http://schemas.openxmlformats.org/officeDocument/2006/relationships" xmlns:p="http://schemas.openxmlformats.org/presentationml/2006/main" xmlns:a="http://schemas.openxmlformats.org/drawingml/2006/main">
  <p:cSld name="默认主题">
    <p:bg>
      <p:bgPr>
        <a:solidFill>
          <a:srgbClr val="FFFFFF">
            <a:alpha val="100000"/>
          </a:srgbClr>
        </a:solidFill>
        <a:effectLst/>
      </p:bgPr>
    </p:bg>
    <p:spTree>
      <p:nvGrpSpPr>
        <p:cNvPr id="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61" r:id="rId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r="http://schemas.openxmlformats.org/officeDocument/2006/relationships" xmlns:p="http://schemas.openxmlformats.org/presentationml/2006/main" xmlns:a="http://schemas.openxmlformats.org/drawingml/2006/main">
  <p:cSld name="Office 主题​​">
    <p:bg>
      <p:bgPr>
        <a:solidFill>
          <a:srgbClr val="FFFFFF">
            <a:alpha val="100000"/>
          </a:srgbClr>
        </a:solidFill>
        <a:effectLst/>
      </p:bgPr>
    </p:bg>
    <p:spTree>
      <p:nvGrpSpPr>
        <p:cNvPr id="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AutoShape 1"/>
          <p:cNvSpPr>
            <a:spLocks noGrp="1"/>
          </p:cNvSpPr>
          <p:nvPr>
            <p:ph type="body" sz="quarter" idx="1" hasCustomPrompt="1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rmAutofit/>
          </a:bodyPr>
          <a:lstStyle>
            <a:lvl1pPr algn="l">
              <a:lnSpc>
                <a:spcPct val="100000"/>
              </a:lnSpc>
              <a:defRPr sz="3300" b="1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33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title</a:t>
            </a:r>
            <a:endParaRPr/>
          </a:p>
        </p:txBody>
      </p:sp>
      <p:sp>
        <p:nvSpPr>
          <p:cNvPr id="10" name="AutoShape 2"/>
          <p:cNvSpPr>
            <a:spLocks noGrp="1"/>
          </p:cNvSpPr>
          <p:nvPr>
            <p:ph type="body" sz="quarter" idx="2" hasCustomPrompt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t">
            <a:normAutofit/>
          </a:bodyPr>
          <a:lstStyle>
            <a:lvl1pPr algn="l">
              <a:lnSpc>
                <a:spcPct val="100000"/>
              </a:lnSpc>
              <a:defRPr sz="21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21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text</a:t>
            </a:r>
            <a:endParaRPr/>
          </a:p>
        </p:txBody>
      </p:sp>
      <p:sp>
        <p:nvSpPr>
          <p:cNvPr id="11" name="AutoShape 3"/>
          <p:cNvSpPr>
            <a:spLocks noGrp="1"/>
          </p:cNvSpPr>
          <p:nvPr>
            <p:ph type="body" sz="quarter" idx="3" hasCustomPrompt="1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l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Date</a:t>
            </a:r>
            <a:endParaRPr/>
          </a:p>
        </p:txBody>
      </p:sp>
      <p:sp>
        <p:nvSpPr>
          <p:cNvPr id="12" name="AutoShape 4"/>
          <p:cNvSpPr>
            <a:spLocks noGrp="1"/>
          </p:cNvSpPr>
          <p:nvPr>
            <p:ph type="body" sz="quarter" idx="4" hasCustomPrompt="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ctr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Footer</a:t>
            </a:r>
            <a:endParaRPr/>
          </a:p>
        </p:txBody>
      </p:sp>
      <p:sp>
        <p:nvSpPr>
          <p:cNvPr id="13" name="AutoShape 6"/>
          <p:cNvSpPr>
            <a:spLocks noGrp="1"/>
          </p:cNvSpPr>
          <p:nvPr>
            <p:ph type="body" sz="quarter" idx="5" hasCustomPrompt="1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r">
              <a:lnSpc>
                <a:spcPct val="100000"/>
              </a:lnSpc>
              <a:defRPr sz="900" b="0" i="0" u="none" strike="noStrike" spc="0">
                <a:solidFill>
                  <a:srgbClr val="888888">
                    <a:alpha val="100000"/>
                  </a:srgbClr>
                </a:solidFill>
                <a:latin typeface="Arial"/>
              </a:defRPr>
            </a:lvl1pPr>
          </a:lstStyle>
          <a:p>
            <a:pPr marL="0" indent="0" algn="r">
              <a:lnSpc>
                <a:spcPct val="100000"/>
              </a:lnSpc>
            </a:pPr>
            <a:fld id="{8B99EBBD-B61C-45CA-BD84-CCB153DD23F0}" type="slidenum">
              <a:rPr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900" b="0" i="0" u="none" strike="noStrike">
              <a:solidFill>
                <a:srgbClr val="888888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3" r:id="rId0"/>
    <p:sldLayoutId id="2147483664" r:id="rId1"/>
    <p:sldLayoutId id="2147483665" r:id="rId2"/>
    <p:sldLayoutId id="2147483666" r:id="rId3"/>
    <p:sldLayoutId id="2147483667" r:id="rId4"/>
    <p:sldLayoutId id="2147483668" r:id="rId5"/>
    <p:sldLayoutId id="2147483669" r:id="rId6"/>
    <p:sldLayoutId id="2147483670" r:id="rId7"/>
    <p:sldLayoutId id="2147483671" r:id="rId8"/>
    <p:sldLayoutId id="2147483672" r:id="rId9"/>
    <p:sldLayoutId id="2147483673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12.xml" /><Relationship Id="rId0" Type="http://schemas.openxmlformats.org/officeDocument/2006/relationships/slideLayout" Target="../slideLayouts/slideLayout12.xml" 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13.xml" /><Relationship Id="rId0" Type="http://schemas.openxmlformats.org/officeDocument/2006/relationships/slideLayout" Target="../slideLayouts/slideLayout12.xml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2.xml" 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14.xml" /><Relationship Id="rId0" Type="http://schemas.openxmlformats.org/officeDocument/2006/relationships/slideLayout" Target="../slideLayouts/slideLayout12.xml" 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15.xml" /><Relationship Id="rId0" Type="http://schemas.openxmlformats.org/officeDocument/2006/relationships/slideLayout" Target="../slideLayouts/slideLayout12.xml" 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16.xml" /><Relationship Id="rId0" Type="http://schemas.openxmlformats.org/officeDocument/2006/relationships/slideLayout" Target="../slideLayouts/slideLayout12.xml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2.xml" 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1.xml" /><Relationship Id="rId0" Type="http://schemas.openxmlformats.org/officeDocument/2006/relationships/slideLayout" Target="../slideLayouts/slideLayout12.xml" 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2.xml" /><Relationship Id="rId0" Type="http://schemas.openxmlformats.org/officeDocument/2006/relationships/slideLayout" Target="../slideLayouts/slideLayout12.xml" 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3.xml" /><Relationship Id="rId0" Type="http://schemas.openxmlformats.org/officeDocument/2006/relationships/slideLayout" Target="../slideLayouts/slideLayout12.xml" 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4.xml" /><Relationship Id="rId0" Type="http://schemas.openxmlformats.org/officeDocument/2006/relationships/slideLayout" Target="../slideLayouts/slideLayout12.xml" 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5.xml" /><Relationship Id="rId0" Type="http://schemas.openxmlformats.org/officeDocument/2006/relationships/slideLayout" Target="../slideLayouts/slideLayout12.xml" 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6.xml" /><Relationship Id="rId0" Type="http://schemas.openxmlformats.org/officeDocument/2006/relationships/slideLayout" Target="../slideLayouts/slideLayout12.xml" 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7.xml" /><Relationship Id="rId0" Type="http://schemas.openxmlformats.org/officeDocument/2006/relationships/slideLayout" Target="../slideLayouts/slideLayout12.xml" 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8.xml" /><Relationship Id="rId0" Type="http://schemas.openxmlformats.org/officeDocument/2006/relationships/slideLayout" Target="../slideLayouts/slideLayout12.xml" 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9.xml" /><Relationship Id="rId0" Type="http://schemas.openxmlformats.org/officeDocument/2006/relationships/slideLayout" Target="../slideLayouts/slideLayout12.xml" 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10.xml" /><Relationship Id="rId0" Type="http://schemas.openxmlformats.org/officeDocument/2006/relationships/slideLayout" Target="../slideLayouts/slideLayout12.xml" 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11.xml" /><Relationship Id="rId0" Type="http://schemas.openxmlformats.org/officeDocument/2006/relationships/slideLayout" Target="../slideLayouts/slideLayout12.xml" /></Relationships>
</file>

<file path=ppt/slides/slide1.xml><?xml version="1.0" encoding="utf-8"?>
<p:sld xmlns:p="http://schemas.openxmlformats.org/presentationml/2006/main" xmlns:a="http://schemas.openxmlformats.org/drawingml/2006/main">
  <p:cSld>
    <p:bg>
      <p:bgPr>
        <a:solidFill>
          <a:srgbClr val="0D1221">
            <a:alpha val="100000"/>
          </a:srgbClr>
        </a:solidFill>
        <a:effectLst/>
      </p:bgPr>
    </p:bg>
    <p:spTree>
      <p:nvGrpSpPr>
        <p:cNvPr id="41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14" name="Connector 2"/>
          <p:cNvCxnSpPr/>
          <p:nvPr/>
        </p:nvCxnSpPr>
        <p:spPr>
          <a:xfrm rot="-3579">
            <a:off x="3" y="1708150"/>
            <a:ext cx="12192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15" name="Connector 3"/>
          <p:cNvCxnSpPr/>
          <p:nvPr/>
        </p:nvCxnSpPr>
        <p:spPr>
          <a:xfrm rot="-3579">
            <a:off x="3" y="3422650"/>
            <a:ext cx="12192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16" name="Connector 4"/>
          <p:cNvCxnSpPr/>
          <p:nvPr/>
        </p:nvCxnSpPr>
        <p:spPr>
          <a:xfrm rot="-3579">
            <a:off x="3" y="5137150"/>
            <a:ext cx="12192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17" name="Connector 5"/>
          <p:cNvCxnSpPr/>
          <p:nvPr/>
        </p:nvCxnSpPr>
        <p:spPr>
          <a:xfrm rot="5393633">
            <a:off x="-381000" y="3422656"/>
            <a:ext cx="685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18" name="Connector 6"/>
          <p:cNvCxnSpPr/>
          <p:nvPr/>
        </p:nvCxnSpPr>
        <p:spPr>
          <a:xfrm rot="5393633">
            <a:off x="2667000" y="3422656"/>
            <a:ext cx="685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19" name="Connector 7"/>
          <p:cNvCxnSpPr/>
          <p:nvPr/>
        </p:nvCxnSpPr>
        <p:spPr>
          <a:xfrm rot="5393633">
            <a:off x="5715000" y="3422656"/>
            <a:ext cx="685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20" name="AutoShape 8"/>
          <p:cNvSpPr/>
          <p:nvPr/>
        </p:nvSpPr>
        <p:spPr>
          <a:xfrm>
            <a:off x="812800" y="736600"/>
            <a:ext cx="711200" cy="762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127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4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 xml:space="preserve"> </a:t>
            </a:r>
            <a:endParaRPr lang="en-US" sz="1100"/>
          </a:p>
        </p:txBody>
      </p:sp>
      <p:sp>
        <p:nvSpPr>
          <p:cNvPr id="421" name="AutoShape 9"/>
          <p:cNvSpPr/>
          <p:nvPr/>
        </p:nvSpPr>
        <p:spPr>
          <a:xfrm>
            <a:off x="812800" y="939800"/>
            <a:ext cx="5334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10B9A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墨攻基于DSH的企业级智能体平台</a:t>
            </a:r>
            <a:endParaRPr lang="en-US" sz="1100"/>
          </a:p>
        </p:txBody>
      </p:sp>
      <p:sp>
        <p:nvSpPr>
          <p:cNvPr id="422" name="AutoShape 10"/>
          <p:cNvSpPr/>
          <p:nvPr/>
        </p:nvSpPr>
        <p:spPr>
          <a:xfrm>
            <a:off x="812800" y="2489200"/>
            <a:ext cx="10566400" cy="685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4000" b="1" i="0" u="none" strike="noStrike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从能力底座到生产就绪</a:t>
            </a:r>
            <a:endParaRPr lang="en-US" sz="1100"/>
          </a:p>
        </p:txBody>
      </p:sp>
      <p:sp>
        <p:nvSpPr>
          <p:cNvPr id="423" name="AutoShape 11"/>
          <p:cNvSpPr/>
          <p:nvPr/>
        </p:nvSpPr>
        <p:spPr>
          <a:xfrm>
            <a:off x="812800" y="3251200"/>
            <a:ext cx="105664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600" b="1" i="0" u="none" strike="noStrike">
                <a:solidFill>
                  <a:srgbClr val="FFFFFF">
                    <a:alpha val="70196"/>
                  </a:srgbClr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企业级智能体功能补强 · 按 SDD 全流程落地进展</a:t>
            </a:r>
            <a:endParaRPr lang="en-US" sz="1100"/>
          </a:p>
        </p:txBody>
      </p:sp>
      <p:sp>
        <p:nvSpPr>
          <p:cNvPr id="424" name="AutoShape 12"/>
          <p:cNvSpPr/>
          <p:nvPr/>
        </p:nvSpPr>
        <p:spPr>
          <a:xfrm>
            <a:off x="812800" y="4191000"/>
            <a:ext cx="1524000" cy="381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127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4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 xml:space="preserve"> </a:t>
            </a:r>
            <a:endParaRPr lang="en-US" sz="1100"/>
          </a:p>
        </p:txBody>
      </p:sp>
      <p:sp>
        <p:nvSpPr>
          <p:cNvPr id="425" name="AutoShape 13"/>
          <p:cNvSpPr/>
          <p:nvPr/>
        </p:nvSpPr>
        <p:spPr>
          <a:xfrm>
            <a:off x="9652000" y="6248400"/>
            <a:ext cx="17272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r">
              <a:lnSpc>
                <a:spcPct val="125000"/>
              </a:lnSpc>
              <a:defRPr/>
            </a:pPr>
            <a:r>
              <a:rPr lang="zh-CN" sz="1300" b="0" i="0" u="none" strike="noStrike">
                <a:solidFill>
                  <a:srgbClr val="FFFFFF">
                    <a:alpha val="45098"/>
                  </a:srgbClr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2026-10-22 · v0.2.4 已发布</a:t>
            </a:r>
            <a:endParaRPr lang="zh-CN" sz="1300" b="0" i="0" u="none" strike="noStrike">
              <a:solidFill>
                <a:srgbClr val="FFFFFF">
                  <a:alpha val="45098"/>
                </a:srgbClr>
              </a:solidFill>
              <a:latin typeface="Hiragino Sans GB"/>
              <a:ea typeface="Hiragino Sans GB"/>
              <a:cs typeface="Hiragino Sans GB"/>
              <a:sym typeface="Hiragino Sans GB"/>
            </a:endParaRP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bg>
      <p:bgPr>
        <a:solidFill>
          <a:srgbClr val="F8FAFC">
            <a:alpha val="100000"/>
          </a:srgbClr>
        </a:solidFill>
        <a:effectLst/>
      </p:bgPr>
    </p:bg>
    <p:spTree>
      <p:nvGrpSpPr>
        <p:cNvPr id="42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AutoShape 2"/>
          <p:cNvSpPr/>
          <p:nvPr/>
        </p:nvSpPr>
        <p:spPr>
          <a:xfrm>
            <a:off x="812800" y="533400"/>
            <a:ext cx="50800" cy="2794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428" name="AutoShape 3"/>
          <p:cNvSpPr/>
          <p:nvPr/>
        </p:nvSpPr>
        <p:spPr>
          <a:xfrm>
            <a:off x="990600" y="558800"/>
            <a:ext cx="6350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01 · 定位与主线</a:t>
            </a:r>
            <a:endParaRPr lang="en-US" sz="1100"/>
          </a:p>
        </p:txBody>
      </p:sp>
      <p:sp>
        <p:nvSpPr>
          <p:cNvPr id="429" name="AutoShape 4"/>
          <p:cNvSpPr/>
          <p:nvPr/>
        </p:nvSpPr>
        <p:spPr>
          <a:xfrm>
            <a:off x="812800" y="838200"/>
            <a:ext cx="105664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600" b="1" i="0" u="none" strike="noStrike" dirty="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 xml:space="preserve">DSH </a:t>
            </a:r>
            <a:r>
              <a:rPr lang="en-US" sz="2600" b="1" i="0" u="none" strike="noStrike" dirty="0" err="1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管运行，墨攻管进企业</a:t>
            </a:r>
            <a:endParaRPr lang="en-US" sz="1100" dirty="0"/>
          </a:p>
        </p:txBody>
      </p:sp>
      <p:cxnSp>
        <p:nvCxnSpPr>
          <p:cNvPr id="430" name="Connector 5"/>
          <p:cNvCxnSpPr/>
          <p:nvPr/>
        </p:nvCxnSpPr>
        <p:spPr>
          <a:xfrm rot="-4131">
            <a:off x="812804" y="1441450"/>
            <a:ext cx="10566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31" name="AutoShape 6"/>
          <p:cNvSpPr/>
          <p:nvPr/>
        </p:nvSpPr>
        <p:spPr>
          <a:xfrm>
            <a:off x="812800" y="1778000"/>
            <a:ext cx="3810000" cy="3556000"/>
          </a:xfrm>
          <a:prstGeom prst="roundRect">
            <a:avLst>
              <a:gd name="adj" fmla="val 3571"/>
            </a:avLst>
          </a:prstGeom>
          <a:solidFill>
            <a:srgbClr val="0F172A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432" name="AutoShape 7"/>
          <p:cNvSpPr/>
          <p:nvPr/>
        </p:nvSpPr>
        <p:spPr>
          <a:xfrm>
            <a:off x="1092200" y="2032000"/>
            <a:ext cx="32512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2DD4B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一句话定位</a:t>
            </a:r>
            <a:endParaRPr lang="en-US" sz="1100"/>
          </a:p>
        </p:txBody>
      </p:sp>
      <p:sp>
        <p:nvSpPr>
          <p:cNvPr id="433" name="AutoShape 8"/>
          <p:cNvSpPr/>
          <p:nvPr/>
        </p:nvSpPr>
        <p:spPr>
          <a:xfrm>
            <a:off x="1092200" y="2438400"/>
            <a:ext cx="32512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700" b="1" i="0" u="none" strike="noStrike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墨攻 = DSH Runtime（执行底座）+ 墨攻企业层（进入生产）</a:t>
            </a:r>
            <a:endParaRPr lang="en-US" sz="1100"/>
          </a:p>
        </p:txBody>
      </p:sp>
      <p:sp>
        <p:nvSpPr>
          <p:cNvPr id="434" name="AutoShape 9"/>
          <p:cNvSpPr/>
          <p:nvPr/>
        </p:nvSpPr>
        <p:spPr>
          <a:xfrm>
            <a:off x="1092200" y="3657600"/>
            <a:ext cx="508000" cy="381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435" name="AutoShape 10"/>
          <p:cNvSpPr/>
          <p:nvPr/>
        </p:nvSpPr>
        <p:spPr>
          <a:xfrm>
            <a:off x="1092200" y="3860800"/>
            <a:ext cx="32512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50" b="0" i="0" u="none" strike="noStrike">
                <a:solidFill>
                  <a:srgbClr val="E2E8F0">
                    <a:alpha val="74902"/>
                  </a:srgbClr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在执行底座、文档与内容生成、多形态 Agent、SkillHub、自托管部署上已是较完整起点；本次不推倒重来，只补缺口。</a:t>
            </a:r>
            <a:endParaRPr lang="en-US" sz="1100"/>
          </a:p>
        </p:txBody>
      </p:sp>
      <p:sp>
        <p:nvSpPr>
          <p:cNvPr id="436" name="AutoShape 11"/>
          <p:cNvSpPr/>
          <p:nvPr/>
        </p:nvSpPr>
        <p:spPr>
          <a:xfrm>
            <a:off x="5029200" y="1778000"/>
            <a:ext cx="63500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本材料按四步回答</a:t>
            </a:r>
            <a:endParaRPr lang="en-US" sz="1100"/>
          </a:p>
        </p:txBody>
      </p:sp>
      <p:sp>
        <p:nvSpPr>
          <p:cNvPr id="437" name="AutoShape 12"/>
          <p:cNvSpPr/>
          <p:nvPr/>
        </p:nvSpPr>
        <p:spPr>
          <a:xfrm>
            <a:off x="5029200" y="2260600"/>
            <a:ext cx="6350000" cy="660400"/>
          </a:xfrm>
          <a:prstGeom prst="roundRect">
            <a:avLst>
              <a:gd name="adj" fmla="val 15384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438" name="AutoShape 13"/>
          <p:cNvSpPr/>
          <p:nvPr/>
        </p:nvSpPr>
        <p:spPr>
          <a:xfrm>
            <a:off x="5257800" y="2260600"/>
            <a:ext cx="508000" cy="660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0B9A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01</a:t>
            </a:r>
            <a:endParaRPr lang="en-US" sz="1100"/>
          </a:p>
        </p:txBody>
      </p:sp>
      <p:sp>
        <p:nvSpPr>
          <p:cNvPr id="439" name="AutoShape 14"/>
          <p:cNvSpPr/>
          <p:nvPr/>
        </p:nvSpPr>
        <p:spPr>
          <a:xfrm>
            <a:off x="5867400" y="2260600"/>
            <a:ext cx="5334000" cy="660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已有哪些能力，哪些已领先、不重复投入</a:t>
            </a:r>
            <a:endParaRPr lang="en-US" sz="1100"/>
          </a:p>
        </p:txBody>
      </p:sp>
      <p:sp>
        <p:nvSpPr>
          <p:cNvPr id="440" name="AutoShape 15"/>
          <p:cNvSpPr/>
          <p:nvPr/>
        </p:nvSpPr>
        <p:spPr>
          <a:xfrm>
            <a:off x="5029200" y="3048000"/>
            <a:ext cx="6350000" cy="660400"/>
          </a:xfrm>
          <a:prstGeom prst="roundRect">
            <a:avLst>
              <a:gd name="adj" fmla="val 15384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441" name="AutoShape 16"/>
          <p:cNvSpPr/>
          <p:nvPr/>
        </p:nvSpPr>
        <p:spPr>
          <a:xfrm>
            <a:off x="5257800" y="3048000"/>
            <a:ext cx="508000" cy="660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0B9A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02</a:t>
            </a:r>
            <a:endParaRPr lang="en-US" sz="1100"/>
          </a:p>
        </p:txBody>
      </p:sp>
      <p:sp>
        <p:nvSpPr>
          <p:cNvPr id="442" name="AutoShape 17"/>
          <p:cNvSpPr/>
          <p:nvPr/>
        </p:nvSpPr>
        <p:spPr>
          <a:xfrm>
            <a:off x="5867400" y="3048000"/>
            <a:ext cx="5334000" cy="660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与 EntAgent / AgentGit 对比，缺哪六处</a:t>
            </a:r>
            <a:endParaRPr lang="en-US" sz="1100"/>
          </a:p>
        </p:txBody>
      </p:sp>
      <p:sp>
        <p:nvSpPr>
          <p:cNvPr id="443" name="AutoShape 18"/>
          <p:cNvSpPr/>
          <p:nvPr/>
        </p:nvSpPr>
        <p:spPr>
          <a:xfrm>
            <a:off x="5029200" y="3835400"/>
            <a:ext cx="6350000" cy="660400"/>
          </a:xfrm>
          <a:prstGeom prst="roundRect">
            <a:avLst>
              <a:gd name="adj" fmla="val 15384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444" name="AutoShape 19"/>
          <p:cNvSpPr/>
          <p:nvPr/>
        </p:nvSpPr>
        <p:spPr>
          <a:xfrm>
            <a:off x="5257800" y="3835400"/>
            <a:ext cx="508000" cy="660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0B9A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03</a:t>
            </a:r>
            <a:endParaRPr lang="en-US" sz="1100"/>
          </a:p>
        </p:txBody>
      </p:sp>
      <p:sp>
        <p:nvSpPr>
          <p:cNvPr id="445" name="AutoShape 20"/>
          <p:cNvSpPr/>
          <p:nvPr/>
        </p:nvSpPr>
        <p:spPr>
          <a:xfrm>
            <a:off x="5867400" y="3835400"/>
            <a:ext cx="5334000" cy="660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按 P0 / P1 / P2 优先级逐项补强什么</a:t>
            </a:r>
            <a:endParaRPr lang="en-US" sz="1100"/>
          </a:p>
        </p:txBody>
      </p:sp>
      <p:sp>
        <p:nvSpPr>
          <p:cNvPr id="446" name="AutoShape 21"/>
          <p:cNvSpPr/>
          <p:nvPr/>
        </p:nvSpPr>
        <p:spPr>
          <a:xfrm>
            <a:off x="5029200" y="4622800"/>
            <a:ext cx="6350000" cy="660400"/>
          </a:xfrm>
          <a:prstGeom prst="roundRect">
            <a:avLst>
              <a:gd name="adj" fmla="val 15384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447" name="AutoShape 22"/>
          <p:cNvSpPr/>
          <p:nvPr/>
        </p:nvSpPr>
        <p:spPr>
          <a:xfrm>
            <a:off x="5257800" y="4622800"/>
            <a:ext cx="508000" cy="660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0B9A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04</a:t>
            </a:r>
            <a:endParaRPr lang="en-US" sz="1100"/>
          </a:p>
        </p:txBody>
      </p:sp>
      <p:sp>
        <p:nvSpPr>
          <p:cNvPr id="448" name="AutoShape 23"/>
          <p:cNvSpPr/>
          <p:nvPr/>
        </p:nvSpPr>
        <p:spPr>
          <a:xfrm>
            <a:off x="5867400" y="4622800"/>
            <a:ext cx="5334000" cy="660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三阶段多久落地、各交付什么</a:t>
            </a:r>
            <a:endParaRPr lang="en-US" sz="1100"/>
          </a:p>
        </p:txBody>
      </p:sp>
      <p:sp>
        <p:nvSpPr>
          <p:cNvPr id="449" name="AutoShape 24"/>
          <p:cNvSpPr/>
          <p:nvPr/>
        </p:nvSpPr>
        <p:spPr>
          <a:xfrm>
            <a:off x="812800" y="6451600"/>
            <a:ext cx="3810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墨攻 · 企业级智能体平台</a:t>
            </a:r>
            <a:endParaRPr lang="en-US" sz="1100"/>
          </a:p>
        </p:txBody>
      </p:sp>
      <p:sp>
        <p:nvSpPr>
          <p:cNvPr id="450" name="AutoShape 25"/>
          <p:cNvSpPr/>
          <p:nvPr/>
        </p:nvSpPr>
        <p:spPr>
          <a:xfrm>
            <a:off x="10617200" y="6451600"/>
            <a:ext cx="762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zh-CN" sz="11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2 / 18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45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圆角矩形 343"/>
          <p:cNvSpPr/>
          <p:nvPr/>
        </p:nvSpPr>
        <p:spPr>
          <a:xfrm>
            <a:off x="812800" y="533400"/>
            <a:ext cx="50800" cy="279400"/>
          </a:xfrm>
          <a:prstGeom prst="roundRect">
            <a:avLst>
              <a:gd name="adj" fmla="val 4376"/>
            </a:avLst>
          </a:prstGeom>
          <a:solidFill>
            <a:srgbClr val="10B9A9"/>
          </a:solidFill>
          <a:ln>
            <a:noFill/>
          </a:ln>
        </p:spPr>
        <p:txBody>
          <a:bodyPr/>
          <a:lstStyle/>
          <a:p>
            <a:pPr/>
            <a:endParaRPr/>
          </a:p>
        </p:txBody>
      </p:sp>
      <p:sp>
        <p:nvSpPr>
          <p:cNvPr id="453" name="矩形 344"/>
          <p:cNvSpPr/>
          <p:nvPr/>
        </p:nvSpPr>
        <p:spPr>
          <a:xfrm>
            <a:off x="812800" y="1447800"/>
            <a:ext cx="10566400" cy="12700"/>
          </a:xfrm>
          <a:prstGeom prst="rect">
            <a:avLst/>
          </a:prstGeom>
          <a:solidFill>
            <a:srgbClr val="DEE0E3"/>
          </a:solidFill>
          <a:ln>
            <a:noFill/>
          </a:ln>
        </p:spPr>
        <p:txBody>
          <a:bodyPr/>
          <a:lstStyle/>
          <a:p>
            <a:pPr/>
            <a:endParaRPr/>
          </a:p>
        </p:txBody>
      </p:sp>
      <p:sp>
        <p:nvSpPr>
          <p:cNvPr id="454" name="圆角矩形 345"/>
          <p:cNvSpPr/>
          <p:nvPr/>
        </p:nvSpPr>
        <p:spPr>
          <a:xfrm>
            <a:off x="812800" y="1676400"/>
            <a:ext cx="10566400" cy="3632200"/>
          </a:xfrm>
          <a:prstGeom prst="roundRect">
            <a:avLst>
              <a:gd name="adj" fmla="val 437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 anchor="ctr"/>
          <a:lstStyle/>
          <a:p>
            <a:pPr/>
            <a:endParaRPr/>
          </a:p>
        </p:txBody>
      </p:sp>
      <p:sp>
        <p:nvSpPr>
          <p:cNvPr id="455" name="圆角矩形 346"/>
          <p:cNvSpPr/>
          <p:nvPr/>
        </p:nvSpPr>
        <p:spPr>
          <a:xfrm>
            <a:off x="1016000" y="1879600"/>
            <a:ext cx="1600200" cy="279400"/>
          </a:xfrm>
          <a:prstGeom prst="roundRect">
            <a:avLst>
              <a:gd name="adj" fmla="val 4376"/>
            </a:avLst>
          </a:prstGeom>
          <a:solidFill>
            <a:srgbClr val="0F172A"/>
          </a:solidFill>
          <a:ln>
            <a:noFill/>
          </a:ln>
        </p:spPr>
        <p:txBody>
          <a:bodyPr anchor="ctr"/>
          <a:lstStyle/>
          <a:p>
            <a:pPr/>
            <a:endParaRPr/>
          </a:p>
        </p:txBody>
      </p:sp>
      <p:sp>
        <p:nvSpPr>
          <p:cNvPr id="456" name="圆角矩形 347"/>
          <p:cNvSpPr/>
          <p:nvPr/>
        </p:nvSpPr>
        <p:spPr>
          <a:xfrm>
            <a:off x="812800" y="2489200"/>
            <a:ext cx="2006600" cy="2616200"/>
          </a:xfrm>
          <a:prstGeom prst="roundRect">
            <a:avLst>
              <a:gd name="adj" fmla="val 437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 anchor="ctr"/>
          <a:lstStyle/>
          <a:p>
            <a:pPr/>
            <a:endParaRPr/>
          </a:p>
        </p:txBody>
      </p:sp>
      <p:sp>
        <p:nvSpPr>
          <p:cNvPr id="457" name="圆角矩形 348"/>
          <p:cNvSpPr/>
          <p:nvPr/>
        </p:nvSpPr>
        <p:spPr>
          <a:xfrm>
            <a:off x="1016000" y="3378200"/>
            <a:ext cx="1600200" cy="228600"/>
          </a:xfrm>
          <a:prstGeom prst="roundRect">
            <a:avLst>
              <a:gd name="adj" fmla="val 4376"/>
            </a:avLst>
          </a:prstGeom>
          <a:solidFill>
            <a:srgbClr val="10B9A9"/>
          </a:solidFill>
          <a:ln>
            <a:noFill/>
          </a:ln>
        </p:spPr>
        <p:txBody>
          <a:bodyPr anchor="ctr"/>
          <a:lstStyle/>
          <a:p>
            <a:pPr/>
            <a:endParaRPr/>
          </a:p>
        </p:txBody>
      </p:sp>
      <p:sp>
        <p:nvSpPr>
          <p:cNvPr id="458" name="圆角矩形 349"/>
          <p:cNvSpPr/>
          <p:nvPr/>
        </p:nvSpPr>
        <p:spPr>
          <a:xfrm>
            <a:off x="1016000" y="3759200"/>
            <a:ext cx="1600200" cy="228600"/>
          </a:xfrm>
          <a:prstGeom prst="roundRect">
            <a:avLst>
              <a:gd name="adj" fmla="val 4376"/>
            </a:avLst>
          </a:prstGeom>
          <a:solidFill>
            <a:srgbClr val="10B9A9"/>
          </a:solidFill>
          <a:ln>
            <a:noFill/>
          </a:ln>
        </p:spPr>
        <p:txBody>
          <a:bodyPr anchor="ctr"/>
          <a:lstStyle/>
          <a:p>
            <a:pPr/>
            <a:endParaRPr/>
          </a:p>
        </p:txBody>
      </p:sp>
      <p:sp>
        <p:nvSpPr>
          <p:cNvPr id="459" name="圆角矩形 350"/>
          <p:cNvSpPr/>
          <p:nvPr/>
        </p:nvSpPr>
        <p:spPr>
          <a:xfrm>
            <a:off x="1016000" y="4140200"/>
            <a:ext cx="1600200" cy="228600"/>
          </a:xfrm>
          <a:prstGeom prst="roundRect">
            <a:avLst>
              <a:gd name="adj" fmla="val 4376"/>
            </a:avLst>
          </a:prstGeom>
          <a:solidFill>
            <a:srgbClr val="10B9A9"/>
          </a:solidFill>
          <a:ln>
            <a:noFill/>
          </a:ln>
        </p:spPr>
        <p:txBody>
          <a:bodyPr anchor="ctr"/>
          <a:lstStyle/>
          <a:p>
            <a:pPr/>
            <a:endParaRPr/>
          </a:p>
        </p:txBody>
      </p:sp>
      <p:sp>
        <p:nvSpPr>
          <p:cNvPr id="460" name="圆角矩形 351"/>
          <p:cNvSpPr/>
          <p:nvPr/>
        </p:nvSpPr>
        <p:spPr>
          <a:xfrm>
            <a:off x="1016000" y="4521200"/>
            <a:ext cx="1600200" cy="228600"/>
          </a:xfrm>
          <a:prstGeom prst="roundRect">
            <a:avLst>
              <a:gd name="adj" fmla="val 4376"/>
            </a:avLst>
          </a:prstGeom>
          <a:solidFill>
            <a:srgbClr val="10B9A9"/>
          </a:solidFill>
          <a:ln>
            <a:noFill/>
          </a:ln>
        </p:spPr>
        <p:txBody>
          <a:bodyPr anchor="ctr"/>
          <a:lstStyle/>
          <a:p>
            <a:pPr/>
            <a:endParaRPr/>
          </a:p>
        </p:txBody>
      </p:sp>
      <p:sp>
        <p:nvSpPr>
          <p:cNvPr id="461" name="圆角矩形 352"/>
          <p:cNvSpPr/>
          <p:nvPr/>
        </p:nvSpPr>
        <p:spPr>
          <a:xfrm>
            <a:off x="3175000" y="2489200"/>
            <a:ext cx="2489200" cy="2616200"/>
          </a:xfrm>
          <a:prstGeom prst="roundRect">
            <a:avLst>
              <a:gd name="adj" fmla="val 437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 anchor="ctr"/>
          <a:lstStyle/>
          <a:p>
            <a:pPr/>
            <a:endParaRPr/>
          </a:p>
        </p:txBody>
      </p:sp>
      <p:sp>
        <p:nvSpPr>
          <p:cNvPr id="462" name="圆角矩形 353"/>
          <p:cNvSpPr/>
          <p:nvPr/>
        </p:nvSpPr>
        <p:spPr>
          <a:xfrm>
            <a:off x="3378200" y="2641600"/>
            <a:ext cx="2082800" cy="50800"/>
          </a:xfrm>
          <a:prstGeom prst="roundRect">
            <a:avLst>
              <a:gd name="adj" fmla="val 4376"/>
            </a:avLst>
          </a:prstGeom>
          <a:solidFill>
            <a:srgbClr val="10B9A9"/>
          </a:solidFill>
          <a:ln>
            <a:noFill/>
          </a:ln>
        </p:spPr>
        <p:txBody>
          <a:bodyPr anchor="ctr"/>
          <a:lstStyle/>
          <a:p>
            <a:pPr/>
            <a:endParaRPr/>
          </a:p>
        </p:txBody>
      </p:sp>
      <p:sp>
        <p:nvSpPr>
          <p:cNvPr id="463" name="圆角矩形 354"/>
          <p:cNvSpPr/>
          <p:nvPr/>
        </p:nvSpPr>
        <p:spPr>
          <a:xfrm>
            <a:off x="3378200" y="2946400"/>
            <a:ext cx="2082800" cy="736600"/>
          </a:xfrm>
          <a:prstGeom prst="roundRect">
            <a:avLst>
              <a:gd name="adj" fmla="val 4376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 anchor="ctr"/>
          <a:lstStyle/>
          <a:p>
            <a:pPr/>
            <a:endParaRPr/>
          </a:p>
        </p:txBody>
      </p:sp>
      <p:sp>
        <p:nvSpPr>
          <p:cNvPr id="464" name="圆角矩形 355"/>
          <p:cNvSpPr/>
          <p:nvPr/>
        </p:nvSpPr>
        <p:spPr>
          <a:xfrm>
            <a:off x="3378200" y="3835400"/>
            <a:ext cx="2082800" cy="558800"/>
          </a:xfrm>
          <a:prstGeom prst="roundRect">
            <a:avLst>
              <a:gd name="adj" fmla="val 4376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 anchor="ctr"/>
          <a:lstStyle/>
          <a:p>
            <a:pPr/>
            <a:endParaRPr/>
          </a:p>
        </p:txBody>
      </p:sp>
      <p:sp>
        <p:nvSpPr>
          <p:cNvPr id="465" name="圆角矩形 356"/>
          <p:cNvSpPr/>
          <p:nvPr/>
        </p:nvSpPr>
        <p:spPr>
          <a:xfrm>
            <a:off x="3378200" y="4521200"/>
            <a:ext cx="2082800" cy="381000"/>
          </a:xfrm>
          <a:prstGeom prst="roundRect">
            <a:avLst>
              <a:gd name="adj" fmla="val 4376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  <p:txBody>
          <a:bodyPr anchor="ctr"/>
          <a:lstStyle/>
          <a:p>
            <a:pPr/>
            <a:endParaRPr/>
          </a:p>
        </p:txBody>
      </p:sp>
      <p:sp>
        <p:nvSpPr>
          <p:cNvPr id="466" name="圆角矩形 357"/>
          <p:cNvSpPr/>
          <p:nvPr/>
        </p:nvSpPr>
        <p:spPr>
          <a:xfrm>
            <a:off x="6019800" y="2489200"/>
            <a:ext cx="2489200" cy="2616200"/>
          </a:xfrm>
          <a:prstGeom prst="roundRect">
            <a:avLst>
              <a:gd name="adj" fmla="val 437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 anchor="ctr"/>
          <a:lstStyle/>
          <a:p>
            <a:pPr/>
            <a:endParaRPr/>
          </a:p>
        </p:txBody>
      </p:sp>
      <p:sp>
        <p:nvSpPr>
          <p:cNvPr id="467" name="圆角矩形 358"/>
          <p:cNvSpPr/>
          <p:nvPr/>
        </p:nvSpPr>
        <p:spPr>
          <a:xfrm>
            <a:off x="6223000" y="2641600"/>
            <a:ext cx="2082800" cy="50800"/>
          </a:xfrm>
          <a:prstGeom prst="roundRect">
            <a:avLst>
              <a:gd name="adj" fmla="val 4376"/>
            </a:avLst>
          </a:prstGeom>
          <a:solidFill>
            <a:srgbClr val="0F172A"/>
          </a:solidFill>
          <a:ln>
            <a:noFill/>
          </a:ln>
        </p:spPr>
        <p:txBody>
          <a:bodyPr anchor="ctr"/>
          <a:lstStyle/>
          <a:p>
            <a:pPr/>
            <a:endParaRPr/>
          </a:p>
        </p:txBody>
      </p:sp>
      <p:sp>
        <p:nvSpPr>
          <p:cNvPr id="468" name="圆角矩形 359"/>
          <p:cNvSpPr/>
          <p:nvPr/>
        </p:nvSpPr>
        <p:spPr>
          <a:xfrm>
            <a:off x="6223000" y="2946400"/>
            <a:ext cx="2082800" cy="736600"/>
          </a:xfrm>
          <a:prstGeom prst="roundRect">
            <a:avLst>
              <a:gd name="adj" fmla="val 4376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 anchor="ctr"/>
          <a:lstStyle/>
          <a:p>
            <a:pPr/>
            <a:endParaRPr/>
          </a:p>
        </p:txBody>
      </p:sp>
      <p:sp>
        <p:nvSpPr>
          <p:cNvPr id="469" name="圆角矩形 360"/>
          <p:cNvSpPr/>
          <p:nvPr/>
        </p:nvSpPr>
        <p:spPr>
          <a:xfrm>
            <a:off x="6223000" y="3835400"/>
            <a:ext cx="2082800" cy="558800"/>
          </a:xfrm>
          <a:prstGeom prst="roundRect">
            <a:avLst>
              <a:gd name="adj" fmla="val 4376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 anchor="ctr"/>
          <a:lstStyle/>
          <a:p>
            <a:pPr/>
            <a:endParaRPr/>
          </a:p>
        </p:txBody>
      </p:sp>
      <p:sp>
        <p:nvSpPr>
          <p:cNvPr id="470" name="圆角矩形 361"/>
          <p:cNvSpPr/>
          <p:nvPr/>
        </p:nvSpPr>
        <p:spPr>
          <a:xfrm>
            <a:off x="6223000" y="4521200"/>
            <a:ext cx="2082800" cy="381000"/>
          </a:xfrm>
          <a:prstGeom prst="roundRect">
            <a:avLst>
              <a:gd name="adj" fmla="val 4376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 anchor="ctr"/>
          <a:lstStyle/>
          <a:p>
            <a:pPr/>
            <a:endParaRPr/>
          </a:p>
        </p:txBody>
      </p:sp>
      <p:sp>
        <p:nvSpPr>
          <p:cNvPr id="471" name="圆角矩形 362"/>
          <p:cNvSpPr/>
          <p:nvPr/>
        </p:nvSpPr>
        <p:spPr>
          <a:xfrm>
            <a:off x="8864600" y="2489200"/>
            <a:ext cx="2514600" cy="2616200"/>
          </a:xfrm>
          <a:prstGeom prst="roundRect">
            <a:avLst>
              <a:gd name="adj" fmla="val 437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 anchor="ctr"/>
          <a:lstStyle/>
          <a:p>
            <a:pPr/>
            <a:endParaRPr/>
          </a:p>
        </p:txBody>
      </p:sp>
      <p:sp>
        <p:nvSpPr>
          <p:cNvPr id="472" name="圆角矩形 363"/>
          <p:cNvSpPr/>
          <p:nvPr/>
        </p:nvSpPr>
        <p:spPr>
          <a:xfrm>
            <a:off x="9067800" y="2641600"/>
            <a:ext cx="2108200" cy="50800"/>
          </a:xfrm>
          <a:prstGeom prst="roundRect">
            <a:avLst>
              <a:gd name="adj" fmla="val 4376"/>
            </a:avLst>
          </a:prstGeom>
          <a:solidFill>
            <a:srgbClr val="7C3AED"/>
          </a:solidFill>
          <a:ln>
            <a:noFill/>
          </a:ln>
        </p:spPr>
        <p:txBody>
          <a:bodyPr anchor="ctr"/>
          <a:lstStyle/>
          <a:p>
            <a:pPr/>
            <a:endParaRPr/>
          </a:p>
        </p:txBody>
      </p:sp>
      <p:sp>
        <p:nvSpPr>
          <p:cNvPr id="473" name="圆角矩形 364"/>
          <p:cNvSpPr/>
          <p:nvPr/>
        </p:nvSpPr>
        <p:spPr>
          <a:xfrm>
            <a:off x="9067800" y="2946400"/>
            <a:ext cx="2108200" cy="736600"/>
          </a:xfrm>
          <a:prstGeom prst="roundRect">
            <a:avLst>
              <a:gd name="adj" fmla="val 4376"/>
            </a:avLst>
          </a:prstGeom>
          <a:solidFill>
            <a:srgbClr val="FAF5FF"/>
          </a:solidFill>
          <a:ln w="12700">
            <a:solidFill>
              <a:srgbClr val="E9D5FF"/>
            </a:solidFill>
            <a:prstDash val="solid"/>
          </a:ln>
        </p:spPr>
        <p:txBody>
          <a:bodyPr anchor="ctr"/>
          <a:lstStyle/>
          <a:p>
            <a:pPr/>
            <a:endParaRPr/>
          </a:p>
        </p:txBody>
      </p:sp>
      <p:sp>
        <p:nvSpPr>
          <p:cNvPr id="474" name="圆角矩形 365"/>
          <p:cNvSpPr/>
          <p:nvPr/>
        </p:nvSpPr>
        <p:spPr>
          <a:xfrm>
            <a:off x="9067800" y="3835400"/>
            <a:ext cx="2108200" cy="558800"/>
          </a:xfrm>
          <a:prstGeom prst="roundRect">
            <a:avLst>
              <a:gd name="adj" fmla="val 4376"/>
            </a:avLst>
          </a:prstGeom>
          <a:solidFill>
            <a:srgbClr val="FAF5FF"/>
          </a:solidFill>
          <a:ln w="12700">
            <a:solidFill>
              <a:srgbClr val="E9D5FF"/>
            </a:solidFill>
            <a:prstDash val="solid"/>
          </a:ln>
        </p:spPr>
        <p:txBody>
          <a:bodyPr anchor="ctr"/>
          <a:lstStyle/>
          <a:p>
            <a:pPr/>
            <a:endParaRPr/>
          </a:p>
        </p:txBody>
      </p:sp>
      <p:sp>
        <p:nvSpPr>
          <p:cNvPr id="475" name="圆角矩形 366"/>
          <p:cNvSpPr/>
          <p:nvPr/>
        </p:nvSpPr>
        <p:spPr>
          <a:xfrm>
            <a:off x="9067800" y="4521200"/>
            <a:ext cx="2108200" cy="381000"/>
          </a:xfrm>
          <a:prstGeom prst="roundRect">
            <a:avLst>
              <a:gd name="adj" fmla="val 4376"/>
            </a:avLst>
          </a:prstGeom>
          <a:solidFill>
            <a:srgbClr val="F5F3FF"/>
          </a:solidFill>
          <a:ln w="12700">
            <a:solidFill>
              <a:srgbClr val="DDD6FE"/>
            </a:solidFill>
            <a:prstDash val="solid"/>
          </a:ln>
        </p:spPr>
        <p:txBody>
          <a:bodyPr anchor="ctr"/>
          <a:lstStyle/>
          <a:p>
            <a:pPr/>
            <a:endParaRPr/>
          </a:p>
        </p:txBody>
      </p:sp>
      <p:sp>
        <p:nvSpPr>
          <p:cNvPr id="476" name="圆角矩形 367"/>
          <p:cNvSpPr/>
          <p:nvPr/>
        </p:nvSpPr>
        <p:spPr>
          <a:xfrm>
            <a:off x="812800" y="5511800"/>
            <a:ext cx="10566400" cy="660400"/>
          </a:xfrm>
          <a:prstGeom prst="roundRect">
            <a:avLst>
              <a:gd name="adj" fmla="val 437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 anchor="ctr"/>
          <a:lstStyle/>
          <a:p>
            <a:pPr/>
            <a:endParaRPr/>
          </a:p>
        </p:txBody>
      </p:sp>
      <p:sp>
        <p:nvSpPr>
          <p:cNvPr id="477" name="圆角矩形 368"/>
          <p:cNvSpPr/>
          <p:nvPr/>
        </p:nvSpPr>
        <p:spPr>
          <a:xfrm>
            <a:off x="1066800" y="5664200"/>
            <a:ext cx="1422400" cy="355600"/>
          </a:xfrm>
          <a:prstGeom prst="roundRect">
            <a:avLst>
              <a:gd name="adj" fmla="val 4376"/>
            </a:avLst>
          </a:prstGeom>
          <a:solidFill>
            <a:srgbClr val="10B9A9"/>
          </a:solidFill>
          <a:ln>
            <a:noFill/>
          </a:ln>
        </p:spPr>
        <p:txBody>
          <a:bodyPr anchor="ctr"/>
          <a:lstStyle/>
          <a:p>
            <a:pPr/>
            <a:endParaRPr/>
          </a:p>
        </p:txBody>
      </p:sp>
      <p:sp>
        <p:nvSpPr>
          <p:cNvPr id="478" name="直线连接符 369"/>
          <p:cNvSpPr/>
          <p:nvPr/>
        </p:nvSpPr>
        <p:spPr>
          <a:xfrm>
            <a:off x="2844800" y="3797300"/>
            <a:ext cx="27940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  <p:txBody>
          <a:bodyPr anchor="ctr"/>
          <a:lstStyle/>
          <a:p>
            <a:pPr/>
            <a:endParaRPr/>
          </a:p>
        </p:txBody>
      </p:sp>
      <p:sp>
        <p:nvSpPr>
          <p:cNvPr id="479" name="直线连接符 370"/>
          <p:cNvSpPr/>
          <p:nvPr/>
        </p:nvSpPr>
        <p:spPr>
          <a:xfrm>
            <a:off x="5689600" y="3797300"/>
            <a:ext cx="27940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  <p:txBody>
          <a:bodyPr anchor="ctr"/>
          <a:lstStyle/>
          <a:p>
            <a:pPr/>
            <a:endParaRPr/>
          </a:p>
        </p:txBody>
      </p:sp>
      <p:sp>
        <p:nvSpPr>
          <p:cNvPr id="480" name="直线连接符 371"/>
          <p:cNvSpPr/>
          <p:nvPr/>
        </p:nvSpPr>
        <p:spPr>
          <a:xfrm>
            <a:off x="8534400" y="3797300"/>
            <a:ext cx="27940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  <p:txBody>
          <a:bodyPr anchor="ctr"/>
          <a:lstStyle/>
          <a:p>
            <a:pPr/>
            <a:endParaRPr/>
          </a:p>
        </p:txBody>
      </p:sp>
      <p:sp>
        <p:nvSpPr>
          <p:cNvPr id="481" name="直线连接符 372"/>
          <p:cNvSpPr/>
          <p:nvPr/>
        </p:nvSpPr>
        <p:spPr>
          <a:xfrm>
            <a:off x="2819400" y="2159000"/>
            <a:ext cx="0" cy="279400"/>
          </a:xfrm>
          <a:prstGeom prst="line">
            <a:avLst/>
          </a:prstGeom>
          <a:noFill/>
          <a:ln w="19050">
            <a:solidFill>
              <a:srgbClr val="10B9A9"/>
            </a:solidFill>
            <a:prstDash val="solid"/>
            <a:tailEnd type="triangle"/>
          </a:ln>
        </p:spPr>
        <p:txBody>
          <a:bodyPr anchor="ctr"/>
          <a:lstStyle/>
          <a:p>
            <a:pPr/>
            <a:endParaRPr/>
          </a:p>
        </p:txBody>
      </p:sp>
      <p:sp>
        <p:nvSpPr>
          <p:cNvPr id="482" name="直线连接符 373"/>
          <p:cNvSpPr/>
          <p:nvPr/>
        </p:nvSpPr>
        <p:spPr>
          <a:xfrm>
            <a:off x="4419600" y="5130800"/>
            <a:ext cx="0" cy="330200"/>
          </a:xfrm>
          <a:prstGeom prst="line">
            <a:avLst/>
          </a:prstGeom>
          <a:noFill/>
          <a:ln w="19050">
            <a:solidFill>
              <a:srgbClr val="10B9A9"/>
            </a:solidFill>
            <a:prstDash val="solid"/>
            <a:tailEnd type="triangle"/>
          </a:ln>
        </p:spPr>
        <p:txBody>
          <a:bodyPr anchor="ctr"/>
          <a:lstStyle/>
          <a:p>
            <a:pPr/>
            <a:endParaRPr/>
          </a:p>
        </p:txBody>
      </p:sp>
      <p:sp>
        <p:nvSpPr>
          <p:cNvPr id="483" name="矩形 374"/>
          <p:cNvSpPr/>
          <p:nvPr/>
        </p:nvSpPr>
        <p:spPr>
          <a:xfrm>
            <a:off x="990600" y="558800"/>
            <a:ext cx="6350000" cy="254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1200">
                <a:solidFill>
                  <a:srgbClr val="0D9488"/>
                </a:solidFill>
                <a:latin typeface="Hiragino Sans GB"/>
                <a:ea typeface="Hiragino Sans GB"/>
              </a:rPr>
              <a:t>02 · 架构总览</a:t>
            </a:r>
            <a:endParaRPr/>
          </a:p>
        </p:txBody>
      </p:sp>
      <p:sp>
        <p:nvSpPr>
          <p:cNvPr id="484" name="矩形 375"/>
          <p:cNvSpPr/>
          <p:nvPr/>
        </p:nvSpPr>
        <p:spPr>
          <a:xfrm>
            <a:off x="812800" y="838200"/>
            <a:ext cx="10566400" cy="4572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2600">
                <a:solidFill>
                  <a:srgbClr val="0F172A"/>
                </a:solidFill>
                <a:latin typeface="Hiragino Sans GB"/>
                <a:ea typeface="Hiragino Sans GB"/>
              </a:rPr>
              <a:t>DSH 执行底座 + 墨攻企业层，四层分工与关键挂载点</a:t>
            </a:r>
            <a:endParaRPr/>
          </a:p>
        </p:txBody>
      </p:sp>
      <p:sp>
        <p:nvSpPr>
          <p:cNvPr id="485" name="矩形 376"/>
          <p:cNvSpPr/>
          <p:nvPr/>
        </p:nvSpPr>
        <p:spPr>
          <a:xfrm>
            <a:off x="1016000" y="1879600"/>
            <a:ext cx="1600200" cy="2794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/>
            <a:r>
              <a:rPr lang="zh-CN" sz="1100">
                <a:solidFill>
                  <a:srgbClr val="FFFFFF"/>
                </a:solidFill>
                <a:latin typeface="Hiragino Sans GB"/>
                <a:ea typeface="Hiragino Sans GB"/>
              </a:rPr>
              <a:t>接入层</a:t>
            </a:r>
            <a:endParaRPr/>
          </a:p>
        </p:txBody>
      </p:sp>
      <p:sp>
        <p:nvSpPr>
          <p:cNvPr id="486" name="矩形 377"/>
          <p:cNvSpPr/>
          <p:nvPr/>
        </p:nvSpPr>
        <p:spPr>
          <a:xfrm>
            <a:off x="1016000" y="2209800"/>
            <a:ext cx="1600200" cy="2032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/>
            <a:r>
              <a:rPr lang="zh-CN" sz="900">
                <a:solidFill>
                  <a:srgbClr val="94A3B8"/>
                </a:solidFill>
                <a:latin typeface="Hiragino Sans GB"/>
                <a:ea typeface="Hiragino Sans GB"/>
              </a:rPr>
              <a:t>谁在用</a:t>
            </a:r>
            <a:endParaRPr/>
          </a:p>
        </p:txBody>
      </p:sp>
      <p:sp>
        <p:nvSpPr>
          <p:cNvPr id="487" name="矩形 378"/>
          <p:cNvSpPr/>
          <p:nvPr/>
        </p:nvSpPr>
        <p:spPr>
          <a:xfrm>
            <a:off x="1016000" y="3378200"/>
            <a:ext cx="1600200" cy="228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/>
            <a:r>
              <a:rPr lang="zh-CN" sz="1100" dirty="0">
                <a:solidFill>
                  <a:srgbClr val="FFFFFF"/>
                </a:solidFill>
                <a:latin typeface="Hiragino Sans GB"/>
                <a:ea typeface="Hiragino Sans GB"/>
              </a:rPr>
              <a:t>user-web</a:t>
            </a:r>
            <a:endParaRPr dirty="0"/>
          </a:p>
        </p:txBody>
      </p:sp>
      <p:sp>
        <p:nvSpPr>
          <p:cNvPr id="488" name="矩形 379"/>
          <p:cNvSpPr/>
          <p:nvPr/>
        </p:nvSpPr>
        <p:spPr>
          <a:xfrm>
            <a:off x="1016000" y="3759200"/>
            <a:ext cx="1600200" cy="228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/>
            <a:r>
              <a:rPr lang="zh-CN" sz="1100">
                <a:solidFill>
                  <a:srgbClr val="FFFFFF"/>
                </a:solidFill>
                <a:latin typeface="Hiragino Sans GB"/>
                <a:ea typeface="Hiragino Sans GB"/>
              </a:rPr>
              <a:t>admin-web</a:t>
            </a:r>
            <a:endParaRPr/>
          </a:p>
        </p:txBody>
      </p:sp>
      <p:sp>
        <p:nvSpPr>
          <p:cNvPr id="489" name="矩形 380"/>
          <p:cNvSpPr/>
          <p:nvPr/>
        </p:nvSpPr>
        <p:spPr>
          <a:xfrm>
            <a:off x="1016000" y="4140200"/>
            <a:ext cx="1600200" cy="228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/>
            <a:r>
              <a:rPr lang="zh-CN" sz="1100">
                <a:solidFill>
                  <a:srgbClr val="FFFFFF"/>
                </a:solidFill>
                <a:latin typeface="Hiragino Sans GB"/>
                <a:ea typeface="Hiragino Sans GB"/>
              </a:rPr>
              <a:t>Desktop</a:t>
            </a:r>
            <a:endParaRPr/>
          </a:p>
        </p:txBody>
      </p:sp>
      <p:sp>
        <p:nvSpPr>
          <p:cNvPr id="490" name="矩形 381"/>
          <p:cNvSpPr/>
          <p:nvPr/>
        </p:nvSpPr>
        <p:spPr>
          <a:xfrm>
            <a:off x="1016000" y="4521200"/>
            <a:ext cx="1600200" cy="228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/>
            <a:r>
              <a:rPr lang="zh-CN" sz="1100">
                <a:solidFill>
                  <a:srgbClr val="FFFFFF"/>
                </a:solidFill>
                <a:latin typeface="Hiragino Sans GB"/>
                <a:ea typeface="Hiragino Sans GB"/>
              </a:rPr>
              <a:t>多 IM / A2A</a:t>
            </a:r>
            <a:endParaRPr/>
          </a:p>
        </p:txBody>
      </p:sp>
      <p:sp>
        <p:nvSpPr>
          <p:cNvPr id="491" name="矩形 382"/>
          <p:cNvSpPr/>
          <p:nvPr/>
        </p:nvSpPr>
        <p:spPr>
          <a:xfrm>
            <a:off x="3378200" y="2679700"/>
            <a:ext cx="2082800" cy="2540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/>
            <a:r>
              <a:rPr lang="zh-CN" sz="1300" dirty="0">
                <a:solidFill>
                  <a:srgbClr val="0F172A"/>
                </a:solidFill>
                <a:latin typeface="Hiragino Sans GB"/>
                <a:ea typeface="Hiragino Sans GB"/>
              </a:rPr>
              <a:t>编排层  chat-api</a:t>
            </a:r>
            <a:endParaRPr dirty="0"/>
          </a:p>
        </p:txBody>
      </p:sp>
      <p:sp>
        <p:nvSpPr>
          <p:cNvPr id="492" name="矩形 383"/>
          <p:cNvSpPr/>
          <p:nvPr/>
        </p:nvSpPr>
        <p:spPr>
          <a:xfrm>
            <a:off x="3378200" y="3073400"/>
            <a:ext cx="2082800" cy="228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/>
            <a:r>
              <a:rPr lang="zh-CN" sz="1000">
                <a:solidFill>
                  <a:srgbClr val="64748B"/>
                </a:solidFill>
                <a:latin typeface="Hiragino Sans GB"/>
                <a:ea typeface="Hiragino Sans GB"/>
              </a:rPr>
              <a:t>FastAPI · 会话 / DAG 编排</a:t>
            </a:r>
            <a:endParaRPr/>
          </a:p>
        </p:txBody>
      </p:sp>
      <p:sp>
        <p:nvSpPr>
          <p:cNvPr id="493" name="矩形 384"/>
          <p:cNvSpPr/>
          <p:nvPr/>
        </p:nvSpPr>
        <p:spPr>
          <a:xfrm>
            <a:off x="3378200" y="3276600"/>
            <a:ext cx="2082800" cy="355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/>
            <a:r>
              <a:rPr lang="zh-CN" sz="1000">
                <a:solidFill>
                  <a:srgbClr val="64748B"/>
                </a:solidFill>
                <a:latin typeface="Hiragino Sans GB"/>
                <a:ea typeface="Hiragino Sans GB"/>
              </a:rPr>
              <a:t>Hooks 五事件 · 任务准入
多智能体与子智能体调度</a:t>
            </a:r>
            <a:endParaRPr/>
          </a:p>
        </p:txBody>
      </p:sp>
      <p:sp>
        <p:nvSpPr>
          <p:cNvPr id="494" name="矩形 385"/>
          <p:cNvSpPr/>
          <p:nvPr/>
        </p:nvSpPr>
        <p:spPr>
          <a:xfrm>
            <a:off x="3378200" y="3962400"/>
            <a:ext cx="2082800" cy="228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/>
            <a:r>
              <a:rPr lang="zh-CN" sz="1000">
                <a:solidFill>
                  <a:srgbClr val="475569"/>
                </a:solidFill>
                <a:latin typeface="Hiragino Sans GB"/>
                <a:ea typeface="Hiragino Sans GB"/>
              </a:rPr>
              <a:t>LLM 网关（故障转移 · 降级 · 计量）</a:t>
            </a:r>
            <a:endParaRPr/>
          </a:p>
        </p:txBody>
      </p:sp>
      <p:sp>
        <p:nvSpPr>
          <p:cNvPr id="495" name="矩形 386"/>
          <p:cNvSpPr/>
          <p:nvPr/>
        </p:nvSpPr>
        <p:spPr>
          <a:xfrm>
            <a:off x="3378200" y="4533900"/>
            <a:ext cx="2082800" cy="3810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/>
            <a:r>
              <a:rPr lang="zh-CN" sz="900" dirty="0">
                <a:solidFill>
                  <a:srgbClr val="047857"/>
                </a:solidFill>
                <a:latin typeface="Hiragino Sans GB"/>
                <a:ea typeface="Hiragino Sans GB"/>
              </a:rPr>
              <a:t>挂载：RBAC 码 · 审批 · 配额 · 审计</a:t>
            </a:r>
            <a:endParaRPr dirty="0"/>
          </a:p>
        </p:txBody>
      </p:sp>
      <p:sp>
        <p:nvSpPr>
          <p:cNvPr id="496" name="矩形 387"/>
          <p:cNvSpPr/>
          <p:nvPr/>
        </p:nvSpPr>
        <p:spPr>
          <a:xfrm>
            <a:off x="6223000" y="2679700"/>
            <a:ext cx="2082800" cy="2540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/>
            <a:r>
              <a:rPr lang="zh-CN" sz="1300" dirty="0">
                <a:solidFill>
                  <a:srgbClr val="0F172A"/>
                </a:solidFill>
                <a:latin typeface="Hiragino Sans GB"/>
                <a:ea typeface="Hiragino Sans GB"/>
              </a:rPr>
              <a:t>治理层  admin-api</a:t>
            </a:r>
            <a:endParaRPr dirty="0"/>
          </a:p>
        </p:txBody>
      </p:sp>
      <p:sp>
        <p:nvSpPr>
          <p:cNvPr id="497" name="矩形 388"/>
          <p:cNvSpPr/>
          <p:nvPr/>
        </p:nvSpPr>
        <p:spPr>
          <a:xfrm>
            <a:off x="6223000" y="3073400"/>
            <a:ext cx="2082800" cy="228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/>
            <a:r>
              <a:rPr lang="zh-CN" sz="1000">
                <a:solidFill>
                  <a:srgbClr val="64748B"/>
                </a:solidFill>
                <a:latin typeface="Hiragino Sans GB"/>
                <a:ea typeface="Hiragino Sans GB"/>
              </a:rPr>
              <a:t>Gatekeeper 六层串行门禁</a:t>
            </a:r>
            <a:endParaRPr/>
          </a:p>
        </p:txBody>
      </p:sp>
      <p:sp>
        <p:nvSpPr>
          <p:cNvPr id="498" name="矩形 389"/>
          <p:cNvSpPr/>
          <p:nvPr/>
        </p:nvSpPr>
        <p:spPr>
          <a:xfrm>
            <a:off x="6223000" y="3276600"/>
            <a:ext cx="2082800" cy="355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/>
            <a:r>
              <a:rPr lang="zh-CN" sz="1000">
                <a:solidFill>
                  <a:srgbClr val="64748B"/>
                </a:solidFill>
                <a:latin typeface="Hiragino Sans GB"/>
                <a:ea typeface="Hiragino Sans GB"/>
              </a:rPr>
              <a:t>身份 → RBAC → 脱敏 → 审批
→ 配额 → 审计（R4 红线不可覆盖）</a:t>
            </a:r>
            <a:endParaRPr/>
          </a:p>
        </p:txBody>
      </p:sp>
      <p:sp>
        <p:nvSpPr>
          <p:cNvPr id="499" name="矩形 390"/>
          <p:cNvSpPr/>
          <p:nvPr/>
        </p:nvSpPr>
        <p:spPr>
          <a:xfrm>
            <a:off x="6223000" y="3962400"/>
            <a:ext cx="2082800" cy="228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/>
            <a:r>
              <a:rPr lang="zh-CN" sz="1000">
                <a:solidFill>
                  <a:srgbClr val="475569"/>
                </a:solidFill>
                <a:latin typeface="Hiragino Sans GB"/>
                <a:ea typeface="Hiragino Sans GB"/>
              </a:rPr>
              <a:t>R0–R4 风险 × L1–L5 自主矩阵</a:t>
            </a:r>
            <a:endParaRPr/>
          </a:p>
        </p:txBody>
      </p:sp>
      <p:sp>
        <p:nvSpPr>
          <p:cNvPr id="500" name="矩形 391"/>
          <p:cNvSpPr/>
          <p:nvPr/>
        </p:nvSpPr>
        <p:spPr>
          <a:xfrm>
            <a:off x="6223000" y="4521200"/>
            <a:ext cx="2082800" cy="3937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/>
            <a:r>
              <a:rPr lang="zh-CN" sz="900" dirty="0">
                <a:solidFill>
                  <a:srgbClr val="1D4ED8"/>
                </a:solidFill>
                <a:latin typeface="Hiragino Sans GB"/>
                <a:ea typeface="Hiragino Sans GB"/>
              </a:rPr>
              <a:t>fail-closed 默认拒绝</a:t>
            </a:r>
            <a:endParaRPr dirty="0"/>
          </a:p>
        </p:txBody>
      </p:sp>
      <p:sp>
        <p:nvSpPr>
          <p:cNvPr id="501" name="矩形 392"/>
          <p:cNvSpPr/>
          <p:nvPr/>
        </p:nvSpPr>
        <p:spPr>
          <a:xfrm>
            <a:off x="9067800" y="2679700"/>
            <a:ext cx="2108200" cy="2540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/>
            <a:r>
              <a:rPr lang="zh-CN" sz="1300">
                <a:solidFill>
                  <a:srgbClr val="0F172A"/>
                </a:solidFill>
                <a:latin typeface="Hiragino Sans GB"/>
                <a:ea typeface="Hiragino Sans GB"/>
              </a:rPr>
              <a:t>执行底座  DSH</a:t>
            </a:r>
            <a:endParaRPr/>
          </a:p>
        </p:txBody>
      </p:sp>
      <p:sp>
        <p:nvSpPr>
          <p:cNvPr id="502" name="矩形 393"/>
          <p:cNvSpPr/>
          <p:nvPr/>
        </p:nvSpPr>
        <p:spPr>
          <a:xfrm>
            <a:off x="9067800" y="3073400"/>
            <a:ext cx="2108200" cy="228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/>
            <a:r>
              <a:rPr lang="zh-CN" sz="1000">
                <a:solidFill>
                  <a:srgbClr val="64748B"/>
                </a:solidFill>
                <a:latin typeface="Hiragino Sans GB"/>
                <a:ea typeface="Hiragino Sans GB"/>
              </a:rPr>
              <a:t>dsh-runtime-host（Node）</a:t>
            </a:r>
            <a:endParaRPr/>
          </a:p>
        </p:txBody>
      </p:sp>
      <p:sp>
        <p:nvSpPr>
          <p:cNvPr id="503" name="矩形 394"/>
          <p:cNvSpPr/>
          <p:nvPr/>
        </p:nvSpPr>
        <p:spPr>
          <a:xfrm>
            <a:off x="9067800" y="3276600"/>
            <a:ext cx="2108200" cy="355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/>
            <a:r>
              <a:rPr lang="zh-CN" sz="1000">
                <a:solidFill>
                  <a:srgbClr val="64748B"/>
                </a:solidFill>
                <a:latin typeface="Hiragino Sans GB"/>
                <a:ea typeface="Hiragino Sans GB"/>
              </a:rPr>
              <a:t>任务规划 · 工具调用 · Skill
子智能体 · 受控执行</a:t>
            </a:r>
            <a:endParaRPr/>
          </a:p>
        </p:txBody>
      </p:sp>
      <p:sp>
        <p:nvSpPr>
          <p:cNvPr id="504" name="矩形 395"/>
          <p:cNvSpPr/>
          <p:nvPr/>
        </p:nvSpPr>
        <p:spPr>
          <a:xfrm>
            <a:off x="9067800" y="3962400"/>
            <a:ext cx="2108200" cy="228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/>
            <a:r>
              <a:rPr lang="zh-CN" sz="1000">
                <a:solidFill>
                  <a:srgbClr val="475569"/>
                </a:solidFill>
                <a:latin typeface="Hiragino Sans GB"/>
                <a:ea typeface="Hiragino Sans GB"/>
              </a:rPr>
              <a:t>MCP 工具桥 · 模型网关</a:t>
            </a:r>
            <a:endParaRPr/>
          </a:p>
        </p:txBody>
      </p:sp>
      <p:sp>
        <p:nvSpPr>
          <p:cNvPr id="505" name="矩形 396"/>
          <p:cNvSpPr/>
          <p:nvPr/>
        </p:nvSpPr>
        <p:spPr>
          <a:xfrm>
            <a:off x="9067800" y="4648200"/>
            <a:ext cx="2108200" cy="2032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/>
            <a:r>
              <a:rPr lang="zh-CN" sz="900">
                <a:solidFill>
                  <a:srgbClr val="6D28D9"/>
                </a:solidFill>
                <a:latin typeface="Hiragino Sans GB"/>
                <a:ea typeface="Hiragino Sans GB"/>
              </a:rPr>
              <a:t>水平扩展：sticky 路由</a:t>
            </a:r>
            <a:endParaRPr/>
          </a:p>
        </p:txBody>
      </p:sp>
      <p:sp>
        <p:nvSpPr>
          <p:cNvPr id="506" name="矩形 397"/>
          <p:cNvSpPr/>
          <p:nvPr/>
        </p:nvSpPr>
        <p:spPr>
          <a:xfrm>
            <a:off x="1066800" y="5664200"/>
            <a:ext cx="1422400" cy="355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/>
            <a:r>
              <a:rPr lang="zh-CN" sz="1100" dirty="0">
                <a:solidFill>
                  <a:srgbClr val="FFFFFF"/>
                </a:solidFill>
                <a:latin typeface="Hiragino Sans GB"/>
                <a:ea typeface="Hiragino Sans GB"/>
              </a:rPr>
              <a:t>数据与知识</a:t>
            </a:r>
            <a:endParaRPr dirty="0"/>
          </a:p>
        </p:txBody>
      </p:sp>
      <p:sp>
        <p:nvSpPr>
          <p:cNvPr id="507" name="矩形 398"/>
          <p:cNvSpPr/>
          <p:nvPr/>
        </p:nvSpPr>
        <p:spPr>
          <a:xfrm>
            <a:off x="2692400" y="5524500"/>
            <a:ext cx="1905000" cy="6477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/>
            <a:r>
              <a:rPr lang="zh-CN" sz="1200" dirty="0">
                <a:solidFill>
                  <a:srgbClr val="0F172A"/>
                </a:solidFill>
                <a:latin typeface="Hiragino Sans GB"/>
                <a:ea typeface="Hiragino Sans GB"/>
              </a:rPr>
              <a:t>MongoDB · Redis · Weaviate</a:t>
            </a:r>
            <a:endParaRPr dirty="0"/>
          </a:p>
        </p:txBody>
      </p:sp>
      <p:sp>
        <p:nvSpPr>
          <p:cNvPr id="508" name="矩形 399"/>
          <p:cNvSpPr/>
          <p:nvPr/>
        </p:nvSpPr>
        <p:spPr>
          <a:xfrm>
            <a:off x="5080000" y="5765800"/>
            <a:ext cx="6146800" cy="2032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/>
            <a:r>
              <a:rPr lang="zh-CN" sz="1000" dirty="0">
                <a:solidFill>
                  <a:srgbClr val="64748B"/>
                </a:solidFill>
                <a:latin typeface="Hiragino Sans GB"/>
                <a:ea typeface="Hiragino Sans GB"/>
              </a:rPr>
              <a:t>会话与绑定 · 凭据 · 事件流 · 多租户隔离· 上下文寻址· 向量检索与知识图谱</a:t>
            </a:r>
            <a:endParaRPr dirty="0"/>
          </a:p>
        </p:txBody>
      </p:sp>
      <p:sp>
        <p:nvSpPr>
          <p:cNvPr id="509" name="矩形 400"/>
          <p:cNvSpPr/>
          <p:nvPr/>
        </p:nvSpPr>
        <p:spPr>
          <a:xfrm>
            <a:off x="812800" y="6451600"/>
            <a:ext cx="5080000" cy="2286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1100">
                <a:solidFill>
                  <a:srgbClr val="94A3B8"/>
                </a:solidFill>
                <a:latin typeface="Hiragino Sans GB"/>
                <a:ea typeface="Hiragino Sans GB"/>
              </a:rPr>
              <a:t>墨攻 · 企业级智能体平台</a:t>
            </a:r>
            <a:endParaRPr/>
          </a:p>
        </p:txBody>
      </p:sp>
      <p:sp>
        <p:nvSpPr>
          <p:cNvPr id="510" name="矩形 401"/>
          <p:cNvSpPr/>
          <p:nvPr/>
        </p:nvSpPr>
        <p:spPr>
          <a:xfrm>
            <a:off x="10160000" y="6451600"/>
            <a:ext cx="1219200" cy="2286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1100">
                <a:solidFill>
                  <a:srgbClr val="94A3B8"/>
                </a:solidFill>
                <a:latin typeface="Hiragino Sans GB"/>
                <a:ea typeface="Hiragino Sans GB"/>
              </a:rPr>
              <a:t>3 / 18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>
  <p:cSld>
    <p:bg>
      <p:bgPr>
        <a:solidFill>
          <a:srgbClr val="F8FAFC">
            <a:alpha val="100000"/>
          </a:srgbClr>
        </a:solidFill>
        <a:effectLst/>
      </p:bgPr>
    </p:bg>
    <p:spTree>
      <p:nvGrpSpPr>
        <p:cNvPr id="51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AutoShape 2"/>
          <p:cNvSpPr/>
          <p:nvPr/>
        </p:nvSpPr>
        <p:spPr>
          <a:xfrm>
            <a:off x="812800" y="533400"/>
            <a:ext cx="50800" cy="2794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513" name="AutoShape 3"/>
          <p:cNvSpPr/>
          <p:nvPr/>
        </p:nvSpPr>
        <p:spPr>
          <a:xfrm>
            <a:off x="990600" y="558800"/>
            <a:ext cx="6350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02 · 现状 — 已有基线</a:t>
            </a:r>
            <a:endParaRPr lang="en-US" sz="1100"/>
          </a:p>
        </p:txBody>
      </p:sp>
      <p:sp>
        <p:nvSpPr>
          <p:cNvPr id="514" name="AutoShape 4"/>
          <p:cNvSpPr/>
          <p:nvPr/>
        </p:nvSpPr>
        <p:spPr>
          <a:xfrm>
            <a:off x="812800" y="838200"/>
            <a:ext cx="105664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6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墨攻已具备九大能力域，执行与内容生成完整</a:t>
            </a:r>
            <a:endParaRPr lang="en-US" sz="1100"/>
          </a:p>
        </p:txBody>
      </p:sp>
      <p:cxnSp>
        <p:nvCxnSpPr>
          <p:cNvPr id="515" name="Connector 5"/>
          <p:cNvCxnSpPr/>
          <p:nvPr/>
        </p:nvCxnSpPr>
        <p:spPr>
          <a:xfrm rot="-4131">
            <a:off x="812804" y="1441450"/>
            <a:ext cx="10566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16" name="AutoShape 6"/>
          <p:cNvSpPr/>
          <p:nvPr/>
        </p:nvSpPr>
        <p:spPr>
          <a:xfrm>
            <a:off x="812800" y="1752600"/>
            <a:ext cx="3378200" cy="1041400"/>
          </a:xfrm>
          <a:prstGeom prst="roundRect">
            <a:avLst>
              <a:gd name="adj" fmla="val 12194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517" name="AutoShape 7"/>
          <p:cNvSpPr/>
          <p:nvPr/>
        </p:nvSpPr>
        <p:spPr>
          <a:xfrm>
            <a:off x="1041400" y="1905000"/>
            <a:ext cx="29718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Agent Runtime</a:t>
            </a:r>
            <a:endParaRPr lang="en-US" sz="1100"/>
          </a:p>
        </p:txBody>
      </p:sp>
      <p:sp>
        <p:nvSpPr>
          <p:cNvPr id="518" name="AutoShape 8"/>
          <p:cNvSpPr/>
          <p:nvPr/>
        </p:nvSpPr>
        <p:spPr>
          <a:xfrm>
            <a:off x="1041400" y="2184400"/>
            <a:ext cx="29718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05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DSH 原生：任务规划、工具调用、Skill、子智能体、受控执行</a:t>
            </a:r>
            <a:endParaRPr lang="en-US" sz="1100"/>
          </a:p>
        </p:txBody>
      </p:sp>
      <p:sp>
        <p:nvSpPr>
          <p:cNvPr id="519" name="AutoShape 9"/>
          <p:cNvSpPr/>
          <p:nvPr/>
        </p:nvSpPr>
        <p:spPr>
          <a:xfrm>
            <a:off x="4394200" y="1752600"/>
            <a:ext cx="3378200" cy="1041400"/>
          </a:xfrm>
          <a:prstGeom prst="roundRect">
            <a:avLst>
              <a:gd name="adj" fmla="val 12194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520" name="AutoShape 10"/>
          <p:cNvSpPr/>
          <p:nvPr/>
        </p:nvSpPr>
        <p:spPr>
          <a:xfrm>
            <a:off x="4622800" y="1905000"/>
            <a:ext cx="29718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企业知识 / RAG</a:t>
            </a:r>
            <a:endParaRPr lang="en-US" sz="1100"/>
          </a:p>
        </p:txBody>
      </p:sp>
      <p:sp>
        <p:nvSpPr>
          <p:cNvPr id="521" name="AutoShape 11"/>
          <p:cNvSpPr/>
          <p:nvPr/>
        </p:nvSpPr>
        <p:spPr>
          <a:xfrm>
            <a:off x="4622800" y="2184400"/>
            <a:ext cx="29718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05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内部+公开检索、多轮研究、保留引用、可分享个人知识库</a:t>
            </a:r>
            <a:endParaRPr lang="en-US" sz="1100"/>
          </a:p>
        </p:txBody>
      </p:sp>
      <p:sp>
        <p:nvSpPr>
          <p:cNvPr id="522" name="AutoShape 12"/>
          <p:cNvSpPr/>
          <p:nvPr/>
        </p:nvSpPr>
        <p:spPr>
          <a:xfrm>
            <a:off x="7975600" y="1752600"/>
            <a:ext cx="3378200" cy="1041400"/>
          </a:xfrm>
          <a:prstGeom prst="roundRect">
            <a:avLst>
              <a:gd name="adj" fmla="val 12194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523" name="AutoShape 13"/>
          <p:cNvSpPr/>
          <p:nvPr/>
        </p:nvSpPr>
        <p:spPr>
          <a:xfrm>
            <a:off x="8204200" y="1905000"/>
            <a:ext cx="29718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多模态理解</a:t>
            </a:r>
            <a:endParaRPr lang="en-US" sz="1100"/>
          </a:p>
        </p:txBody>
      </p:sp>
      <p:sp>
        <p:nvSpPr>
          <p:cNvPr id="524" name="AutoShape 14"/>
          <p:cNvSpPr/>
          <p:nvPr/>
        </p:nvSpPr>
        <p:spPr>
          <a:xfrm>
            <a:off x="8204200" y="2184400"/>
            <a:ext cx="29718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05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PDF/DOCX/XLSX/PPTX/CSV/MD，含文档内图片与图表</a:t>
            </a:r>
            <a:endParaRPr lang="en-US" sz="1100"/>
          </a:p>
        </p:txBody>
      </p:sp>
      <p:sp>
        <p:nvSpPr>
          <p:cNvPr id="525" name="AutoShape 15"/>
          <p:cNvSpPr/>
          <p:nvPr/>
        </p:nvSpPr>
        <p:spPr>
          <a:xfrm>
            <a:off x="812800" y="2946400"/>
            <a:ext cx="3378200" cy="1041400"/>
          </a:xfrm>
          <a:prstGeom prst="roundRect">
            <a:avLst>
              <a:gd name="adj" fmla="val 12194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526" name="AutoShape 16"/>
          <p:cNvSpPr/>
          <p:nvPr/>
        </p:nvSpPr>
        <p:spPr>
          <a:xfrm>
            <a:off x="1041400" y="3098800"/>
            <a:ext cx="29718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内容生成</a:t>
            </a:r>
            <a:endParaRPr lang="en-US" sz="1100"/>
          </a:p>
        </p:txBody>
      </p:sp>
      <p:sp>
        <p:nvSpPr>
          <p:cNvPr id="527" name="AutoShape 17"/>
          <p:cNvSpPr/>
          <p:nvPr/>
        </p:nvSpPr>
        <p:spPr>
          <a:xfrm>
            <a:off x="1041400" y="3378200"/>
            <a:ext cx="29718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05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报告 / 文章 / PPTX / 表格 / PDF / MD 交付物</a:t>
            </a:r>
            <a:endParaRPr lang="en-US" sz="1100"/>
          </a:p>
        </p:txBody>
      </p:sp>
      <p:sp>
        <p:nvSpPr>
          <p:cNvPr id="528" name="AutoShape 18"/>
          <p:cNvSpPr/>
          <p:nvPr/>
        </p:nvSpPr>
        <p:spPr>
          <a:xfrm>
            <a:off x="4394200" y="2946400"/>
            <a:ext cx="3378200" cy="1041400"/>
          </a:xfrm>
          <a:prstGeom prst="roundRect">
            <a:avLst>
              <a:gd name="adj" fmla="val 12194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529" name="AutoShape 19"/>
          <p:cNvSpPr/>
          <p:nvPr/>
        </p:nvSpPr>
        <p:spPr>
          <a:xfrm>
            <a:off x="4622800" y="3098800"/>
            <a:ext cx="29718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集成（MCP）</a:t>
            </a:r>
            <a:endParaRPr lang="en-US" sz="1100"/>
          </a:p>
        </p:txBody>
      </p:sp>
      <p:sp>
        <p:nvSpPr>
          <p:cNvPr id="530" name="AutoShape 20"/>
          <p:cNvSpPr/>
          <p:nvPr/>
        </p:nvSpPr>
        <p:spPr>
          <a:xfrm>
            <a:off x="4622800" y="3378200"/>
            <a:ext cx="29718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05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工作流型 Skill、HTTP / MCP 连接业务系统</a:t>
            </a:r>
            <a:endParaRPr lang="en-US" sz="1100"/>
          </a:p>
        </p:txBody>
      </p:sp>
      <p:sp>
        <p:nvSpPr>
          <p:cNvPr id="531" name="AutoShape 21"/>
          <p:cNvSpPr/>
          <p:nvPr/>
        </p:nvSpPr>
        <p:spPr>
          <a:xfrm>
            <a:off x="7975600" y="2946400"/>
            <a:ext cx="3378200" cy="1041400"/>
          </a:xfrm>
          <a:prstGeom prst="roundRect">
            <a:avLst>
              <a:gd name="adj" fmla="val 12194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532" name="AutoShape 22"/>
          <p:cNvSpPr/>
          <p:nvPr/>
        </p:nvSpPr>
        <p:spPr>
          <a:xfrm>
            <a:off x="8204200" y="3098800"/>
            <a:ext cx="29718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自动化与治理</a:t>
            </a:r>
            <a:endParaRPr lang="en-US" sz="1100"/>
          </a:p>
        </p:txBody>
      </p:sp>
      <p:sp>
        <p:nvSpPr>
          <p:cNvPr id="533" name="AutoShape 23"/>
          <p:cNvSpPr/>
          <p:nvPr/>
        </p:nvSpPr>
        <p:spPr>
          <a:xfrm>
            <a:off x="8204200" y="3378200"/>
            <a:ext cx="29718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05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定时任务、敏感工具审批、执行追踪、产物留存</a:t>
            </a:r>
            <a:endParaRPr lang="en-US" sz="1100"/>
          </a:p>
        </p:txBody>
      </p:sp>
      <p:sp>
        <p:nvSpPr>
          <p:cNvPr id="534" name="AutoShape 24"/>
          <p:cNvSpPr/>
          <p:nvPr/>
        </p:nvSpPr>
        <p:spPr>
          <a:xfrm>
            <a:off x="812800" y="4140200"/>
            <a:ext cx="3378200" cy="1041400"/>
          </a:xfrm>
          <a:prstGeom prst="roundRect">
            <a:avLst>
              <a:gd name="adj" fmla="val 12194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535" name="AutoShape 25"/>
          <p:cNvSpPr/>
          <p:nvPr/>
        </p:nvSpPr>
        <p:spPr>
          <a:xfrm>
            <a:off x="1041400" y="4292600"/>
            <a:ext cx="29718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管理后台</a:t>
            </a:r>
            <a:endParaRPr lang="en-US" sz="1100"/>
          </a:p>
        </p:txBody>
      </p:sp>
      <p:sp>
        <p:nvSpPr>
          <p:cNvPr id="536" name="AutoShape 26"/>
          <p:cNvSpPr/>
          <p:nvPr/>
        </p:nvSpPr>
        <p:spPr>
          <a:xfrm>
            <a:off x="1041400" y="4572000"/>
            <a:ext cx="29718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05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组织/用户/角色/模型/知识/Skill/工具/审计、RBAC</a:t>
            </a:r>
            <a:endParaRPr lang="en-US" sz="1100"/>
          </a:p>
        </p:txBody>
      </p:sp>
      <p:sp>
        <p:nvSpPr>
          <p:cNvPr id="537" name="AutoShape 27"/>
          <p:cNvSpPr/>
          <p:nvPr/>
        </p:nvSpPr>
        <p:spPr>
          <a:xfrm>
            <a:off x="4394200" y="4140200"/>
            <a:ext cx="3378200" cy="1041400"/>
          </a:xfrm>
          <a:prstGeom prst="roundRect">
            <a:avLst>
              <a:gd name="adj" fmla="val 12194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538" name="AutoShape 28"/>
          <p:cNvSpPr/>
          <p:nvPr/>
        </p:nvSpPr>
        <p:spPr>
          <a:xfrm>
            <a:off x="4622800" y="4292600"/>
            <a:ext cx="29718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部署</a:t>
            </a:r>
            <a:endParaRPr lang="en-US" sz="1100"/>
          </a:p>
        </p:txBody>
      </p:sp>
      <p:sp>
        <p:nvSpPr>
          <p:cNvPr id="539" name="AutoShape 29"/>
          <p:cNvSpPr/>
          <p:nvPr/>
        </p:nvSpPr>
        <p:spPr>
          <a:xfrm>
            <a:off x="4622800" y="4572000"/>
            <a:ext cx="29718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05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Docker Compose 一键 14 服务、自托管、模型数据自主</a:t>
            </a:r>
            <a:endParaRPr lang="en-US" sz="1100"/>
          </a:p>
        </p:txBody>
      </p:sp>
      <p:sp>
        <p:nvSpPr>
          <p:cNvPr id="540" name="AutoShape 30"/>
          <p:cNvSpPr/>
          <p:nvPr/>
        </p:nvSpPr>
        <p:spPr>
          <a:xfrm>
            <a:off x="7975600" y="4140200"/>
            <a:ext cx="3378200" cy="1041400"/>
          </a:xfrm>
          <a:prstGeom prst="roundRect">
            <a:avLst>
              <a:gd name="adj" fmla="val 12194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541" name="AutoShape 31"/>
          <p:cNvSpPr/>
          <p:nvPr/>
        </p:nvSpPr>
        <p:spPr>
          <a:xfrm>
            <a:off x="8204200" y="4292600"/>
            <a:ext cx="29718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桌面扩展</a:t>
            </a:r>
            <a:endParaRPr lang="en-US" sz="1100"/>
          </a:p>
        </p:txBody>
      </p:sp>
      <p:sp>
        <p:nvSpPr>
          <p:cNvPr id="542" name="AutoShape 32"/>
          <p:cNvSpPr/>
          <p:nvPr/>
        </p:nvSpPr>
        <p:spPr>
          <a:xfrm>
            <a:off x="8204200" y="4572000"/>
            <a:ext cx="29718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05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墨攻 Desktop 连接浏览器 / Code Agent</a:t>
            </a:r>
            <a:endParaRPr lang="en-US" sz="1100"/>
          </a:p>
        </p:txBody>
      </p:sp>
      <p:sp>
        <p:nvSpPr>
          <p:cNvPr id="543" name="AutoShape 33"/>
          <p:cNvSpPr/>
          <p:nvPr/>
        </p:nvSpPr>
        <p:spPr>
          <a:xfrm>
            <a:off x="812800" y="6451600"/>
            <a:ext cx="3810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墨攻 · 企业级智能体平台</a:t>
            </a:r>
            <a:endParaRPr lang="en-US" sz="1100"/>
          </a:p>
        </p:txBody>
      </p:sp>
      <p:sp>
        <p:nvSpPr>
          <p:cNvPr id="544" name="AutoShape 34"/>
          <p:cNvSpPr/>
          <p:nvPr/>
        </p:nvSpPr>
        <p:spPr>
          <a:xfrm>
            <a:off x="10617200" y="6451600"/>
            <a:ext cx="762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zh-CN" sz="11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4 / 18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>
  <p:cSld>
    <p:bg>
      <p:bgPr>
        <a:solidFill>
          <a:srgbClr val="F8FAFC">
            <a:alpha val="100000"/>
          </a:srgbClr>
        </a:solidFill>
        <a:effectLst/>
      </p:bgPr>
    </p:bg>
    <p:spTree>
      <p:nvGrpSpPr>
        <p:cNvPr id="54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6" name="AutoShape 2"/>
          <p:cNvSpPr/>
          <p:nvPr/>
        </p:nvSpPr>
        <p:spPr>
          <a:xfrm>
            <a:off x="812800" y="533400"/>
            <a:ext cx="50800" cy="2794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547" name="AutoShape 3"/>
          <p:cNvSpPr/>
          <p:nvPr/>
        </p:nvSpPr>
        <p:spPr>
          <a:xfrm>
            <a:off x="990600" y="558800"/>
            <a:ext cx="6350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02 · 现状 — 已领先边界</a:t>
            </a:r>
            <a:endParaRPr lang="en-US" sz="1100"/>
          </a:p>
        </p:txBody>
      </p:sp>
      <p:sp>
        <p:nvSpPr>
          <p:cNvPr id="548" name="AutoShape 4"/>
          <p:cNvSpPr/>
          <p:nvPr/>
        </p:nvSpPr>
        <p:spPr>
          <a:xfrm>
            <a:off x="812800" y="838200"/>
            <a:ext cx="105664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6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五块能力已强于对标，作为"不重复造轮子"的边界</a:t>
            </a:r>
            <a:endParaRPr lang="en-US" sz="1100"/>
          </a:p>
        </p:txBody>
      </p:sp>
      <p:cxnSp>
        <p:nvCxnSpPr>
          <p:cNvPr id="549" name="Connector 5"/>
          <p:cNvCxnSpPr/>
          <p:nvPr/>
        </p:nvCxnSpPr>
        <p:spPr>
          <a:xfrm rot="-4131">
            <a:off x="812804" y="1441450"/>
            <a:ext cx="10566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50" name="AutoShape 6"/>
          <p:cNvSpPr/>
          <p:nvPr/>
        </p:nvSpPr>
        <p:spPr>
          <a:xfrm>
            <a:off x="812800" y="1727200"/>
            <a:ext cx="10566400" cy="609600"/>
          </a:xfrm>
          <a:prstGeom prst="roundRect">
            <a:avLst>
              <a:gd name="adj" fmla="val 16666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551" name="AutoShape 7"/>
          <p:cNvSpPr/>
          <p:nvPr/>
        </p:nvSpPr>
        <p:spPr>
          <a:xfrm>
            <a:off x="1066800" y="1727200"/>
            <a:ext cx="2743200" cy="609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容器化自托管部署</a:t>
            </a:r>
            <a:endParaRPr lang="en-US" sz="1100"/>
          </a:p>
        </p:txBody>
      </p:sp>
      <p:sp>
        <p:nvSpPr>
          <p:cNvPr id="552" name="AutoShape 8"/>
          <p:cNvSpPr/>
          <p:nvPr/>
        </p:nvSpPr>
        <p:spPr>
          <a:xfrm>
            <a:off x="3962400" y="1727200"/>
            <a:ext cx="7213600" cy="609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Docker Compose 一键 14 服务 + CLI 启动器 + 备份/恢复，生产运维底座已就绪</a:t>
            </a:r>
            <a:endParaRPr lang="en-US" sz="1100"/>
          </a:p>
        </p:txBody>
      </p:sp>
      <p:sp>
        <p:nvSpPr>
          <p:cNvPr id="553" name="AutoShape 9"/>
          <p:cNvSpPr/>
          <p:nvPr/>
        </p:nvSpPr>
        <p:spPr>
          <a:xfrm>
            <a:off x="812800" y="2463800"/>
            <a:ext cx="10566400" cy="609600"/>
          </a:xfrm>
          <a:prstGeom prst="roundRect">
            <a:avLst>
              <a:gd name="adj" fmla="val 16666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554" name="AutoShape 10"/>
          <p:cNvSpPr/>
          <p:nvPr/>
        </p:nvSpPr>
        <p:spPr>
          <a:xfrm>
            <a:off x="1066800" y="2463800"/>
            <a:ext cx="2743200" cy="609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Docling 多格式解析</a:t>
            </a:r>
            <a:endParaRPr lang="en-US" sz="1100"/>
          </a:p>
        </p:txBody>
      </p:sp>
      <p:sp>
        <p:nvSpPr>
          <p:cNvPr id="555" name="AutoShape 11"/>
          <p:cNvSpPr/>
          <p:nvPr/>
        </p:nvSpPr>
        <p:spPr>
          <a:xfrm>
            <a:off x="3962400" y="2463800"/>
            <a:ext cx="7213600" cy="609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PDF/DOCX/XLSX/PPTX/CSV + LibreOffice 预览，文档理解强于对标方案</a:t>
            </a:r>
            <a:endParaRPr lang="en-US" sz="1100"/>
          </a:p>
        </p:txBody>
      </p:sp>
      <p:sp>
        <p:nvSpPr>
          <p:cNvPr id="556" name="AutoShape 12"/>
          <p:cNvSpPr/>
          <p:nvPr/>
        </p:nvSpPr>
        <p:spPr>
          <a:xfrm>
            <a:off x="812800" y="3200400"/>
            <a:ext cx="10566400" cy="609600"/>
          </a:xfrm>
          <a:prstGeom prst="roundRect">
            <a:avLst>
              <a:gd name="adj" fmla="val 16666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557" name="AutoShape 13"/>
          <p:cNvSpPr/>
          <p:nvPr/>
        </p:nvSpPr>
        <p:spPr>
          <a:xfrm>
            <a:off x="1066800" y="3200400"/>
            <a:ext cx="2743200" cy="609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内容与文件生成</a:t>
            </a:r>
            <a:endParaRPr lang="en-US" sz="1100"/>
          </a:p>
        </p:txBody>
      </p:sp>
      <p:sp>
        <p:nvSpPr>
          <p:cNvPr id="558" name="AutoShape 14"/>
          <p:cNvSpPr/>
          <p:nvPr/>
        </p:nvSpPr>
        <p:spPr>
          <a:xfrm>
            <a:off x="3962400" y="3200400"/>
            <a:ext cx="7213600" cy="609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报告/文章/PPTX/表格/PDF/翻译/表单——对标几乎空白，墨攻差异化强项</a:t>
            </a:r>
            <a:endParaRPr lang="en-US" sz="1100"/>
          </a:p>
        </p:txBody>
      </p:sp>
      <p:sp>
        <p:nvSpPr>
          <p:cNvPr id="559" name="AutoShape 15"/>
          <p:cNvSpPr/>
          <p:nvPr/>
        </p:nvSpPr>
        <p:spPr>
          <a:xfrm>
            <a:off x="812800" y="3937000"/>
            <a:ext cx="10566400" cy="609600"/>
          </a:xfrm>
          <a:prstGeom prst="roundRect">
            <a:avLst>
              <a:gd name="adj" fmla="val 16666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560" name="AutoShape 16"/>
          <p:cNvSpPr/>
          <p:nvPr/>
        </p:nvSpPr>
        <p:spPr>
          <a:xfrm>
            <a:off x="1066800" y="3937000"/>
            <a:ext cx="2743200" cy="609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多形态 Agent</a:t>
            </a:r>
            <a:endParaRPr lang="en-US" sz="1100"/>
          </a:p>
        </p:txBody>
      </p:sp>
      <p:sp>
        <p:nvSpPr>
          <p:cNvPr id="561" name="AutoShape 17"/>
          <p:cNvSpPr/>
          <p:nvPr/>
        </p:nvSpPr>
        <p:spPr>
          <a:xfrm>
            <a:off x="3962400" y="3937000"/>
            <a:ext cx="7213600" cy="609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浏览器 Agent、代码 Agent、子智能体（桌面端），执行形态丰富</a:t>
            </a:r>
            <a:endParaRPr lang="en-US" sz="1100"/>
          </a:p>
        </p:txBody>
      </p:sp>
      <p:sp>
        <p:nvSpPr>
          <p:cNvPr id="562" name="AutoShape 18"/>
          <p:cNvSpPr/>
          <p:nvPr/>
        </p:nvSpPr>
        <p:spPr>
          <a:xfrm>
            <a:off x="812800" y="4673600"/>
            <a:ext cx="10566400" cy="609600"/>
          </a:xfrm>
          <a:prstGeom prst="roundRect">
            <a:avLst>
              <a:gd name="adj" fmla="val 16666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563" name="AutoShape 19"/>
          <p:cNvSpPr/>
          <p:nvPr/>
        </p:nvSpPr>
        <p:spPr>
          <a:xfrm>
            <a:off x="1066800" y="4673600"/>
            <a:ext cx="2743200" cy="609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SkillHub 生态</a:t>
            </a:r>
            <a:endParaRPr lang="en-US" sz="1100"/>
          </a:p>
        </p:txBody>
      </p:sp>
      <p:sp>
        <p:nvSpPr>
          <p:cNvPr id="564" name="AutoShape 20"/>
          <p:cNvSpPr/>
          <p:nvPr/>
        </p:nvSpPr>
        <p:spPr>
          <a:xfrm>
            <a:off x="3962400" y="4673600"/>
            <a:ext cx="7213600" cy="609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企业知识研究、引用证据、Skill 市场 + ZIP 安装，知识闭环与分发成型</a:t>
            </a:r>
            <a:endParaRPr lang="en-US" sz="1100"/>
          </a:p>
        </p:txBody>
      </p:sp>
      <p:sp>
        <p:nvSpPr>
          <p:cNvPr id="565" name="AutoShape 21"/>
          <p:cNvSpPr/>
          <p:nvPr/>
        </p:nvSpPr>
        <p:spPr>
          <a:xfrm>
            <a:off x="812800" y="5537200"/>
            <a:ext cx="10566400" cy="558800"/>
          </a:xfrm>
          <a:prstGeom prst="roundRect">
            <a:avLst>
              <a:gd name="adj" fmla="val 18180"/>
            </a:avLst>
          </a:prstGeom>
          <a:solidFill>
            <a:srgbClr val="F0F9F7">
              <a:alpha val="100000"/>
            </a:srgbClr>
          </a:solidFill>
          <a:ln w="12700" cap="flat" cmpd="sng">
            <a:solidFill>
              <a:srgbClr val="10B9A9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566" name="AutoShape 22"/>
          <p:cNvSpPr/>
          <p:nvPr/>
        </p:nvSpPr>
        <p:spPr>
          <a:xfrm>
            <a:off x="1066800" y="5537200"/>
            <a:ext cx="15240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结论</a:t>
            </a:r>
            <a:endParaRPr lang="en-US" sz="1100"/>
          </a:p>
        </p:txBody>
      </p:sp>
      <p:sp>
        <p:nvSpPr>
          <p:cNvPr id="567" name="AutoShape 23"/>
          <p:cNvSpPr/>
          <p:nvPr/>
        </p:nvSpPr>
        <p:spPr>
          <a:xfrm>
            <a:off x="2540000" y="5537200"/>
            <a:ext cx="86360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5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这五块是后续补强的"不重复造轮子"边界，所有新增能力只做加法、不推倒重来。</a:t>
            </a:r>
            <a:endParaRPr lang="en-US" sz="1100"/>
          </a:p>
        </p:txBody>
      </p:sp>
      <p:sp>
        <p:nvSpPr>
          <p:cNvPr id="568" name="AutoShape 24"/>
          <p:cNvSpPr/>
          <p:nvPr/>
        </p:nvSpPr>
        <p:spPr>
          <a:xfrm>
            <a:off x="812800" y="6451600"/>
            <a:ext cx="3810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墨攻 · 企业级智能体平台</a:t>
            </a:r>
            <a:endParaRPr lang="en-US" sz="1100"/>
          </a:p>
        </p:txBody>
      </p:sp>
      <p:sp>
        <p:nvSpPr>
          <p:cNvPr id="569" name="AutoShape 25"/>
          <p:cNvSpPr/>
          <p:nvPr/>
        </p:nvSpPr>
        <p:spPr>
          <a:xfrm>
            <a:off x="10617200" y="6451600"/>
            <a:ext cx="762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zh-CN" sz="11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5 / 18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>
  <p:cSld>
    <p:bg>
      <p:bgPr>
        <a:solidFill>
          <a:srgbClr val="F8FAFC">
            <a:alpha val="100000"/>
          </a:srgbClr>
        </a:solidFill>
        <a:effectLst/>
      </p:bgPr>
    </p:bg>
    <p:spTree>
      <p:nvGrpSpPr>
        <p:cNvPr id="57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" name="AutoShape 2"/>
          <p:cNvSpPr/>
          <p:nvPr/>
        </p:nvSpPr>
        <p:spPr>
          <a:xfrm>
            <a:off x="812800" y="533400"/>
            <a:ext cx="50800" cy="2794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572" name="AutoShape 3"/>
          <p:cNvSpPr/>
          <p:nvPr/>
        </p:nvSpPr>
        <p:spPr>
          <a:xfrm>
            <a:off x="990600" y="558800"/>
            <a:ext cx="6350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1" i="0" u="none" strike="noStrike" dirty="0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 xml:space="preserve">03 · GAP — </a:t>
            </a:r>
            <a:r>
              <a:rPr lang="en-US" sz="1200" b="1" i="0" u="none" strike="noStrike" dirty="0" err="1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六大补强</a:t>
            </a:r>
            <a:endParaRPr lang="en-US" sz="1100" dirty="0"/>
          </a:p>
        </p:txBody>
      </p:sp>
      <p:sp>
        <p:nvSpPr>
          <p:cNvPr id="573" name="AutoShape 4"/>
          <p:cNvSpPr/>
          <p:nvPr/>
        </p:nvSpPr>
        <p:spPr>
          <a:xfrm>
            <a:off x="812800" y="838200"/>
            <a:ext cx="105664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600" b="1" dirty="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补强</a:t>
            </a:r>
            <a:r>
              <a:rPr lang="en-US" sz="2600" b="1" i="0" u="none" strike="noStrike" dirty="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 xml:space="preserve">分级：P0 </a:t>
            </a:r>
            <a:r>
              <a:rPr lang="en-US" sz="2600" b="1" i="0" u="none" strike="noStrike" dirty="0" err="1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合规刚需</a:t>
            </a:r>
            <a:r>
              <a:rPr lang="en-US" sz="2600" b="1" i="0" u="none" strike="noStrike" dirty="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 xml:space="preserve"> → P1 </a:t>
            </a:r>
            <a:r>
              <a:rPr lang="en-US" sz="2600" b="1" i="0" u="none" strike="noStrike" dirty="0" err="1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可靠协作</a:t>
            </a:r>
            <a:r>
              <a:rPr lang="en-US" sz="2600" b="1" i="0" u="none" strike="noStrike" dirty="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 xml:space="preserve"> → P2 </a:t>
            </a:r>
            <a:r>
              <a:rPr lang="en-US" sz="2600" b="1" i="0" u="none" strike="noStrike" dirty="0" err="1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生态自进化</a:t>
            </a:r>
            <a:endParaRPr lang="en-US" sz="1100" dirty="0"/>
          </a:p>
        </p:txBody>
      </p:sp>
      <p:cxnSp>
        <p:nvCxnSpPr>
          <p:cNvPr id="574" name="Connector 5"/>
          <p:cNvCxnSpPr/>
          <p:nvPr/>
        </p:nvCxnSpPr>
        <p:spPr>
          <a:xfrm rot="-4131">
            <a:off x="812804" y="1441450"/>
            <a:ext cx="10566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75" name="AutoShape 6"/>
          <p:cNvSpPr/>
          <p:nvPr/>
        </p:nvSpPr>
        <p:spPr>
          <a:xfrm>
            <a:off x="812800" y="1701800"/>
            <a:ext cx="3378200" cy="609600"/>
          </a:xfrm>
          <a:prstGeom prst="roundRect">
            <a:avLst>
              <a:gd name="adj" fmla="val 16666"/>
            </a:avLst>
          </a:prstGeom>
          <a:solidFill>
            <a:srgbClr val="0D9488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576" name="AutoShape 7"/>
          <p:cNvSpPr/>
          <p:nvPr/>
        </p:nvSpPr>
        <p:spPr>
          <a:xfrm>
            <a:off x="1066800" y="1701800"/>
            <a:ext cx="762000" cy="609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P0</a:t>
            </a:r>
            <a:endParaRPr lang="en-US" sz="1100"/>
          </a:p>
        </p:txBody>
      </p:sp>
      <p:sp>
        <p:nvSpPr>
          <p:cNvPr id="577" name="AutoShape 8"/>
          <p:cNvSpPr/>
          <p:nvPr/>
        </p:nvSpPr>
        <p:spPr>
          <a:xfrm>
            <a:off x="1778000" y="1701800"/>
            <a:ext cx="2286000" cy="609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企业入场券</a:t>
            </a:r>
            <a:endParaRPr lang="en-US" sz="1100"/>
          </a:p>
        </p:txBody>
      </p:sp>
      <p:sp>
        <p:nvSpPr>
          <p:cNvPr id="578" name="AutoShape 9"/>
          <p:cNvSpPr/>
          <p:nvPr/>
        </p:nvSpPr>
        <p:spPr>
          <a:xfrm>
            <a:off x="4394200" y="1701800"/>
            <a:ext cx="3378200" cy="609600"/>
          </a:xfrm>
          <a:prstGeom prst="roundRect">
            <a:avLst>
              <a:gd name="adj" fmla="val 16666"/>
            </a:avLst>
          </a:prstGeom>
          <a:solidFill>
            <a:srgbClr val="64748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579" name="AutoShape 10"/>
          <p:cNvSpPr/>
          <p:nvPr/>
        </p:nvSpPr>
        <p:spPr>
          <a:xfrm>
            <a:off x="4648200" y="1701800"/>
            <a:ext cx="762000" cy="609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P1</a:t>
            </a:r>
            <a:endParaRPr lang="en-US" sz="1100"/>
          </a:p>
        </p:txBody>
      </p:sp>
      <p:sp>
        <p:nvSpPr>
          <p:cNvPr id="580" name="AutoShape 11"/>
          <p:cNvSpPr/>
          <p:nvPr/>
        </p:nvSpPr>
        <p:spPr>
          <a:xfrm>
            <a:off x="5359400" y="1701800"/>
            <a:ext cx="2286000" cy="609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可靠性与协作</a:t>
            </a:r>
            <a:endParaRPr lang="en-US" sz="1100"/>
          </a:p>
        </p:txBody>
      </p:sp>
      <p:sp>
        <p:nvSpPr>
          <p:cNvPr id="581" name="AutoShape 12"/>
          <p:cNvSpPr/>
          <p:nvPr/>
        </p:nvSpPr>
        <p:spPr>
          <a:xfrm>
            <a:off x="7975600" y="1701800"/>
            <a:ext cx="3378200" cy="609600"/>
          </a:xfrm>
          <a:prstGeom prst="roundRect">
            <a:avLst>
              <a:gd name="adj" fmla="val 16666"/>
            </a:avLst>
          </a:prstGeom>
          <a:solidFill>
            <a:srgbClr val="1E293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582" name="AutoShape 13"/>
          <p:cNvSpPr/>
          <p:nvPr/>
        </p:nvSpPr>
        <p:spPr>
          <a:xfrm>
            <a:off x="8229600" y="1701800"/>
            <a:ext cx="762000" cy="609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P2</a:t>
            </a:r>
            <a:endParaRPr lang="en-US" sz="1100"/>
          </a:p>
        </p:txBody>
      </p:sp>
      <p:sp>
        <p:nvSpPr>
          <p:cNvPr id="583" name="AutoShape 14"/>
          <p:cNvSpPr/>
          <p:nvPr/>
        </p:nvSpPr>
        <p:spPr>
          <a:xfrm>
            <a:off x="8940800" y="1701800"/>
            <a:ext cx="2286000" cy="609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自进化与生态</a:t>
            </a:r>
            <a:endParaRPr lang="en-US" sz="1100"/>
          </a:p>
        </p:txBody>
      </p:sp>
      <p:sp>
        <p:nvSpPr>
          <p:cNvPr id="584" name="AutoShape 15"/>
          <p:cNvSpPr/>
          <p:nvPr/>
        </p:nvSpPr>
        <p:spPr>
          <a:xfrm>
            <a:off x="812800" y="2463800"/>
            <a:ext cx="3378200" cy="838200"/>
          </a:xfrm>
          <a:prstGeom prst="roundRect">
            <a:avLst>
              <a:gd name="adj" fmla="val 1212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585" name="AutoShape 16"/>
          <p:cNvSpPr/>
          <p:nvPr/>
        </p:nvSpPr>
        <p:spPr>
          <a:xfrm>
            <a:off x="1041400" y="2590800"/>
            <a:ext cx="29718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治理与风控层</a:t>
            </a:r>
            <a:endParaRPr lang="en-US" sz="1100"/>
          </a:p>
        </p:txBody>
      </p:sp>
      <p:sp>
        <p:nvSpPr>
          <p:cNvPr id="586" name="AutoShape 17"/>
          <p:cNvSpPr/>
          <p:nvPr/>
        </p:nvSpPr>
        <p:spPr>
          <a:xfrm>
            <a:off x="1041400" y="2870200"/>
            <a:ext cx="29718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5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六层门禁 · 风险分级 · RBAC 码 · 脱敏</a:t>
            </a:r>
            <a:endParaRPr lang="en-US" sz="1100"/>
          </a:p>
        </p:txBody>
      </p:sp>
      <p:sp>
        <p:nvSpPr>
          <p:cNvPr id="587" name="AutoShape 18"/>
          <p:cNvSpPr/>
          <p:nvPr/>
        </p:nvSpPr>
        <p:spPr>
          <a:xfrm>
            <a:off x="812800" y="3429000"/>
            <a:ext cx="3378200" cy="838200"/>
          </a:xfrm>
          <a:prstGeom prst="roundRect">
            <a:avLst>
              <a:gd name="adj" fmla="val 1212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588" name="AutoShape 19"/>
          <p:cNvSpPr/>
          <p:nvPr/>
        </p:nvSpPr>
        <p:spPr>
          <a:xfrm>
            <a:off x="1041400" y="3556000"/>
            <a:ext cx="29718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LLM 网关韧性</a:t>
            </a:r>
            <a:endParaRPr lang="en-US" sz="1100"/>
          </a:p>
        </p:txBody>
      </p:sp>
      <p:sp>
        <p:nvSpPr>
          <p:cNvPr id="589" name="AutoShape 20"/>
          <p:cNvSpPr/>
          <p:nvPr/>
        </p:nvSpPr>
        <p:spPr>
          <a:xfrm>
            <a:off x="1041400" y="3835400"/>
            <a:ext cx="29718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5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故障转移 · 降级链 · 退避重试 · 计量</a:t>
            </a:r>
            <a:endParaRPr lang="en-US" sz="1100"/>
          </a:p>
        </p:txBody>
      </p:sp>
      <p:sp>
        <p:nvSpPr>
          <p:cNvPr id="590" name="AutoShape 21"/>
          <p:cNvSpPr/>
          <p:nvPr/>
        </p:nvSpPr>
        <p:spPr>
          <a:xfrm>
            <a:off x="812800" y="4394200"/>
            <a:ext cx="3378200" cy="838200"/>
          </a:xfrm>
          <a:prstGeom prst="roundRect">
            <a:avLst>
              <a:gd name="adj" fmla="val 1212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591" name="AutoShape 22"/>
          <p:cNvSpPr/>
          <p:nvPr/>
        </p:nvSpPr>
        <p:spPr>
          <a:xfrm>
            <a:off x="1041400" y="4521200"/>
            <a:ext cx="29718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运营驾驶舱</a:t>
            </a:r>
            <a:endParaRPr lang="en-US" sz="1100"/>
          </a:p>
        </p:txBody>
      </p:sp>
      <p:sp>
        <p:nvSpPr>
          <p:cNvPr id="592" name="AutoShape 23"/>
          <p:cNvSpPr/>
          <p:nvPr/>
        </p:nvSpPr>
        <p:spPr>
          <a:xfrm>
            <a:off x="1041400" y="4800600"/>
            <a:ext cx="29718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5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成本 / 使用 / 质量 / 趋势 四维看板</a:t>
            </a:r>
            <a:endParaRPr lang="en-US" sz="1100"/>
          </a:p>
        </p:txBody>
      </p:sp>
      <p:sp>
        <p:nvSpPr>
          <p:cNvPr id="593" name="AutoShape 24"/>
          <p:cNvSpPr/>
          <p:nvPr/>
        </p:nvSpPr>
        <p:spPr>
          <a:xfrm>
            <a:off x="4394200" y="2463800"/>
            <a:ext cx="3378200" cy="838200"/>
          </a:xfrm>
          <a:prstGeom prst="roundRect">
            <a:avLst>
              <a:gd name="adj" fmla="val 1212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594" name="AutoShape 25"/>
          <p:cNvSpPr/>
          <p:nvPr/>
        </p:nvSpPr>
        <p:spPr>
          <a:xfrm>
            <a:off x="4622800" y="2590800"/>
            <a:ext cx="29718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Hooks 拦截机制</a:t>
            </a:r>
            <a:endParaRPr lang="en-US" sz="1100"/>
          </a:p>
        </p:txBody>
      </p:sp>
      <p:sp>
        <p:nvSpPr>
          <p:cNvPr id="595" name="AutoShape 26"/>
          <p:cNvSpPr/>
          <p:nvPr/>
        </p:nvSpPr>
        <p:spPr>
          <a:xfrm>
            <a:off x="4622800" y="2870200"/>
            <a:ext cx="29718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5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五事件钩子 · 声明式规则 · fail-closed</a:t>
            </a:r>
            <a:endParaRPr lang="en-US" sz="1100"/>
          </a:p>
        </p:txBody>
      </p:sp>
      <p:sp>
        <p:nvSpPr>
          <p:cNvPr id="596" name="AutoShape 27"/>
          <p:cNvSpPr/>
          <p:nvPr/>
        </p:nvSpPr>
        <p:spPr>
          <a:xfrm>
            <a:off x="4394200" y="3429000"/>
            <a:ext cx="3378200" cy="838200"/>
          </a:xfrm>
          <a:prstGeom prst="roundRect">
            <a:avLst>
              <a:gd name="adj" fmla="val 1212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597" name="AutoShape 28"/>
          <p:cNvSpPr/>
          <p:nvPr/>
        </p:nvSpPr>
        <p:spPr>
          <a:xfrm>
            <a:off x="4622800" y="3556000"/>
            <a:ext cx="29718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DAG 通用编排</a:t>
            </a:r>
            <a:endParaRPr lang="en-US" sz="1100"/>
          </a:p>
        </p:txBody>
      </p:sp>
      <p:sp>
        <p:nvSpPr>
          <p:cNvPr id="598" name="AutoShape 29"/>
          <p:cNvSpPr/>
          <p:nvPr/>
        </p:nvSpPr>
        <p:spPr>
          <a:xfrm>
            <a:off x="4622800" y="3835400"/>
            <a:ext cx="29718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5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四模式 · 拓扑排序 · 环检测 · 节点重试</a:t>
            </a:r>
            <a:endParaRPr lang="en-US" sz="1100"/>
          </a:p>
        </p:txBody>
      </p:sp>
      <p:sp>
        <p:nvSpPr>
          <p:cNvPr id="599" name="AutoShape 30"/>
          <p:cNvSpPr/>
          <p:nvPr/>
        </p:nvSpPr>
        <p:spPr>
          <a:xfrm>
            <a:off x="4394200" y="4394200"/>
            <a:ext cx="3378200" cy="838200"/>
          </a:xfrm>
          <a:prstGeom prst="roundRect">
            <a:avLst>
              <a:gd name="adj" fmla="val 1212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600" name="AutoShape 31"/>
          <p:cNvSpPr/>
          <p:nvPr/>
        </p:nvSpPr>
        <p:spPr>
          <a:xfrm>
            <a:off x="4622800" y="4521200"/>
            <a:ext cx="29718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会话/工作流双版本化</a:t>
            </a:r>
            <a:endParaRPr lang="en-US" sz="1100"/>
          </a:p>
        </p:txBody>
      </p:sp>
      <p:sp>
        <p:nvSpPr>
          <p:cNvPr id="601" name="AutoShape 32"/>
          <p:cNvSpPr/>
          <p:nvPr/>
        </p:nvSpPr>
        <p:spPr>
          <a:xfrm>
            <a:off x="4622800" y="4800600"/>
            <a:ext cx="29718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5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commit / resume / share + GraphSpec 契约</a:t>
            </a:r>
            <a:endParaRPr lang="en-US" sz="1100"/>
          </a:p>
        </p:txBody>
      </p:sp>
      <p:sp>
        <p:nvSpPr>
          <p:cNvPr id="602" name="AutoShape 33"/>
          <p:cNvSpPr/>
          <p:nvPr/>
        </p:nvSpPr>
        <p:spPr>
          <a:xfrm>
            <a:off x="7975600" y="2463800"/>
            <a:ext cx="3378200" cy="838200"/>
          </a:xfrm>
          <a:prstGeom prst="roundRect">
            <a:avLst>
              <a:gd name="adj" fmla="val 1212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603" name="AutoShape 34"/>
          <p:cNvSpPr/>
          <p:nvPr/>
        </p:nvSpPr>
        <p:spPr>
          <a:xfrm>
            <a:off x="8204200" y="2590800"/>
            <a:ext cx="29718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Dream 自进化</a:t>
            </a:r>
            <a:endParaRPr lang="en-US" sz="1100"/>
          </a:p>
        </p:txBody>
      </p:sp>
      <p:sp>
        <p:nvSpPr>
          <p:cNvPr id="604" name="AutoShape 35"/>
          <p:cNvSpPr/>
          <p:nvPr/>
        </p:nvSpPr>
        <p:spPr>
          <a:xfrm>
            <a:off x="8204200" y="2870200"/>
            <a:ext cx="29718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5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会话 → 经验 → Skill 闭环 · 自动淘汰</a:t>
            </a:r>
            <a:endParaRPr lang="en-US" sz="1100"/>
          </a:p>
        </p:txBody>
      </p:sp>
      <p:sp>
        <p:nvSpPr>
          <p:cNvPr id="605" name="AutoShape 36"/>
          <p:cNvSpPr/>
          <p:nvPr/>
        </p:nvSpPr>
        <p:spPr>
          <a:xfrm>
            <a:off x="7975600" y="3429000"/>
            <a:ext cx="3378200" cy="838200"/>
          </a:xfrm>
          <a:prstGeom prst="roundRect">
            <a:avLst>
              <a:gd name="adj" fmla="val 1212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606" name="AutoShape 37"/>
          <p:cNvSpPr/>
          <p:nvPr/>
        </p:nvSpPr>
        <p:spPr>
          <a:xfrm>
            <a:off x="8204200" y="3556000"/>
            <a:ext cx="29718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会话级与生态清单</a:t>
            </a:r>
            <a:endParaRPr lang="en-US" sz="1100"/>
          </a:p>
        </p:txBody>
      </p:sp>
      <p:sp>
        <p:nvSpPr>
          <p:cNvPr id="607" name="AutoShape 38"/>
          <p:cNvSpPr/>
          <p:nvPr/>
        </p:nvSpPr>
        <p:spPr>
          <a:xfrm>
            <a:off x="8204200" y="3835400"/>
            <a:ext cx="29718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5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秘密不上链 · A2A · 多 IM · 知识图谱</a:t>
            </a:r>
            <a:endParaRPr lang="en-US" sz="1100"/>
          </a:p>
        </p:txBody>
      </p:sp>
      <p:sp>
        <p:nvSpPr>
          <p:cNvPr id="608" name="AutoShape 39"/>
          <p:cNvSpPr/>
          <p:nvPr/>
        </p:nvSpPr>
        <p:spPr>
          <a:xfrm>
            <a:off x="7975600" y="4394200"/>
            <a:ext cx="3378200" cy="838200"/>
          </a:xfrm>
          <a:prstGeom prst="roundRect">
            <a:avLst>
              <a:gd name="adj" fmla="val 1212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609" name="AutoShape 40"/>
          <p:cNvSpPr/>
          <p:nvPr/>
        </p:nvSpPr>
        <p:spPr>
          <a:xfrm>
            <a:off x="8204200" y="4521200"/>
            <a:ext cx="29718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Skill 市场强化</a:t>
            </a:r>
            <a:endParaRPr lang="en-US" sz="1100"/>
          </a:p>
        </p:txBody>
      </p:sp>
      <p:sp>
        <p:nvSpPr>
          <p:cNvPr id="610" name="AutoShape 41"/>
          <p:cNvSpPr/>
          <p:nvPr/>
        </p:nvSpPr>
        <p:spPr>
          <a:xfrm>
            <a:off x="8204200" y="4800600"/>
            <a:ext cx="29718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5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三范围 Memory · 能力资产化 · 厚/薄 Harness</a:t>
            </a:r>
            <a:endParaRPr lang="en-US" sz="1100"/>
          </a:p>
        </p:txBody>
      </p:sp>
      <p:sp>
        <p:nvSpPr>
          <p:cNvPr id="611" name="AutoShape 42"/>
          <p:cNvSpPr/>
          <p:nvPr/>
        </p:nvSpPr>
        <p:spPr>
          <a:xfrm>
            <a:off x="812800" y="5486400"/>
            <a:ext cx="105664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zh-CN" sz="125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最新进展：31 个特性已按 SDD 落地，库代码 + 单测全绿，接线与 UI 触点闭合；specs/ 31 个特性（31 份 tasks.md · 1000+ 项）已归档。</a:t>
            </a:r>
            <a:endParaRPr lang="zh-CN" sz="1250" b="0" i="0" u="none" strike="noStrike">
              <a:solidFill>
                <a:srgbClr val="64748B"/>
              </a:solidFill>
              <a:latin typeface="Hiragino Sans GB"/>
              <a:ea typeface="Hiragino Sans GB"/>
              <a:cs typeface="Hiragino Sans GB"/>
              <a:sym typeface="Hiragino Sans GB"/>
            </a:endParaRPr>
          </a:p>
        </p:txBody>
      </p:sp>
      <p:sp>
        <p:nvSpPr>
          <p:cNvPr id="612" name="AutoShape 43"/>
          <p:cNvSpPr/>
          <p:nvPr/>
        </p:nvSpPr>
        <p:spPr>
          <a:xfrm>
            <a:off x="812800" y="6451600"/>
            <a:ext cx="3810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墨攻 · 企业级智能体平台</a:t>
            </a:r>
            <a:endParaRPr lang="en-US" sz="1100"/>
          </a:p>
        </p:txBody>
      </p:sp>
      <p:sp>
        <p:nvSpPr>
          <p:cNvPr id="613" name="AutoShape 44"/>
          <p:cNvSpPr/>
          <p:nvPr/>
        </p:nvSpPr>
        <p:spPr>
          <a:xfrm>
            <a:off x="10617200" y="6451600"/>
            <a:ext cx="762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zh-CN" sz="11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6 / 18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>
  <p:cSld>
    <p:spTree>
      <p:nvGrpSpPr>
        <p:cNvPr id="61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5" name="圆角矩形 158"/>
          <p:cNvSpPr/>
          <p:nvPr/>
        </p:nvSpPr>
        <p:spPr>
          <a:xfrm>
            <a:off x="812800" y="533400"/>
            <a:ext cx="50800" cy="279400"/>
          </a:xfrm>
          <a:prstGeom prst="roundRect">
            <a:avLst>
              <a:gd name="adj" fmla="val 4376"/>
            </a:avLst>
          </a:prstGeom>
          <a:solidFill>
            <a:srgbClr val="10B9A9"/>
          </a:solidFill>
          <a:ln>
            <a:noFill/>
          </a:ln>
        </p:spPr>
        <p:txBody>
          <a:bodyPr/>
          <a:lstStyle/>
          <a:p>
            <a:pPr/>
            <a:endParaRPr/>
          </a:p>
        </p:txBody>
      </p:sp>
      <p:sp>
        <p:nvSpPr>
          <p:cNvPr id="616" name="矩形 159"/>
          <p:cNvSpPr/>
          <p:nvPr/>
        </p:nvSpPr>
        <p:spPr>
          <a:xfrm>
            <a:off x="812800" y="1447800"/>
            <a:ext cx="10566400" cy="12700"/>
          </a:xfrm>
          <a:prstGeom prst="rect">
            <a:avLst/>
          </a:prstGeom>
          <a:solidFill>
            <a:srgbClr val="DEE0E3"/>
          </a:solidFill>
          <a:ln>
            <a:noFill/>
          </a:ln>
        </p:spPr>
        <p:txBody>
          <a:bodyPr/>
          <a:lstStyle/>
          <a:p>
            <a:pPr/>
            <a:endParaRPr/>
          </a:p>
        </p:txBody>
      </p:sp>
      <p:sp>
        <p:nvSpPr>
          <p:cNvPr id="617" name="圆角矩形 160"/>
          <p:cNvSpPr/>
          <p:nvPr/>
        </p:nvSpPr>
        <p:spPr>
          <a:xfrm>
            <a:off x="812800" y="1676400"/>
            <a:ext cx="5130800" cy="381000"/>
          </a:xfrm>
          <a:prstGeom prst="roundRect">
            <a:avLst>
              <a:gd name="adj" fmla="val 4376"/>
            </a:avLst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pPr/>
            <a:endParaRPr/>
          </a:p>
        </p:txBody>
      </p:sp>
      <p:sp>
        <p:nvSpPr>
          <p:cNvPr id="618" name="圆角矩形 161"/>
          <p:cNvSpPr/>
          <p:nvPr/>
        </p:nvSpPr>
        <p:spPr>
          <a:xfrm>
            <a:off x="6248400" y="1676400"/>
            <a:ext cx="5130800" cy="381000"/>
          </a:xfrm>
          <a:prstGeom prst="roundRect">
            <a:avLst>
              <a:gd name="adj" fmla="val 4376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pPr/>
            <a:endParaRPr/>
          </a:p>
        </p:txBody>
      </p:sp>
      <p:sp>
        <p:nvSpPr>
          <p:cNvPr id="619" name="圆角矩形 162"/>
          <p:cNvSpPr/>
          <p:nvPr/>
        </p:nvSpPr>
        <p:spPr>
          <a:xfrm>
            <a:off x="812800" y="2235200"/>
            <a:ext cx="2489200" cy="3149600"/>
          </a:xfrm>
          <a:prstGeom prst="roundRect">
            <a:avLst>
              <a:gd name="adj" fmla="val 437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pPr/>
            <a:endParaRPr/>
          </a:p>
        </p:txBody>
      </p:sp>
      <p:sp>
        <p:nvSpPr>
          <p:cNvPr id="620" name="圆角矩形 163"/>
          <p:cNvSpPr/>
          <p:nvPr/>
        </p:nvSpPr>
        <p:spPr>
          <a:xfrm>
            <a:off x="3454400" y="2235200"/>
            <a:ext cx="2489200" cy="3149600"/>
          </a:xfrm>
          <a:prstGeom prst="roundRect">
            <a:avLst>
              <a:gd name="adj" fmla="val 437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pPr/>
            <a:endParaRPr/>
          </a:p>
        </p:txBody>
      </p:sp>
      <p:sp>
        <p:nvSpPr>
          <p:cNvPr id="621" name="圆角矩形 164"/>
          <p:cNvSpPr/>
          <p:nvPr/>
        </p:nvSpPr>
        <p:spPr>
          <a:xfrm>
            <a:off x="6096000" y="2235200"/>
            <a:ext cx="2489200" cy="3149600"/>
          </a:xfrm>
          <a:prstGeom prst="roundRect">
            <a:avLst>
              <a:gd name="adj" fmla="val 437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pPr/>
            <a:endParaRPr/>
          </a:p>
        </p:txBody>
      </p:sp>
      <p:sp>
        <p:nvSpPr>
          <p:cNvPr id="622" name="圆角矩形 165"/>
          <p:cNvSpPr/>
          <p:nvPr/>
        </p:nvSpPr>
        <p:spPr>
          <a:xfrm>
            <a:off x="8737600" y="2235200"/>
            <a:ext cx="2641600" cy="3149600"/>
          </a:xfrm>
          <a:prstGeom prst="roundRect">
            <a:avLst>
              <a:gd name="adj" fmla="val 437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pPr/>
            <a:endParaRPr/>
          </a:p>
        </p:txBody>
      </p:sp>
      <p:sp>
        <p:nvSpPr>
          <p:cNvPr id="623" name="圆角矩形 166"/>
          <p:cNvSpPr/>
          <p:nvPr/>
        </p:nvSpPr>
        <p:spPr>
          <a:xfrm>
            <a:off x="812800" y="2235200"/>
            <a:ext cx="2489200" cy="50800"/>
          </a:xfrm>
          <a:prstGeom prst="roundRect">
            <a:avLst>
              <a:gd name="adj" fmla="val 4376"/>
            </a:avLst>
          </a:prstGeom>
          <a:solidFill>
            <a:srgbClr val="10B9A9"/>
          </a:solidFill>
          <a:ln>
            <a:noFill/>
          </a:ln>
        </p:spPr>
        <p:txBody>
          <a:bodyPr/>
          <a:lstStyle/>
          <a:p>
            <a:pPr/>
            <a:endParaRPr/>
          </a:p>
        </p:txBody>
      </p:sp>
      <p:sp>
        <p:nvSpPr>
          <p:cNvPr id="624" name="圆角矩形 167"/>
          <p:cNvSpPr/>
          <p:nvPr/>
        </p:nvSpPr>
        <p:spPr>
          <a:xfrm>
            <a:off x="3454400" y="2235200"/>
            <a:ext cx="2489200" cy="50800"/>
          </a:xfrm>
          <a:prstGeom prst="roundRect">
            <a:avLst>
              <a:gd name="adj" fmla="val 4376"/>
            </a:avLst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pPr/>
            <a:endParaRPr/>
          </a:p>
        </p:txBody>
      </p:sp>
      <p:sp>
        <p:nvSpPr>
          <p:cNvPr id="625" name="圆角矩形 168"/>
          <p:cNvSpPr/>
          <p:nvPr/>
        </p:nvSpPr>
        <p:spPr>
          <a:xfrm>
            <a:off x="6096000" y="2235200"/>
            <a:ext cx="2489200" cy="50800"/>
          </a:xfrm>
          <a:prstGeom prst="roundRect">
            <a:avLst>
              <a:gd name="adj" fmla="val 4376"/>
            </a:avLst>
          </a:prstGeom>
          <a:solidFill>
            <a:srgbClr val="1D4ED8"/>
          </a:solidFill>
          <a:ln>
            <a:noFill/>
          </a:ln>
        </p:spPr>
        <p:txBody>
          <a:bodyPr/>
          <a:lstStyle/>
          <a:p>
            <a:pPr/>
            <a:endParaRPr/>
          </a:p>
        </p:txBody>
      </p:sp>
      <p:sp>
        <p:nvSpPr>
          <p:cNvPr id="626" name="圆角矩形 169"/>
          <p:cNvSpPr/>
          <p:nvPr/>
        </p:nvSpPr>
        <p:spPr>
          <a:xfrm>
            <a:off x="8737600" y="2235200"/>
            <a:ext cx="2641600" cy="50800"/>
          </a:xfrm>
          <a:prstGeom prst="roundRect">
            <a:avLst>
              <a:gd name="adj" fmla="val 4376"/>
            </a:avLst>
          </a:prstGeom>
          <a:solidFill>
            <a:srgbClr val="7C3AED"/>
          </a:solidFill>
          <a:ln>
            <a:noFill/>
          </a:ln>
        </p:spPr>
        <p:txBody>
          <a:bodyPr/>
          <a:lstStyle/>
          <a:p>
            <a:pPr/>
            <a:endParaRPr/>
          </a:p>
        </p:txBody>
      </p:sp>
      <p:sp>
        <p:nvSpPr>
          <p:cNvPr id="627" name="圆角矩形 170"/>
          <p:cNvSpPr/>
          <p:nvPr/>
        </p:nvSpPr>
        <p:spPr>
          <a:xfrm>
            <a:off x="812800" y="5537200"/>
            <a:ext cx="10566400" cy="635000"/>
          </a:xfrm>
          <a:prstGeom prst="roundRect">
            <a:avLst>
              <a:gd name="adj" fmla="val 437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pPr/>
            <a:endParaRPr/>
          </a:p>
        </p:txBody>
      </p:sp>
      <p:sp>
        <p:nvSpPr>
          <p:cNvPr id="628" name="圆角矩形 171"/>
          <p:cNvSpPr/>
          <p:nvPr/>
        </p:nvSpPr>
        <p:spPr>
          <a:xfrm>
            <a:off x="1066800" y="5689600"/>
            <a:ext cx="1422400" cy="330200"/>
          </a:xfrm>
          <a:prstGeom prst="roundRect">
            <a:avLst>
              <a:gd name="adj" fmla="val 4376"/>
            </a:avLst>
          </a:prstGeom>
          <a:solidFill>
            <a:srgbClr val="10B9A9"/>
          </a:solidFill>
          <a:ln>
            <a:noFill/>
          </a:ln>
        </p:spPr>
        <p:txBody>
          <a:bodyPr/>
          <a:lstStyle/>
          <a:p>
            <a:pPr/>
            <a:endParaRPr/>
          </a:p>
        </p:txBody>
      </p:sp>
      <p:sp>
        <p:nvSpPr>
          <p:cNvPr id="629" name="矩形 172"/>
          <p:cNvSpPr/>
          <p:nvPr/>
        </p:nvSpPr>
        <p:spPr>
          <a:xfrm>
            <a:off x="990600" y="558800"/>
            <a:ext cx="6350000" cy="254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en-US" altLang="zh-CN" b="1" dirty="0">
                <a:solidFill>
                  <a:srgbClr val="0D9488"/>
                </a:solidFill>
                <a:latin typeface="Hiragino Sans GB"/>
                <a:ea typeface="Hiragino Sans GB"/>
              </a:rPr>
              <a:t>03 · Spec</a:t>
            </a:r>
            <a:r>
              <a:rPr lang="zh-CN" altLang="en-US" b="1" dirty="0">
                <a:solidFill>
                  <a:srgbClr val="0D9488"/>
                </a:solidFill>
                <a:latin typeface="Hiragino Sans GB"/>
                <a:ea typeface="Hiragino Sans GB"/>
              </a:rPr>
              <a:t xml:space="preserve"> 清单</a:t>
            </a:r>
            <a:endParaRPr lang="en-US" altLang="zh-CN" sz="1200" dirty="0"/>
          </a:p>
          <a:p>
            <a:pPr/>
            <a:endParaRPr dirty="0"/>
          </a:p>
        </p:txBody>
      </p:sp>
      <p:sp>
        <p:nvSpPr>
          <p:cNvPr id="630" name="矩形 173"/>
          <p:cNvSpPr/>
          <p:nvPr/>
        </p:nvSpPr>
        <p:spPr>
          <a:xfrm>
            <a:off x="812800" y="838200"/>
            <a:ext cx="10566400" cy="4572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2600">
                <a:solidFill>
                  <a:srgbClr val="0F172A"/>
                </a:solidFill>
                <a:latin typeface="Hiragino Sans GB"/>
                <a:ea typeface="Hiragino Sans GB"/>
              </a:rPr>
              <a:t>31 个特性规约：spec / plan / checklist / tasks 四层齐备</a:t>
            </a:r>
            <a:endParaRPr lang="zh-CN" sz="2600">
              <a:solidFill>
                <a:srgbClr val="0F172A"/>
              </a:solidFill>
              <a:latin typeface="Hiragino Sans GB"/>
              <a:ea typeface="Hiragino Sans GB"/>
            </a:endParaRPr>
          </a:p>
        </p:txBody>
      </p:sp>
      <p:sp>
        <p:nvSpPr>
          <p:cNvPr id="631" name="矩形 174"/>
          <p:cNvSpPr/>
          <p:nvPr/>
        </p:nvSpPr>
        <p:spPr>
          <a:xfrm>
            <a:off x="812800" y="1676400"/>
            <a:ext cx="5130800" cy="381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1300">
                <a:solidFill>
                  <a:srgbClr val="FFFFFF"/>
                </a:solidFill>
                <a:latin typeface="Hiragino Sans GB"/>
                <a:ea typeface="Hiragino Sans GB"/>
              </a:rPr>
              <a:t>31 份 spec.md + 31 份 plan.md  ·  全部完成</a:t>
            </a:r>
            <a:endParaRPr lang="zh-CN" sz="1300">
              <a:solidFill>
                <a:srgbClr val="FFFFFF"/>
              </a:solidFill>
              <a:latin typeface="Hiragino Sans GB"/>
              <a:ea typeface="Hiragino Sans GB"/>
            </a:endParaRPr>
          </a:p>
        </p:txBody>
      </p:sp>
      <p:sp>
        <p:nvSpPr>
          <p:cNvPr id="632" name="矩形 175"/>
          <p:cNvSpPr/>
          <p:nvPr/>
        </p:nvSpPr>
        <p:spPr>
          <a:xfrm>
            <a:off x="6248400" y="1676400"/>
            <a:ext cx="5130800" cy="381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1300">
                <a:solidFill>
                  <a:srgbClr val="0F172A"/>
                </a:solidFill>
                <a:latin typeface="Hiragino Sans GB"/>
                <a:ea typeface="Hiragino Sans GB"/>
              </a:rPr>
              <a:t>31 份 tasks.md  ·  1000+ 项全部勾选</a:t>
            </a:r>
            <a:endParaRPr lang="zh-CN" sz="1300">
              <a:solidFill>
                <a:srgbClr val="0F172A"/>
              </a:solidFill>
              <a:latin typeface="Hiragino Sans GB"/>
              <a:ea typeface="Hiragino Sans GB"/>
            </a:endParaRPr>
          </a:p>
        </p:txBody>
      </p:sp>
      <p:sp>
        <p:nvSpPr>
          <p:cNvPr id="633" name="矩形 176"/>
          <p:cNvSpPr/>
          <p:nvPr/>
        </p:nvSpPr>
        <p:spPr>
          <a:xfrm>
            <a:off x="1016000" y="2438400"/>
            <a:ext cx="2082800" cy="2286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1300">
                <a:solidFill>
                  <a:srgbClr val="0F172A"/>
                </a:solidFill>
                <a:latin typeface="Hiragino Sans GB"/>
                <a:ea typeface="Hiragino Sans GB"/>
              </a:rPr>
              <a:t>既有能力回溯</a:t>
            </a:r>
            <a:endParaRPr/>
          </a:p>
        </p:txBody>
      </p:sp>
      <p:sp>
        <p:nvSpPr>
          <p:cNvPr id="634" name="矩形 177"/>
          <p:cNvSpPr/>
          <p:nvPr/>
        </p:nvSpPr>
        <p:spPr>
          <a:xfrm>
            <a:off x="1016000" y="2692400"/>
            <a:ext cx="2082800" cy="2032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900">
                <a:solidFill>
                  <a:srgbClr val="64748B"/>
                </a:solidFill>
                <a:latin typeface="Hiragino Sans GB"/>
                <a:ea typeface="Hiragino Sans GB"/>
              </a:rPr>
              <a:t>003–006 · 4 项</a:t>
            </a:r>
            <a:endParaRPr/>
          </a:p>
        </p:txBody>
      </p:sp>
      <p:sp>
        <p:nvSpPr>
          <p:cNvPr id="635" name="矩形 178"/>
          <p:cNvSpPr/>
          <p:nvPr/>
        </p:nvSpPr>
        <p:spPr>
          <a:xfrm>
            <a:off x="1016000" y="3048000"/>
            <a:ext cx="2082800" cy="1778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900">
                <a:solidFill>
                  <a:srgbClr val="334155"/>
                </a:solidFill>
                <a:latin typeface="Hiragino Sans GB"/>
                <a:ea typeface="Hiragino Sans GB"/>
              </a:rPr>
              <a:t>003  文档接入与内容交付</a:t>
            </a:r>
            <a:endParaRPr/>
          </a:p>
        </p:txBody>
      </p:sp>
      <p:sp>
        <p:nvSpPr>
          <p:cNvPr id="636" name="矩形 179"/>
          <p:cNvSpPr/>
          <p:nvPr/>
        </p:nvSpPr>
        <p:spPr>
          <a:xfrm>
            <a:off x="1016000" y="3327400"/>
            <a:ext cx="2082800" cy="1778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900">
                <a:solidFill>
                  <a:srgbClr val="334155"/>
                </a:solidFill>
                <a:latin typeface="Hiragino Sans GB"/>
                <a:ea typeface="Hiragino Sans GB"/>
              </a:rPr>
              <a:t>004  SkillHub 生命周期</a:t>
            </a:r>
            <a:endParaRPr/>
          </a:p>
        </p:txBody>
      </p:sp>
      <p:sp>
        <p:nvSpPr>
          <p:cNvPr id="637" name="矩形 180"/>
          <p:cNvSpPr/>
          <p:nvPr/>
        </p:nvSpPr>
        <p:spPr>
          <a:xfrm>
            <a:off x="1016000" y="3606800"/>
            <a:ext cx="2082800" cy="1778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900">
                <a:solidFill>
                  <a:srgbClr val="334155"/>
                </a:solidFill>
                <a:latin typeface="Hiragino Sans GB"/>
                <a:ea typeface="Hiragino Sans GB"/>
              </a:rPr>
              <a:t>005  企业知识 RAG 与研究</a:t>
            </a:r>
            <a:endParaRPr/>
          </a:p>
        </p:txBody>
      </p:sp>
      <p:sp>
        <p:nvSpPr>
          <p:cNvPr id="638" name="矩形 181"/>
          <p:cNvSpPr/>
          <p:nvPr/>
        </p:nvSpPr>
        <p:spPr>
          <a:xfrm>
            <a:off x="1016000" y="3886200"/>
            <a:ext cx="2082800" cy="1778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900">
                <a:solidFill>
                  <a:srgbClr val="334155"/>
                </a:solidFill>
                <a:latin typeface="Hiragino Sans GB"/>
                <a:ea typeface="Hiragino Sans GB"/>
              </a:rPr>
              <a:t>006  组织用户与岗位 RBAC</a:t>
            </a:r>
            <a:endParaRPr/>
          </a:p>
        </p:txBody>
      </p:sp>
      <p:sp>
        <p:nvSpPr>
          <p:cNvPr id="639" name="矩形 182"/>
          <p:cNvSpPr/>
          <p:nvPr/>
        </p:nvSpPr>
        <p:spPr>
          <a:xfrm>
            <a:off x="1016000" y="4267200"/>
            <a:ext cx="2082800" cy="3556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900">
                <a:solidFill>
                  <a:srgbClr val="94A3B8"/>
                </a:solidFill>
                <a:latin typeface="Hiragino Sans GB"/>
                <a:ea typeface="Hiragino Sans GB"/>
              </a:rPr>
              <a:t>spec / plan / checklist 原始保留
tasks.md 已于 2026-10-11 补齐（141 项）</a:t>
            </a:r>
            <a:endParaRPr/>
          </a:p>
        </p:txBody>
      </p:sp>
      <p:sp>
        <p:nvSpPr>
          <p:cNvPr id="640" name="矩形 183"/>
          <p:cNvSpPr/>
          <p:nvPr/>
        </p:nvSpPr>
        <p:spPr>
          <a:xfrm>
            <a:off x="3657600" y="2438400"/>
            <a:ext cx="2082800" cy="2286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1300">
                <a:solidFill>
                  <a:srgbClr val="0F172A"/>
                </a:solidFill>
                <a:latin typeface="Hiragino Sans GB"/>
                <a:ea typeface="Hiragino Sans GB"/>
              </a:rPr>
              <a:t>P0 · 企业入场券</a:t>
            </a:r>
            <a:endParaRPr/>
          </a:p>
        </p:txBody>
      </p:sp>
      <p:sp>
        <p:nvSpPr>
          <p:cNvPr id="641" name="矩形 184"/>
          <p:cNvSpPr/>
          <p:nvPr/>
        </p:nvSpPr>
        <p:spPr>
          <a:xfrm>
            <a:off x="3657600" y="2692400"/>
            <a:ext cx="2082800" cy="2032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900">
                <a:solidFill>
                  <a:srgbClr val="64748B"/>
                </a:solidFill>
                <a:latin typeface="Hiragino Sans GB"/>
                <a:ea typeface="Hiragino Sans GB"/>
              </a:rPr>
              <a:t>001 / 007 / 008 / 020</a:t>
            </a:r>
            <a:endParaRPr/>
          </a:p>
        </p:txBody>
      </p:sp>
      <p:sp>
        <p:nvSpPr>
          <p:cNvPr id="642" name="矩形 185"/>
          <p:cNvSpPr/>
          <p:nvPr/>
        </p:nvSpPr>
        <p:spPr>
          <a:xfrm>
            <a:off x="3657600" y="3048000"/>
            <a:ext cx="2082800" cy="1778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900">
                <a:solidFill>
                  <a:srgbClr val="334155"/>
                </a:solidFill>
                <a:latin typeface="Hiragino Sans GB"/>
                <a:ea typeface="Hiragino Sans GB"/>
              </a:rPr>
              <a:t>001  治理与风控层</a:t>
            </a:r>
            <a:endParaRPr/>
          </a:p>
        </p:txBody>
      </p:sp>
      <p:sp>
        <p:nvSpPr>
          <p:cNvPr id="643" name="矩形 186"/>
          <p:cNvSpPr/>
          <p:nvPr/>
        </p:nvSpPr>
        <p:spPr>
          <a:xfrm>
            <a:off x="3657600" y="3327400"/>
            <a:ext cx="2082800" cy="1778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900">
                <a:solidFill>
                  <a:srgbClr val="334155"/>
                </a:solidFill>
                <a:latin typeface="Hiragino Sans GB"/>
                <a:ea typeface="Hiragino Sans GB"/>
              </a:rPr>
              <a:t>007  LLM 网关韧性</a:t>
            </a:r>
            <a:endParaRPr/>
          </a:p>
        </p:txBody>
      </p:sp>
      <p:sp>
        <p:nvSpPr>
          <p:cNvPr id="644" name="矩形 187"/>
          <p:cNvSpPr/>
          <p:nvPr/>
        </p:nvSpPr>
        <p:spPr>
          <a:xfrm>
            <a:off x="3657600" y="3606800"/>
            <a:ext cx="2082800" cy="1778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900">
                <a:solidFill>
                  <a:srgbClr val="334155"/>
                </a:solidFill>
                <a:latin typeface="Hiragino Sans GB"/>
                <a:ea typeface="Hiragino Sans GB"/>
              </a:rPr>
              <a:t>008  总览数据驾驶舱</a:t>
            </a:r>
            <a:endParaRPr/>
          </a:p>
        </p:txBody>
      </p:sp>
      <p:sp>
        <p:nvSpPr>
          <p:cNvPr id="645" name="矩形 188"/>
          <p:cNvSpPr/>
          <p:nvPr/>
        </p:nvSpPr>
        <p:spPr>
          <a:xfrm>
            <a:off x="3657600" y="3886200"/>
            <a:ext cx="2082800" cy="1778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900">
                <a:solidFill>
                  <a:srgbClr val="334155"/>
                </a:solidFill>
                <a:latin typeface="Hiragino Sans GB"/>
                <a:ea typeface="Hiragino Sans GB"/>
              </a:rPr>
              <a:t>020  平台化多租户</a:t>
            </a:r>
            <a:endParaRPr/>
          </a:p>
        </p:txBody>
      </p:sp>
      <p:sp>
        <p:nvSpPr>
          <p:cNvPr id="646" name="矩形 189"/>
          <p:cNvSpPr/>
          <p:nvPr/>
        </p:nvSpPr>
        <p:spPr>
          <a:xfrm>
            <a:off x="3657600" y="4267200"/>
            <a:ext cx="2082800" cy="3556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900">
                <a:solidFill>
                  <a:srgbClr val="94A3B8"/>
                </a:solidFill>
                <a:latin typeface="Hiragino Sans GB"/>
                <a:ea typeface="Hiragino Sans GB"/>
              </a:rPr>
              <a:t>门禁 · 韧性 · 可观测 · 租户供给
合规入场与生产可用性</a:t>
            </a:r>
            <a:endParaRPr/>
          </a:p>
        </p:txBody>
      </p:sp>
      <p:sp>
        <p:nvSpPr>
          <p:cNvPr id="647" name="矩形 190"/>
          <p:cNvSpPr/>
          <p:nvPr/>
        </p:nvSpPr>
        <p:spPr>
          <a:xfrm>
            <a:off x="6299200" y="2438400"/>
            <a:ext cx="2082800" cy="2286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1300">
                <a:solidFill>
                  <a:srgbClr val="0F172A"/>
                </a:solidFill>
                <a:latin typeface="Hiragino Sans GB"/>
                <a:ea typeface="Hiragino Sans GB"/>
              </a:rPr>
              <a:t>P1 · 可靠协作</a:t>
            </a:r>
            <a:endParaRPr/>
          </a:p>
        </p:txBody>
      </p:sp>
      <p:sp>
        <p:nvSpPr>
          <p:cNvPr id="648" name="矩形 191"/>
          <p:cNvSpPr/>
          <p:nvPr/>
        </p:nvSpPr>
        <p:spPr>
          <a:xfrm>
            <a:off x="6299200" y="2692400"/>
            <a:ext cx="2082800" cy="2032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900">
                <a:solidFill>
                  <a:srgbClr val="64748B"/>
                </a:solidFill>
                <a:latin typeface="Hiragino Sans GB"/>
                <a:ea typeface="Hiragino Sans GB"/>
              </a:rPr>
              <a:t>002 / 009 / 010 / 011</a:t>
            </a:r>
            <a:endParaRPr/>
          </a:p>
        </p:txBody>
      </p:sp>
      <p:sp>
        <p:nvSpPr>
          <p:cNvPr id="649" name="矩形 192"/>
          <p:cNvSpPr/>
          <p:nvPr/>
        </p:nvSpPr>
        <p:spPr>
          <a:xfrm>
            <a:off x="6299200" y="3048000"/>
            <a:ext cx="2082800" cy="1778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900">
                <a:solidFill>
                  <a:srgbClr val="334155"/>
                </a:solidFill>
                <a:latin typeface="Hiragino Sans GB"/>
                <a:ea typeface="Hiragino Sans GB"/>
              </a:rPr>
              <a:t>002  会话级版本化与交接</a:t>
            </a:r>
            <a:endParaRPr/>
          </a:p>
        </p:txBody>
      </p:sp>
      <p:sp>
        <p:nvSpPr>
          <p:cNvPr id="650" name="矩形 193"/>
          <p:cNvSpPr/>
          <p:nvPr/>
        </p:nvSpPr>
        <p:spPr>
          <a:xfrm>
            <a:off x="6299200" y="3327400"/>
            <a:ext cx="2082800" cy="1778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900">
                <a:solidFill>
                  <a:srgbClr val="334155"/>
                </a:solidFill>
                <a:latin typeface="Hiragino Sans GB"/>
                <a:ea typeface="Hiragino Sans GB"/>
              </a:rPr>
              <a:t>009  五事件 Hooks 拦截</a:t>
            </a:r>
            <a:endParaRPr/>
          </a:p>
        </p:txBody>
      </p:sp>
      <p:sp>
        <p:nvSpPr>
          <p:cNvPr id="651" name="矩形 194"/>
          <p:cNvSpPr/>
          <p:nvPr/>
        </p:nvSpPr>
        <p:spPr>
          <a:xfrm>
            <a:off x="6299200" y="3606800"/>
            <a:ext cx="2082800" cy="1778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900">
                <a:solidFill>
                  <a:srgbClr val="334155"/>
                </a:solidFill>
                <a:latin typeface="Hiragino Sans GB"/>
                <a:ea typeface="Hiragino Sans GB"/>
              </a:rPr>
              <a:t>010  DAG 通用编排引擎</a:t>
            </a:r>
            <a:endParaRPr/>
          </a:p>
        </p:txBody>
      </p:sp>
      <p:sp>
        <p:nvSpPr>
          <p:cNvPr id="652" name="矩形 195"/>
          <p:cNvSpPr/>
          <p:nvPr/>
        </p:nvSpPr>
        <p:spPr>
          <a:xfrm>
            <a:off x="6299200" y="3886200"/>
            <a:ext cx="2082800" cy="1778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900">
                <a:solidFill>
                  <a:srgbClr val="334155"/>
                </a:solidFill>
                <a:latin typeface="Hiragino Sans GB"/>
                <a:ea typeface="Hiragino Sans GB"/>
              </a:rPr>
              <a:t>011  Dream 自进化</a:t>
            </a:r>
            <a:endParaRPr/>
          </a:p>
        </p:txBody>
      </p:sp>
      <p:sp>
        <p:nvSpPr>
          <p:cNvPr id="653" name="矩形 196"/>
          <p:cNvSpPr/>
          <p:nvPr/>
        </p:nvSpPr>
        <p:spPr>
          <a:xfrm>
            <a:off x="6299200" y="4267200"/>
            <a:ext cx="2082800" cy="3556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900">
                <a:solidFill>
                  <a:srgbClr val="94A3B8"/>
                </a:solidFill>
                <a:latin typeface="Hiragino Sans GB"/>
                <a:ea typeface="Hiragino Sans GB"/>
              </a:rPr>
              <a:t>多步骤可靠 · 合规扩展 · 可交接
越用越聪明</a:t>
            </a:r>
            <a:endParaRPr/>
          </a:p>
        </p:txBody>
      </p:sp>
      <p:sp>
        <p:nvSpPr>
          <p:cNvPr id="654" name="矩形 197"/>
          <p:cNvSpPr/>
          <p:nvPr/>
        </p:nvSpPr>
        <p:spPr>
          <a:xfrm>
            <a:off x="8940800" y="2438400"/>
            <a:ext cx="2235200" cy="2286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1300">
                <a:solidFill>
                  <a:srgbClr val="0F172A"/>
                </a:solidFill>
                <a:latin typeface="Hiragino Sans GB"/>
                <a:ea typeface="Hiragino Sans GB"/>
              </a:rPr>
              <a:t>P2 · 生态与自进化</a:t>
            </a:r>
            <a:endParaRPr/>
          </a:p>
        </p:txBody>
      </p:sp>
      <p:sp>
        <p:nvSpPr>
          <p:cNvPr id="655" name="矩形 198"/>
          <p:cNvSpPr/>
          <p:nvPr/>
        </p:nvSpPr>
        <p:spPr>
          <a:xfrm>
            <a:off x="8940800" y="2692400"/>
            <a:ext cx="2235200" cy="2032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900">
                <a:solidFill>
                  <a:srgbClr val="64748B"/>
                </a:solidFill>
                <a:latin typeface="Hiragino Sans GB"/>
                <a:ea typeface="Hiragino Sans GB"/>
              </a:rPr>
              <a:t>012–019 / 021 · 9 项</a:t>
            </a:r>
            <a:endParaRPr/>
          </a:p>
        </p:txBody>
      </p:sp>
      <p:sp>
        <p:nvSpPr>
          <p:cNvPr id="656" name="矩形 199"/>
          <p:cNvSpPr/>
          <p:nvPr/>
        </p:nvSpPr>
        <p:spPr>
          <a:xfrm>
            <a:off x="8940800" y="3022600"/>
            <a:ext cx="2235200" cy="1651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900">
                <a:solidFill>
                  <a:srgbClr val="334155"/>
                </a:solidFill>
                <a:latin typeface="Hiragino Sans GB"/>
                <a:ea typeface="Hiragino Sans GB"/>
              </a:rPr>
              <a:t>012  A2A Agent 互通网关</a:t>
            </a:r>
            <a:endParaRPr/>
          </a:p>
        </p:txBody>
      </p:sp>
      <p:sp>
        <p:nvSpPr>
          <p:cNvPr id="657" name="矩形 200"/>
          <p:cNvSpPr/>
          <p:nvPr/>
        </p:nvSpPr>
        <p:spPr>
          <a:xfrm>
            <a:off x="8940800" y="3263900"/>
            <a:ext cx="2235200" cy="1651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900">
                <a:solidFill>
                  <a:srgbClr val="334155"/>
                </a:solidFill>
                <a:latin typeface="Hiragino Sans GB"/>
                <a:ea typeface="Hiragino Sans GB"/>
              </a:rPr>
              <a:t>013  多 IM 入口</a:t>
            </a:r>
            <a:endParaRPr/>
          </a:p>
        </p:txBody>
      </p:sp>
      <p:sp>
        <p:nvSpPr>
          <p:cNvPr id="658" name="矩形 201"/>
          <p:cNvSpPr/>
          <p:nvPr/>
        </p:nvSpPr>
        <p:spPr>
          <a:xfrm>
            <a:off x="8940800" y="3505200"/>
            <a:ext cx="2235200" cy="1651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900">
                <a:solidFill>
                  <a:srgbClr val="334155"/>
                </a:solidFill>
                <a:latin typeface="Hiragino Sans GB"/>
                <a:ea typeface="Hiragino Sans GB"/>
              </a:rPr>
              <a:t>014  业务系统语义索引</a:t>
            </a:r>
            <a:endParaRPr/>
          </a:p>
        </p:txBody>
      </p:sp>
      <p:sp>
        <p:nvSpPr>
          <p:cNvPr id="659" name="矩形 202"/>
          <p:cNvSpPr/>
          <p:nvPr/>
        </p:nvSpPr>
        <p:spPr>
          <a:xfrm>
            <a:off x="8940800" y="3746500"/>
            <a:ext cx="2235200" cy="1651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900">
                <a:solidFill>
                  <a:srgbClr val="334155"/>
                </a:solidFill>
                <a:latin typeface="Hiragino Sans GB"/>
                <a:ea typeface="Hiragino Sans GB"/>
              </a:rPr>
              <a:t>015  知识图谱层</a:t>
            </a:r>
            <a:endParaRPr/>
          </a:p>
        </p:txBody>
      </p:sp>
      <p:sp>
        <p:nvSpPr>
          <p:cNvPr id="660" name="矩形 203"/>
          <p:cNvSpPr/>
          <p:nvPr/>
        </p:nvSpPr>
        <p:spPr>
          <a:xfrm>
            <a:off x="8940800" y="3987800"/>
            <a:ext cx="2235200" cy="1651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900">
                <a:solidFill>
                  <a:srgbClr val="334155"/>
                </a:solidFill>
                <a:latin typeface="Hiragino Sans GB"/>
                <a:ea typeface="Hiragino Sans GB"/>
              </a:rPr>
              <a:t>016  Skill 市场强化</a:t>
            </a:r>
            <a:endParaRPr/>
          </a:p>
        </p:txBody>
      </p:sp>
      <p:sp>
        <p:nvSpPr>
          <p:cNvPr id="661" name="矩形 204"/>
          <p:cNvSpPr/>
          <p:nvPr/>
        </p:nvSpPr>
        <p:spPr>
          <a:xfrm>
            <a:off x="8940800" y="4229100"/>
            <a:ext cx="2235200" cy="1651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900">
                <a:solidFill>
                  <a:srgbClr val="334155"/>
                </a:solidFill>
                <a:latin typeface="Hiragino Sans GB"/>
                <a:ea typeface="Hiragino Sans GB"/>
              </a:rPr>
              <a:t>017  三范围 Memory（020/021 优化）</a:t>
            </a:r>
            <a:endParaRPr/>
          </a:p>
        </p:txBody>
      </p:sp>
      <p:sp>
        <p:nvSpPr>
          <p:cNvPr id="662" name="矩形 205"/>
          <p:cNvSpPr/>
          <p:nvPr/>
        </p:nvSpPr>
        <p:spPr>
          <a:xfrm>
            <a:off x="8940800" y="4470400"/>
            <a:ext cx="2235200" cy="1651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900">
                <a:solidFill>
                  <a:srgbClr val="334155"/>
                </a:solidFill>
                <a:latin typeface="Hiragino Sans GB"/>
                <a:ea typeface="Hiragino Sans GB"/>
              </a:rPr>
              <a:t>018  能力资产化注册</a:t>
            </a:r>
            <a:endParaRPr/>
          </a:p>
        </p:txBody>
      </p:sp>
      <p:sp>
        <p:nvSpPr>
          <p:cNvPr id="663" name="矩形 206"/>
          <p:cNvSpPr/>
          <p:nvPr/>
        </p:nvSpPr>
        <p:spPr>
          <a:xfrm>
            <a:off x="8940800" y="4711700"/>
            <a:ext cx="2235200" cy="1651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900">
                <a:solidFill>
                  <a:srgbClr val="334155"/>
                </a:solidFill>
                <a:latin typeface="Hiragino Sans GB"/>
                <a:ea typeface="Hiragino Sans GB"/>
              </a:rPr>
              <a:t>019  厚 / 薄 Harness 弹性</a:t>
            </a:r>
            <a:endParaRPr/>
          </a:p>
        </p:txBody>
      </p:sp>
      <p:sp>
        <p:nvSpPr>
          <p:cNvPr id="664" name="矩形 207"/>
          <p:cNvSpPr/>
          <p:nvPr/>
        </p:nvSpPr>
        <p:spPr>
          <a:xfrm>
            <a:off x="8940800" y="4953000"/>
            <a:ext cx="2235200" cy="1651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900">
                <a:solidFill>
                  <a:srgbClr val="334155"/>
                </a:solidFill>
                <a:latin typeface="Hiragino Sans GB"/>
                <a:ea typeface="Hiragino Sans GB"/>
              </a:rPr>
              <a:t>021  统一上下文地址空间</a:t>
            </a:r>
            <a:endParaRPr/>
          </a:p>
        </p:txBody>
      </p:sp>
      <p:sp>
        <p:nvSpPr>
          <p:cNvPr id="665" name="矩形 208"/>
          <p:cNvSpPr/>
          <p:nvPr/>
        </p:nvSpPr>
        <p:spPr>
          <a:xfrm>
            <a:off x="1066800" y="5689600"/>
            <a:ext cx="1422400" cy="3302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1100">
                <a:solidFill>
                  <a:srgbClr val="FFFFFF"/>
                </a:solidFill>
                <a:latin typeface="Hiragino Sans GB"/>
                <a:ea typeface="Hiragino Sans GB"/>
              </a:rPr>
              <a:t>落地审计 · 质量加固</a:t>
            </a:r>
            <a:endParaRPr/>
          </a:p>
        </p:txBody>
      </p:sp>
      <p:sp>
        <p:nvSpPr>
          <p:cNvPr id="666" name="矩形 209"/>
          <p:cNvSpPr/>
          <p:nvPr/>
        </p:nvSpPr>
        <p:spPr>
          <a:xfrm>
            <a:off x="2692400" y="5740400"/>
            <a:ext cx="2540000" cy="2286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1100">
                <a:solidFill>
                  <a:srgbClr val="0F172A"/>
                </a:solidFill>
                <a:latin typeface="Hiragino Sans GB"/>
                <a:ea typeface="Hiragino Sans GB"/>
              </a:rPr>
              <a:t>2026-10-03 重检：landed 0 / partial 10 / hollow 9</a:t>
            </a:r>
            <a:endParaRPr/>
          </a:p>
        </p:txBody>
      </p:sp>
      <p:sp>
        <p:nvSpPr>
          <p:cNvPr id="667" name="矩形 210"/>
          <p:cNvSpPr/>
          <p:nvPr/>
        </p:nvSpPr>
        <p:spPr>
          <a:xfrm>
            <a:off x="5283200" y="5791200"/>
            <a:ext cx="5969000" cy="2032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1000">
                <a:solidFill>
                  <a:srgbClr val="64748B"/>
                </a:solidFill>
                <a:latin typeface="Hiragino Sans GB"/>
                <a:ea typeface="Hiragino Sans GB"/>
              </a:rPr>
              <a:t>022–026 质量加固 10-11 新增（覆盖 QF 审计 283 项 P0/P1）；017/021 于 10-05 完整实现</a:t>
            </a:r>
            <a:endParaRPr/>
          </a:p>
        </p:txBody>
      </p:sp>
      <p:sp>
        <p:nvSpPr>
          <p:cNvPr id="668" name="矩形 211"/>
          <p:cNvSpPr/>
          <p:nvPr/>
        </p:nvSpPr>
        <p:spPr>
          <a:xfrm>
            <a:off x="812800" y="6451600"/>
            <a:ext cx="5080000" cy="2286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1100">
                <a:solidFill>
                  <a:srgbClr val="94A3B8"/>
                </a:solidFill>
                <a:latin typeface="Hiragino Sans GB"/>
                <a:ea typeface="Hiragino Sans GB"/>
              </a:rPr>
              <a:t>墨攻 · 企业级智能体平台</a:t>
            </a:r>
            <a:endParaRPr/>
          </a:p>
        </p:txBody>
      </p:sp>
      <p:sp>
        <p:nvSpPr>
          <p:cNvPr id="669" name="矩形 212"/>
          <p:cNvSpPr/>
          <p:nvPr/>
        </p:nvSpPr>
        <p:spPr>
          <a:xfrm>
            <a:off x="10160000" y="6451600"/>
            <a:ext cx="1219200" cy="2286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1100">
                <a:solidFill>
                  <a:srgbClr val="94A3B8"/>
                </a:solidFill>
                <a:latin typeface="Hiragino Sans GB"/>
                <a:ea typeface="Hiragino Sans GB"/>
              </a:rPr>
              <a:t>7 / 18</a:t>
            </a:r>
            <a:endParaRPr/>
          </a:p>
        </p:txBody>
      </p:sp>
      <p:sp>
        <p:nvSpPr>
          <p:cNvPr id="670" name=""/>
          <p:cNvSpPr/>
          <p:nvPr/>
        </p:nvSpPr>
        <p:spPr>
          <a:xfrm>
            <a:off x="609600" y="6235700"/>
            <a:ext cx="10477500" cy="1524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900">
                <a:solidFill>
                  <a:srgbClr val="64748B"/>
                </a:solidFill>
                <a:latin typeface="Hiragino Sans GB"/>
                <a:ea typeface="Hiragino Sans GB"/>
              </a:rPr>
              <a:t>027–031 数据后端迁移 · 轨迹 Tab · SSO 接收 · 本体数据权限 · 模型供应商发现（2026-10-13 ~ 10-18 新增，回溯补规约）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>
  <p:cSld>
    <p:bg>
      <p:bgPr>
        <a:solidFill>
          <a:srgbClr val="F8FAFC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812800" y="533400"/>
            <a:ext cx="50800" cy="2794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990600" y="558800"/>
            <a:ext cx="6350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04 · P0 — 治理与风控层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812800" y="838200"/>
            <a:ext cx="105664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6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六层串行门禁 + 风险矩阵 + 权限码 + 脱敏</a:t>
            </a:r>
            <a:endParaRPr lang="en-US" sz="1100"/>
          </a:p>
        </p:txBody>
      </p:sp>
      <p:cxnSp>
        <p:nvCxnSpPr>
          <p:cNvPr id="5" name="Connector 5"/>
          <p:cNvCxnSpPr/>
          <p:nvPr/>
        </p:nvCxnSpPr>
        <p:spPr>
          <a:xfrm rot="-4131">
            <a:off x="812804" y="1441450"/>
            <a:ext cx="10566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" name="AutoShape 6"/>
          <p:cNvSpPr/>
          <p:nvPr/>
        </p:nvSpPr>
        <p:spPr>
          <a:xfrm>
            <a:off x="812800" y="1651000"/>
            <a:ext cx="5080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Gatekeeper 六层串行门禁（R4 红线不可覆盖）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812800" y="1981200"/>
            <a:ext cx="1473200" cy="558800"/>
          </a:xfrm>
          <a:prstGeom prst="roundRect">
            <a:avLst>
              <a:gd name="adj" fmla="val 18180"/>
            </a:avLst>
          </a:prstGeom>
          <a:solidFill>
            <a:srgbClr val="1E293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8" name="AutoShape 8"/>
          <p:cNvSpPr/>
          <p:nvPr/>
        </p:nvSpPr>
        <p:spPr>
          <a:xfrm>
            <a:off x="812800" y="1981200"/>
            <a:ext cx="14732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身份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2286000" y="1981200"/>
            <a:ext cx="2032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▸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2489200" y="1981200"/>
            <a:ext cx="1473200" cy="558800"/>
          </a:xfrm>
          <a:prstGeom prst="roundRect">
            <a:avLst>
              <a:gd name="adj" fmla="val 1818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CBD5E1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1" name="AutoShape 11"/>
          <p:cNvSpPr/>
          <p:nvPr/>
        </p:nvSpPr>
        <p:spPr>
          <a:xfrm>
            <a:off x="2489200" y="1981200"/>
            <a:ext cx="14732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350" b="0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RBAC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3962400" y="1981200"/>
            <a:ext cx="2032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▸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4165600" y="1981200"/>
            <a:ext cx="1473200" cy="558800"/>
          </a:xfrm>
          <a:prstGeom prst="roundRect">
            <a:avLst>
              <a:gd name="adj" fmla="val 1818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CBD5E1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4" name="AutoShape 14"/>
          <p:cNvSpPr/>
          <p:nvPr/>
        </p:nvSpPr>
        <p:spPr>
          <a:xfrm>
            <a:off x="4165600" y="1981200"/>
            <a:ext cx="14732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350" b="0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脱敏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5638800" y="1981200"/>
            <a:ext cx="2032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▸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5842000" y="1981200"/>
            <a:ext cx="1473200" cy="558800"/>
          </a:xfrm>
          <a:prstGeom prst="roundRect">
            <a:avLst>
              <a:gd name="adj" fmla="val 1818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CBD5E1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7" name="AutoShape 17"/>
          <p:cNvSpPr/>
          <p:nvPr/>
        </p:nvSpPr>
        <p:spPr>
          <a:xfrm>
            <a:off x="5842000" y="1981200"/>
            <a:ext cx="14732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350" b="0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审批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7315200" y="1981200"/>
            <a:ext cx="2032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▸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7518400" y="1981200"/>
            <a:ext cx="1473200" cy="558800"/>
          </a:xfrm>
          <a:prstGeom prst="roundRect">
            <a:avLst>
              <a:gd name="adj" fmla="val 18180"/>
            </a:avLst>
          </a:prstGeom>
          <a:solidFill>
            <a:srgbClr val="CCFBF1">
              <a:alpha val="100000"/>
            </a:srgbClr>
          </a:solidFill>
          <a:ln w="12700" cap="flat" cmpd="sng">
            <a:solidFill>
              <a:srgbClr val="10B9A9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20" name="AutoShape 20"/>
          <p:cNvSpPr/>
          <p:nvPr/>
        </p:nvSpPr>
        <p:spPr>
          <a:xfrm>
            <a:off x="7518400" y="1981200"/>
            <a:ext cx="14732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配额</a:t>
            </a:r>
            <a:endParaRPr lang="en-US" sz="1100"/>
          </a:p>
        </p:txBody>
      </p:sp>
      <p:sp>
        <p:nvSpPr>
          <p:cNvPr id="21" name="AutoShape 21"/>
          <p:cNvSpPr/>
          <p:nvPr/>
        </p:nvSpPr>
        <p:spPr>
          <a:xfrm>
            <a:off x="8991600" y="1981200"/>
            <a:ext cx="2032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▸</a:t>
            </a:r>
            <a:endParaRPr lang="en-US" sz="1100"/>
          </a:p>
        </p:txBody>
      </p:sp>
      <p:sp>
        <p:nvSpPr>
          <p:cNvPr id="22" name="AutoShape 22"/>
          <p:cNvSpPr/>
          <p:nvPr/>
        </p:nvSpPr>
        <p:spPr>
          <a:xfrm>
            <a:off x="9194800" y="1981200"/>
            <a:ext cx="1473200" cy="558800"/>
          </a:xfrm>
          <a:prstGeom prst="roundRect">
            <a:avLst>
              <a:gd name="adj" fmla="val 18180"/>
            </a:avLst>
          </a:prstGeom>
          <a:solidFill>
            <a:srgbClr val="CCFBF1">
              <a:alpha val="100000"/>
            </a:srgbClr>
          </a:solidFill>
          <a:ln w="12700" cap="flat" cmpd="sng">
            <a:solidFill>
              <a:srgbClr val="10B9A9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23" name="AutoShape 23"/>
          <p:cNvSpPr/>
          <p:nvPr/>
        </p:nvSpPr>
        <p:spPr>
          <a:xfrm>
            <a:off x="9194800" y="1981200"/>
            <a:ext cx="14732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审计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812800" y="2844800"/>
            <a:ext cx="5156200" cy="1219200"/>
          </a:xfrm>
          <a:prstGeom prst="roundRect">
            <a:avLst>
              <a:gd name="adj" fmla="val 10416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25" name="AutoShape 25"/>
          <p:cNvSpPr/>
          <p:nvPr/>
        </p:nvSpPr>
        <p:spPr>
          <a:xfrm>
            <a:off x="1066800" y="2997200"/>
            <a:ext cx="46482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R0–R4 风险分级 × L1–L5 自主矩阵（25 格）</a:t>
            </a:r>
            <a:endParaRPr lang="en-US" sz="1100"/>
          </a:p>
        </p:txBody>
      </p:sp>
      <p:sp>
        <p:nvSpPr>
          <p:cNvPr id="26" name="AutoShape 26"/>
          <p:cNvSpPr/>
          <p:nvPr/>
        </p:nvSpPr>
        <p:spPr>
          <a:xfrm>
            <a:off x="1066800" y="3302000"/>
            <a:ext cx="46482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5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把"敏感工具审批"升级为系统化分级放权：按风险等级决定自主级别。</a:t>
            </a:r>
            <a:endParaRPr lang="en-US" sz="1100"/>
          </a:p>
        </p:txBody>
      </p:sp>
      <p:sp>
        <p:nvSpPr>
          <p:cNvPr id="27" name="AutoShape 27"/>
          <p:cNvSpPr/>
          <p:nvPr/>
        </p:nvSpPr>
        <p:spPr>
          <a:xfrm>
            <a:off x="6324600" y="2844800"/>
            <a:ext cx="5054600" cy="1219200"/>
          </a:xfrm>
          <a:prstGeom prst="roundRect">
            <a:avLst>
              <a:gd name="adj" fmla="val 10416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28" name="AutoShape 28"/>
          <p:cNvSpPr/>
          <p:nvPr/>
        </p:nvSpPr>
        <p:spPr>
          <a:xfrm>
            <a:off x="6578600" y="2997200"/>
            <a:ext cx="45466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RBAC 权限码 &lt;resource&gt;:&lt;action&gt;[:&lt;target&gt;]</a:t>
            </a:r>
            <a:endParaRPr lang="en-US" sz="1100"/>
          </a:p>
        </p:txBody>
      </p:sp>
      <p:sp>
        <p:nvSpPr>
          <p:cNvPr id="29" name="AutoShape 29"/>
          <p:cNvSpPr/>
          <p:nvPr/>
        </p:nvSpPr>
        <p:spPr>
          <a:xfrm>
            <a:off x="6578600" y="3302000"/>
            <a:ext cx="45466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5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三级隔离、fail-closed 默认拒绝，替代当前粗粒度的"岗位角色"。</a:t>
            </a:r>
            <a:endParaRPr lang="en-US" sz="1100"/>
          </a:p>
        </p:txBody>
      </p:sp>
      <p:sp>
        <p:nvSpPr>
          <p:cNvPr id="30" name="AutoShape 30"/>
          <p:cNvSpPr/>
          <p:nvPr/>
        </p:nvSpPr>
        <p:spPr>
          <a:xfrm>
            <a:off x="812800" y="4216400"/>
            <a:ext cx="5156200" cy="1219200"/>
          </a:xfrm>
          <a:prstGeom prst="roundRect">
            <a:avLst>
              <a:gd name="adj" fmla="val 10416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31" name="AutoShape 31"/>
          <p:cNvSpPr/>
          <p:nvPr/>
        </p:nvSpPr>
        <p:spPr>
          <a:xfrm>
            <a:off x="1066800" y="4368800"/>
            <a:ext cx="46482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PII 脱敏层</a:t>
            </a:r>
            <a:endParaRPr lang="en-US" sz="1100"/>
          </a:p>
        </p:txBody>
      </p:sp>
      <p:sp>
        <p:nvSpPr>
          <p:cNvPr id="32" name="AutoShape 32"/>
          <p:cNvSpPr/>
          <p:nvPr/>
        </p:nvSpPr>
        <p:spPr>
          <a:xfrm>
            <a:off x="1066800" y="4673600"/>
            <a:ext cx="46482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5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私钥 / 身份证 / 银行卡 / 手机号 × mask / remove / hash / abstract 策略。</a:t>
            </a:r>
            <a:endParaRPr lang="en-US" sz="1100"/>
          </a:p>
        </p:txBody>
      </p:sp>
      <p:sp>
        <p:nvSpPr>
          <p:cNvPr id="33" name="AutoShape 33"/>
          <p:cNvSpPr/>
          <p:nvPr/>
        </p:nvSpPr>
        <p:spPr>
          <a:xfrm>
            <a:off x="6324600" y="4216400"/>
            <a:ext cx="5054600" cy="1219200"/>
          </a:xfrm>
          <a:prstGeom prst="roundRect">
            <a:avLst>
              <a:gd name="adj" fmla="val 10416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34" name="AutoShape 34"/>
          <p:cNvSpPr/>
          <p:nvPr/>
        </p:nvSpPr>
        <p:spPr>
          <a:xfrm>
            <a:off x="6578600" y="4368800"/>
            <a:ext cx="45466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会话保存/分享秘密过滤</a:t>
            </a:r>
            <a:endParaRPr lang="en-US" sz="1100"/>
          </a:p>
        </p:txBody>
      </p:sp>
      <p:sp>
        <p:nvSpPr>
          <p:cNvPr id="35" name="AutoShape 35"/>
          <p:cNvSpPr/>
          <p:nvPr/>
        </p:nvSpPr>
        <p:spPr>
          <a:xfrm>
            <a:off x="6578600" y="4673600"/>
            <a:ext cx="45466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5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发布时低熵秘密过滤、敏感内容换可逆占位符、clone 默认只读，与运行时拦截形成双保险。</a:t>
            </a:r>
            <a:endParaRPr lang="en-US" sz="1100"/>
          </a:p>
        </p:txBody>
      </p:sp>
      <p:sp>
        <p:nvSpPr>
          <p:cNvPr id="36" name="AutoShape 36"/>
          <p:cNvSpPr/>
          <p:nvPr/>
        </p:nvSpPr>
        <p:spPr>
          <a:xfrm>
            <a:off x="812800" y="5613400"/>
            <a:ext cx="10566400" cy="508000"/>
          </a:xfrm>
          <a:prstGeom prst="roundRect">
            <a:avLst>
              <a:gd name="adj" fmla="val 20000"/>
            </a:avLst>
          </a:prstGeom>
          <a:solidFill>
            <a:srgbClr val="F1F5F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37" name="AutoShape 37"/>
          <p:cNvSpPr/>
          <p:nvPr/>
        </p:nvSpPr>
        <p:spPr>
          <a:xfrm>
            <a:off x="1066800" y="5613400"/>
            <a:ext cx="1397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50" b="1" i="0" u="none" strike="noStrike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挂载点</a:t>
            </a:r>
            <a:endParaRPr lang="en-US" sz="1100"/>
          </a:p>
        </p:txBody>
      </p:sp>
      <p:sp>
        <p:nvSpPr>
          <p:cNvPr id="38" name="AutoShape 38"/>
          <p:cNvSpPr/>
          <p:nvPr/>
        </p:nvSpPr>
        <p:spPr>
          <a:xfrm>
            <a:off x="2489200" y="5613400"/>
            <a:ext cx="8763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5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复用墨攻已有审批/配额/审计作门禁链挂载点，预留四类门禁可插拔接入，不推倒现有实现。</a:t>
            </a:r>
            <a:endParaRPr lang="en-US" sz="1100"/>
          </a:p>
        </p:txBody>
      </p:sp>
      <p:sp>
        <p:nvSpPr>
          <p:cNvPr id="39" name="AutoShape 39"/>
          <p:cNvSpPr/>
          <p:nvPr/>
        </p:nvSpPr>
        <p:spPr>
          <a:xfrm>
            <a:off x="812800" y="6451600"/>
            <a:ext cx="3810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墨攻 · 企业级智能体平台</a:t>
            </a:r>
            <a:endParaRPr lang="en-US" sz="1100"/>
          </a:p>
        </p:txBody>
      </p:sp>
      <p:sp>
        <p:nvSpPr>
          <p:cNvPr id="40" name="AutoShape 40"/>
          <p:cNvSpPr/>
          <p:nvPr/>
        </p:nvSpPr>
        <p:spPr>
          <a:xfrm>
            <a:off x="10617200" y="6451600"/>
            <a:ext cx="762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zh-CN" sz="11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8 / 18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>
  <p:cSld>
    <p:bg>
      <p:bgPr>
        <a:solidFill>
          <a:srgbClr val="F8FAFC">
            <a:alpha val="100000"/>
          </a:srgbClr>
        </a:solidFill>
        <a:effectLst/>
      </p:bgPr>
    </p:bg>
    <p:spTree>
      <p:nvGrpSpPr>
        <p:cNvPr id="4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AutoShape 2"/>
          <p:cNvSpPr/>
          <p:nvPr/>
        </p:nvSpPr>
        <p:spPr>
          <a:xfrm>
            <a:off x="812800" y="533400"/>
            <a:ext cx="50800" cy="2794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43" name="AutoShape 3"/>
          <p:cNvSpPr/>
          <p:nvPr/>
        </p:nvSpPr>
        <p:spPr>
          <a:xfrm>
            <a:off x="990600" y="558800"/>
            <a:ext cx="6350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04 · P0 — 生产可靠与可观测</a:t>
            </a:r>
            <a:endParaRPr lang="en-US" sz="1100"/>
          </a:p>
        </p:txBody>
      </p:sp>
      <p:sp>
        <p:nvSpPr>
          <p:cNvPr id="44" name="AutoShape 4"/>
          <p:cNvSpPr/>
          <p:nvPr/>
        </p:nvSpPr>
        <p:spPr>
          <a:xfrm>
            <a:off x="812800" y="838200"/>
            <a:ext cx="105664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6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网关韧性避免单点中断，驾驶舱让运营可观测</a:t>
            </a:r>
            <a:endParaRPr lang="en-US" sz="1100"/>
          </a:p>
        </p:txBody>
      </p:sp>
      <p:cxnSp>
        <p:nvCxnSpPr>
          <p:cNvPr id="45" name="Connector 5"/>
          <p:cNvCxnSpPr/>
          <p:nvPr/>
        </p:nvCxnSpPr>
        <p:spPr>
          <a:xfrm rot="-4131">
            <a:off x="812804" y="1441450"/>
            <a:ext cx="10566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6" name="AutoShape 6"/>
          <p:cNvSpPr/>
          <p:nvPr/>
        </p:nvSpPr>
        <p:spPr>
          <a:xfrm>
            <a:off x="812800" y="1727200"/>
            <a:ext cx="5156200" cy="3759200"/>
          </a:xfrm>
          <a:prstGeom prst="roundRect">
            <a:avLst>
              <a:gd name="adj" fmla="val 3378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47" name="AutoShape 7"/>
          <p:cNvSpPr/>
          <p:nvPr/>
        </p:nvSpPr>
        <p:spPr>
          <a:xfrm>
            <a:off x="812800" y="1727200"/>
            <a:ext cx="5156200" cy="508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48" name="AutoShape 8"/>
          <p:cNvSpPr/>
          <p:nvPr/>
        </p:nvSpPr>
        <p:spPr>
          <a:xfrm>
            <a:off x="1092200" y="1930400"/>
            <a:ext cx="45974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LLM 网关韧性</a:t>
            </a:r>
            <a:endParaRPr lang="en-US" sz="1100"/>
          </a:p>
        </p:txBody>
      </p:sp>
      <p:sp>
        <p:nvSpPr>
          <p:cNvPr id="49" name="AutoShape 9"/>
          <p:cNvSpPr/>
          <p:nvPr/>
        </p:nvSpPr>
        <p:spPr>
          <a:xfrm>
            <a:off x="1092200" y="2235200"/>
            <a:ext cx="45974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主→备供应商故障转移，避免 LLM 单点中断</a:t>
            </a:r>
            <a:endParaRPr lang="en-US" sz="1100"/>
          </a:p>
        </p:txBody>
      </p:sp>
      <p:sp>
        <p:nvSpPr>
          <p:cNvPr id="50" name="AutoShape 10"/>
          <p:cNvSpPr/>
          <p:nvPr/>
        </p:nvSpPr>
        <p:spPr>
          <a:xfrm>
            <a:off x="1092200" y="2692400"/>
            <a:ext cx="279400" cy="279400"/>
          </a:xfrm>
          <a:prstGeom prst="ellipse">
            <a:avLst/>
          </a:prstGeom>
          <a:solidFill>
            <a:srgbClr val="CCFBF1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51" name="AutoShape 11"/>
          <p:cNvSpPr/>
          <p:nvPr/>
        </p:nvSpPr>
        <p:spPr>
          <a:xfrm>
            <a:off x="1092200" y="2692400"/>
            <a:ext cx="2794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100" b="1" i="0" u="none" strike="noStrike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1</a:t>
            </a:r>
            <a:endParaRPr lang="en-US" sz="1100"/>
          </a:p>
        </p:txBody>
      </p:sp>
      <p:sp>
        <p:nvSpPr>
          <p:cNvPr id="52" name="AutoShape 12"/>
          <p:cNvSpPr/>
          <p:nvPr/>
        </p:nvSpPr>
        <p:spPr>
          <a:xfrm>
            <a:off x="1524000" y="2667000"/>
            <a:ext cx="4191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主→备故障转移 failover</a:t>
            </a:r>
            <a:endParaRPr lang="en-US" sz="1100"/>
          </a:p>
        </p:txBody>
      </p:sp>
      <p:sp>
        <p:nvSpPr>
          <p:cNvPr id="53" name="AutoShape 13"/>
          <p:cNvSpPr/>
          <p:nvPr/>
        </p:nvSpPr>
        <p:spPr>
          <a:xfrm>
            <a:off x="1524000" y="2921000"/>
            <a:ext cx="4191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供应商自动切换，服务不中断</a:t>
            </a:r>
            <a:endParaRPr lang="en-US" sz="1100"/>
          </a:p>
        </p:txBody>
      </p:sp>
      <p:sp>
        <p:nvSpPr>
          <p:cNvPr id="54" name="AutoShape 14"/>
          <p:cNvSpPr/>
          <p:nvPr/>
        </p:nvSpPr>
        <p:spPr>
          <a:xfrm>
            <a:off x="1092200" y="3327400"/>
            <a:ext cx="279400" cy="279400"/>
          </a:xfrm>
          <a:prstGeom prst="ellipse">
            <a:avLst/>
          </a:prstGeom>
          <a:solidFill>
            <a:srgbClr val="CCFBF1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55" name="AutoShape 15"/>
          <p:cNvSpPr/>
          <p:nvPr/>
        </p:nvSpPr>
        <p:spPr>
          <a:xfrm>
            <a:off x="1092200" y="3327400"/>
            <a:ext cx="2794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100" b="1" i="0" u="none" strike="noStrike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2</a:t>
            </a:r>
            <a:endParaRPr lang="en-US" sz="1100"/>
          </a:p>
        </p:txBody>
      </p:sp>
      <p:sp>
        <p:nvSpPr>
          <p:cNvPr id="56" name="AutoShape 16"/>
          <p:cNvSpPr/>
          <p:nvPr/>
        </p:nvSpPr>
        <p:spPr>
          <a:xfrm>
            <a:off x="1524000" y="3302000"/>
            <a:ext cx="4191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降级链 degradation_chain</a:t>
            </a:r>
            <a:endParaRPr lang="en-US" sz="1100"/>
          </a:p>
        </p:txBody>
      </p:sp>
      <p:sp>
        <p:nvSpPr>
          <p:cNvPr id="57" name="AutoShape 17"/>
          <p:cNvSpPr/>
          <p:nvPr/>
        </p:nvSpPr>
        <p:spPr>
          <a:xfrm>
            <a:off x="1524000" y="3556000"/>
            <a:ext cx="4191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主模型失败逐级降档</a:t>
            </a:r>
            <a:endParaRPr lang="en-US" sz="1100"/>
          </a:p>
        </p:txBody>
      </p:sp>
      <p:sp>
        <p:nvSpPr>
          <p:cNvPr id="58" name="AutoShape 18"/>
          <p:cNvSpPr/>
          <p:nvPr/>
        </p:nvSpPr>
        <p:spPr>
          <a:xfrm>
            <a:off x="1092200" y="3962400"/>
            <a:ext cx="279400" cy="279400"/>
          </a:xfrm>
          <a:prstGeom prst="ellipse">
            <a:avLst/>
          </a:prstGeom>
          <a:solidFill>
            <a:srgbClr val="CCFBF1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59" name="AutoShape 19"/>
          <p:cNvSpPr/>
          <p:nvPr/>
        </p:nvSpPr>
        <p:spPr>
          <a:xfrm>
            <a:off x="1092200" y="3962400"/>
            <a:ext cx="2794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100" b="1" i="0" u="none" strike="noStrike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3</a:t>
            </a:r>
            <a:endParaRPr lang="en-US" sz="1100"/>
          </a:p>
        </p:txBody>
      </p:sp>
      <p:sp>
        <p:nvSpPr>
          <p:cNvPr id="60" name="AutoShape 20"/>
          <p:cNvSpPr/>
          <p:nvPr/>
        </p:nvSpPr>
        <p:spPr>
          <a:xfrm>
            <a:off x="1524000" y="3937000"/>
            <a:ext cx="4191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指数退避重试</a:t>
            </a:r>
            <a:endParaRPr lang="en-US" sz="1100"/>
          </a:p>
        </p:txBody>
      </p:sp>
      <p:sp>
        <p:nvSpPr>
          <p:cNvPr id="61" name="AutoShape 21"/>
          <p:cNvSpPr/>
          <p:nvPr/>
        </p:nvSpPr>
        <p:spPr>
          <a:xfrm>
            <a:off x="1524000" y="4191000"/>
            <a:ext cx="4191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瞬时故障自恢复，避免雪崩</a:t>
            </a:r>
            <a:endParaRPr lang="en-US" sz="1100"/>
          </a:p>
        </p:txBody>
      </p:sp>
      <p:sp>
        <p:nvSpPr>
          <p:cNvPr id="62" name="AutoShape 22"/>
          <p:cNvSpPr/>
          <p:nvPr/>
        </p:nvSpPr>
        <p:spPr>
          <a:xfrm>
            <a:off x="1092200" y="4597400"/>
            <a:ext cx="279400" cy="279400"/>
          </a:xfrm>
          <a:prstGeom prst="ellipse">
            <a:avLst/>
          </a:prstGeom>
          <a:solidFill>
            <a:srgbClr val="CCFBF1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63" name="AutoShape 23"/>
          <p:cNvSpPr/>
          <p:nvPr/>
        </p:nvSpPr>
        <p:spPr>
          <a:xfrm>
            <a:off x="1092200" y="4597400"/>
            <a:ext cx="2794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100" b="1" i="0" u="none" strike="noStrike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4</a:t>
            </a:r>
            <a:endParaRPr lang="en-US" sz="1100"/>
          </a:p>
        </p:txBody>
      </p:sp>
      <p:sp>
        <p:nvSpPr>
          <p:cNvPr id="64" name="AutoShape 24"/>
          <p:cNvSpPr/>
          <p:nvPr/>
        </p:nvSpPr>
        <p:spPr>
          <a:xfrm>
            <a:off x="1524000" y="4572000"/>
            <a:ext cx="4191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用量 / 成本计量上报</a:t>
            </a:r>
            <a:endParaRPr lang="en-US" sz="1100"/>
          </a:p>
        </p:txBody>
      </p:sp>
      <p:sp>
        <p:nvSpPr>
          <p:cNvPr id="65" name="AutoShape 25"/>
          <p:cNvSpPr/>
          <p:nvPr/>
        </p:nvSpPr>
        <p:spPr>
          <a:xfrm>
            <a:off x="1524000" y="4826000"/>
            <a:ext cx="4191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按模型与部门归集，支撑账单与配额</a:t>
            </a:r>
            <a:endParaRPr lang="en-US" sz="1100"/>
          </a:p>
        </p:txBody>
      </p:sp>
      <p:sp>
        <p:nvSpPr>
          <p:cNvPr id="66" name="AutoShape 26"/>
          <p:cNvSpPr/>
          <p:nvPr/>
        </p:nvSpPr>
        <p:spPr>
          <a:xfrm>
            <a:off x="6324600" y="1727200"/>
            <a:ext cx="5054600" cy="3759200"/>
          </a:xfrm>
          <a:prstGeom prst="roundRect">
            <a:avLst>
              <a:gd name="adj" fmla="val 3378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67" name="AutoShape 27"/>
          <p:cNvSpPr/>
          <p:nvPr/>
        </p:nvSpPr>
        <p:spPr>
          <a:xfrm>
            <a:off x="6324600" y="1727200"/>
            <a:ext cx="5054600" cy="50800"/>
          </a:xfrm>
          <a:prstGeom prst="roundRect">
            <a:avLst>
              <a:gd name="adj" fmla="val 0"/>
            </a:avLst>
          </a:prstGeom>
          <a:solidFill>
            <a:srgbClr val="64748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68" name="AutoShape 28"/>
          <p:cNvSpPr/>
          <p:nvPr/>
        </p:nvSpPr>
        <p:spPr>
          <a:xfrm>
            <a:off x="6604000" y="1930400"/>
            <a:ext cx="44958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总览数据统计驾驶舱</a:t>
            </a:r>
            <a:endParaRPr lang="en-US" sz="1100"/>
          </a:p>
        </p:txBody>
      </p:sp>
      <p:sp>
        <p:nvSpPr>
          <p:cNvPr id="69" name="AutoShape 29"/>
          <p:cNvSpPr/>
          <p:nvPr/>
        </p:nvSpPr>
        <p:spPr>
          <a:xfrm>
            <a:off x="6604000" y="2235200"/>
            <a:ext cx="44958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管理后台扩展"运营驾驶舱"，复用已有运行数据</a:t>
            </a:r>
            <a:endParaRPr lang="en-US" sz="1100"/>
          </a:p>
        </p:txBody>
      </p:sp>
      <p:sp>
        <p:nvSpPr>
          <p:cNvPr id="70" name="AutoShape 30"/>
          <p:cNvSpPr/>
          <p:nvPr/>
        </p:nvSpPr>
        <p:spPr>
          <a:xfrm>
            <a:off x="6604000" y="2667000"/>
            <a:ext cx="508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1</a:t>
            </a:r>
            <a:endParaRPr lang="en-US" sz="1100"/>
          </a:p>
        </p:txBody>
      </p:sp>
      <p:sp>
        <p:nvSpPr>
          <p:cNvPr id="71" name="AutoShape 31"/>
          <p:cNvSpPr/>
          <p:nvPr/>
        </p:nvSpPr>
        <p:spPr>
          <a:xfrm>
            <a:off x="7061200" y="2667000"/>
            <a:ext cx="4064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成本</a:t>
            </a:r>
            <a:endParaRPr lang="en-US" sz="1100"/>
          </a:p>
        </p:txBody>
      </p:sp>
      <p:sp>
        <p:nvSpPr>
          <p:cNvPr id="72" name="AutoShape 32"/>
          <p:cNvSpPr/>
          <p:nvPr/>
        </p:nvSpPr>
        <p:spPr>
          <a:xfrm>
            <a:off x="7061200" y="2921000"/>
            <a:ext cx="4064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Token 总量 · 模型占比 · 部门/智能体分摊 · 预测</a:t>
            </a:r>
            <a:endParaRPr lang="en-US" sz="1100"/>
          </a:p>
        </p:txBody>
      </p:sp>
      <p:sp>
        <p:nvSpPr>
          <p:cNvPr id="73" name="AutoShape 33"/>
          <p:cNvSpPr/>
          <p:nvPr/>
        </p:nvSpPr>
        <p:spPr>
          <a:xfrm>
            <a:off x="6604000" y="3327400"/>
            <a:ext cx="508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2</a:t>
            </a:r>
            <a:endParaRPr lang="en-US" sz="1100"/>
          </a:p>
        </p:txBody>
      </p:sp>
      <p:sp>
        <p:nvSpPr>
          <p:cNvPr id="74" name="AutoShape 34"/>
          <p:cNvSpPr/>
          <p:nvPr/>
        </p:nvSpPr>
        <p:spPr>
          <a:xfrm>
            <a:off x="7061200" y="3327400"/>
            <a:ext cx="4064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使用</a:t>
            </a:r>
            <a:endParaRPr lang="en-US" sz="1100"/>
          </a:p>
        </p:txBody>
      </p:sp>
      <p:sp>
        <p:nvSpPr>
          <p:cNvPr id="75" name="AutoShape 35"/>
          <p:cNvSpPr/>
          <p:nvPr/>
        </p:nvSpPr>
        <p:spPr>
          <a:xfrm>
            <a:off x="7061200" y="3581400"/>
            <a:ext cx="4064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调用量 · 活跃用户 · Skill/检索频次</a:t>
            </a:r>
            <a:endParaRPr lang="en-US" sz="1100"/>
          </a:p>
        </p:txBody>
      </p:sp>
      <p:sp>
        <p:nvSpPr>
          <p:cNvPr id="76" name="AutoShape 36"/>
          <p:cNvSpPr/>
          <p:nvPr/>
        </p:nvSpPr>
        <p:spPr>
          <a:xfrm>
            <a:off x="6604000" y="3987800"/>
            <a:ext cx="508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3</a:t>
            </a:r>
            <a:endParaRPr lang="en-US" sz="1100"/>
          </a:p>
        </p:txBody>
      </p:sp>
      <p:sp>
        <p:nvSpPr>
          <p:cNvPr id="77" name="AutoShape 37"/>
          <p:cNvSpPr/>
          <p:nvPr/>
        </p:nvSpPr>
        <p:spPr>
          <a:xfrm>
            <a:off x="7061200" y="3987800"/>
            <a:ext cx="4064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质量</a:t>
            </a:r>
            <a:endParaRPr lang="en-US" sz="1100"/>
          </a:p>
        </p:txBody>
      </p:sp>
      <p:sp>
        <p:nvSpPr>
          <p:cNvPr id="78" name="AutoShape 38"/>
          <p:cNvSpPr/>
          <p:nvPr/>
        </p:nvSpPr>
        <p:spPr>
          <a:xfrm>
            <a:off x="7061200" y="4241800"/>
            <a:ext cx="4064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成功率 · 响应时长 · 异常率 · 人工介入率</a:t>
            </a:r>
            <a:endParaRPr lang="en-US" sz="1100"/>
          </a:p>
        </p:txBody>
      </p:sp>
      <p:sp>
        <p:nvSpPr>
          <p:cNvPr id="79" name="AutoShape 39"/>
          <p:cNvSpPr/>
          <p:nvPr/>
        </p:nvSpPr>
        <p:spPr>
          <a:xfrm>
            <a:off x="6604000" y="4648200"/>
            <a:ext cx="508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4</a:t>
            </a:r>
            <a:endParaRPr lang="en-US" sz="1100"/>
          </a:p>
        </p:txBody>
      </p:sp>
      <p:sp>
        <p:nvSpPr>
          <p:cNvPr id="80" name="AutoShape 40"/>
          <p:cNvSpPr/>
          <p:nvPr/>
        </p:nvSpPr>
        <p:spPr>
          <a:xfrm>
            <a:off x="7061200" y="4648200"/>
            <a:ext cx="4064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趋势</a:t>
            </a:r>
            <a:endParaRPr lang="en-US" sz="1100"/>
          </a:p>
        </p:txBody>
      </p:sp>
      <p:sp>
        <p:nvSpPr>
          <p:cNvPr id="81" name="AutoShape 41"/>
          <p:cNvSpPr/>
          <p:nvPr/>
        </p:nvSpPr>
        <p:spPr>
          <a:xfrm>
            <a:off x="7061200" y="4902200"/>
            <a:ext cx="4064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环比同比 · 瓶颈识别</a:t>
            </a:r>
            <a:endParaRPr lang="en-US" sz="1100"/>
          </a:p>
        </p:txBody>
      </p:sp>
      <p:sp>
        <p:nvSpPr>
          <p:cNvPr id="82" name="AutoShape 42"/>
          <p:cNvSpPr/>
          <p:nvPr/>
        </p:nvSpPr>
        <p:spPr>
          <a:xfrm>
            <a:off x="812800" y="5664200"/>
            <a:ext cx="10566400" cy="508000"/>
          </a:xfrm>
          <a:prstGeom prst="roundRect">
            <a:avLst>
              <a:gd name="adj" fmla="val 20000"/>
            </a:avLst>
          </a:prstGeom>
          <a:solidFill>
            <a:srgbClr val="F1F5F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83" name="AutoShape 43"/>
          <p:cNvSpPr/>
          <p:nvPr/>
        </p:nvSpPr>
        <p:spPr>
          <a:xfrm>
            <a:off x="1066800" y="5664200"/>
            <a:ext cx="1397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50" b="1" i="0" u="none" strike="noStrike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影响可控</a:t>
            </a:r>
            <a:endParaRPr lang="en-US" sz="1100"/>
          </a:p>
        </p:txBody>
      </p:sp>
      <p:sp>
        <p:nvSpPr>
          <p:cNvPr id="84" name="AutoShape 44"/>
          <p:cNvSpPr/>
          <p:nvPr/>
        </p:nvSpPr>
        <p:spPr>
          <a:xfrm>
            <a:off x="2489200" y="5664200"/>
            <a:ext cx="8763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5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网关韧性改动集中在 llm/model_router.py 与 providers 模块；驾驶舱复用现有运行数据，直接作用于生产可用性。</a:t>
            </a:r>
            <a:endParaRPr lang="en-US" sz="1100"/>
          </a:p>
        </p:txBody>
      </p:sp>
      <p:sp>
        <p:nvSpPr>
          <p:cNvPr id="85" name="AutoShape 45"/>
          <p:cNvSpPr/>
          <p:nvPr/>
        </p:nvSpPr>
        <p:spPr>
          <a:xfrm>
            <a:off x="812800" y="6451600"/>
            <a:ext cx="3810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墨攻 · 企业级智能体平台</a:t>
            </a:r>
            <a:endParaRPr lang="en-US" sz="1100"/>
          </a:p>
        </p:txBody>
      </p:sp>
      <p:sp>
        <p:nvSpPr>
          <p:cNvPr id="86" name="AutoShape 46"/>
          <p:cNvSpPr/>
          <p:nvPr/>
        </p:nvSpPr>
        <p:spPr>
          <a:xfrm>
            <a:off x="10617200" y="6451600"/>
            <a:ext cx="762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zh-CN" sz="11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9 / 18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>
  <p:cSld>
    <p:bg>
      <p:bgPr>
        <a:solidFill>
          <a:srgbClr val="F8FAFC">
            <a:alpha val="100000"/>
          </a:srgbClr>
        </a:solidFill>
        <a:effectLst/>
      </p:bgPr>
    </p:bg>
    <p:spTree>
      <p:nvGrpSpPr>
        <p:cNvPr id="8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AutoShape 2"/>
          <p:cNvSpPr/>
          <p:nvPr/>
        </p:nvSpPr>
        <p:spPr>
          <a:xfrm>
            <a:off x="812800" y="533400"/>
            <a:ext cx="50800" cy="279400"/>
          </a:xfrm>
          <a:prstGeom prst="roundRect">
            <a:avLst>
              <a:gd name="adj" fmla="val 0"/>
            </a:avLst>
          </a:prstGeom>
          <a:solidFill>
            <a:srgbClr val="64748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89" name="AutoShape 3"/>
          <p:cNvSpPr/>
          <p:nvPr/>
        </p:nvSpPr>
        <p:spPr>
          <a:xfrm>
            <a:off x="990600" y="558800"/>
            <a:ext cx="6350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05 · P1 — 可靠执行与会话交接</a:t>
            </a:r>
            <a:endParaRPr lang="en-US" sz="1100"/>
          </a:p>
        </p:txBody>
      </p:sp>
      <p:sp>
        <p:nvSpPr>
          <p:cNvPr id="90" name="AutoShape 4"/>
          <p:cNvSpPr/>
          <p:nvPr/>
        </p:nvSpPr>
        <p:spPr>
          <a:xfrm>
            <a:off x="812800" y="838200"/>
            <a:ext cx="105664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6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Hooks 拦截 · DAG 编排 · 会话/工作流双版本化</a:t>
            </a:r>
            <a:endParaRPr lang="en-US" sz="1100"/>
          </a:p>
        </p:txBody>
      </p:sp>
      <p:cxnSp>
        <p:nvCxnSpPr>
          <p:cNvPr id="91" name="Connector 5"/>
          <p:cNvCxnSpPr/>
          <p:nvPr/>
        </p:nvCxnSpPr>
        <p:spPr>
          <a:xfrm rot="-4131">
            <a:off x="812804" y="1441450"/>
            <a:ext cx="10566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2" name="AutoShape 6"/>
          <p:cNvSpPr/>
          <p:nvPr/>
        </p:nvSpPr>
        <p:spPr>
          <a:xfrm>
            <a:off x="812800" y="1727200"/>
            <a:ext cx="3378200" cy="3759200"/>
          </a:xfrm>
          <a:prstGeom prst="roundRect">
            <a:avLst>
              <a:gd name="adj" fmla="val 3759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93" name="AutoShape 7"/>
          <p:cNvSpPr/>
          <p:nvPr/>
        </p:nvSpPr>
        <p:spPr>
          <a:xfrm>
            <a:off x="812800" y="1727200"/>
            <a:ext cx="3378200" cy="508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94" name="AutoShape 8"/>
          <p:cNvSpPr/>
          <p:nvPr/>
        </p:nvSpPr>
        <p:spPr>
          <a:xfrm>
            <a:off x="1066800" y="1955800"/>
            <a:ext cx="28702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① Hooks 拦截机制</a:t>
            </a:r>
            <a:endParaRPr lang="en-US" sz="1100"/>
          </a:p>
        </p:txBody>
      </p:sp>
      <p:sp>
        <p:nvSpPr>
          <p:cNvPr id="95" name="AutoShape 9"/>
          <p:cNvSpPr/>
          <p:nvPr/>
        </p:nvSpPr>
        <p:spPr>
          <a:xfrm>
            <a:off x="1066800" y="2235200"/>
            <a:ext cx="28702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低成本高扩展的合规扩展点</a:t>
            </a:r>
            <a:endParaRPr lang="en-US" sz="1100"/>
          </a:p>
        </p:txBody>
      </p:sp>
      <p:sp>
        <p:nvSpPr>
          <p:cNvPr id="96" name="AutoShape 10"/>
          <p:cNvSpPr/>
          <p:nvPr/>
        </p:nvSpPr>
        <p:spPr>
          <a:xfrm>
            <a:off x="1066800" y="2692400"/>
            <a:ext cx="76200" cy="76200"/>
          </a:xfrm>
          <a:prstGeom prst="ellipse">
            <a:avLst/>
          </a:prstGeom>
          <a:solidFill>
            <a:srgbClr val="10B9A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97" name="AutoShape 11"/>
          <p:cNvSpPr/>
          <p:nvPr/>
        </p:nvSpPr>
        <p:spPr>
          <a:xfrm>
            <a:off x="1244600" y="2590800"/>
            <a:ext cx="2743200" cy="711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15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五事件：SessionStart / PreToolUse / PostToolUse / SessionEnd / MemoryCommit</a:t>
            </a:r>
            <a:endParaRPr lang="en-US" sz="1100"/>
          </a:p>
        </p:txBody>
      </p:sp>
      <p:sp>
        <p:nvSpPr>
          <p:cNvPr id="98" name="AutoShape 12"/>
          <p:cNvSpPr/>
          <p:nvPr/>
        </p:nvSpPr>
        <p:spPr>
          <a:xfrm>
            <a:off x="1066800" y="3505200"/>
            <a:ext cx="76200" cy="76200"/>
          </a:xfrm>
          <a:prstGeom prst="ellipse">
            <a:avLst/>
          </a:prstGeom>
          <a:solidFill>
            <a:srgbClr val="10B9A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99" name="AutoShape 13"/>
          <p:cNvSpPr/>
          <p:nvPr/>
        </p:nvSpPr>
        <p:spPr>
          <a:xfrm>
            <a:off x="1244600" y="3403600"/>
            <a:ext cx="27432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15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超时保护 · fail-closed · 声明式规则 deny_tool / require_field / observe</a:t>
            </a:r>
            <a:endParaRPr lang="en-US" sz="1100"/>
          </a:p>
        </p:txBody>
      </p:sp>
      <p:sp>
        <p:nvSpPr>
          <p:cNvPr id="100" name="AutoShape 14"/>
          <p:cNvSpPr/>
          <p:nvPr/>
        </p:nvSpPr>
        <p:spPr>
          <a:xfrm>
            <a:off x="1066800" y="4368800"/>
            <a:ext cx="76200" cy="76200"/>
          </a:xfrm>
          <a:prstGeom prst="ellipse">
            <a:avLst/>
          </a:prstGeom>
          <a:solidFill>
            <a:srgbClr val="10B9A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01" name="AutoShape 15"/>
          <p:cNvSpPr/>
          <p:nvPr/>
        </p:nvSpPr>
        <p:spPr>
          <a:xfrm>
            <a:off x="1244600" y="4267200"/>
            <a:ext cx="2743200" cy="711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15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切入点：先 PreToolUse 单事件，快速获得合规拦截与字段校验</a:t>
            </a:r>
            <a:endParaRPr lang="en-US" sz="1100"/>
          </a:p>
        </p:txBody>
      </p:sp>
      <p:sp>
        <p:nvSpPr>
          <p:cNvPr id="102" name="AutoShape 16"/>
          <p:cNvSpPr/>
          <p:nvPr/>
        </p:nvSpPr>
        <p:spPr>
          <a:xfrm>
            <a:off x="4394200" y="1727200"/>
            <a:ext cx="3378200" cy="3759200"/>
          </a:xfrm>
          <a:prstGeom prst="roundRect">
            <a:avLst>
              <a:gd name="adj" fmla="val 3759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03" name="AutoShape 17"/>
          <p:cNvSpPr/>
          <p:nvPr/>
        </p:nvSpPr>
        <p:spPr>
          <a:xfrm>
            <a:off x="4394200" y="1727200"/>
            <a:ext cx="3378200" cy="50800"/>
          </a:xfrm>
          <a:prstGeom prst="roundRect">
            <a:avLst>
              <a:gd name="adj" fmla="val 0"/>
            </a:avLst>
          </a:prstGeom>
          <a:solidFill>
            <a:srgbClr val="64748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04" name="AutoShape 18"/>
          <p:cNvSpPr/>
          <p:nvPr/>
        </p:nvSpPr>
        <p:spPr>
          <a:xfrm>
            <a:off x="4648200" y="1955800"/>
            <a:ext cx="28702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② DAG 通用编排</a:t>
            </a:r>
            <a:endParaRPr lang="en-US" sz="1100"/>
          </a:p>
        </p:txBody>
      </p:sp>
      <p:sp>
        <p:nvSpPr>
          <p:cNvPr id="105" name="AutoShape 19"/>
          <p:cNvSpPr/>
          <p:nvPr/>
        </p:nvSpPr>
        <p:spPr>
          <a:xfrm>
            <a:off x="4648200" y="2235200"/>
            <a:ext cx="28702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从"规划/研究"到通用编排</a:t>
            </a:r>
            <a:endParaRPr lang="en-US" sz="1100"/>
          </a:p>
        </p:txBody>
      </p:sp>
      <p:sp>
        <p:nvSpPr>
          <p:cNvPr id="106" name="AutoShape 20"/>
          <p:cNvSpPr/>
          <p:nvPr/>
        </p:nvSpPr>
        <p:spPr>
          <a:xfrm>
            <a:off x="4648200" y="2692400"/>
            <a:ext cx="76200" cy="76200"/>
          </a:xfrm>
          <a:prstGeom prst="ellipse">
            <a:avLst/>
          </a:prstGeom>
          <a:solidFill>
            <a:srgbClr val="64748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07" name="AutoShape 21"/>
          <p:cNvSpPr/>
          <p:nvPr/>
        </p:nvSpPr>
        <p:spPr>
          <a:xfrm>
            <a:off x="4826000" y="2590800"/>
            <a:ext cx="27432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15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四模式：sequential / supervisor / hybrid / graph</a:t>
            </a:r>
            <a:endParaRPr lang="en-US" sz="1100"/>
          </a:p>
        </p:txBody>
      </p:sp>
      <p:sp>
        <p:nvSpPr>
          <p:cNvPr id="108" name="AutoShape 22"/>
          <p:cNvSpPr/>
          <p:nvPr/>
        </p:nvSpPr>
        <p:spPr>
          <a:xfrm>
            <a:off x="4648200" y="3454400"/>
            <a:ext cx="76200" cy="76200"/>
          </a:xfrm>
          <a:prstGeom prst="ellipse">
            <a:avLst/>
          </a:prstGeom>
          <a:solidFill>
            <a:srgbClr val="64748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09" name="AutoShape 23"/>
          <p:cNvSpPr/>
          <p:nvPr/>
        </p:nvSpPr>
        <p:spPr>
          <a:xfrm>
            <a:off x="4826000" y="3352800"/>
            <a:ext cx="27432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15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DAG 拓扑排序 + 环检测，杜绝依赖回路</a:t>
            </a:r>
            <a:endParaRPr lang="en-US" sz="1100"/>
          </a:p>
        </p:txBody>
      </p:sp>
      <p:sp>
        <p:nvSpPr>
          <p:cNvPr id="110" name="AutoShape 24"/>
          <p:cNvSpPr/>
          <p:nvPr/>
        </p:nvSpPr>
        <p:spPr>
          <a:xfrm>
            <a:off x="4648200" y="4216400"/>
            <a:ext cx="76200" cy="76200"/>
          </a:xfrm>
          <a:prstGeom prst="ellipse">
            <a:avLst/>
          </a:prstGeom>
          <a:solidFill>
            <a:srgbClr val="64748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11" name="AutoShape 25"/>
          <p:cNvSpPr/>
          <p:nvPr/>
        </p:nvSpPr>
        <p:spPr>
          <a:xfrm>
            <a:off x="4826000" y="4114800"/>
            <a:ext cx="2743200" cy="711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15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条件跳过（表达式求值）+ 节点级指数退避重试</a:t>
            </a:r>
            <a:endParaRPr lang="en-US" sz="1100"/>
          </a:p>
        </p:txBody>
      </p:sp>
      <p:sp>
        <p:nvSpPr>
          <p:cNvPr id="112" name="AutoShape 26"/>
          <p:cNvSpPr/>
          <p:nvPr/>
        </p:nvSpPr>
        <p:spPr>
          <a:xfrm>
            <a:off x="7975600" y="1727200"/>
            <a:ext cx="3378200" cy="3759200"/>
          </a:xfrm>
          <a:prstGeom prst="roundRect">
            <a:avLst>
              <a:gd name="adj" fmla="val 3759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13" name="AutoShape 27"/>
          <p:cNvSpPr/>
          <p:nvPr/>
        </p:nvSpPr>
        <p:spPr>
          <a:xfrm>
            <a:off x="7975600" y="1727200"/>
            <a:ext cx="3378200" cy="50800"/>
          </a:xfrm>
          <a:prstGeom prst="roundRect">
            <a:avLst>
              <a:gd name="adj" fmla="val 0"/>
            </a:avLst>
          </a:prstGeom>
          <a:solidFill>
            <a:srgbClr val="1E293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14" name="AutoShape 28"/>
          <p:cNvSpPr/>
          <p:nvPr/>
        </p:nvSpPr>
        <p:spPr>
          <a:xfrm>
            <a:off x="8229600" y="1955800"/>
            <a:ext cx="28702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③ 会话/工作流双版本化</a:t>
            </a:r>
            <a:endParaRPr lang="en-US" sz="1100"/>
          </a:p>
        </p:txBody>
      </p:sp>
      <p:sp>
        <p:nvSpPr>
          <p:cNvPr id="115" name="AutoShape 29"/>
          <p:cNvSpPr/>
          <p:nvPr/>
        </p:nvSpPr>
        <p:spPr>
          <a:xfrm>
            <a:off x="8229600" y="2235200"/>
            <a:ext cx="28702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解决"换个人从头来""工作即沉没"</a:t>
            </a:r>
            <a:endParaRPr lang="en-US" sz="1100"/>
          </a:p>
        </p:txBody>
      </p:sp>
      <p:sp>
        <p:nvSpPr>
          <p:cNvPr id="116" name="AutoShape 30"/>
          <p:cNvSpPr/>
          <p:nvPr/>
        </p:nvSpPr>
        <p:spPr>
          <a:xfrm>
            <a:off x="8229600" y="2692400"/>
            <a:ext cx="76200" cy="76200"/>
          </a:xfrm>
          <a:prstGeom prst="ellipse">
            <a:avLst/>
          </a:prstGeom>
          <a:solidFill>
            <a:srgbClr val="1E293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17" name="AutoShape 31"/>
          <p:cNvSpPr/>
          <p:nvPr/>
        </p:nvSpPr>
        <p:spPr>
          <a:xfrm>
            <a:off x="8407400" y="2590800"/>
            <a:ext cx="2743200" cy="711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15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会话级：commit 存进度 · log 回看 · resume 续写不分支 · share 交接上下文</a:t>
            </a:r>
            <a:endParaRPr lang="en-US" sz="1100"/>
          </a:p>
        </p:txBody>
      </p:sp>
      <p:sp>
        <p:nvSpPr>
          <p:cNvPr id="118" name="AutoShape 32"/>
          <p:cNvSpPr/>
          <p:nvPr/>
        </p:nvSpPr>
        <p:spPr>
          <a:xfrm>
            <a:off x="8229600" y="3530600"/>
            <a:ext cx="76200" cy="76200"/>
          </a:xfrm>
          <a:prstGeom prst="ellipse">
            <a:avLst/>
          </a:prstGeom>
          <a:solidFill>
            <a:srgbClr val="1E293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19" name="AutoShape 33"/>
          <p:cNvSpPr/>
          <p:nvPr/>
        </p:nvSpPr>
        <p:spPr>
          <a:xfrm>
            <a:off x="8407400" y="3429000"/>
            <a:ext cx="2743200" cy="711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15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工作流级：GraphSpec 可执行契约，版本发布 / 灰度 / 回滚 / 轨迹回放</a:t>
            </a:r>
            <a:endParaRPr lang="en-US" sz="1100"/>
          </a:p>
        </p:txBody>
      </p:sp>
      <p:sp>
        <p:nvSpPr>
          <p:cNvPr id="120" name="AutoShape 34"/>
          <p:cNvSpPr/>
          <p:nvPr/>
        </p:nvSpPr>
        <p:spPr>
          <a:xfrm>
            <a:off x="8229600" y="4368800"/>
            <a:ext cx="76200" cy="76200"/>
          </a:xfrm>
          <a:prstGeom prst="ellipse">
            <a:avLst/>
          </a:prstGeom>
          <a:solidFill>
            <a:srgbClr val="1E293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21" name="AutoShape 35"/>
          <p:cNvSpPr/>
          <p:nvPr/>
        </p:nvSpPr>
        <p:spPr>
          <a:xfrm>
            <a:off x="8407400" y="4267200"/>
            <a:ext cx="27432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15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二者互补：会话管上下文，工作流管流程定义</a:t>
            </a:r>
            <a:endParaRPr lang="en-US" sz="1100"/>
          </a:p>
        </p:txBody>
      </p:sp>
      <p:sp>
        <p:nvSpPr>
          <p:cNvPr id="122" name="AutoShape 36"/>
          <p:cNvSpPr/>
          <p:nvPr/>
        </p:nvSpPr>
        <p:spPr>
          <a:xfrm>
            <a:off x="812800" y="5664200"/>
            <a:ext cx="10566400" cy="508000"/>
          </a:xfrm>
          <a:prstGeom prst="roundRect">
            <a:avLst>
              <a:gd name="adj" fmla="val 20000"/>
            </a:avLst>
          </a:prstGeom>
          <a:solidFill>
            <a:srgbClr val="F1F5F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23" name="AutoShape 37"/>
          <p:cNvSpPr/>
          <p:nvPr/>
        </p:nvSpPr>
        <p:spPr>
          <a:xfrm>
            <a:off x="1066800" y="5664200"/>
            <a:ext cx="1524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50" b="1" i="0" u="none" strike="noStrike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会话级是横切</a:t>
            </a:r>
            <a:endParaRPr lang="en-US" sz="1100"/>
          </a:p>
        </p:txBody>
      </p:sp>
      <p:sp>
        <p:nvSpPr>
          <p:cNvPr id="124" name="AutoShape 38"/>
          <p:cNvSpPr/>
          <p:nvPr/>
        </p:nvSpPr>
        <p:spPr>
          <a:xfrm>
            <a:off x="2692400" y="5664200"/>
            <a:ext cx="85598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5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会话级与脱敏（保存时）、Hooks（生命周期事件）、自进化（会话→经验→Skill）交叉，也与现有 Workspace/组织打通多人协同。</a:t>
            </a:r>
            <a:endParaRPr lang="en-US" sz="1100"/>
          </a:p>
        </p:txBody>
      </p:sp>
      <p:sp>
        <p:nvSpPr>
          <p:cNvPr id="125" name="AutoShape 39"/>
          <p:cNvSpPr/>
          <p:nvPr/>
        </p:nvSpPr>
        <p:spPr>
          <a:xfrm>
            <a:off x="812800" y="6451600"/>
            <a:ext cx="3810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墨攻 · 企业级智能体平台</a:t>
            </a:r>
            <a:endParaRPr lang="en-US" sz="1100"/>
          </a:p>
        </p:txBody>
      </p:sp>
      <p:sp>
        <p:nvSpPr>
          <p:cNvPr id="126" name="AutoShape 40"/>
          <p:cNvSpPr/>
          <p:nvPr/>
        </p:nvSpPr>
        <p:spPr>
          <a:xfrm>
            <a:off x="10617200" y="6451600"/>
            <a:ext cx="762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zh-CN" sz="11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10 / 18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>
  <p:cSld>
    <p:bg>
      <p:bgPr>
        <a:solidFill>
          <a:srgbClr val="F8FAFC">
            <a:alpha val="100000"/>
          </a:srgbClr>
        </a:solidFill>
        <a:effectLst/>
      </p:bgPr>
    </p:bg>
    <p:spTree>
      <p:nvGrpSpPr>
        <p:cNvPr id="12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AutoShape 2"/>
          <p:cNvSpPr/>
          <p:nvPr/>
        </p:nvSpPr>
        <p:spPr>
          <a:xfrm>
            <a:off x="812800" y="533400"/>
            <a:ext cx="50800" cy="279400"/>
          </a:xfrm>
          <a:prstGeom prst="roundRect">
            <a:avLst>
              <a:gd name="adj" fmla="val 0"/>
            </a:avLst>
          </a:prstGeom>
          <a:solidFill>
            <a:srgbClr val="1E293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29" name="AutoShape 3"/>
          <p:cNvSpPr/>
          <p:nvPr/>
        </p:nvSpPr>
        <p:spPr>
          <a:xfrm>
            <a:off x="990600" y="558800"/>
            <a:ext cx="6350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1E293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06 · P2 — 自进化与生态</a:t>
            </a:r>
            <a:endParaRPr lang="en-US" sz="1100"/>
          </a:p>
        </p:txBody>
      </p:sp>
      <p:sp>
        <p:nvSpPr>
          <p:cNvPr id="130" name="AutoShape 4"/>
          <p:cNvSpPr/>
          <p:nvPr/>
        </p:nvSpPr>
        <p:spPr>
          <a:xfrm>
            <a:off x="812800" y="838200"/>
            <a:ext cx="105664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6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把"会话 → 经验 → Skill"串成主线，越用越聪明</a:t>
            </a:r>
            <a:endParaRPr lang="en-US" sz="1100"/>
          </a:p>
        </p:txBody>
      </p:sp>
      <p:cxnSp>
        <p:nvCxnSpPr>
          <p:cNvPr id="131" name="Connector 5"/>
          <p:cNvCxnSpPr/>
          <p:nvPr/>
        </p:nvCxnSpPr>
        <p:spPr>
          <a:xfrm rot="-4131">
            <a:off x="812804" y="1441450"/>
            <a:ext cx="10566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2" name="AutoShape 6"/>
          <p:cNvSpPr/>
          <p:nvPr/>
        </p:nvSpPr>
        <p:spPr>
          <a:xfrm>
            <a:off x="812800" y="1676400"/>
            <a:ext cx="5080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Dream Cycle 三层自进化</a:t>
            </a:r>
            <a:endParaRPr lang="en-US" sz="1100"/>
          </a:p>
        </p:txBody>
      </p:sp>
      <p:sp>
        <p:nvSpPr>
          <p:cNvPr id="133" name="AutoShape 7"/>
          <p:cNvSpPr/>
          <p:nvPr/>
        </p:nvSpPr>
        <p:spPr>
          <a:xfrm>
            <a:off x="812800" y="2006600"/>
            <a:ext cx="5080000" cy="914400"/>
          </a:xfrm>
          <a:prstGeom prst="roundRect">
            <a:avLst>
              <a:gd name="adj" fmla="val 13888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34" name="AutoShape 8"/>
          <p:cNvSpPr/>
          <p:nvPr/>
        </p:nvSpPr>
        <p:spPr>
          <a:xfrm>
            <a:off x="1066800" y="2159000"/>
            <a:ext cx="381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0B9A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1</a:t>
            </a:r>
            <a:endParaRPr lang="en-US" sz="1100"/>
          </a:p>
        </p:txBody>
      </p:sp>
      <p:sp>
        <p:nvSpPr>
          <p:cNvPr id="135" name="AutoShape 9"/>
          <p:cNvSpPr/>
          <p:nvPr/>
        </p:nvSpPr>
        <p:spPr>
          <a:xfrm>
            <a:off x="1473200" y="2159000"/>
            <a:ext cx="42164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经验沉淀</a:t>
            </a:r>
            <a:endParaRPr lang="en-US" sz="1100"/>
          </a:p>
        </p:txBody>
      </p:sp>
      <p:sp>
        <p:nvSpPr>
          <p:cNvPr id="136" name="AutoShape 10"/>
          <p:cNvSpPr/>
          <p:nvPr/>
        </p:nvSpPr>
        <p:spPr>
          <a:xfrm>
            <a:off x="1473200" y="2438400"/>
            <a:ext cx="42164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friction 触发，记录高价值实践（Agent 越用越聪明）</a:t>
            </a:r>
            <a:endParaRPr lang="en-US" sz="1100"/>
          </a:p>
        </p:txBody>
      </p:sp>
      <p:sp>
        <p:nvSpPr>
          <p:cNvPr id="137" name="AutoShape 11"/>
          <p:cNvSpPr/>
          <p:nvPr/>
        </p:nvSpPr>
        <p:spPr>
          <a:xfrm>
            <a:off x="3251200" y="2946400"/>
            <a:ext cx="2032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⇣</a:t>
            </a:r>
            <a:endParaRPr lang="en-US" sz="1100"/>
          </a:p>
        </p:txBody>
      </p:sp>
      <p:sp>
        <p:nvSpPr>
          <p:cNvPr id="138" name="AutoShape 12"/>
          <p:cNvSpPr/>
          <p:nvPr/>
        </p:nvSpPr>
        <p:spPr>
          <a:xfrm>
            <a:off x="812800" y="3200400"/>
            <a:ext cx="5080000" cy="914400"/>
          </a:xfrm>
          <a:prstGeom prst="roundRect">
            <a:avLst>
              <a:gd name="adj" fmla="val 13888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39" name="AutoShape 13"/>
          <p:cNvSpPr/>
          <p:nvPr/>
        </p:nvSpPr>
        <p:spPr>
          <a:xfrm>
            <a:off x="1066800" y="3352800"/>
            <a:ext cx="381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0B9A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2</a:t>
            </a:r>
            <a:endParaRPr lang="en-US" sz="1100"/>
          </a:p>
        </p:txBody>
      </p:sp>
      <p:sp>
        <p:nvSpPr>
          <p:cNvPr id="140" name="AutoShape 14"/>
          <p:cNvSpPr/>
          <p:nvPr/>
        </p:nvSpPr>
        <p:spPr>
          <a:xfrm>
            <a:off x="1473200" y="3352800"/>
            <a:ext cx="42164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自动发现 → 生成 Skill 草稿 + 自动建 MR</a:t>
            </a:r>
            <a:endParaRPr lang="en-US" sz="1100"/>
          </a:p>
        </p:txBody>
      </p:sp>
      <p:sp>
        <p:nvSpPr>
          <p:cNvPr id="141" name="AutoShape 15"/>
          <p:cNvSpPr/>
          <p:nvPr/>
        </p:nvSpPr>
        <p:spPr>
          <a:xfrm>
            <a:off x="1473200" y="3632200"/>
            <a:ext cx="42164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周期扫描重复模式，产出可复用 Skill</a:t>
            </a:r>
            <a:endParaRPr lang="en-US" sz="1100"/>
          </a:p>
        </p:txBody>
      </p:sp>
      <p:sp>
        <p:nvSpPr>
          <p:cNvPr id="142" name="AutoShape 16"/>
          <p:cNvSpPr/>
          <p:nvPr/>
        </p:nvSpPr>
        <p:spPr>
          <a:xfrm>
            <a:off x="3251200" y="4140200"/>
            <a:ext cx="2032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⇣</a:t>
            </a:r>
            <a:endParaRPr lang="en-US" sz="1100"/>
          </a:p>
        </p:txBody>
      </p:sp>
      <p:sp>
        <p:nvSpPr>
          <p:cNvPr id="143" name="AutoShape 17"/>
          <p:cNvSpPr/>
          <p:nvPr/>
        </p:nvSpPr>
        <p:spPr>
          <a:xfrm>
            <a:off x="812800" y="4394200"/>
            <a:ext cx="5080000" cy="914400"/>
          </a:xfrm>
          <a:prstGeom prst="roundRect">
            <a:avLst>
              <a:gd name="adj" fmla="val 13888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44" name="AutoShape 18"/>
          <p:cNvSpPr/>
          <p:nvPr/>
        </p:nvSpPr>
        <p:spPr>
          <a:xfrm>
            <a:off x="1066800" y="4546600"/>
            <a:ext cx="381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0B9A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3</a:t>
            </a:r>
            <a:endParaRPr lang="en-US" sz="1100"/>
          </a:p>
        </p:txBody>
      </p:sp>
      <p:sp>
        <p:nvSpPr>
          <p:cNvPr id="145" name="AutoShape 19"/>
          <p:cNvSpPr/>
          <p:nvPr/>
        </p:nvSpPr>
        <p:spPr>
          <a:xfrm>
            <a:off x="1473200" y="4546600"/>
            <a:ext cx="42164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低采纳率自动淘汰</a:t>
            </a:r>
            <a:endParaRPr lang="en-US" sz="1100"/>
          </a:p>
        </p:txBody>
      </p:sp>
      <p:sp>
        <p:nvSpPr>
          <p:cNvPr id="146" name="AutoShape 20"/>
          <p:cNvSpPr/>
          <p:nvPr/>
        </p:nvSpPr>
        <p:spPr>
          <a:xfrm>
            <a:off x="1473200" y="4826000"/>
            <a:ext cx="42164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未验证的经验自动下线，保持生态质量</a:t>
            </a:r>
            <a:endParaRPr lang="en-US" sz="1100"/>
          </a:p>
        </p:txBody>
      </p:sp>
      <p:sp>
        <p:nvSpPr>
          <p:cNvPr id="147" name="AutoShape 21"/>
          <p:cNvSpPr/>
          <p:nvPr/>
        </p:nvSpPr>
        <p:spPr>
          <a:xfrm>
            <a:off x="6223000" y="1676400"/>
            <a:ext cx="51562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生态清单（P2 其余项 + 清单外新增）</a:t>
            </a:r>
            <a:endParaRPr lang="en-US" sz="1100"/>
          </a:p>
        </p:txBody>
      </p:sp>
      <p:sp>
        <p:nvSpPr>
          <p:cNvPr id="148" name="AutoShape 22"/>
          <p:cNvSpPr/>
          <p:nvPr/>
        </p:nvSpPr>
        <p:spPr>
          <a:xfrm>
            <a:off x="6223000" y="2006600"/>
            <a:ext cx="2489200" cy="660400"/>
          </a:xfrm>
          <a:prstGeom prst="roundRect">
            <a:avLst>
              <a:gd name="adj" fmla="val 15384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49" name="AutoShape 23"/>
          <p:cNvSpPr/>
          <p:nvPr/>
        </p:nvSpPr>
        <p:spPr>
          <a:xfrm>
            <a:off x="6400800" y="2006600"/>
            <a:ext cx="2184400" cy="660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A2A Agent 互通网关</a:t>
            </a:r>
            <a:endParaRPr lang="en-US" sz="1100"/>
          </a:p>
        </p:txBody>
      </p:sp>
      <p:sp>
        <p:nvSpPr>
          <p:cNvPr id="150" name="AutoShape 24"/>
          <p:cNvSpPr/>
          <p:nvPr/>
        </p:nvSpPr>
        <p:spPr>
          <a:xfrm>
            <a:off x="8890000" y="2006600"/>
            <a:ext cx="2489200" cy="660400"/>
          </a:xfrm>
          <a:prstGeom prst="roundRect">
            <a:avLst>
              <a:gd name="adj" fmla="val 15384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51" name="AutoShape 25"/>
          <p:cNvSpPr/>
          <p:nvPr/>
        </p:nvSpPr>
        <p:spPr>
          <a:xfrm>
            <a:off x="9067800" y="2006600"/>
            <a:ext cx="2184400" cy="660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多 IM 入口（飞书/钉钉/企微）</a:t>
            </a:r>
            <a:endParaRPr lang="en-US" sz="1100"/>
          </a:p>
        </p:txBody>
      </p:sp>
      <p:sp>
        <p:nvSpPr>
          <p:cNvPr id="152" name="AutoShape 26"/>
          <p:cNvSpPr/>
          <p:nvPr/>
        </p:nvSpPr>
        <p:spPr>
          <a:xfrm>
            <a:off x="6223000" y="2743200"/>
            <a:ext cx="2489200" cy="660400"/>
          </a:xfrm>
          <a:prstGeom prst="roundRect">
            <a:avLst>
              <a:gd name="adj" fmla="val 15384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53" name="AutoShape 27"/>
          <p:cNvSpPr/>
          <p:nvPr/>
        </p:nvSpPr>
        <p:spPr>
          <a:xfrm>
            <a:off x="6400800" y="2743200"/>
            <a:ext cx="2184400" cy="660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业务系统语义索引</a:t>
            </a:r>
            <a:endParaRPr lang="en-US" sz="1100"/>
          </a:p>
        </p:txBody>
      </p:sp>
      <p:sp>
        <p:nvSpPr>
          <p:cNvPr id="154" name="AutoShape 28"/>
          <p:cNvSpPr/>
          <p:nvPr/>
        </p:nvSpPr>
        <p:spPr>
          <a:xfrm>
            <a:off x="8890000" y="2743200"/>
            <a:ext cx="2489200" cy="660400"/>
          </a:xfrm>
          <a:prstGeom prst="roundRect">
            <a:avLst>
              <a:gd name="adj" fmla="val 15384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55" name="AutoShape 29"/>
          <p:cNvSpPr/>
          <p:nvPr/>
        </p:nvSpPr>
        <p:spPr>
          <a:xfrm>
            <a:off x="9067800" y="2743200"/>
            <a:ext cx="2184400" cy="660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知识图谱层</a:t>
            </a:r>
            <a:endParaRPr lang="en-US" sz="1100"/>
          </a:p>
        </p:txBody>
      </p:sp>
      <p:sp>
        <p:nvSpPr>
          <p:cNvPr id="156" name="AutoShape 30"/>
          <p:cNvSpPr/>
          <p:nvPr/>
        </p:nvSpPr>
        <p:spPr>
          <a:xfrm>
            <a:off x="6223000" y="3479800"/>
            <a:ext cx="2489200" cy="660400"/>
          </a:xfrm>
          <a:prstGeom prst="roundRect">
            <a:avLst>
              <a:gd name="adj" fmla="val 15384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57" name="AutoShape 31"/>
          <p:cNvSpPr/>
          <p:nvPr/>
        </p:nvSpPr>
        <p:spPr>
          <a:xfrm>
            <a:off x="6400800" y="3479800"/>
            <a:ext cx="2184400" cy="660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Skill 市场强化（版本/监控）</a:t>
            </a:r>
            <a:endParaRPr lang="en-US" sz="1100"/>
          </a:p>
        </p:txBody>
      </p:sp>
      <p:sp>
        <p:nvSpPr>
          <p:cNvPr id="158" name="AutoShape 32"/>
          <p:cNvSpPr/>
          <p:nvPr/>
        </p:nvSpPr>
        <p:spPr>
          <a:xfrm>
            <a:off x="8890000" y="3479800"/>
            <a:ext cx="2489200" cy="660400"/>
          </a:xfrm>
          <a:prstGeom prst="roundRect">
            <a:avLst>
              <a:gd name="adj" fmla="val 15384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59" name="AutoShape 33"/>
          <p:cNvSpPr/>
          <p:nvPr/>
        </p:nvSpPr>
        <p:spPr>
          <a:xfrm>
            <a:off x="9067800" y="3479800"/>
            <a:ext cx="2184400" cy="660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三范围 Memory（个人/组织）</a:t>
            </a:r>
            <a:endParaRPr lang="en-US" sz="1100"/>
          </a:p>
        </p:txBody>
      </p:sp>
      <p:sp>
        <p:nvSpPr>
          <p:cNvPr id="160" name="AutoShape 34"/>
          <p:cNvSpPr/>
          <p:nvPr/>
        </p:nvSpPr>
        <p:spPr>
          <a:xfrm>
            <a:off x="6223000" y="4216400"/>
            <a:ext cx="2489200" cy="660400"/>
          </a:xfrm>
          <a:prstGeom prst="roundRect">
            <a:avLst>
              <a:gd name="adj" fmla="val 15384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61" name="AutoShape 43"/>
          <p:cNvSpPr/>
          <p:nvPr/>
        </p:nvSpPr>
        <p:spPr>
          <a:xfrm>
            <a:off x="6223000" y="4953000"/>
            <a:ext cx="2489200" cy="660400"/>
          </a:xfrm>
          <a:prstGeom prst="roundRect">
            <a:avLst>
              <a:gd name="adj" fmla="val 15384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62" name="AutoShape 44"/>
          <p:cNvSpPr/>
          <p:nvPr/>
        </p:nvSpPr>
        <p:spPr>
          <a:xfrm>
            <a:off x="8890000" y="4953000"/>
            <a:ext cx="2489200" cy="660400"/>
          </a:xfrm>
          <a:prstGeom prst="roundRect">
            <a:avLst>
              <a:gd name="adj" fmla="val 15384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63" name="AutoShape 35"/>
          <p:cNvSpPr/>
          <p:nvPr/>
        </p:nvSpPr>
        <p:spPr>
          <a:xfrm>
            <a:off x="6400800" y="4216400"/>
            <a:ext cx="2184400" cy="660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能力资产化「发现→注册」</a:t>
            </a:r>
            <a:endParaRPr lang="en-US" sz="1100"/>
          </a:p>
        </p:txBody>
      </p:sp>
      <p:sp>
        <p:nvSpPr>
          <p:cNvPr id="164" name="AutoShape 45"/>
          <p:cNvSpPr/>
          <p:nvPr/>
        </p:nvSpPr>
        <p:spPr>
          <a:xfrm>
            <a:off x="6400800" y="4953000"/>
            <a:ext cx="2184400" cy="660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1" i="0" u="none" strike="noStrike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020 平台化多租户（清单外新增）</a:t>
            </a:r>
            <a:endParaRPr lang="en-US" sz="1100"/>
          </a:p>
        </p:txBody>
      </p:sp>
      <p:sp>
        <p:nvSpPr>
          <p:cNvPr id="165" name="AutoShape 46"/>
          <p:cNvSpPr/>
          <p:nvPr/>
        </p:nvSpPr>
        <p:spPr>
          <a:xfrm>
            <a:off x="9067800" y="4953000"/>
            <a:ext cx="2184400" cy="660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1" i="0" u="none" strike="noStrike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021 统一上下文地址（清单外新增）</a:t>
            </a:r>
            <a:endParaRPr lang="en-US" sz="1100"/>
          </a:p>
        </p:txBody>
      </p:sp>
      <p:sp>
        <p:nvSpPr>
          <p:cNvPr id="166" name="AutoShape 36"/>
          <p:cNvSpPr/>
          <p:nvPr/>
        </p:nvSpPr>
        <p:spPr>
          <a:xfrm>
            <a:off x="8890000" y="4216400"/>
            <a:ext cx="2489200" cy="660400"/>
          </a:xfrm>
          <a:prstGeom prst="roundRect">
            <a:avLst>
              <a:gd name="adj" fmla="val 15384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67" name="AutoShape 37"/>
          <p:cNvSpPr/>
          <p:nvPr/>
        </p:nvSpPr>
        <p:spPr>
          <a:xfrm>
            <a:off x="9067800" y="4216400"/>
            <a:ext cx="2184400" cy="660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厚 / 薄 Harness 弹性配置</a:t>
            </a:r>
            <a:endParaRPr lang="en-US" sz="1100"/>
          </a:p>
        </p:txBody>
      </p:sp>
      <p:sp>
        <p:nvSpPr>
          <p:cNvPr id="168" name="AutoShape 38"/>
          <p:cNvSpPr/>
          <p:nvPr/>
        </p:nvSpPr>
        <p:spPr>
          <a:xfrm>
            <a:off x="812800" y="5613400"/>
            <a:ext cx="10566400" cy="533400"/>
          </a:xfrm>
          <a:prstGeom prst="roundRect">
            <a:avLst>
              <a:gd name="adj" fmla="val 19047"/>
            </a:avLst>
          </a:prstGeom>
          <a:solidFill>
            <a:srgbClr val="F1F5F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69" name="AutoShape 39"/>
          <p:cNvSpPr/>
          <p:nvPr/>
        </p:nvSpPr>
        <p:spPr>
          <a:xfrm>
            <a:off x="1066800" y="5613400"/>
            <a:ext cx="1397000" cy="533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50" b="1" i="0" u="none" strike="noStrike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目标形态</a:t>
            </a:r>
            <a:endParaRPr lang="en-US" sz="1100"/>
          </a:p>
        </p:txBody>
      </p:sp>
      <p:sp>
        <p:nvSpPr>
          <p:cNvPr id="170" name="AutoShape 40"/>
          <p:cNvSpPr/>
          <p:nvPr/>
        </p:nvSpPr>
        <p:spPr>
          <a:xfrm>
            <a:off x="2489200" y="5613400"/>
            <a:ext cx="8763000" cy="533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5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组织级「数字组织」：一个人的会话成为团队与后续自动化的起点——工作量最大，故后置到阶段三。</a:t>
            </a:r>
            <a:endParaRPr lang="en-US" sz="1100"/>
          </a:p>
        </p:txBody>
      </p:sp>
      <p:sp>
        <p:nvSpPr>
          <p:cNvPr id="171" name="AutoShape 41"/>
          <p:cNvSpPr/>
          <p:nvPr/>
        </p:nvSpPr>
        <p:spPr>
          <a:xfrm>
            <a:off x="812800" y="6451600"/>
            <a:ext cx="3810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墨攻 · 企业级智能体平台</a:t>
            </a:r>
            <a:endParaRPr lang="en-US" sz="1100"/>
          </a:p>
        </p:txBody>
      </p:sp>
      <p:sp>
        <p:nvSpPr>
          <p:cNvPr id="172" name="AutoShape 42"/>
          <p:cNvSpPr/>
          <p:nvPr/>
        </p:nvSpPr>
        <p:spPr>
          <a:xfrm>
            <a:off x="10617200" y="6451600"/>
            <a:ext cx="762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zh-CN" sz="11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11 / 18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>
  <p:cSld>
    <p:bg>
      <p:bgPr>
        <a:solidFill>
          <a:srgbClr val="F8FAFC">
            <a:alpha val="100000"/>
          </a:srgbClr>
        </a:solidFill>
        <a:effectLst/>
      </p:bgPr>
    </p:bg>
    <p:spTree>
      <p:nvGrpSpPr>
        <p:cNvPr id="17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AutoShape 2"/>
          <p:cNvSpPr/>
          <p:nvPr/>
        </p:nvSpPr>
        <p:spPr>
          <a:xfrm>
            <a:off x="812800" y="533400"/>
            <a:ext cx="50800" cy="2794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75" name="AutoShape 3"/>
          <p:cNvSpPr/>
          <p:nvPr/>
        </p:nvSpPr>
        <p:spPr>
          <a:xfrm>
            <a:off x="990600" y="558800"/>
            <a:ext cx="6350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07 · 实施路线图</a:t>
            </a:r>
            <a:endParaRPr lang="en-US" sz="1100"/>
          </a:p>
        </p:txBody>
      </p:sp>
      <p:sp>
        <p:nvSpPr>
          <p:cNvPr id="176" name="AutoShape 4"/>
          <p:cNvSpPr/>
          <p:nvPr/>
        </p:nvSpPr>
        <p:spPr>
          <a:xfrm>
            <a:off x="812800" y="838200"/>
            <a:ext cx="105664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zh-CN" sz="26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31 个特性 已按 SDD 落地，库代码 + 单测全绿</a:t>
            </a:r>
            <a:endParaRPr lang="zh-CN" sz="2600" b="1" i="0" u="none" strike="noStrike">
              <a:solidFill>
                <a:srgbClr val="0F172A"/>
              </a:solidFill>
              <a:latin typeface="Hiragino Sans GB"/>
              <a:ea typeface="Hiragino Sans GB"/>
              <a:cs typeface="Hiragino Sans GB"/>
              <a:sym typeface="Hiragino Sans GB"/>
            </a:endParaRPr>
          </a:p>
        </p:txBody>
      </p:sp>
      <p:cxnSp>
        <p:nvCxnSpPr>
          <p:cNvPr id="177" name="Connector 5"/>
          <p:cNvCxnSpPr/>
          <p:nvPr/>
        </p:nvCxnSpPr>
        <p:spPr>
          <a:xfrm rot="-4131">
            <a:off x="812804" y="1441450"/>
            <a:ext cx="10566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78" name="AutoShape 6"/>
          <p:cNvSpPr/>
          <p:nvPr/>
        </p:nvSpPr>
        <p:spPr>
          <a:xfrm>
            <a:off x="812800" y="1727200"/>
            <a:ext cx="3378200" cy="711200"/>
          </a:xfrm>
          <a:prstGeom prst="roundRect">
            <a:avLst>
              <a:gd name="adj" fmla="val 14284"/>
            </a:avLst>
          </a:prstGeom>
          <a:solidFill>
            <a:srgbClr val="0D9488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79" name="AutoShape 7"/>
          <p:cNvSpPr/>
          <p:nvPr/>
        </p:nvSpPr>
        <p:spPr>
          <a:xfrm>
            <a:off x="1066800" y="1828800"/>
            <a:ext cx="5080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P0</a:t>
            </a:r>
            <a:endParaRPr lang="en-US" sz="1100"/>
          </a:p>
        </p:txBody>
      </p:sp>
      <p:sp>
        <p:nvSpPr>
          <p:cNvPr id="180" name="AutoShape 8"/>
          <p:cNvSpPr/>
          <p:nvPr/>
        </p:nvSpPr>
        <p:spPr>
          <a:xfrm>
            <a:off x="1625600" y="1828800"/>
            <a:ext cx="2413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生产底座</a:t>
            </a:r>
            <a:endParaRPr lang="en-US" sz="1100"/>
          </a:p>
        </p:txBody>
      </p:sp>
      <p:sp>
        <p:nvSpPr>
          <p:cNvPr id="181" name="AutoShape 9"/>
          <p:cNvSpPr/>
          <p:nvPr/>
        </p:nvSpPr>
        <p:spPr>
          <a:xfrm>
            <a:off x="1066800" y="2692400"/>
            <a:ext cx="76200" cy="76200"/>
          </a:xfrm>
          <a:prstGeom prst="ellipse">
            <a:avLst/>
          </a:prstGeom>
          <a:solidFill>
            <a:srgbClr val="0D9488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82" name="AutoShape 10"/>
          <p:cNvSpPr/>
          <p:nvPr/>
        </p:nvSpPr>
        <p:spPr>
          <a:xfrm>
            <a:off x="1244600" y="2590800"/>
            <a:ext cx="28448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15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风控引擎：Gatekeeper · R0–R4 · RBAC 码 · PII 脱敏</a:t>
            </a:r>
            <a:endParaRPr lang="en-US" sz="1100"/>
          </a:p>
        </p:txBody>
      </p:sp>
      <p:sp>
        <p:nvSpPr>
          <p:cNvPr id="183" name="AutoShape 11"/>
          <p:cNvSpPr/>
          <p:nvPr/>
        </p:nvSpPr>
        <p:spPr>
          <a:xfrm>
            <a:off x="1066800" y="3352800"/>
            <a:ext cx="76200" cy="76200"/>
          </a:xfrm>
          <a:prstGeom prst="ellipse">
            <a:avLst/>
          </a:prstGeom>
          <a:solidFill>
            <a:srgbClr val="0D9488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84" name="AutoShape 12"/>
          <p:cNvSpPr/>
          <p:nvPr/>
        </p:nvSpPr>
        <p:spPr>
          <a:xfrm>
            <a:off x="1244600" y="3251200"/>
            <a:ext cx="28448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15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LLM 网关韧性：failover · 降级 · 退避</a:t>
            </a:r>
            <a:endParaRPr lang="en-US" sz="1100"/>
          </a:p>
        </p:txBody>
      </p:sp>
      <p:sp>
        <p:nvSpPr>
          <p:cNvPr id="185" name="AutoShape 13"/>
          <p:cNvSpPr/>
          <p:nvPr/>
        </p:nvSpPr>
        <p:spPr>
          <a:xfrm>
            <a:off x="1066800" y="3911600"/>
            <a:ext cx="76200" cy="76200"/>
          </a:xfrm>
          <a:prstGeom prst="ellipse">
            <a:avLst/>
          </a:prstGeom>
          <a:solidFill>
            <a:srgbClr val="0D9488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86" name="AutoShape 14"/>
          <p:cNvSpPr/>
          <p:nvPr/>
        </p:nvSpPr>
        <p:spPr>
          <a:xfrm>
            <a:off x="1244600" y="3810000"/>
            <a:ext cx="28448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15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运营驾驶舱：成本 / 使用 / 质量 / 趋势</a:t>
            </a:r>
            <a:endParaRPr lang="en-US" sz="1100"/>
          </a:p>
        </p:txBody>
      </p:sp>
      <p:sp>
        <p:nvSpPr>
          <p:cNvPr id="187" name="AutoShape 15"/>
          <p:cNvSpPr/>
          <p:nvPr/>
        </p:nvSpPr>
        <p:spPr>
          <a:xfrm>
            <a:off x="1066800" y="4470400"/>
            <a:ext cx="2870200" cy="838200"/>
          </a:xfrm>
          <a:prstGeom prst="roundRect">
            <a:avLst>
              <a:gd name="adj" fmla="val 12120"/>
            </a:avLst>
          </a:prstGeom>
          <a:solidFill>
            <a:srgbClr val="CCFBF1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88" name="AutoShape 16"/>
          <p:cNvSpPr/>
          <p:nvPr/>
        </p:nvSpPr>
        <p:spPr>
          <a:xfrm>
            <a:off x="1244600" y="4572000"/>
            <a:ext cx="7112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50" b="1" i="0" u="none" strike="noStrike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交付</a:t>
            </a:r>
            <a:endParaRPr lang="en-US" sz="1100"/>
          </a:p>
        </p:txBody>
      </p:sp>
      <p:sp>
        <p:nvSpPr>
          <p:cNvPr id="189" name="AutoShape 17"/>
          <p:cNvSpPr/>
          <p:nvPr/>
        </p:nvSpPr>
        <p:spPr>
          <a:xfrm>
            <a:off x="1244600" y="4800600"/>
            <a:ext cx="25146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100" b="0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✅ 已落地（库+单测+生产接线）：合规入场券 · 生产可用性 · 可观测</a:t>
            </a:r>
            <a:endParaRPr lang="en-US" sz="1100"/>
          </a:p>
        </p:txBody>
      </p:sp>
      <p:sp>
        <p:nvSpPr>
          <p:cNvPr id="190" name="AutoShape 18"/>
          <p:cNvSpPr/>
          <p:nvPr/>
        </p:nvSpPr>
        <p:spPr>
          <a:xfrm>
            <a:off x="4394200" y="1727200"/>
            <a:ext cx="3378200" cy="711200"/>
          </a:xfrm>
          <a:prstGeom prst="roundRect">
            <a:avLst>
              <a:gd name="adj" fmla="val 14284"/>
            </a:avLst>
          </a:prstGeom>
          <a:solidFill>
            <a:srgbClr val="64748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91" name="AutoShape 19"/>
          <p:cNvSpPr/>
          <p:nvPr/>
        </p:nvSpPr>
        <p:spPr>
          <a:xfrm>
            <a:off x="4648200" y="1828800"/>
            <a:ext cx="5080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P1</a:t>
            </a:r>
            <a:endParaRPr lang="en-US" sz="1100"/>
          </a:p>
        </p:txBody>
      </p:sp>
      <p:sp>
        <p:nvSpPr>
          <p:cNvPr id="192" name="AutoShape 20"/>
          <p:cNvSpPr/>
          <p:nvPr/>
        </p:nvSpPr>
        <p:spPr>
          <a:xfrm>
            <a:off x="5207000" y="1828800"/>
            <a:ext cx="2413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可靠性与协作</a:t>
            </a:r>
            <a:endParaRPr lang="en-US" sz="1100"/>
          </a:p>
        </p:txBody>
      </p:sp>
      <p:sp>
        <p:nvSpPr>
          <p:cNvPr id="193" name="AutoShape 21"/>
          <p:cNvSpPr/>
          <p:nvPr/>
        </p:nvSpPr>
        <p:spPr>
          <a:xfrm>
            <a:off x="4648200" y="2692400"/>
            <a:ext cx="76200" cy="76200"/>
          </a:xfrm>
          <a:prstGeom prst="ellipse">
            <a:avLst/>
          </a:prstGeom>
          <a:solidFill>
            <a:srgbClr val="64748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94" name="AutoShape 22"/>
          <p:cNvSpPr/>
          <p:nvPr/>
        </p:nvSpPr>
        <p:spPr>
          <a:xfrm>
            <a:off x="4826000" y="2590800"/>
            <a:ext cx="28448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15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Hooks 拦截：五事件 + 会话生命周期</a:t>
            </a:r>
            <a:endParaRPr lang="en-US" sz="1100"/>
          </a:p>
        </p:txBody>
      </p:sp>
      <p:sp>
        <p:nvSpPr>
          <p:cNvPr id="195" name="AutoShape 23"/>
          <p:cNvSpPr/>
          <p:nvPr/>
        </p:nvSpPr>
        <p:spPr>
          <a:xfrm>
            <a:off x="4648200" y="3352800"/>
            <a:ext cx="76200" cy="76200"/>
          </a:xfrm>
          <a:prstGeom prst="ellipse">
            <a:avLst/>
          </a:prstGeom>
          <a:solidFill>
            <a:srgbClr val="64748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96" name="AutoShape 24"/>
          <p:cNvSpPr/>
          <p:nvPr/>
        </p:nvSpPr>
        <p:spPr>
          <a:xfrm>
            <a:off x="4826000" y="3251200"/>
            <a:ext cx="28448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15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DAG 编排：四模式 · 拓扑 · 环检测 · 条件跳过</a:t>
            </a:r>
            <a:endParaRPr lang="en-US" sz="1100"/>
          </a:p>
        </p:txBody>
      </p:sp>
      <p:sp>
        <p:nvSpPr>
          <p:cNvPr id="197" name="AutoShape 25"/>
          <p:cNvSpPr/>
          <p:nvPr/>
        </p:nvSpPr>
        <p:spPr>
          <a:xfrm>
            <a:off x="4648200" y="4013200"/>
            <a:ext cx="76200" cy="76200"/>
          </a:xfrm>
          <a:prstGeom prst="ellipse">
            <a:avLst/>
          </a:prstGeom>
          <a:solidFill>
            <a:srgbClr val="64748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98" name="AutoShape 26"/>
          <p:cNvSpPr/>
          <p:nvPr/>
        </p:nvSpPr>
        <p:spPr>
          <a:xfrm>
            <a:off x="4826000" y="3911600"/>
            <a:ext cx="28448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15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双版本化：版本 / 交接 / 多人协同</a:t>
            </a:r>
            <a:endParaRPr lang="en-US" sz="1100"/>
          </a:p>
        </p:txBody>
      </p:sp>
      <p:sp>
        <p:nvSpPr>
          <p:cNvPr id="199" name="AutoShape 27"/>
          <p:cNvSpPr/>
          <p:nvPr/>
        </p:nvSpPr>
        <p:spPr>
          <a:xfrm>
            <a:off x="4648200" y="4572000"/>
            <a:ext cx="2870200" cy="736600"/>
          </a:xfrm>
          <a:prstGeom prst="roundRect">
            <a:avLst>
              <a:gd name="adj" fmla="val 13792"/>
            </a:avLst>
          </a:prstGeom>
          <a:solidFill>
            <a:srgbClr val="F1F5F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200" name="AutoShape 28"/>
          <p:cNvSpPr/>
          <p:nvPr/>
        </p:nvSpPr>
        <p:spPr>
          <a:xfrm>
            <a:off x="4826000" y="4673600"/>
            <a:ext cx="7112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50" b="1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交付</a:t>
            </a:r>
            <a:endParaRPr lang="en-US" sz="1100"/>
          </a:p>
        </p:txBody>
      </p:sp>
      <p:sp>
        <p:nvSpPr>
          <p:cNvPr id="201" name="AutoShape 29"/>
          <p:cNvSpPr/>
          <p:nvPr/>
        </p:nvSpPr>
        <p:spPr>
          <a:xfrm>
            <a:off x="4826000" y="4902200"/>
            <a:ext cx="25146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100" b="0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✅ 已落地（库+单测+生产接线）：多步骤可靠 · 合规扩展 · 工作可交接</a:t>
            </a:r>
            <a:endParaRPr lang="en-US" sz="1100"/>
          </a:p>
        </p:txBody>
      </p:sp>
      <p:sp>
        <p:nvSpPr>
          <p:cNvPr id="202" name="AutoShape 30"/>
          <p:cNvSpPr/>
          <p:nvPr/>
        </p:nvSpPr>
        <p:spPr>
          <a:xfrm>
            <a:off x="7975600" y="1727200"/>
            <a:ext cx="3378200" cy="711200"/>
          </a:xfrm>
          <a:prstGeom prst="roundRect">
            <a:avLst>
              <a:gd name="adj" fmla="val 14284"/>
            </a:avLst>
          </a:prstGeom>
          <a:solidFill>
            <a:srgbClr val="1E293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203" name="AutoShape 31"/>
          <p:cNvSpPr/>
          <p:nvPr/>
        </p:nvSpPr>
        <p:spPr>
          <a:xfrm>
            <a:off x="8229600" y="1828800"/>
            <a:ext cx="5080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P2</a:t>
            </a:r>
            <a:endParaRPr lang="en-US" sz="1100"/>
          </a:p>
        </p:txBody>
      </p:sp>
      <p:sp>
        <p:nvSpPr>
          <p:cNvPr id="204" name="AutoShape 32"/>
          <p:cNvSpPr/>
          <p:nvPr/>
        </p:nvSpPr>
        <p:spPr>
          <a:xfrm>
            <a:off x="8788400" y="1828800"/>
            <a:ext cx="2413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自进化与生态</a:t>
            </a:r>
            <a:endParaRPr lang="en-US" sz="1100"/>
          </a:p>
        </p:txBody>
      </p:sp>
      <p:sp>
        <p:nvSpPr>
          <p:cNvPr id="205" name="AutoShape 33"/>
          <p:cNvSpPr/>
          <p:nvPr/>
        </p:nvSpPr>
        <p:spPr>
          <a:xfrm>
            <a:off x="8229600" y="2692400"/>
            <a:ext cx="76200" cy="76200"/>
          </a:xfrm>
          <a:prstGeom prst="ellipse">
            <a:avLst/>
          </a:prstGeom>
          <a:solidFill>
            <a:srgbClr val="1E293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206" name="AutoShape 34"/>
          <p:cNvSpPr/>
          <p:nvPr/>
        </p:nvSpPr>
        <p:spPr>
          <a:xfrm>
            <a:off x="8407400" y="2590800"/>
            <a:ext cx="28448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15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Dream 自进化 · 会话→经验→Skill 闭环</a:t>
            </a:r>
            <a:endParaRPr lang="en-US" sz="1100"/>
          </a:p>
        </p:txBody>
      </p:sp>
      <p:sp>
        <p:nvSpPr>
          <p:cNvPr id="207" name="AutoShape 35"/>
          <p:cNvSpPr/>
          <p:nvPr/>
        </p:nvSpPr>
        <p:spPr>
          <a:xfrm>
            <a:off x="8229600" y="3352800"/>
            <a:ext cx="76200" cy="76200"/>
          </a:xfrm>
          <a:prstGeom prst="ellipse">
            <a:avLst/>
          </a:prstGeom>
          <a:solidFill>
            <a:srgbClr val="1E293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208" name="AutoShape 36"/>
          <p:cNvSpPr/>
          <p:nvPr/>
        </p:nvSpPr>
        <p:spPr>
          <a:xfrm>
            <a:off x="8407400" y="3251200"/>
            <a:ext cx="28448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15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A2A · 多 IM · 业务索引 · 知识图谱</a:t>
            </a:r>
            <a:endParaRPr lang="en-US" sz="1100"/>
          </a:p>
        </p:txBody>
      </p:sp>
      <p:sp>
        <p:nvSpPr>
          <p:cNvPr id="209" name="AutoShape 37"/>
          <p:cNvSpPr/>
          <p:nvPr/>
        </p:nvSpPr>
        <p:spPr>
          <a:xfrm>
            <a:off x="8229600" y="4013200"/>
            <a:ext cx="76200" cy="76200"/>
          </a:xfrm>
          <a:prstGeom prst="ellipse">
            <a:avLst/>
          </a:prstGeom>
          <a:solidFill>
            <a:srgbClr val="1E293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210" name="AutoShape 38"/>
          <p:cNvSpPr/>
          <p:nvPr/>
        </p:nvSpPr>
        <p:spPr>
          <a:xfrm>
            <a:off x="8407400" y="3911600"/>
            <a:ext cx="28448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15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Skill 市场 · 三范围 Memory · 资产化 / Harness</a:t>
            </a:r>
            <a:endParaRPr lang="en-US" sz="1100"/>
          </a:p>
        </p:txBody>
      </p:sp>
      <p:sp>
        <p:nvSpPr>
          <p:cNvPr id="211" name="AutoShape 39"/>
          <p:cNvSpPr/>
          <p:nvPr/>
        </p:nvSpPr>
        <p:spPr>
          <a:xfrm>
            <a:off x="8229600" y="4572000"/>
            <a:ext cx="2870200" cy="736600"/>
          </a:xfrm>
          <a:prstGeom prst="roundRect">
            <a:avLst>
              <a:gd name="adj" fmla="val 13792"/>
            </a:avLst>
          </a:prstGeom>
          <a:solidFill>
            <a:srgbClr val="F1F5F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212" name="AutoShape 40"/>
          <p:cNvSpPr/>
          <p:nvPr/>
        </p:nvSpPr>
        <p:spPr>
          <a:xfrm>
            <a:off x="8407400" y="4673600"/>
            <a:ext cx="7112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50" b="1" i="0" u="none" strike="noStrike">
                <a:solidFill>
                  <a:srgbClr val="1E293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交付</a:t>
            </a:r>
            <a:endParaRPr lang="en-US" sz="1100"/>
          </a:p>
        </p:txBody>
      </p:sp>
      <p:sp>
        <p:nvSpPr>
          <p:cNvPr id="213" name="AutoShape 41"/>
          <p:cNvSpPr/>
          <p:nvPr/>
        </p:nvSpPr>
        <p:spPr>
          <a:xfrm>
            <a:off x="8407400" y="4902200"/>
            <a:ext cx="25146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100" b="0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✅ 已落地（库+单测+生产接线）：组织级「数字组织」· 越用越聪明</a:t>
            </a:r>
            <a:endParaRPr lang="en-US" sz="1100"/>
          </a:p>
        </p:txBody>
      </p:sp>
      <p:sp>
        <p:nvSpPr>
          <p:cNvPr id="214" name="AutoShape 42"/>
          <p:cNvSpPr/>
          <p:nvPr/>
        </p:nvSpPr>
        <p:spPr>
          <a:xfrm>
            <a:off x="812800" y="5588000"/>
            <a:ext cx="105664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5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贯穿原则：复用 DSH Runtime / RBAC / MCP / 自托管与审批·配额·审计挂载点，不重复造底座；守住既有优势边界。</a:t>
            </a:r>
            <a:endParaRPr lang="en-US" sz="1100"/>
          </a:p>
        </p:txBody>
      </p:sp>
      <p:sp>
        <p:nvSpPr>
          <p:cNvPr id="215" name="AutoShape 43"/>
          <p:cNvSpPr/>
          <p:nvPr/>
        </p:nvSpPr>
        <p:spPr>
          <a:xfrm>
            <a:off x="812800" y="6451600"/>
            <a:ext cx="3810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墨攻 · 企业级智能体平台</a:t>
            </a:r>
            <a:endParaRPr lang="en-US" sz="1100"/>
          </a:p>
        </p:txBody>
      </p:sp>
      <p:sp>
        <p:nvSpPr>
          <p:cNvPr id="216" name="AutoShape 44"/>
          <p:cNvSpPr/>
          <p:nvPr/>
        </p:nvSpPr>
        <p:spPr>
          <a:xfrm>
            <a:off x="10617200" y="6451600"/>
            <a:ext cx="762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zh-CN" sz="11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12 / 18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>
  <p:cSld>
    <p:bg>
      <p:bgPr>
        <a:solidFill>
          <a:srgbClr val="F8FAFC">
            <a:alpha val="100000"/>
          </a:srgbClr>
        </a:solidFill>
        <a:effectLst/>
      </p:bgPr>
    </p:bg>
    <p:spTree>
      <p:nvGrpSpPr>
        <p:cNvPr id="21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AutoShape 2"/>
          <p:cNvSpPr/>
          <p:nvPr/>
        </p:nvSpPr>
        <p:spPr>
          <a:xfrm>
            <a:off x="812800" y="533400"/>
            <a:ext cx="50800" cy="2794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219" name="AutoShape 3"/>
          <p:cNvSpPr/>
          <p:nvPr/>
        </p:nvSpPr>
        <p:spPr>
          <a:xfrm>
            <a:off x="990600" y="558800"/>
            <a:ext cx="6350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08 · 落地进展与接线闭合</a:t>
            </a:r>
            <a:endParaRPr lang="en-US" sz="1100"/>
          </a:p>
        </p:txBody>
      </p:sp>
      <p:sp>
        <p:nvSpPr>
          <p:cNvPr id="220" name="AutoShape 4"/>
          <p:cNvSpPr/>
          <p:nvPr/>
        </p:nvSpPr>
        <p:spPr>
          <a:xfrm>
            <a:off x="812800" y="838200"/>
            <a:ext cx="105664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zh-CN" sz="26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31 个特性 已按 SDD 落地，库代码 + 单测全绿</a:t>
            </a:r>
            <a:endParaRPr lang="zh-CN" sz="2600" b="1" i="0" u="none" strike="noStrike">
              <a:solidFill>
                <a:srgbClr val="0F172A"/>
              </a:solidFill>
              <a:latin typeface="Hiragino Sans GB"/>
              <a:ea typeface="Hiragino Sans GB"/>
              <a:cs typeface="Hiragino Sans GB"/>
              <a:sym typeface="Hiragino Sans GB"/>
            </a:endParaRPr>
          </a:p>
        </p:txBody>
      </p:sp>
      <p:cxnSp>
        <p:nvCxnSpPr>
          <p:cNvPr id="221" name="Connector 5"/>
          <p:cNvCxnSpPr/>
          <p:nvPr/>
        </p:nvCxnSpPr>
        <p:spPr>
          <a:xfrm rot="-4131">
            <a:off x="812804" y="1441450"/>
            <a:ext cx="10566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22" name="AutoShape 6"/>
          <p:cNvSpPr/>
          <p:nvPr/>
        </p:nvSpPr>
        <p:spPr>
          <a:xfrm>
            <a:off x="812800" y="1701800"/>
            <a:ext cx="10566400" cy="76200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223" name="AutoShape 7"/>
          <p:cNvSpPr/>
          <p:nvPr/>
        </p:nvSpPr>
        <p:spPr>
          <a:xfrm>
            <a:off x="1066800" y="1701800"/>
            <a:ext cx="4318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0B9A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1</a:t>
            </a:r>
            <a:endParaRPr lang="en-US" sz="1100"/>
          </a:p>
        </p:txBody>
      </p:sp>
      <p:sp>
        <p:nvSpPr>
          <p:cNvPr id="224" name="AutoShape 8"/>
          <p:cNvSpPr/>
          <p:nvPr/>
        </p:nvSpPr>
        <p:spPr>
          <a:xfrm>
            <a:off x="1625600" y="1803400"/>
            <a:ext cx="3048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zh-CN" sz="135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已完成 · 31 个特性全绿</a:t>
            </a:r>
            <a:endParaRPr lang="zh-CN" sz="1350" b="1" i="0" u="none" strike="noStrike">
              <a:solidFill>
                <a:srgbClr val="0F172A"/>
              </a:solidFill>
              <a:latin typeface="Hiragino Sans GB"/>
              <a:ea typeface="Hiragino Sans GB"/>
              <a:cs typeface="Hiragino Sans GB"/>
              <a:sym typeface="Hiragino Sans GB"/>
            </a:endParaRPr>
          </a:p>
        </p:txBody>
      </p:sp>
      <p:sp>
        <p:nvSpPr>
          <p:cNvPr id="225" name="AutoShape 9"/>
          <p:cNvSpPr/>
          <p:nvPr/>
        </p:nvSpPr>
        <p:spPr>
          <a:xfrm>
            <a:off x="1625600" y="2082800"/>
            <a:ext cx="94488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zh-CN" sz="115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31 个特性（含 022–031 质量加固与数据/体验）已按 SDD 落地为库代码 + 单测，全部通过（2026-10-22 基线）。</a:t>
            </a:r>
            <a:endParaRPr lang="zh-CN" sz="1150" b="0" i="0" u="none" strike="noStrike">
              <a:solidFill>
                <a:srgbClr val="64748B"/>
              </a:solidFill>
              <a:latin typeface="Hiragino Sans GB"/>
              <a:ea typeface="Hiragino Sans GB"/>
              <a:cs typeface="Hiragino Sans GB"/>
              <a:sym typeface="Hiragino Sans GB"/>
            </a:endParaRPr>
          </a:p>
        </p:txBody>
      </p:sp>
      <p:sp>
        <p:nvSpPr>
          <p:cNvPr id="226" name="AutoShape 10"/>
          <p:cNvSpPr/>
          <p:nvPr/>
        </p:nvSpPr>
        <p:spPr>
          <a:xfrm>
            <a:off x="812800" y="2565400"/>
            <a:ext cx="10566400" cy="76200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227" name="AutoShape 11"/>
          <p:cNvSpPr/>
          <p:nvPr/>
        </p:nvSpPr>
        <p:spPr>
          <a:xfrm>
            <a:off x="1066800" y="2565400"/>
            <a:ext cx="4318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0B9A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2</a:t>
            </a:r>
            <a:endParaRPr lang="en-US" sz="1100"/>
          </a:p>
        </p:txBody>
      </p:sp>
      <p:sp>
        <p:nvSpPr>
          <p:cNvPr id="228" name="AutoShape 12"/>
          <p:cNvSpPr/>
          <p:nvPr/>
        </p:nvSpPr>
        <p:spPr>
          <a:xfrm>
            <a:off x="1625600" y="2667000"/>
            <a:ext cx="3302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已完成 · 2 案例可运行</a:t>
            </a:r>
            <a:endParaRPr lang="en-US" sz="1100"/>
          </a:p>
        </p:txBody>
      </p:sp>
      <p:sp>
        <p:nvSpPr>
          <p:cNvPr id="229" name="AutoShape 13"/>
          <p:cNvSpPr/>
          <p:nvPr/>
        </p:nvSpPr>
        <p:spPr>
          <a:xfrm>
            <a:off x="1625600" y="2946400"/>
            <a:ext cx="94488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5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客户反馈分诊 + 竞品深度调研，共 40 项离线端到端测试通过，无需外部 LLM / 网络。</a:t>
            </a:r>
            <a:endParaRPr lang="en-US" sz="1100"/>
          </a:p>
        </p:txBody>
      </p:sp>
      <p:sp>
        <p:nvSpPr>
          <p:cNvPr id="230" name="AutoShape 14"/>
          <p:cNvSpPr/>
          <p:nvPr/>
        </p:nvSpPr>
        <p:spPr>
          <a:xfrm>
            <a:off x="812800" y="3429000"/>
            <a:ext cx="10566400" cy="76200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231" name="AutoShape 15"/>
          <p:cNvSpPr/>
          <p:nvPr/>
        </p:nvSpPr>
        <p:spPr>
          <a:xfrm>
            <a:off x="1066800" y="3429000"/>
            <a:ext cx="4318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0B9A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3</a:t>
            </a:r>
            <a:endParaRPr lang="en-US" sz="1100"/>
          </a:p>
        </p:txBody>
      </p:sp>
      <p:sp>
        <p:nvSpPr>
          <p:cNvPr id="232" name="AutoShape 16"/>
          <p:cNvSpPr/>
          <p:nvPr/>
        </p:nvSpPr>
        <p:spPr>
          <a:xfrm>
            <a:off x="1625600" y="3530600"/>
            <a:ext cx="3810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已闭合 · 生产接线</a:t>
            </a:r>
            <a:endParaRPr lang="en-US" sz="1100"/>
          </a:p>
        </p:txBody>
      </p:sp>
      <p:sp>
        <p:nvSpPr>
          <p:cNvPr id="233" name="AutoShape 17"/>
          <p:cNvSpPr/>
          <p:nvPr/>
        </p:nvSpPr>
        <p:spPr>
          <a:xfrm>
            <a:off x="1625600" y="3810000"/>
            <a:ext cx="94488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5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007 网关韧性（ResilientLLMClient 已挂生产调用）/ 009 钩子挂载 + 规则页 / 002 会话版本化端点 + UI</a:t>
            </a:r>
            <a:endParaRPr lang="en-US" sz="1100"/>
          </a:p>
        </p:txBody>
      </p:sp>
      <p:sp>
        <p:nvSpPr>
          <p:cNvPr id="234" name="AutoShape 18"/>
          <p:cNvSpPr/>
          <p:nvPr/>
        </p:nvSpPr>
        <p:spPr>
          <a:xfrm>
            <a:off x="812800" y="4292600"/>
            <a:ext cx="10566400" cy="76200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235" name="AutoShape 19"/>
          <p:cNvSpPr/>
          <p:nvPr/>
        </p:nvSpPr>
        <p:spPr>
          <a:xfrm>
            <a:off x="1066800" y="4292600"/>
            <a:ext cx="4318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0B9A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4</a:t>
            </a:r>
            <a:endParaRPr lang="en-US" sz="1100"/>
          </a:p>
        </p:txBody>
      </p:sp>
      <p:sp>
        <p:nvSpPr>
          <p:cNvPr id="236" name="AutoShape 20"/>
          <p:cNvSpPr/>
          <p:nvPr/>
        </p:nvSpPr>
        <p:spPr>
          <a:xfrm>
            <a:off x="1625600" y="4394200"/>
            <a:ext cx="3810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已闭合 · 审计与门禁</a:t>
            </a:r>
            <a:endParaRPr lang="en-US" sz="1100"/>
          </a:p>
        </p:txBody>
      </p:sp>
      <p:sp>
        <p:nvSpPr>
          <p:cNvPr id="237" name="AutoShape 21"/>
          <p:cNvSpPr/>
          <p:nvPr/>
        </p:nvSpPr>
        <p:spPr>
          <a:xfrm>
            <a:off x="1625600" y="4673600"/>
            <a:ext cx="94488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5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T999 横切审计已接入 012/014/015/016/017/018 业务模块；001 六层门禁已通过 run_gate_plan 挂入运行时。</a:t>
            </a:r>
            <a:endParaRPr lang="en-US" sz="1100"/>
          </a:p>
        </p:txBody>
      </p:sp>
      <p:sp>
        <p:nvSpPr>
          <p:cNvPr id="238" name="AutoShape 22"/>
          <p:cNvSpPr/>
          <p:nvPr/>
        </p:nvSpPr>
        <p:spPr>
          <a:xfrm>
            <a:off x="812800" y="5156200"/>
            <a:ext cx="10566400" cy="76200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239" name="AutoShape 23"/>
          <p:cNvSpPr/>
          <p:nvPr/>
        </p:nvSpPr>
        <p:spPr>
          <a:xfrm>
            <a:off x="1066800" y="5156200"/>
            <a:ext cx="4318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0B9A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5</a:t>
            </a:r>
            <a:endParaRPr lang="en-US" sz="1100"/>
          </a:p>
        </p:txBody>
      </p:sp>
      <p:sp>
        <p:nvSpPr>
          <p:cNvPr id="240" name="AutoShape 24"/>
          <p:cNvSpPr/>
          <p:nvPr/>
        </p:nvSpPr>
        <p:spPr>
          <a:xfrm>
            <a:off x="1625600" y="5257800"/>
            <a:ext cx="3810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不变 · 既有优势</a:t>
            </a:r>
            <a:endParaRPr lang="en-US" sz="1100"/>
          </a:p>
        </p:txBody>
      </p:sp>
      <p:sp>
        <p:nvSpPr>
          <p:cNvPr id="241" name="AutoShape 25"/>
          <p:cNvSpPr/>
          <p:nvPr/>
        </p:nvSpPr>
        <p:spPr>
          <a:xfrm>
            <a:off x="1625600" y="5537200"/>
            <a:ext cx="94488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5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坚持模型与数据自主管控，生产环境自行加固，不可裸用（既有优势边界不变）。</a:t>
            </a:r>
            <a:endParaRPr lang="en-US" sz="1100"/>
          </a:p>
        </p:txBody>
      </p:sp>
      <p:sp>
        <p:nvSpPr>
          <p:cNvPr id="242" name="AutoShape 26"/>
          <p:cNvSpPr/>
          <p:nvPr/>
        </p:nvSpPr>
        <p:spPr>
          <a:xfrm>
            <a:off x="812800" y="6451600"/>
            <a:ext cx="3810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墨攻 · 企业级智能体平台</a:t>
            </a:r>
            <a:endParaRPr lang="en-US" sz="1100"/>
          </a:p>
        </p:txBody>
      </p:sp>
      <p:sp>
        <p:nvSpPr>
          <p:cNvPr id="243" name="AutoShape 27"/>
          <p:cNvSpPr/>
          <p:nvPr/>
        </p:nvSpPr>
        <p:spPr>
          <a:xfrm>
            <a:off x="10617200" y="6451600"/>
            <a:ext cx="762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zh-CN" sz="11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13 / 18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>
  <p:cSld>
    <p:bg>
      <p:bgPr>
        <a:solidFill>
          <a:srgbClr val="F8FAFC">
            <a:alpha val="100000"/>
          </a:srgbClr>
        </a:solidFill>
        <a:effectLst/>
      </p:bgPr>
    </p:bg>
    <p:spTree>
      <p:nvGrpSpPr>
        <p:cNvPr id="24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AutoShape 2"/>
          <p:cNvSpPr/>
          <p:nvPr/>
        </p:nvSpPr>
        <p:spPr>
          <a:xfrm>
            <a:off x="812800" y="533400"/>
            <a:ext cx="50800" cy="2794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46" name="AutoShape 3"/>
          <p:cNvSpPr/>
          <p:nvPr/>
        </p:nvSpPr>
        <p:spPr>
          <a:xfrm>
            <a:off x="990600" y="558800"/>
            <a:ext cx="3810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altLang="zh-CN" sz="1200" b="1" dirty="0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09</a:t>
            </a:r>
            <a:r>
              <a:rPr lang="en-US" sz="1200" b="1" i="0" u="none" strike="noStrike" dirty="0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 xml:space="preserve"> · </a:t>
            </a:r>
            <a:r>
              <a:rPr lang="en-US" sz="1200" b="1" i="0" u="none" strike="noStrike" dirty="0" err="1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生产部署扩展</a:t>
            </a:r>
            <a:endParaRPr lang="en-US" sz="1100" dirty="0"/>
          </a:p>
        </p:txBody>
      </p:sp>
      <p:sp>
        <p:nvSpPr>
          <p:cNvPr id="247" name="AutoShape 4"/>
          <p:cNvSpPr/>
          <p:nvPr/>
        </p:nvSpPr>
        <p:spPr>
          <a:xfrm>
            <a:off x="812800" y="838200"/>
            <a:ext cx="105664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600" b="1" i="0" u="none" strike="noStrike" dirty="0" err="1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多实例运行改造：本轮先做</a:t>
            </a:r>
            <a:r>
              <a:rPr lang="en-US" sz="2600" b="1" i="0" u="none" strike="noStrike" dirty="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 xml:space="preserve"> runtime-host </a:t>
            </a:r>
            <a:r>
              <a:rPr lang="en-US" sz="2600" b="1" i="0" u="none" strike="noStrike" dirty="0" err="1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水平扩展</a:t>
            </a:r>
            <a:endParaRPr lang="en-US" sz="1100" dirty="0"/>
          </a:p>
        </p:txBody>
      </p:sp>
      <p:cxnSp>
        <p:nvCxnSpPr>
          <p:cNvPr id="248" name="Connector 5"/>
          <p:cNvCxnSpPr/>
          <p:nvPr/>
        </p:nvCxnSpPr>
        <p:spPr>
          <a:xfrm rot="-4131">
            <a:off x="812804" y="1441450"/>
            <a:ext cx="10566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49" name="AutoShape 6"/>
          <p:cNvSpPr/>
          <p:nvPr/>
        </p:nvSpPr>
        <p:spPr>
          <a:xfrm>
            <a:off x="812800" y="1752600"/>
            <a:ext cx="3454400" cy="3251200"/>
          </a:xfrm>
          <a:prstGeom prst="roundRect">
            <a:avLst>
              <a:gd name="adj" fmla="val 4687"/>
            </a:avLst>
          </a:prstGeom>
          <a:solidFill>
            <a:srgbClr val="FFFFFF">
              <a:alpha val="100000"/>
            </a:srgbClr>
          </a:solidFill>
          <a:ln w="25400" cap="flat" cmpd="sng">
            <a:solidFill>
              <a:srgbClr val="10B9A9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50" name="AutoShape 7"/>
          <p:cNvSpPr/>
          <p:nvPr/>
        </p:nvSpPr>
        <p:spPr>
          <a:xfrm>
            <a:off x="1117600" y="2006600"/>
            <a:ext cx="1524000" cy="279400"/>
          </a:xfrm>
          <a:prstGeom prst="roundRect">
            <a:avLst>
              <a:gd name="adj" fmla="val 18181"/>
            </a:avLst>
          </a:prstGeom>
          <a:solidFill>
            <a:srgbClr val="109488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51" name="AutoShape 8"/>
          <p:cNvSpPr/>
          <p:nvPr/>
        </p:nvSpPr>
        <p:spPr>
          <a:xfrm>
            <a:off x="1117600" y="2006600"/>
            <a:ext cx="15240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100" b="1" i="0" u="none" strike="noStrike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层 A · 本轮主交付</a:t>
            </a:r>
            <a:endParaRPr lang="en-US" sz="1100"/>
          </a:p>
        </p:txBody>
      </p:sp>
      <p:sp>
        <p:nvSpPr>
          <p:cNvPr id="252" name="AutoShape 9"/>
          <p:cNvSpPr/>
          <p:nvPr/>
        </p:nvSpPr>
        <p:spPr>
          <a:xfrm>
            <a:off x="1117600" y="2413000"/>
            <a:ext cx="28448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runtime-host 水平扩展</a:t>
            </a:r>
            <a:endParaRPr lang="en-US" sz="1100"/>
          </a:p>
        </p:txBody>
      </p:sp>
      <p:sp>
        <p:nvSpPr>
          <p:cNvPr id="253" name="AutoShape 10"/>
          <p:cNvSpPr/>
          <p:nvPr/>
        </p:nvSpPr>
        <p:spPr>
          <a:xfrm>
            <a:off x="1117600" y="2870200"/>
            <a:ext cx="28448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152400" indent="-152400" algn="l">
              <a:lnSpc>
                <a:spcPct val="133333"/>
              </a:lnSpc>
              <a:buClr>
                <a:srgbClr val="475569"/>
              </a:buClr>
              <a:buChar char="•"/>
              <a:defRPr/>
            </a:pPr>
            <a:r>
              <a:rPr lang="en-US" sz="1200" b="0" i="0" u="none" strike="noStrike">
                <a:solidFill>
                  <a:srgbClr val="47556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多 dsh-runtime-host 实例共享命名空间</a:t>
            </a:r>
            <a:endParaRPr lang="en-US" sz="1100"/>
          </a:p>
          <a:p>
            <a:pPr marL="152400" indent="-152400" algn="l">
              <a:lnSpc>
                <a:spcPct val="133333"/>
              </a:lnSpc>
              <a:buClr>
                <a:srgbClr val="475569"/>
              </a:buClr>
              <a:buChar char="•"/>
            </a:pPr>
            <a:r>
              <a:rPr lang="en-US" sz="1200" b="0" i="0" u="none" strike="noStrike">
                <a:solidFill>
                  <a:srgbClr val="47556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前置 sticky LB，按 kernel_session_id 一致性哈希</a:t>
            </a:r>
            <a:endParaRPr/>
          </a:p>
          <a:p>
            <a:pPr marL="152400" indent="-152400" algn="l">
              <a:lnSpc>
                <a:spcPct val="133333"/>
              </a:lnSpc>
              <a:buClr>
                <a:srgbClr val="475569"/>
              </a:buClr>
              <a:buChar char="•"/>
            </a:pPr>
            <a:r>
              <a:rPr lang="en-US" sz="1200" b="0" i="0" u="none" strike="noStrike">
                <a:solidFill>
                  <a:srgbClr val="47556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chat-api 保持单实例，改动面最小</a:t>
            </a:r>
            <a:endParaRPr/>
          </a:p>
        </p:txBody>
      </p:sp>
      <p:sp>
        <p:nvSpPr>
          <p:cNvPr id="254" name="AutoShape 11"/>
          <p:cNvSpPr/>
          <p:nvPr/>
        </p:nvSpPr>
        <p:spPr>
          <a:xfrm>
            <a:off x="1117600" y="4572000"/>
            <a:ext cx="28448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1" i="0" u="none" strike="noStrike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复杂度：低 · 无阻塞依赖</a:t>
            </a:r>
            <a:endParaRPr lang="en-US" sz="1100"/>
          </a:p>
        </p:txBody>
      </p:sp>
      <p:sp>
        <p:nvSpPr>
          <p:cNvPr id="255" name="AutoShape 12"/>
          <p:cNvSpPr/>
          <p:nvPr/>
        </p:nvSpPr>
        <p:spPr>
          <a:xfrm>
            <a:off x="4368800" y="1752600"/>
            <a:ext cx="3454400" cy="3251200"/>
          </a:xfrm>
          <a:prstGeom prst="roundRect">
            <a:avLst>
              <a:gd name="adj" fmla="val 4687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56" name="AutoShape 13"/>
          <p:cNvSpPr/>
          <p:nvPr/>
        </p:nvSpPr>
        <p:spPr>
          <a:xfrm>
            <a:off x="4673600" y="2006600"/>
            <a:ext cx="1524000" cy="279400"/>
          </a:xfrm>
          <a:prstGeom prst="roundRect">
            <a:avLst>
              <a:gd name="adj" fmla="val 18181"/>
            </a:avLst>
          </a:prstGeom>
          <a:solidFill>
            <a:srgbClr val="64748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57" name="AutoShape 14"/>
          <p:cNvSpPr/>
          <p:nvPr/>
        </p:nvSpPr>
        <p:spPr>
          <a:xfrm>
            <a:off x="4673600" y="2006600"/>
            <a:ext cx="15240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100" b="1" i="0" u="none" strike="noStrike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层 B · 后续 P4–P5</a:t>
            </a:r>
            <a:endParaRPr lang="en-US" sz="1100"/>
          </a:p>
        </p:txBody>
      </p:sp>
      <p:sp>
        <p:nvSpPr>
          <p:cNvPr id="258" name="AutoShape 15"/>
          <p:cNvSpPr/>
          <p:nvPr/>
        </p:nvSpPr>
        <p:spPr>
          <a:xfrm>
            <a:off x="4673600" y="2413000"/>
            <a:ext cx="28448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chat-api 无状态化</a:t>
            </a:r>
            <a:endParaRPr lang="en-US" sz="1100"/>
          </a:p>
        </p:txBody>
      </p:sp>
      <p:sp>
        <p:nvSpPr>
          <p:cNvPr id="259" name="AutoShape 16"/>
          <p:cNvSpPr/>
          <p:nvPr/>
        </p:nvSpPr>
        <p:spPr>
          <a:xfrm>
            <a:off x="4673600" y="2870200"/>
            <a:ext cx="28448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152400" indent="-152400" algn="l">
              <a:lnSpc>
                <a:spcPct val="133333"/>
              </a:lnSpc>
              <a:buClr>
                <a:srgbClr val="475569"/>
              </a:buClr>
              <a:buChar char="•"/>
              <a:defRPr/>
            </a:pPr>
            <a:r>
              <a:rPr lang="en-US" sz="1200" b="0" i="0" u="none" strike="noStrike">
                <a:solidFill>
                  <a:srgbClr val="47556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_sessions / _runtimes / 凭据锁外置 Redis</a:t>
            </a:r>
            <a:endParaRPr lang="en-US" sz="1100"/>
          </a:p>
          <a:p>
            <a:pPr marL="152400" indent="-152400" algn="l">
              <a:lnSpc>
                <a:spcPct val="133333"/>
              </a:lnSpc>
              <a:buClr>
                <a:srgbClr val="475569"/>
              </a:buClr>
              <a:buChar char="•"/>
            </a:pPr>
            <a:r>
              <a:rPr lang="en-US" sz="1200" b="0" i="0" u="none" strike="noStrike">
                <a:solidFill>
                  <a:srgbClr val="47556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按 conversation_id 一致性哈希路由实例</a:t>
            </a:r>
            <a:endParaRPr/>
          </a:p>
          <a:p>
            <a:pPr marL="152400" indent="-152400" algn="l">
              <a:lnSpc>
                <a:spcPct val="133333"/>
              </a:lnSpc>
              <a:buClr>
                <a:srgbClr val="475569"/>
              </a:buClr>
              <a:buChar char="•"/>
            </a:pPr>
            <a:r>
              <a:rPr lang="en-US" sz="1200" b="0" i="0" u="none" strike="noStrike">
                <a:solidFill>
                  <a:srgbClr val="47556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Mongo claim_turn 乐观锁已就绪</a:t>
            </a:r>
            <a:endParaRPr/>
          </a:p>
        </p:txBody>
      </p:sp>
      <p:sp>
        <p:nvSpPr>
          <p:cNvPr id="260" name="AutoShape 17"/>
          <p:cNvSpPr/>
          <p:nvPr/>
        </p:nvSpPr>
        <p:spPr>
          <a:xfrm>
            <a:off x="4673600" y="4572000"/>
            <a:ext cx="28448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复杂度：中高 · 触发于需要多实例时</a:t>
            </a:r>
            <a:endParaRPr lang="en-US" sz="1100"/>
          </a:p>
        </p:txBody>
      </p:sp>
      <p:sp>
        <p:nvSpPr>
          <p:cNvPr id="261" name="AutoShape 18"/>
          <p:cNvSpPr/>
          <p:nvPr/>
        </p:nvSpPr>
        <p:spPr>
          <a:xfrm>
            <a:off x="7924800" y="1752600"/>
            <a:ext cx="3454400" cy="3251200"/>
          </a:xfrm>
          <a:prstGeom prst="roundRect">
            <a:avLst>
              <a:gd name="adj" fmla="val 4687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62" name="AutoShape 19"/>
          <p:cNvSpPr/>
          <p:nvPr/>
        </p:nvSpPr>
        <p:spPr>
          <a:xfrm>
            <a:off x="8229600" y="2006600"/>
            <a:ext cx="1524000" cy="279400"/>
          </a:xfrm>
          <a:prstGeom prst="roundRect">
            <a:avLst>
              <a:gd name="adj" fmla="val 18181"/>
            </a:avLst>
          </a:prstGeom>
          <a:solidFill>
            <a:srgbClr val="64748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63" name="AutoShape 20"/>
          <p:cNvSpPr/>
          <p:nvPr/>
        </p:nvSpPr>
        <p:spPr>
          <a:xfrm>
            <a:off x="8229600" y="2006600"/>
            <a:ext cx="15240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100" b="1" i="0" u="none" strike="noStrike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层 C · 后续 P6</a:t>
            </a:r>
            <a:endParaRPr lang="en-US" sz="1100"/>
          </a:p>
        </p:txBody>
      </p:sp>
      <p:sp>
        <p:nvSpPr>
          <p:cNvPr id="264" name="AutoShape 21"/>
          <p:cNvSpPr/>
          <p:nvPr/>
        </p:nvSpPr>
        <p:spPr>
          <a:xfrm>
            <a:off x="8229600" y="2413000"/>
            <a:ext cx="28448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Browser Agent WS 集群</a:t>
            </a:r>
            <a:endParaRPr lang="en-US" sz="1100"/>
          </a:p>
        </p:txBody>
      </p:sp>
      <p:sp>
        <p:nvSpPr>
          <p:cNvPr id="265" name="AutoShape 22"/>
          <p:cNvSpPr/>
          <p:nvPr/>
        </p:nvSpPr>
        <p:spPr>
          <a:xfrm>
            <a:off x="8229600" y="2870200"/>
            <a:ext cx="28448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152400" indent="-152400" algn="l">
              <a:lnSpc>
                <a:spcPct val="133333"/>
              </a:lnSpc>
              <a:buClr>
                <a:srgbClr val="475569"/>
              </a:buClr>
              <a:buChar char="•"/>
              <a:defRPr/>
            </a:pPr>
            <a:r>
              <a:rPr lang="en-US" sz="1200" b="0" i="0" u="none" strike="noStrike">
                <a:solidFill>
                  <a:srgbClr val="47556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agent_registry 跨实例改 Redis pub/sub</a:t>
            </a:r>
            <a:endParaRPr lang="en-US" sz="1100"/>
          </a:p>
          <a:p>
            <a:pPr marL="152400" indent="-152400" algn="l">
              <a:lnSpc>
                <a:spcPct val="133333"/>
              </a:lnSpc>
              <a:buClr>
                <a:srgbClr val="475569"/>
              </a:buClr>
              <a:buChar char="•"/>
            </a:pPr>
            <a:r>
              <a:rPr lang="en-US" sz="1200" b="0" i="0" u="none" strike="noStrike">
                <a:solidFill>
                  <a:srgbClr val="47556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闭源客户端 WS 重连能力待调研</a:t>
            </a:r>
            <a:endParaRPr/>
          </a:p>
          <a:p>
            <a:pPr marL="152400" indent="-152400" algn="l">
              <a:lnSpc>
                <a:spcPct val="133333"/>
              </a:lnSpc>
              <a:buClr>
                <a:srgbClr val="475569"/>
              </a:buClr>
              <a:buChar char="•"/>
            </a:pPr>
            <a:r>
              <a:rPr lang="en-US" sz="1200" b="0" i="0" u="none" strike="noStrike">
                <a:solidFill>
                  <a:srgbClr val="47556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滚动升级容忍 5–30 秒命令闪断</a:t>
            </a:r>
            <a:endParaRPr/>
          </a:p>
        </p:txBody>
      </p:sp>
      <p:sp>
        <p:nvSpPr>
          <p:cNvPr id="266" name="AutoShape 23"/>
          <p:cNvSpPr/>
          <p:nvPr/>
        </p:nvSpPr>
        <p:spPr>
          <a:xfrm>
            <a:off x="8229600" y="4572000"/>
            <a:ext cx="28448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复杂度：高 · 依赖层 B 与调研结论</a:t>
            </a:r>
            <a:endParaRPr lang="en-US" sz="1100"/>
          </a:p>
        </p:txBody>
      </p:sp>
      <p:sp>
        <p:nvSpPr>
          <p:cNvPr id="267" name="AutoShape 24"/>
          <p:cNvSpPr/>
          <p:nvPr/>
        </p:nvSpPr>
        <p:spPr>
          <a:xfrm>
            <a:off x="812800" y="5283200"/>
            <a:ext cx="5207000" cy="812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硬约束：</a:t>
            </a:r>
            <a:r>
              <a:rPr lang="en-US" sz="1100" b="0" i="0" u="none" strike="noStrike">
                <a:solidFill>
                  <a:srgbClr val="47556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不做同一会话跨实例并发处理，避免 kernel session 双写与事件顺序错乱；本轮不引入 Celery，路由走同步 HTTP。</a:t>
            </a:r>
            <a:endParaRPr lang="en-US" sz="1100"/>
          </a:p>
        </p:txBody>
      </p:sp>
      <p:sp>
        <p:nvSpPr>
          <p:cNvPr id="268" name="AutoShape 25"/>
          <p:cNvSpPr/>
          <p:nvPr/>
        </p:nvSpPr>
        <p:spPr>
          <a:xfrm>
            <a:off x="6299200" y="5283200"/>
            <a:ext cx="5080000" cy="812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验收：</a:t>
            </a:r>
            <a:r>
              <a:rPr lang="en-US" sz="1100" b="0" i="0" u="none" strike="noStrike">
                <a:solidFill>
                  <a:srgbClr val="47556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200 并发 P99 与单实例偏差 ±20%；滚动升级进行中会话不丢；实例切换后第二实例可 attach 续聊。</a:t>
            </a:r>
            <a:endParaRPr lang="en-US" sz="1100"/>
          </a:p>
        </p:txBody>
      </p:sp>
      <p:sp>
        <p:nvSpPr>
          <p:cNvPr id="269" name="AutoShape 26"/>
          <p:cNvSpPr/>
          <p:nvPr/>
        </p:nvSpPr>
        <p:spPr>
          <a:xfrm>
            <a:off x="812800" y="6451600"/>
            <a:ext cx="5080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墨攻 · 企业级智能体功能补强规划</a:t>
            </a:r>
            <a:endParaRPr lang="en-US" sz="1100"/>
          </a:p>
        </p:txBody>
      </p:sp>
      <p:sp>
        <p:nvSpPr>
          <p:cNvPr id="270" name="AutoShape 27"/>
          <p:cNvSpPr/>
          <p:nvPr/>
        </p:nvSpPr>
        <p:spPr>
          <a:xfrm>
            <a:off x="10414000" y="6451600"/>
            <a:ext cx="9652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zh-CN" sz="11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14 / 18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>
  <p:cSld>
    <p:bg>
      <p:bgPr>
        <a:solidFill>
          <a:srgbClr val="F8FAFC">
            <a:alpha val="100000"/>
          </a:srgbClr>
        </a:solidFill>
        <a:effectLst/>
      </p:bgPr>
    </p:bg>
    <p:spTree>
      <p:nvGrpSpPr>
        <p:cNvPr id="27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AutoShape 2"/>
          <p:cNvSpPr/>
          <p:nvPr/>
        </p:nvSpPr>
        <p:spPr>
          <a:xfrm>
            <a:off x="812800" y="533400"/>
            <a:ext cx="50800" cy="2794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73" name="AutoShape 3"/>
          <p:cNvSpPr/>
          <p:nvPr/>
        </p:nvSpPr>
        <p:spPr>
          <a:xfrm>
            <a:off x="990600" y="558800"/>
            <a:ext cx="3810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altLang="zh-CN" sz="1200" b="1" dirty="0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10</a:t>
            </a:r>
            <a:r>
              <a:rPr lang="en-US" sz="1200" b="1" i="0" u="none" strike="noStrike" dirty="0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 xml:space="preserve"> · </a:t>
            </a:r>
            <a:r>
              <a:rPr lang="en-US" sz="1200" b="1" i="0" u="none" strike="noStrike" dirty="0" err="1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标杆场景验证</a:t>
            </a:r>
            <a:endParaRPr lang="en-US" sz="1100" dirty="0"/>
          </a:p>
        </p:txBody>
      </p:sp>
      <p:sp>
        <p:nvSpPr>
          <p:cNvPr id="274" name="AutoShape 4"/>
          <p:cNvSpPr/>
          <p:nvPr/>
        </p:nvSpPr>
        <p:spPr>
          <a:xfrm>
            <a:off x="812800" y="838200"/>
            <a:ext cx="105664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6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两个标杆场景，验证从单 Agent 到多 Agent 的完整能力</a:t>
            </a:r>
            <a:endParaRPr lang="en-US" sz="1100"/>
          </a:p>
        </p:txBody>
      </p:sp>
      <p:cxnSp>
        <p:nvCxnSpPr>
          <p:cNvPr id="275" name="Connector 5"/>
          <p:cNvCxnSpPr/>
          <p:nvPr/>
        </p:nvCxnSpPr>
        <p:spPr>
          <a:xfrm rot="-4131">
            <a:off x="812804" y="1441450"/>
            <a:ext cx="10566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76" name="AutoShape 6"/>
          <p:cNvSpPr/>
          <p:nvPr/>
        </p:nvSpPr>
        <p:spPr>
          <a:xfrm>
            <a:off x="812800" y="1752600"/>
            <a:ext cx="5080000" cy="3810000"/>
          </a:xfrm>
          <a:prstGeom prst="roundRect">
            <a:avLst>
              <a:gd name="adj" fmla="val 400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77" name="AutoShape 7"/>
          <p:cNvSpPr/>
          <p:nvPr/>
        </p:nvSpPr>
        <p:spPr>
          <a:xfrm>
            <a:off x="1117600" y="2006600"/>
            <a:ext cx="44704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1" i="0" u="none" strike="noStrike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案例一 · 单 Skill / 单会话 / 单智能体</a:t>
            </a:r>
            <a:endParaRPr lang="en-US" sz="1100"/>
          </a:p>
        </p:txBody>
      </p:sp>
      <p:sp>
        <p:nvSpPr>
          <p:cNvPr id="278" name="AutoShape 8"/>
          <p:cNvSpPr/>
          <p:nvPr/>
        </p:nvSpPr>
        <p:spPr>
          <a:xfrm>
            <a:off x="1117600" y="2286000"/>
            <a:ext cx="44704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9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客户反馈智能分诊</a:t>
            </a:r>
            <a:endParaRPr lang="en-US" sz="1100"/>
          </a:p>
        </p:txBody>
      </p:sp>
      <p:sp>
        <p:nvSpPr>
          <p:cNvPr id="279" name="AutoShape 9"/>
          <p:cNvSpPr/>
          <p:nvPr/>
        </p:nvSpPr>
        <p:spPr>
          <a:xfrm>
            <a:off x="1117600" y="2717800"/>
            <a:ext cx="44704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300" b="0" i="0" u="none" strike="noStrike">
                <a:solidFill>
                  <a:srgbClr val="47556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每天 200–500 条反馈一次交互完成分级聚类、P0 识别与审批触发，输出结构化分诊报告。</a:t>
            </a:r>
            <a:endParaRPr lang="en-US" sz="1100"/>
          </a:p>
        </p:txBody>
      </p:sp>
      <p:cxnSp>
        <p:nvCxnSpPr>
          <p:cNvPr id="280" name="Connector 10"/>
          <p:cNvCxnSpPr/>
          <p:nvPr/>
        </p:nvCxnSpPr>
        <p:spPr>
          <a:xfrm rot="-9766">
            <a:off x="1117609" y="3397250"/>
            <a:ext cx="4470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1F5F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81" name="AutoShape 11"/>
          <p:cNvSpPr/>
          <p:nvPr/>
        </p:nvSpPr>
        <p:spPr>
          <a:xfrm>
            <a:off x="1117600" y="3556000"/>
            <a:ext cx="13970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≤3 分钟</a:t>
            </a:r>
            <a:endParaRPr lang="en-US" sz="1100"/>
          </a:p>
        </p:txBody>
      </p:sp>
      <p:sp>
        <p:nvSpPr>
          <p:cNvPr id="282" name="AutoShape 12"/>
          <p:cNvSpPr/>
          <p:nvPr/>
        </p:nvSpPr>
        <p:spPr>
          <a:xfrm>
            <a:off x="1117600" y="4089400"/>
            <a:ext cx="1397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500 条端到端</a:t>
            </a:r>
            <a:endParaRPr lang="en-US" sz="1100"/>
          </a:p>
        </p:txBody>
      </p:sp>
      <p:sp>
        <p:nvSpPr>
          <p:cNvPr id="283" name="AutoShape 13"/>
          <p:cNvSpPr/>
          <p:nvPr/>
        </p:nvSpPr>
        <p:spPr>
          <a:xfrm>
            <a:off x="2667000" y="3556000"/>
            <a:ext cx="13970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≥95%</a:t>
            </a:r>
            <a:endParaRPr lang="en-US" sz="1100"/>
          </a:p>
        </p:txBody>
      </p:sp>
      <p:sp>
        <p:nvSpPr>
          <p:cNvPr id="284" name="AutoShape 14"/>
          <p:cNvSpPr/>
          <p:nvPr/>
        </p:nvSpPr>
        <p:spPr>
          <a:xfrm>
            <a:off x="2667000" y="4089400"/>
            <a:ext cx="1397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P0 识别召回率</a:t>
            </a:r>
            <a:endParaRPr lang="en-US" sz="1100"/>
          </a:p>
        </p:txBody>
      </p:sp>
      <p:sp>
        <p:nvSpPr>
          <p:cNvPr id="285" name="AutoShape 15"/>
          <p:cNvSpPr/>
          <p:nvPr/>
        </p:nvSpPr>
        <p:spPr>
          <a:xfrm>
            <a:off x="4216400" y="3556000"/>
            <a:ext cx="13970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0</a:t>
            </a:r>
            <a:endParaRPr lang="en-US" sz="1100"/>
          </a:p>
        </p:txBody>
      </p:sp>
      <p:sp>
        <p:nvSpPr>
          <p:cNvPr id="286" name="AutoShape 16"/>
          <p:cNvSpPr/>
          <p:nvPr/>
        </p:nvSpPr>
        <p:spPr>
          <a:xfrm>
            <a:off x="4216400" y="4089400"/>
            <a:ext cx="1397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PII 泄漏率</a:t>
            </a:r>
            <a:endParaRPr lang="en-US" sz="1100"/>
          </a:p>
        </p:txBody>
      </p:sp>
      <p:sp>
        <p:nvSpPr>
          <p:cNvPr id="287" name="AutoShape 17"/>
          <p:cNvSpPr/>
          <p:nvPr/>
        </p:nvSpPr>
        <p:spPr>
          <a:xfrm>
            <a:off x="1117600" y="4724400"/>
            <a:ext cx="4470400" cy="609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验证能力：文档解析 · Spreadsheet · RAG · PII 脱敏 · RBAC 审批 · 审计 · 成本驾驶舱</a:t>
            </a:r>
            <a:endParaRPr lang="en-US" sz="1100"/>
          </a:p>
        </p:txBody>
      </p:sp>
      <p:sp>
        <p:nvSpPr>
          <p:cNvPr id="288" name="AutoShape 18"/>
          <p:cNvSpPr/>
          <p:nvPr/>
        </p:nvSpPr>
        <p:spPr>
          <a:xfrm>
            <a:off x="6299200" y="1752600"/>
            <a:ext cx="5080000" cy="3810000"/>
          </a:xfrm>
          <a:prstGeom prst="roundRect">
            <a:avLst>
              <a:gd name="adj" fmla="val 400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89" name="AutoShape 19"/>
          <p:cNvSpPr/>
          <p:nvPr/>
        </p:nvSpPr>
        <p:spPr>
          <a:xfrm>
            <a:off x="6604000" y="2006600"/>
            <a:ext cx="44704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1" i="0" u="none" strike="noStrike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案例二 · 多 Skill / 多智能体 / DAG graph</a:t>
            </a:r>
            <a:endParaRPr lang="en-US" sz="1100"/>
          </a:p>
        </p:txBody>
      </p:sp>
      <p:sp>
        <p:nvSpPr>
          <p:cNvPr id="290" name="AutoShape 20"/>
          <p:cNvSpPr/>
          <p:nvPr/>
        </p:nvSpPr>
        <p:spPr>
          <a:xfrm>
            <a:off x="6604000" y="2286000"/>
            <a:ext cx="44704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9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竞品深度调研</a:t>
            </a:r>
            <a:endParaRPr lang="en-US" sz="1100"/>
          </a:p>
        </p:txBody>
      </p:sp>
      <p:sp>
        <p:nvSpPr>
          <p:cNvPr id="291" name="AutoShape 21"/>
          <p:cNvSpPr/>
          <p:nvPr/>
        </p:nvSpPr>
        <p:spPr>
          <a:xfrm>
            <a:off x="6604000" y="2717800"/>
            <a:ext cx="44704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300" b="0" i="0" u="none" strike="noStrike">
                <a:solidFill>
                  <a:srgbClr val="47556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输入一个竞品名，4 个分析子 Agent 并行产出市场/产品/财务/舆情四章，再合成可追溯报告。</a:t>
            </a:r>
            <a:endParaRPr lang="en-US" sz="1100"/>
          </a:p>
        </p:txBody>
      </p:sp>
      <p:cxnSp>
        <p:nvCxnSpPr>
          <p:cNvPr id="292" name="Connector 22"/>
          <p:cNvCxnSpPr/>
          <p:nvPr/>
        </p:nvCxnSpPr>
        <p:spPr>
          <a:xfrm rot="-9766">
            <a:off x="6604009" y="3397250"/>
            <a:ext cx="4470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1F5F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93" name="AutoShape 23"/>
          <p:cNvSpPr/>
          <p:nvPr/>
        </p:nvSpPr>
        <p:spPr>
          <a:xfrm>
            <a:off x="6604000" y="3556000"/>
            <a:ext cx="16510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≤15 分钟</a:t>
            </a:r>
            <a:endParaRPr lang="en-US" sz="1100"/>
          </a:p>
        </p:txBody>
      </p:sp>
      <p:sp>
        <p:nvSpPr>
          <p:cNvPr id="294" name="AutoShape 24"/>
          <p:cNvSpPr/>
          <p:nvPr/>
        </p:nvSpPr>
        <p:spPr>
          <a:xfrm>
            <a:off x="6604000" y="4089400"/>
            <a:ext cx="1651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标准深度端到端</a:t>
            </a:r>
            <a:endParaRPr lang="en-US" sz="1100"/>
          </a:p>
        </p:txBody>
      </p:sp>
      <p:sp>
        <p:nvSpPr>
          <p:cNvPr id="295" name="AutoShape 25"/>
          <p:cNvSpPr/>
          <p:nvPr/>
        </p:nvSpPr>
        <p:spPr>
          <a:xfrm>
            <a:off x="8382000" y="3556000"/>
            <a:ext cx="12700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4 路</a:t>
            </a:r>
            <a:endParaRPr lang="en-US" sz="1100"/>
          </a:p>
        </p:txBody>
      </p:sp>
      <p:sp>
        <p:nvSpPr>
          <p:cNvPr id="296" name="AutoShape 26"/>
          <p:cNvSpPr/>
          <p:nvPr/>
        </p:nvSpPr>
        <p:spPr>
          <a:xfrm>
            <a:off x="8382000" y="4089400"/>
            <a:ext cx="1270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分析节点并行</a:t>
            </a:r>
            <a:endParaRPr lang="en-US" sz="1100"/>
          </a:p>
        </p:txBody>
      </p:sp>
      <p:sp>
        <p:nvSpPr>
          <p:cNvPr id="297" name="AutoShape 27"/>
          <p:cNvSpPr/>
          <p:nvPr/>
        </p:nvSpPr>
        <p:spPr>
          <a:xfrm>
            <a:off x="9779000" y="3556000"/>
            <a:ext cx="13970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全追溯</a:t>
            </a:r>
            <a:endParaRPr lang="en-US" sz="1100"/>
          </a:p>
        </p:txBody>
      </p:sp>
      <p:sp>
        <p:nvSpPr>
          <p:cNvPr id="298" name="AutoShape 28"/>
          <p:cNvSpPr/>
          <p:nvPr/>
        </p:nvSpPr>
        <p:spPr>
          <a:xfrm>
            <a:off x="9779000" y="4089400"/>
            <a:ext cx="1397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evidence.json</a:t>
            </a:r>
            <a:endParaRPr lang="en-US" sz="1100"/>
          </a:p>
        </p:txBody>
      </p:sp>
      <p:sp>
        <p:nvSpPr>
          <p:cNvPr id="299" name="AutoShape 29"/>
          <p:cNvSpPr/>
          <p:nvPr/>
        </p:nvSpPr>
        <p:spPr>
          <a:xfrm>
            <a:off x="6604000" y="4724400"/>
            <a:ext cx="4470400" cy="609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验证能力：DAG 编排(010) · 条件跳过 · 失败传播 · 浏览器 Agent · 研究模式 · 成本分项</a:t>
            </a:r>
            <a:endParaRPr lang="en-US" sz="1100"/>
          </a:p>
        </p:txBody>
      </p:sp>
      <p:sp>
        <p:nvSpPr>
          <p:cNvPr id="300" name="AutoShape 30"/>
          <p:cNvSpPr/>
          <p:nvPr/>
        </p:nvSpPr>
        <p:spPr>
          <a:xfrm>
            <a:off x="812800" y="5791200"/>
            <a:ext cx="10566400" cy="406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2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选型原则：顺序依赖、共享上下文 → 单 Agent（案例一）；维度可并行、依赖静态 → DAG graph（案例二）；依赖需运行时动态决定 → hybrid。</a:t>
            </a:r>
            <a:endParaRPr lang="en-US" sz="1100"/>
          </a:p>
        </p:txBody>
      </p:sp>
      <p:sp>
        <p:nvSpPr>
          <p:cNvPr id="301" name="AutoShape 31"/>
          <p:cNvSpPr/>
          <p:nvPr/>
        </p:nvSpPr>
        <p:spPr>
          <a:xfrm>
            <a:off x="812800" y="6451600"/>
            <a:ext cx="5080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墨攻 · 企业级智能体功能补强规划</a:t>
            </a:r>
            <a:endParaRPr lang="en-US" sz="1100"/>
          </a:p>
        </p:txBody>
      </p:sp>
      <p:sp>
        <p:nvSpPr>
          <p:cNvPr id="302" name="AutoShape 32"/>
          <p:cNvSpPr/>
          <p:nvPr/>
        </p:nvSpPr>
        <p:spPr>
          <a:xfrm>
            <a:off x="10414000" y="6451600"/>
            <a:ext cx="9652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zh-CN" sz="11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15 / 18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>
  <p:cSld>
    <p:bg>
      <p:bgPr>
        <a:solidFill>
          <a:srgbClr val="F8FAFC">
            <a:alpha val="100000"/>
          </a:srgbClr>
        </a:solidFill>
        <a:effectLst/>
      </p:bgPr>
    </p:bg>
    <p:spTree>
      <p:nvGrpSpPr>
        <p:cNvPr id="30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AutoShape 2"/>
          <p:cNvSpPr/>
          <p:nvPr/>
        </p:nvSpPr>
        <p:spPr>
          <a:xfrm>
            <a:off x="812800" y="533400"/>
            <a:ext cx="50800" cy="2794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05" name="AutoShape 3"/>
          <p:cNvSpPr/>
          <p:nvPr/>
        </p:nvSpPr>
        <p:spPr>
          <a:xfrm>
            <a:off x="990600" y="558800"/>
            <a:ext cx="3810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altLang="zh-CN" sz="1200" b="1" dirty="0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10</a:t>
            </a:r>
            <a:r>
              <a:rPr lang="en-US" sz="1200" b="1" i="0" u="none" strike="noStrike" dirty="0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 xml:space="preserve"> · </a:t>
            </a:r>
            <a:r>
              <a:rPr lang="en-US" sz="1200" b="1" i="0" u="none" strike="noStrike" dirty="0" err="1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标杆场景一</a:t>
            </a:r>
            <a:r>
              <a:rPr lang="en-US" sz="1200" b="1" i="0" u="none" strike="noStrike" dirty="0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 xml:space="preserve"> · </a:t>
            </a:r>
            <a:r>
              <a:rPr lang="en-US" sz="1200" b="1" i="0" u="none" strike="noStrike" dirty="0" err="1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单智能体</a:t>
            </a:r>
            <a:endParaRPr lang="en-US" sz="1100" dirty="0"/>
          </a:p>
        </p:txBody>
      </p:sp>
      <p:sp>
        <p:nvSpPr>
          <p:cNvPr id="306" name="AutoShape 4"/>
          <p:cNvSpPr/>
          <p:nvPr/>
        </p:nvSpPr>
        <p:spPr>
          <a:xfrm>
            <a:off x="812800" y="838200"/>
            <a:ext cx="105664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6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客户反馈分诊：单 Agent 顺序流水线，P0 自动触发审批</a:t>
            </a:r>
            <a:endParaRPr lang="en-US" sz="1100"/>
          </a:p>
        </p:txBody>
      </p:sp>
      <p:cxnSp>
        <p:nvCxnSpPr>
          <p:cNvPr id="307" name="Connector 5"/>
          <p:cNvCxnSpPr/>
          <p:nvPr/>
        </p:nvCxnSpPr>
        <p:spPr>
          <a:xfrm rot="-4131">
            <a:off x="812804" y="1441450"/>
            <a:ext cx="10566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08" name="AutoShape 6"/>
          <p:cNvSpPr/>
          <p:nvPr/>
        </p:nvSpPr>
        <p:spPr>
          <a:xfrm>
            <a:off x="812800" y="1752600"/>
            <a:ext cx="3556000" cy="3810000"/>
          </a:xfrm>
          <a:prstGeom prst="roundRect">
            <a:avLst>
              <a:gd name="adj" fmla="val 4285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09" name="AutoShape 7"/>
          <p:cNvSpPr/>
          <p:nvPr/>
        </p:nvSpPr>
        <p:spPr>
          <a:xfrm>
            <a:off x="1092200" y="1981200"/>
            <a:ext cx="29972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1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痛点</a:t>
            </a:r>
            <a:endParaRPr lang="en-US" sz="1100"/>
          </a:p>
        </p:txBody>
      </p:sp>
      <p:sp>
        <p:nvSpPr>
          <p:cNvPr id="310" name="AutoShape 8"/>
          <p:cNvSpPr/>
          <p:nvPr/>
        </p:nvSpPr>
        <p:spPr>
          <a:xfrm>
            <a:off x="1092200" y="2260600"/>
            <a:ext cx="29972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每天 200–500 条反馈来自工单、邮件、社群、应用内；人工分诊 4–6 小时/日，P0 紧急问题容易被埋没。</a:t>
            </a:r>
            <a:endParaRPr lang="en-US" sz="1100"/>
          </a:p>
        </p:txBody>
      </p:sp>
      <p:cxnSp>
        <p:nvCxnSpPr>
          <p:cNvPr id="311" name="Connector 9"/>
          <p:cNvCxnSpPr/>
          <p:nvPr/>
        </p:nvCxnSpPr>
        <p:spPr>
          <a:xfrm rot="-14566">
            <a:off x="1092213" y="3422650"/>
            <a:ext cx="2997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1F5F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12" name="AutoShape 10"/>
          <p:cNvSpPr/>
          <p:nvPr/>
        </p:nvSpPr>
        <p:spPr>
          <a:xfrm>
            <a:off x="1092200" y="3581400"/>
            <a:ext cx="29972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1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一次交互产出</a:t>
            </a:r>
            <a:endParaRPr lang="en-US" sz="1100"/>
          </a:p>
        </p:txBody>
      </p:sp>
      <p:sp>
        <p:nvSpPr>
          <p:cNvPr id="313" name="AutoShape 11"/>
          <p:cNvSpPr/>
          <p:nvPr/>
        </p:nvSpPr>
        <p:spPr>
          <a:xfrm>
            <a:off x="1092200" y="3860800"/>
            <a:ext cx="29972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· triage_report.md 分诊报告</a:t>
            </a:r>
            <a:endParaRPr lang="en-US" sz="1100"/>
          </a:p>
        </p:txBody>
      </p:sp>
      <p:sp>
        <p:nvSpPr>
          <p:cNvPr id="314" name="AutoShape 12"/>
          <p:cNvSpPr/>
          <p:nvPr/>
        </p:nvSpPr>
        <p:spPr>
          <a:xfrm>
            <a:off x="1092200" y="4191000"/>
            <a:ext cx="29972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· action_items.csv 跟进清单</a:t>
            </a:r>
            <a:endParaRPr lang="en-US" sz="1100"/>
          </a:p>
        </p:txBody>
      </p:sp>
      <p:sp>
        <p:nvSpPr>
          <p:cNvPr id="315" name="AutoShape 13"/>
          <p:cNvSpPr/>
          <p:nvPr/>
        </p:nvSpPr>
        <p:spPr>
          <a:xfrm>
            <a:off x="1092200" y="4521200"/>
            <a:ext cx="29972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· P0≥3 自动触发 R1 审批</a:t>
            </a:r>
            <a:endParaRPr lang="en-US" sz="1100"/>
          </a:p>
        </p:txBody>
      </p:sp>
      <p:sp>
        <p:nvSpPr>
          <p:cNvPr id="316" name="AutoShape 14"/>
          <p:cNvSpPr/>
          <p:nvPr/>
        </p:nvSpPr>
        <p:spPr>
          <a:xfrm>
            <a:off x="1092200" y="4978400"/>
            <a:ext cx="29972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P0 关键词：无法登录 / 数据丢失 / 服务不可用 / 支付失败</a:t>
            </a:r>
            <a:endParaRPr lang="en-US" sz="1100"/>
          </a:p>
        </p:txBody>
      </p:sp>
      <p:sp>
        <p:nvSpPr>
          <p:cNvPr id="317" name="AutoShape 15"/>
          <p:cNvSpPr/>
          <p:nvPr/>
        </p:nvSpPr>
        <p:spPr>
          <a:xfrm>
            <a:off x="4724400" y="1778000"/>
            <a:ext cx="66548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1" i="0" u="none" strike="noStrike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8 个顺序 Step · 共享同一批反馈上下文</a:t>
            </a:r>
            <a:endParaRPr lang="en-US" sz="1100"/>
          </a:p>
        </p:txBody>
      </p:sp>
      <p:sp>
        <p:nvSpPr>
          <p:cNvPr id="318" name="AutoShape 16"/>
          <p:cNvSpPr/>
          <p:nvPr/>
        </p:nvSpPr>
        <p:spPr>
          <a:xfrm>
            <a:off x="4724400" y="2108200"/>
            <a:ext cx="3251200" cy="736600"/>
          </a:xfrm>
          <a:prstGeom prst="roundRect">
            <a:avLst>
              <a:gd name="adj" fmla="val 13793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19" name="AutoShape 17"/>
          <p:cNvSpPr/>
          <p:nvPr/>
        </p:nvSpPr>
        <p:spPr>
          <a:xfrm>
            <a:off x="4876800" y="2286000"/>
            <a:ext cx="330200" cy="330200"/>
          </a:xfrm>
          <a:prstGeom prst="roundRect">
            <a:avLst>
              <a:gd name="adj" fmla="val 23076"/>
            </a:avLst>
          </a:prstGeom>
          <a:solidFill>
            <a:srgbClr val="109488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20" name="AutoShape 18"/>
          <p:cNvSpPr/>
          <p:nvPr/>
        </p:nvSpPr>
        <p:spPr>
          <a:xfrm>
            <a:off x="4876800" y="2286000"/>
            <a:ext cx="3302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1</a:t>
            </a:r>
            <a:endParaRPr lang="en-US" sz="1100"/>
          </a:p>
        </p:txBody>
      </p:sp>
      <p:sp>
        <p:nvSpPr>
          <p:cNvPr id="321" name="AutoShape 19"/>
          <p:cNvSpPr/>
          <p:nvPr/>
        </p:nvSpPr>
        <p:spPr>
          <a:xfrm>
            <a:off x="5334000" y="2235200"/>
            <a:ext cx="24892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load_feedback</a:t>
            </a:r>
            <a:endParaRPr lang="en-US" sz="1100"/>
          </a:p>
        </p:txBody>
      </p:sp>
      <p:sp>
        <p:nvSpPr>
          <p:cNvPr id="322" name="AutoShape 20"/>
          <p:cNvSpPr/>
          <p:nvPr/>
        </p:nvSpPr>
        <p:spPr>
          <a:xfrm>
            <a:off x="5334000" y="2489200"/>
            <a:ext cx="24892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读取 xlsx / csv / pdf / 文本</a:t>
            </a:r>
            <a:endParaRPr lang="en-US" sz="1100"/>
          </a:p>
        </p:txBody>
      </p:sp>
      <p:sp>
        <p:nvSpPr>
          <p:cNvPr id="323" name="AutoShape 21"/>
          <p:cNvSpPr/>
          <p:nvPr/>
        </p:nvSpPr>
        <p:spPr>
          <a:xfrm>
            <a:off x="8128000" y="2108200"/>
            <a:ext cx="3251200" cy="736600"/>
          </a:xfrm>
          <a:prstGeom prst="roundRect">
            <a:avLst>
              <a:gd name="adj" fmla="val 13793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24" name="AutoShape 22"/>
          <p:cNvSpPr/>
          <p:nvPr/>
        </p:nvSpPr>
        <p:spPr>
          <a:xfrm>
            <a:off x="8280400" y="2286000"/>
            <a:ext cx="330200" cy="330200"/>
          </a:xfrm>
          <a:prstGeom prst="roundRect">
            <a:avLst>
              <a:gd name="adj" fmla="val 23076"/>
            </a:avLst>
          </a:prstGeom>
          <a:solidFill>
            <a:srgbClr val="109488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25" name="AutoShape 23"/>
          <p:cNvSpPr/>
          <p:nvPr/>
        </p:nvSpPr>
        <p:spPr>
          <a:xfrm>
            <a:off x="8280400" y="2286000"/>
            <a:ext cx="3302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2</a:t>
            </a:r>
            <a:endParaRPr lang="en-US" sz="1100"/>
          </a:p>
        </p:txBody>
      </p:sp>
      <p:sp>
        <p:nvSpPr>
          <p:cNvPr id="326" name="AutoShape 24"/>
          <p:cNvSpPr/>
          <p:nvPr/>
        </p:nvSpPr>
        <p:spPr>
          <a:xfrm>
            <a:off x="8737600" y="2235200"/>
            <a:ext cx="24892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normalize_batch</a:t>
            </a:r>
            <a:endParaRPr lang="en-US" sz="1100"/>
          </a:p>
        </p:txBody>
      </p:sp>
      <p:sp>
        <p:nvSpPr>
          <p:cNvPr id="327" name="AutoShape 25"/>
          <p:cNvSpPr/>
          <p:nvPr/>
        </p:nvSpPr>
        <p:spPr>
          <a:xfrm>
            <a:off x="8737600" y="2489200"/>
            <a:ext cx="24892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去重、剔除空条目、字段规范化</a:t>
            </a:r>
            <a:endParaRPr lang="en-US" sz="1100"/>
          </a:p>
        </p:txBody>
      </p:sp>
      <p:sp>
        <p:nvSpPr>
          <p:cNvPr id="328" name="AutoShape 26"/>
          <p:cNvSpPr/>
          <p:nvPr/>
        </p:nvSpPr>
        <p:spPr>
          <a:xfrm>
            <a:off x="4724400" y="2971800"/>
            <a:ext cx="3251200" cy="736600"/>
          </a:xfrm>
          <a:prstGeom prst="roundRect">
            <a:avLst>
              <a:gd name="adj" fmla="val 13793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29" name="AutoShape 27"/>
          <p:cNvSpPr/>
          <p:nvPr/>
        </p:nvSpPr>
        <p:spPr>
          <a:xfrm>
            <a:off x="4876800" y="3149600"/>
            <a:ext cx="330200" cy="330200"/>
          </a:xfrm>
          <a:prstGeom prst="roundRect">
            <a:avLst>
              <a:gd name="adj" fmla="val 23076"/>
            </a:avLst>
          </a:prstGeom>
          <a:solidFill>
            <a:srgbClr val="109488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30" name="AutoShape 28"/>
          <p:cNvSpPr/>
          <p:nvPr/>
        </p:nvSpPr>
        <p:spPr>
          <a:xfrm>
            <a:off x="4876800" y="3149600"/>
            <a:ext cx="3302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3</a:t>
            </a:r>
            <a:endParaRPr lang="en-US" sz="1100"/>
          </a:p>
        </p:txBody>
      </p:sp>
      <p:sp>
        <p:nvSpPr>
          <p:cNvPr id="331" name="AutoShape 29"/>
          <p:cNvSpPr/>
          <p:nvPr/>
        </p:nvSpPr>
        <p:spPr>
          <a:xfrm>
            <a:off x="5334000" y="3098800"/>
            <a:ext cx="24892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classify_severity</a:t>
            </a:r>
            <a:endParaRPr lang="en-US" sz="1100"/>
          </a:p>
        </p:txBody>
      </p:sp>
      <p:sp>
        <p:nvSpPr>
          <p:cNvPr id="332" name="AutoShape 30"/>
          <p:cNvSpPr/>
          <p:nvPr/>
        </p:nvSpPr>
        <p:spPr>
          <a:xfrm>
            <a:off x="5334000" y="3352800"/>
            <a:ext cx="24892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逐条打 P0–P3 严重度标签</a:t>
            </a:r>
            <a:endParaRPr lang="en-US" sz="1100"/>
          </a:p>
        </p:txBody>
      </p:sp>
      <p:sp>
        <p:nvSpPr>
          <p:cNvPr id="333" name="AutoShape 31"/>
          <p:cNvSpPr/>
          <p:nvPr/>
        </p:nvSpPr>
        <p:spPr>
          <a:xfrm>
            <a:off x="8128000" y="2971800"/>
            <a:ext cx="3251200" cy="736600"/>
          </a:xfrm>
          <a:prstGeom prst="roundRect">
            <a:avLst>
              <a:gd name="adj" fmla="val 13793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34" name="AutoShape 32"/>
          <p:cNvSpPr/>
          <p:nvPr/>
        </p:nvSpPr>
        <p:spPr>
          <a:xfrm>
            <a:off x="8280400" y="3149600"/>
            <a:ext cx="330200" cy="330200"/>
          </a:xfrm>
          <a:prstGeom prst="roundRect">
            <a:avLst>
              <a:gd name="adj" fmla="val 23076"/>
            </a:avLst>
          </a:prstGeom>
          <a:solidFill>
            <a:srgbClr val="109488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35" name="AutoShape 33"/>
          <p:cNvSpPr/>
          <p:nvPr/>
        </p:nvSpPr>
        <p:spPr>
          <a:xfrm>
            <a:off x="8280400" y="3149600"/>
            <a:ext cx="3302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4</a:t>
            </a:r>
            <a:endParaRPr lang="en-US" sz="1100"/>
          </a:p>
        </p:txBody>
      </p:sp>
      <p:sp>
        <p:nvSpPr>
          <p:cNvPr id="336" name="AutoShape 34"/>
          <p:cNvSpPr/>
          <p:nvPr/>
        </p:nvSpPr>
        <p:spPr>
          <a:xfrm>
            <a:off x="8737600" y="3098800"/>
            <a:ext cx="24892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categorize_issue</a:t>
            </a:r>
            <a:endParaRPr lang="en-US" sz="1100"/>
          </a:p>
        </p:txBody>
      </p:sp>
      <p:sp>
        <p:nvSpPr>
          <p:cNvPr id="337" name="AutoShape 35"/>
          <p:cNvSpPr/>
          <p:nvPr/>
        </p:nvSpPr>
        <p:spPr>
          <a:xfrm>
            <a:off x="8737600" y="3352800"/>
            <a:ext cx="24892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归入登录/数据/计费等 8 大类</a:t>
            </a:r>
            <a:endParaRPr lang="en-US" sz="1100"/>
          </a:p>
        </p:txBody>
      </p:sp>
      <p:sp>
        <p:nvSpPr>
          <p:cNvPr id="338" name="AutoShape 36"/>
          <p:cNvSpPr/>
          <p:nvPr/>
        </p:nvSpPr>
        <p:spPr>
          <a:xfrm>
            <a:off x="4724400" y="3835400"/>
            <a:ext cx="3251200" cy="736600"/>
          </a:xfrm>
          <a:prstGeom prst="roundRect">
            <a:avLst>
              <a:gd name="adj" fmla="val 13793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39" name="AutoShape 37"/>
          <p:cNvSpPr/>
          <p:nvPr/>
        </p:nvSpPr>
        <p:spPr>
          <a:xfrm>
            <a:off x="4876800" y="4013200"/>
            <a:ext cx="330200" cy="330200"/>
          </a:xfrm>
          <a:prstGeom prst="roundRect">
            <a:avLst>
              <a:gd name="adj" fmla="val 23076"/>
            </a:avLst>
          </a:prstGeom>
          <a:solidFill>
            <a:srgbClr val="109488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40" name="AutoShape 38"/>
          <p:cNvSpPr/>
          <p:nvPr/>
        </p:nvSpPr>
        <p:spPr>
          <a:xfrm>
            <a:off x="4876800" y="4013200"/>
            <a:ext cx="3302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5</a:t>
            </a:r>
            <a:endParaRPr lang="en-US" sz="1100"/>
          </a:p>
        </p:txBody>
      </p:sp>
      <p:sp>
        <p:nvSpPr>
          <p:cNvPr id="341" name="AutoShape 39"/>
          <p:cNvSpPr/>
          <p:nvPr/>
        </p:nvSpPr>
        <p:spPr>
          <a:xfrm>
            <a:off x="5334000" y="3962400"/>
            <a:ext cx="24892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detect_pii_and_redact</a:t>
            </a:r>
            <a:endParaRPr lang="en-US" sz="1100"/>
          </a:p>
        </p:txBody>
      </p:sp>
      <p:sp>
        <p:nvSpPr>
          <p:cNvPr id="342" name="AutoShape 40"/>
          <p:cNvSpPr/>
          <p:nvPr/>
        </p:nvSpPr>
        <p:spPr>
          <a:xfrm>
            <a:off x="5334000" y="4216400"/>
            <a:ext cx="24892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手机号/身份证/银行卡脱敏</a:t>
            </a:r>
            <a:endParaRPr lang="en-US" sz="1100"/>
          </a:p>
        </p:txBody>
      </p:sp>
      <p:sp>
        <p:nvSpPr>
          <p:cNvPr id="343" name="AutoShape 41"/>
          <p:cNvSpPr/>
          <p:nvPr/>
        </p:nvSpPr>
        <p:spPr>
          <a:xfrm>
            <a:off x="8128000" y="3835400"/>
            <a:ext cx="3251200" cy="736600"/>
          </a:xfrm>
          <a:prstGeom prst="roundRect">
            <a:avLst>
              <a:gd name="adj" fmla="val 13793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44" name="AutoShape 42"/>
          <p:cNvSpPr/>
          <p:nvPr/>
        </p:nvSpPr>
        <p:spPr>
          <a:xfrm>
            <a:off x="8280400" y="4013200"/>
            <a:ext cx="330200" cy="330200"/>
          </a:xfrm>
          <a:prstGeom prst="roundRect">
            <a:avLst>
              <a:gd name="adj" fmla="val 23076"/>
            </a:avLst>
          </a:prstGeom>
          <a:solidFill>
            <a:srgbClr val="109488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45" name="AutoShape 43"/>
          <p:cNvSpPr/>
          <p:nvPr/>
        </p:nvSpPr>
        <p:spPr>
          <a:xfrm>
            <a:off x="8280400" y="4013200"/>
            <a:ext cx="3302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6</a:t>
            </a:r>
            <a:endParaRPr lang="en-US" sz="1100"/>
          </a:p>
        </p:txBody>
      </p:sp>
      <p:sp>
        <p:nvSpPr>
          <p:cNvPr id="346" name="AutoShape 44"/>
          <p:cNvSpPr/>
          <p:nvPr/>
        </p:nvSpPr>
        <p:spPr>
          <a:xfrm>
            <a:off x="8737600" y="3962400"/>
            <a:ext cx="24892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rank_action_items</a:t>
            </a:r>
            <a:endParaRPr lang="en-US" sz="1100"/>
          </a:p>
        </p:txBody>
      </p:sp>
      <p:sp>
        <p:nvSpPr>
          <p:cNvPr id="347" name="AutoShape 45"/>
          <p:cNvSpPr/>
          <p:nvPr/>
        </p:nvSpPr>
        <p:spPr>
          <a:xfrm>
            <a:off x="8737600" y="4216400"/>
            <a:ext cx="24892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P0+P1 按紧迫度打分排序</a:t>
            </a:r>
            <a:endParaRPr lang="en-US" sz="1100"/>
          </a:p>
        </p:txBody>
      </p:sp>
      <p:sp>
        <p:nvSpPr>
          <p:cNvPr id="348" name="AutoShape 46"/>
          <p:cNvSpPr/>
          <p:nvPr/>
        </p:nvSpPr>
        <p:spPr>
          <a:xfrm>
            <a:off x="4724400" y="4699000"/>
            <a:ext cx="3251200" cy="736600"/>
          </a:xfrm>
          <a:prstGeom prst="roundRect">
            <a:avLst>
              <a:gd name="adj" fmla="val 13793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49" name="AutoShape 47"/>
          <p:cNvSpPr/>
          <p:nvPr/>
        </p:nvSpPr>
        <p:spPr>
          <a:xfrm>
            <a:off x="4876800" y="4876800"/>
            <a:ext cx="330200" cy="330200"/>
          </a:xfrm>
          <a:prstGeom prst="roundRect">
            <a:avLst>
              <a:gd name="adj" fmla="val 23076"/>
            </a:avLst>
          </a:prstGeom>
          <a:solidFill>
            <a:srgbClr val="109488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50" name="AutoShape 48"/>
          <p:cNvSpPr/>
          <p:nvPr/>
        </p:nvSpPr>
        <p:spPr>
          <a:xfrm>
            <a:off x="4876800" y="4876800"/>
            <a:ext cx="3302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7</a:t>
            </a:r>
            <a:endParaRPr lang="en-US" sz="1100"/>
          </a:p>
        </p:txBody>
      </p:sp>
      <p:sp>
        <p:nvSpPr>
          <p:cNvPr id="351" name="AutoShape 49"/>
          <p:cNvSpPr/>
          <p:nvPr/>
        </p:nvSpPr>
        <p:spPr>
          <a:xfrm>
            <a:off x="5334000" y="4826000"/>
            <a:ext cx="24892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compose_report</a:t>
            </a:r>
            <a:endParaRPr lang="en-US" sz="1100"/>
          </a:p>
        </p:txBody>
      </p:sp>
      <p:sp>
        <p:nvSpPr>
          <p:cNvPr id="352" name="AutoShape 50"/>
          <p:cNvSpPr/>
          <p:nvPr/>
        </p:nvSpPr>
        <p:spPr>
          <a:xfrm>
            <a:off x="5334000" y="5080000"/>
            <a:ext cx="24892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生成摘要/P0清单/趋势/建议</a:t>
            </a:r>
            <a:endParaRPr lang="en-US" sz="1100"/>
          </a:p>
        </p:txBody>
      </p:sp>
      <p:sp>
        <p:nvSpPr>
          <p:cNvPr id="353" name="AutoShape 51"/>
          <p:cNvSpPr/>
          <p:nvPr/>
        </p:nvSpPr>
        <p:spPr>
          <a:xfrm>
            <a:off x="8128000" y="4699000"/>
            <a:ext cx="3251200" cy="736600"/>
          </a:xfrm>
          <a:prstGeom prst="roundRect">
            <a:avLst>
              <a:gd name="adj" fmla="val 13793"/>
            </a:avLst>
          </a:prstGeom>
          <a:solidFill>
            <a:srgbClr val="ECFDF5">
              <a:alpha val="100000"/>
            </a:srgbClr>
          </a:solidFill>
          <a:ln w="12700" cap="flat" cmpd="sng">
            <a:solidFill>
              <a:srgbClr val="10B9A9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54" name="AutoShape 52"/>
          <p:cNvSpPr/>
          <p:nvPr/>
        </p:nvSpPr>
        <p:spPr>
          <a:xfrm>
            <a:off x="8280400" y="4876800"/>
            <a:ext cx="330200" cy="330200"/>
          </a:xfrm>
          <a:prstGeom prst="roundRect">
            <a:avLst>
              <a:gd name="adj" fmla="val 23076"/>
            </a:avLst>
          </a:prstGeom>
          <a:solidFill>
            <a:srgbClr val="109488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55" name="AutoShape 53"/>
          <p:cNvSpPr/>
          <p:nvPr/>
        </p:nvSpPr>
        <p:spPr>
          <a:xfrm>
            <a:off x="8280400" y="4876800"/>
            <a:ext cx="3302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8</a:t>
            </a:r>
            <a:endParaRPr lang="en-US" sz="1100"/>
          </a:p>
        </p:txBody>
      </p:sp>
      <p:sp>
        <p:nvSpPr>
          <p:cNvPr id="356" name="AutoShape 54"/>
          <p:cNvSpPr/>
          <p:nvPr/>
        </p:nvSpPr>
        <p:spPr>
          <a:xfrm>
            <a:off x="8737600" y="4826000"/>
            <a:ext cx="24892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trigger_approval_if_p0</a:t>
            </a:r>
            <a:endParaRPr lang="en-US" sz="1100"/>
          </a:p>
        </p:txBody>
      </p:sp>
      <p:sp>
        <p:nvSpPr>
          <p:cNvPr id="357" name="AutoShape 55"/>
          <p:cNvSpPr/>
          <p:nvPr/>
        </p:nvSpPr>
        <p:spPr>
          <a:xfrm>
            <a:off x="8737600" y="5080000"/>
            <a:ext cx="24892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P0≥3 触发 R1 审批，否则跳过</a:t>
            </a:r>
            <a:endParaRPr lang="en-US" sz="1100"/>
          </a:p>
        </p:txBody>
      </p:sp>
      <p:sp>
        <p:nvSpPr>
          <p:cNvPr id="358" name="AutoShape 56"/>
          <p:cNvSpPr/>
          <p:nvPr/>
        </p:nvSpPr>
        <p:spPr>
          <a:xfrm>
            <a:off x="812800" y="5791200"/>
            <a:ext cx="10566400" cy="406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2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为什么不用多智能体：</a:t>
            </a:r>
            <a:r>
              <a:rPr lang="en-US" sz="1200" b="0" i="0" u="none" strike="noStrike">
                <a:solidFill>
                  <a:srgbClr val="47556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所有 step 共享同一份"批次上下文"，任何并行拆分都会导致上下文重建成本大于并行收益——这是单 Agent 顺序流水线的典型场景。</a:t>
            </a:r>
            <a:endParaRPr lang="en-US" sz="1100"/>
          </a:p>
        </p:txBody>
      </p:sp>
      <p:sp>
        <p:nvSpPr>
          <p:cNvPr id="359" name="AutoShape 57"/>
          <p:cNvSpPr/>
          <p:nvPr/>
        </p:nvSpPr>
        <p:spPr>
          <a:xfrm>
            <a:off x="812800" y="6451600"/>
            <a:ext cx="5080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墨攻 · 企业级智能体功能补强规划</a:t>
            </a:r>
            <a:endParaRPr lang="en-US" sz="1100"/>
          </a:p>
        </p:txBody>
      </p:sp>
      <p:sp>
        <p:nvSpPr>
          <p:cNvPr id="360" name="AutoShape 58"/>
          <p:cNvSpPr/>
          <p:nvPr/>
        </p:nvSpPr>
        <p:spPr>
          <a:xfrm>
            <a:off x="10414000" y="6451600"/>
            <a:ext cx="9652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zh-CN" sz="11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16 / 18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>
  <p:cSld>
    <p:bg>
      <p:bgPr>
        <a:solidFill>
          <a:srgbClr val="F8FAFC">
            <a:alpha val="100000"/>
          </a:srgbClr>
        </a:solidFill>
        <a:effectLst/>
      </p:bgPr>
    </p:bg>
    <p:spTree>
      <p:nvGrpSpPr>
        <p:cNvPr id="36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AutoShape 2"/>
          <p:cNvSpPr/>
          <p:nvPr/>
        </p:nvSpPr>
        <p:spPr>
          <a:xfrm>
            <a:off x="812800" y="533400"/>
            <a:ext cx="50800" cy="2794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63" name="AutoShape 3"/>
          <p:cNvSpPr/>
          <p:nvPr/>
        </p:nvSpPr>
        <p:spPr>
          <a:xfrm>
            <a:off x="990600" y="558800"/>
            <a:ext cx="3810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altLang="zh-CN" sz="1200" b="1" dirty="0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10</a:t>
            </a:r>
            <a:r>
              <a:rPr lang="en-US" sz="1200" b="1" i="0" u="none" strike="noStrike" dirty="0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 xml:space="preserve"> · </a:t>
            </a:r>
            <a:r>
              <a:rPr lang="en-US" sz="1200" b="1" i="0" u="none" strike="noStrike" dirty="0" err="1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标杆场景二</a:t>
            </a:r>
            <a:r>
              <a:rPr lang="en-US" sz="1200" b="1" i="0" u="none" strike="noStrike" dirty="0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 xml:space="preserve"> · </a:t>
            </a:r>
            <a:r>
              <a:rPr lang="en-US" sz="1200" b="1" i="0" u="none" strike="noStrike" dirty="0" err="1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多智能体</a:t>
            </a:r>
            <a:r>
              <a:rPr lang="en-US" sz="1200" b="1" i="0" u="none" strike="noStrike" dirty="0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 xml:space="preserve"> DAG</a:t>
            </a:r>
            <a:endParaRPr lang="en-US" sz="1100" dirty="0"/>
          </a:p>
        </p:txBody>
      </p:sp>
      <p:sp>
        <p:nvSpPr>
          <p:cNvPr id="364" name="AutoShape 4"/>
          <p:cNvSpPr/>
          <p:nvPr/>
        </p:nvSpPr>
        <p:spPr>
          <a:xfrm>
            <a:off x="812800" y="838200"/>
            <a:ext cx="105664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6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竞品深度调研：4 路并行分析，合成可追溯报告</a:t>
            </a:r>
            <a:endParaRPr lang="en-US" sz="1100"/>
          </a:p>
        </p:txBody>
      </p:sp>
      <p:cxnSp>
        <p:nvCxnSpPr>
          <p:cNvPr id="365" name="Connector 5"/>
          <p:cNvCxnSpPr/>
          <p:nvPr/>
        </p:nvCxnSpPr>
        <p:spPr>
          <a:xfrm rot="-4131">
            <a:off x="812804" y="1441450"/>
            <a:ext cx="10566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66" name="AutoShape 6"/>
          <p:cNvSpPr/>
          <p:nvPr/>
        </p:nvSpPr>
        <p:spPr>
          <a:xfrm>
            <a:off x="4318000" y="1651000"/>
            <a:ext cx="3556000" cy="558800"/>
          </a:xfrm>
          <a:prstGeom prst="roundRect">
            <a:avLst>
              <a:gd name="adj" fmla="val 18181"/>
            </a:avLst>
          </a:prstGeom>
          <a:solidFill>
            <a:srgbClr val="0D9488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67" name="AutoShape 7"/>
          <p:cNvSpPr/>
          <p:nvPr/>
        </p:nvSpPr>
        <p:spPr>
          <a:xfrm>
            <a:off x="4318000" y="1651000"/>
            <a:ext cx="35560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supervisor 协调（planner + aggregator）</a:t>
            </a:r>
            <a:endParaRPr lang="en-US" sz="1100"/>
          </a:p>
        </p:txBody>
      </p:sp>
      <p:cxnSp>
        <p:nvCxnSpPr>
          <p:cNvPr id="368" name="Connector 8"/>
          <p:cNvCxnSpPr/>
          <p:nvPr/>
        </p:nvCxnSpPr>
        <p:spPr>
          <a:xfrm rot="5267844">
            <a:off x="5930900" y="2368672"/>
            <a:ext cx="330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69" name="Connector 9"/>
          <p:cNvCxnSpPr/>
          <p:nvPr/>
        </p:nvCxnSpPr>
        <p:spPr>
          <a:xfrm rot="-5617">
            <a:off x="2032005" y="2533650"/>
            <a:ext cx="7772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70" name="Connector 10"/>
          <p:cNvCxnSpPr/>
          <p:nvPr/>
        </p:nvCxnSpPr>
        <p:spPr>
          <a:xfrm rot="5267844">
            <a:off x="1866900" y="2698872"/>
            <a:ext cx="330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71" name="Connector 11"/>
          <p:cNvCxnSpPr/>
          <p:nvPr/>
        </p:nvCxnSpPr>
        <p:spPr>
          <a:xfrm rot="5267844">
            <a:off x="4457700" y="2698872"/>
            <a:ext cx="330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72" name="Connector 12"/>
          <p:cNvCxnSpPr/>
          <p:nvPr/>
        </p:nvCxnSpPr>
        <p:spPr>
          <a:xfrm rot="5267844">
            <a:off x="7048500" y="2698872"/>
            <a:ext cx="330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73" name="Connector 13"/>
          <p:cNvCxnSpPr/>
          <p:nvPr/>
        </p:nvCxnSpPr>
        <p:spPr>
          <a:xfrm rot="5267844">
            <a:off x="9639300" y="2698872"/>
            <a:ext cx="330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74" name="AutoShape 14"/>
          <p:cNvSpPr/>
          <p:nvPr/>
        </p:nvSpPr>
        <p:spPr>
          <a:xfrm>
            <a:off x="812800" y="2870200"/>
            <a:ext cx="2438400" cy="965200"/>
          </a:xfrm>
          <a:prstGeom prst="roundRect">
            <a:avLst>
              <a:gd name="adj" fmla="val 10526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75" name="AutoShape 15"/>
          <p:cNvSpPr/>
          <p:nvPr/>
        </p:nvSpPr>
        <p:spPr>
          <a:xfrm>
            <a:off x="965200" y="3022600"/>
            <a:ext cx="21336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市场情报员</a:t>
            </a:r>
            <a:endParaRPr lang="en-US" sz="1100"/>
          </a:p>
        </p:txBody>
      </p:sp>
      <p:sp>
        <p:nvSpPr>
          <p:cNvPr id="376" name="AutoShape 16"/>
          <p:cNvSpPr/>
          <p:nvPr/>
        </p:nvSpPr>
        <p:spPr>
          <a:xfrm>
            <a:off x="965200" y="3327400"/>
            <a:ext cx="21336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检索 + 时间线新闻、融资、份额</a:t>
            </a:r>
            <a:endParaRPr lang="en-US" sz="1100"/>
          </a:p>
        </p:txBody>
      </p:sp>
      <p:sp>
        <p:nvSpPr>
          <p:cNvPr id="377" name="AutoShape 17"/>
          <p:cNvSpPr/>
          <p:nvPr/>
        </p:nvSpPr>
        <p:spPr>
          <a:xfrm>
            <a:off x="3403600" y="2870200"/>
            <a:ext cx="2438400" cy="965200"/>
          </a:xfrm>
          <a:prstGeom prst="roundRect">
            <a:avLst>
              <a:gd name="adj" fmla="val 10526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78" name="AutoShape 18"/>
          <p:cNvSpPr/>
          <p:nvPr/>
        </p:nvSpPr>
        <p:spPr>
          <a:xfrm>
            <a:off x="3556000" y="3022600"/>
            <a:ext cx="21336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产品分析师</a:t>
            </a:r>
            <a:endParaRPr lang="en-US" sz="1100"/>
          </a:p>
        </p:txBody>
      </p:sp>
      <p:sp>
        <p:nvSpPr>
          <p:cNvPr id="379" name="AutoShape 19"/>
          <p:cNvSpPr/>
          <p:nvPr/>
        </p:nvSpPr>
        <p:spPr>
          <a:xfrm>
            <a:off x="3556000" y="3327400"/>
            <a:ext cx="21336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浏览器抓取官网、功能对比</a:t>
            </a:r>
            <a:endParaRPr lang="en-US" sz="1100"/>
          </a:p>
        </p:txBody>
      </p:sp>
      <p:sp>
        <p:nvSpPr>
          <p:cNvPr id="380" name="AutoShape 20"/>
          <p:cNvSpPr/>
          <p:nvPr/>
        </p:nvSpPr>
        <p:spPr>
          <a:xfrm>
            <a:off x="5994400" y="2870200"/>
            <a:ext cx="2438400" cy="965200"/>
          </a:xfrm>
          <a:prstGeom prst="roundRect">
            <a:avLst>
              <a:gd name="adj" fmla="val 10526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94A3B8">
                <a:alpha val="100000"/>
              </a:srgbClr>
            </a:solidFill>
            <a:prstDash val="dash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81" name="AutoShape 21"/>
          <p:cNvSpPr/>
          <p:nvPr/>
        </p:nvSpPr>
        <p:spPr>
          <a:xfrm>
            <a:off x="6146800" y="3022600"/>
            <a:ext cx="21336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财务分析师</a:t>
            </a:r>
            <a:endParaRPr lang="en-US" sz="1100"/>
          </a:p>
        </p:txBody>
      </p:sp>
      <p:sp>
        <p:nvSpPr>
          <p:cNvPr id="382" name="AutoShape 22"/>
          <p:cNvSpPr/>
          <p:nvPr/>
        </p:nvSpPr>
        <p:spPr>
          <a:xfrm>
            <a:off x="6146800" y="3302000"/>
            <a:ext cx="21336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定量 + 估值模型</a:t>
            </a:r>
            <a:endParaRPr lang="en-US" sz="1100"/>
          </a:p>
        </p:txBody>
      </p:sp>
      <p:sp>
        <p:nvSpPr>
          <p:cNvPr id="383" name="AutoShape 23"/>
          <p:cNvSpPr/>
          <p:nvPr/>
        </p:nvSpPr>
        <p:spPr>
          <a:xfrm>
            <a:off x="6146800" y="3556000"/>
            <a:ext cx="21336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1" i="0" u="none" strike="noStrike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私有公司则条件跳过</a:t>
            </a:r>
            <a:endParaRPr lang="en-US" sz="1100"/>
          </a:p>
        </p:txBody>
      </p:sp>
      <p:sp>
        <p:nvSpPr>
          <p:cNvPr id="384" name="AutoShape 24"/>
          <p:cNvSpPr/>
          <p:nvPr/>
        </p:nvSpPr>
        <p:spPr>
          <a:xfrm>
            <a:off x="8585200" y="2870200"/>
            <a:ext cx="2438400" cy="965200"/>
          </a:xfrm>
          <a:prstGeom prst="roundRect">
            <a:avLst>
              <a:gd name="adj" fmla="val 10526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85" name="AutoShape 25"/>
          <p:cNvSpPr/>
          <p:nvPr/>
        </p:nvSpPr>
        <p:spPr>
          <a:xfrm>
            <a:off x="8737600" y="3022600"/>
            <a:ext cx="21336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舆情监测员</a:t>
            </a:r>
            <a:endParaRPr lang="en-US" sz="1100"/>
          </a:p>
        </p:txBody>
      </p:sp>
      <p:sp>
        <p:nvSpPr>
          <p:cNvPr id="386" name="AutoShape 26"/>
          <p:cNvSpPr/>
          <p:nvPr/>
        </p:nvSpPr>
        <p:spPr>
          <a:xfrm>
            <a:off x="8737600" y="3327400"/>
            <a:ext cx="21336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微博/知乎/Reddit 情感聚类</a:t>
            </a:r>
            <a:endParaRPr lang="en-US" sz="1100"/>
          </a:p>
        </p:txBody>
      </p:sp>
      <p:cxnSp>
        <p:nvCxnSpPr>
          <p:cNvPr id="387" name="Connector 27"/>
          <p:cNvCxnSpPr/>
          <p:nvPr/>
        </p:nvCxnSpPr>
        <p:spPr>
          <a:xfrm rot="5267844">
            <a:off x="1866900" y="3994272"/>
            <a:ext cx="330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88" name="Connector 28"/>
          <p:cNvCxnSpPr/>
          <p:nvPr/>
        </p:nvCxnSpPr>
        <p:spPr>
          <a:xfrm rot="5267844">
            <a:off x="4457700" y="3994272"/>
            <a:ext cx="330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89" name="Connector 29"/>
          <p:cNvCxnSpPr/>
          <p:nvPr/>
        </p:nvCxnSpPr>
        <p:spPr>
          <a:xfrm rot="5267844">
            <a:off x="7048500" y="3994272"/>
            <a:ext cx="330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90" name="Connector 30"/>
          <p:cNvCxnSpPr/>
          <p:nvPr/>
        </p:nvCxnSpPr>
        <p:spPr>
          <a:xfrm rot="5267844">
            <a:off x="9639300" y="3994272"/>
            <a:ext cx="330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91" name="Connector 31"/>
          <p:cNvCxnSpPr/>
          <p:nvPr/>
        </p:nvCxnSpPr>
        <p:spPr>
          <a:xfrm rot="-5617">
            <a:off x="2032005" y="4159250"/>
            <a:ext cx="7772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92" name="Connector 32"/>
          <p:cNvCxnSpPr/>
          <p:nvPr/>
        </p:nvCxnSpPr>
        <p:spPr>
          <a:xfrm rot="5256843">
            <a:off x="5943600" y="4311782"/>
            <a:ext cx="3048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93" name="AutoShape 33"/>
          <p:cNvSpPr/>
          <p:nvPr/>
        </p:nvSpPr>
        <p:spPr>
          <a:xfrm>
            <a:off x="4191000" y="4470400"/>
            <a:ext cx="3810000" cy="584200"/>
          </a:xfrm>
          <a:prstGeom prst="roundRect">
            <a:avLst>
              <a:gd name="adj" fmla="val 17391"/>
            </a:avLst>
          </a:prstGeom>
          <a:solidFill>
            <a:srgbClr val="ECFDF5">
              <a:alpha val="100000"/>
            </a:srgbClr>
          </a:solidFill>
          <a:ln w="12700" cap="flat" cmpd="sng">
            <a:solidFill>
              <a:srgbClr val="10B9A9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94" name="AutoShape 34"/>
          <p:cNvSpPr/>
          <p:nvPr/>
        </p:nvSpPr>
        <p:spPr>
          <a:xfrm>
            <a:off x="4191000" y="4470400"/>
            <a:ext cx="3810000" cy="584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report_synthesis 引用四节点 + 综合判断</a:t>
            </a:r>
            <a:endParaRPr lang="en-US" sz="1100"/>
          </a:p>
        </p:txBody>
      </p:sp>
      <p:sp>
        <p:nvSpPr>
          <p:cNvPr id="395" name="AutoShape 35"/>
          <p:cNvSpPr/>
          <p:nvPr/>
        </p:nvSpPr>
        <p:spPr>
          <a:xfrm>
            <a:off x="812800" y="5283200"/>
            <a:ext cx="3429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失败容错</a:t>
            </a:r>
            <a:br>
              <a:rPr lang="en-US" sz="1100" b="0" i="0" u="none" strike="noStrike">
                <a:solidFill>
                  <a:srgbClr val="47556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</a:br>
            <a:r>
              <a:rPr lang="en-US" sz="1100" b="0" i="0" u="none" strike="noStrike">
                <a:solidFill>
                  <a:srgbClr val="47556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节点指数退避重试 2 次（5s→10s），总超时 30 分钟</a:t>
            </a:r>
            <a:endParaRPr lang="en-US" sz="1100"/>
          </a:p>
        </p:txBody>
      </p:sp>
      <p:sp>
        <p:nvSpPr>
          <p:cNvPr id="396" name="AutoShape 36"/>
          <p:cNvSpPr/>
          <p:nvPr/>
        </p:nvSpPr>
        <p:spPr>
          <a:xfrm>
            <a:off x="4445000" y="5283200"/>
            <a:ext cx="3429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降级策略</a:t>
            </a:r>
            <a:br>
              <a:rPr lang="en-US" sz="1100" b="0" i="0" u="none" strike="noStrike">
                <a:solidFill>
                  <a:srgbClr val="47556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</a:br>
            <a:r>
              <a:rPr lang="en-US" sz="1100" b="0" i="0" u="none" strike="noStrike">
                <a:solidFill>
                  <a:srgbClr val="47556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≥3 子节点完成正常合成；&lt;3 则输出数据不足降级报告</a:t>
            </a:r>
            <a:endParaRPr lang="en-US" sz="1100"/>
          </a:p>
        </p:txBody>
      </p:sp>
      <p:sp>
        <p:nvSpPr>
          <p:cNvPr id="397" name="AutoShape 37"/>
          <p:cNvSpPr/>
          <p:nvPr/>
        </p:nvSpPr>
        <p:spPr>
          <a:xfrm>
            <a:off x="8077200" y="5283200"/>
            <a:ext cx="3302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为什么用 graph</a:t>
            </a:r>
            <a:br>
              <a:rPr lang="en-US" sz="1100" b="0" i="0" u="none" strike="noStrike">
                <a:solidFill>
                  <a:srgbClr val="47556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</a:br>
            <a:r>
              <a:rPr lang="en-US" sz="1100" b="0" i="0" u="none" strike="noStrike">
                <a:solidFill>
                  <a:srgbClr val="47556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4 维度静态可并行；sequential 太慢，hybrid 徒增监督开销</a:t>
            </a:r>
            <a:endParaRPr lang="en-US" sz="1100"/>
          </a:p>
        </p:txBody>
      </p:sp>
      <p:sp>
        <p:nvSpPr>
          <p:cNvPr id="398" name="AutoShape 38"/>
          <p:cNvSpPr/>
          <p:nvPr/>
        </p:nvSpPr>
        <p:spPr>
          <a:xfrm>
            <a:off x="812800" y="6451600"/>
            <a:ext cx="5080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墨攻 · 企业级智能体功能补强规划</a:t>
            </a:r>
            <a:endParaRPr lang="en-US" sz="1100"/>
          </a:p>
        </p:txBody>
      </p:sp>
      <p:sp>
        <p:nvSpPr>
          <p:cNvPr id="399" name="AutoShape 39"/>
          <p:cNvSpPr/>
          <p:nvPr/>
        </p:nvSpPr>
        <p:spPr>
          <a:xfrm>
            <a:off x="10414000" y="6451600"/>
            <a:ext cx="9652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zh-CN" sz="11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17 / 18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>
  <p:cSld>
    <p:bg>
      <p:bgPr>
        <a:solidFill>
          <a:srgbClr val="0D1221">
            <a:alpha val="100000"/>
          </a:srgbClr>
        </a:solidFill>
        <a:effectLst/>
      </p:bgPr>
    </p:bg>
    <p:spTree>
      <p:nvGrpSpPr>
        <p:cNvPr id="40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01" name="Connector 2"/>
          <p:cNvCxnSpPr/>
          <p:nvPr/>
        </p:nvCxnSpPr>
        <p:spPr>
          <a:xfrm rot="-3579">
            <a:off x="3" y="1708150"/>
            <a:ext cx="12192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02" name="Connector 3"/>
          <p:cNvCxnSpPr/>
          <p:nvPr/>
        </p:nvCxnSpPr>
        <p:spPr>
          <a:xfrm rot="-3579">
            <a:off x="3" y="3422650"/>
            <a:ext cx="12192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03" name="Connector 4"/>
          <p:cNvCxnSpPr/>
          <p:nvPr/>
        </p:nvCxnSpPr>
        <p:spPr>
          <a:xfrm rot="-3579">
            <a:off x="3" y="5137150"/>
            <a:ext cx="12192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04" name="Connector 5"/>
          <p:cNvCxnSpPr/>
          <p:nvPr/>
        </p:nvCxnSpPr>
        <p:spPr>
          <a:xfrm rot="5393633">
            <a:off x="-381000" y="3422656"/>
            <a:ext cx="685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05" name="Connector 6"/>
          <p:cNvCxnSpPr/>
          <p:nvPr/>
        </p:nvCxnSpPr>
        <p:spPr>
          <a:xfrm rot="5393633">
            <a:off x="2667000" y="3422656"/>
            <a:ext cx="685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06" name="Connector 7"/>
          <p:cNvCxnSpPr/>
          <p:nvPr/>
        </p:nvCxnSpPr>
        <p:spPr>
          <a:xfrm rot="5393633">
            <a:off x="5715000" y="3422656"/>
            <a:ext cx="685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07" name="AutoShape 8"/>
          <p:cNvSpPr/>
          <p:nvPr/>
        </p:nvSpPr>
        <p:spPr>
          <a:xfrm>
            <a:off x="812800" y="736600"/>
            <a:ext cx="711200" cy="762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408" name="AutoShape 9"/>
          <p:cNvSpPr/>
          <p:nvPr/>
        </p:nvSpPr>
        <p:spPr>
          <a:xfrm>
            <a:off x="812800" y="939800"/>
            <a:ext cx="5334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10B9A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墨攻 · 企业级智能体平台</a:t>
            </a:r>
            <a:endParaRPr lang="en-US" sz="1100"/>
          </a:p>
        </p:txBody>
      </p:sp>
      <p:sp>
        <p:nvSpPr>
          <p:cNvPr id="409" name="AutoShape 10"/>
          <p:cNvSpPr/>
          <p:nvPr/>
        </p:nvSpPr>
        <p:spPr>
          <a:xfrm>
            <a:off x="812800" y="1854200"/>
            <a:ext cx="105664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3600" b="1" i="0" u="none" strike="noStrike" dirty="0" err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库代码</a:t>
            </a:r>
            <a:r>
              <a:rPr lang="en-US" sz="3600" b="1" i="0" u="none" strike="noStrike" dirty="0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 xml:space="preserve"> + </a:t>
            </a:r>
            <a:r>
              <a:rPr lang="en-US" sz="3600" b="1" i="0" u="none" strike="noStrike" dirty="0" err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单测全绿，生产接线与</a:t>
            </a:r>
            <a:r>
              <a:rPr lang="en-US" sz="3600" b="1" i="0" u="none" strike="noStrike" dirty="0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 xml:space="preserve"> UI </a:t>
            </a:r>
            <a:r>
              <a:rPr lang="en-US" sz="3600" b="1" i="0" u="none" strike="noStrike" dirty="0" err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触点全部闭合从能力走进生产</a:t>
            </a:r>
            <a:endParaRPr lang="en-US" sz="1100" dirty="0"/>
          </a:p>
        </p:txBody>
      </p:sp>
      <p:sp>
        <p:nvSpPr>
          <p:cNvPr id="410" name="AutoShape 11"/>
          <p:cNvSpPr/>
          <p:nvPr/>
        </p:nvSpPr>
        <p:spPr>
          <a:xfrm>
            <a:off x="812800" y="3276600"/>
            <a:ext cx="105664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endParaRPr lang="en-US" sz="1100" dirty="0"/>
          </a:p>
        </p:txBody>
      </p:sp>
      <p:sp>
        <p:nvSpPr>
          <p:cNvPr id="411" name="AutoShape 12"/>
          <p:cNvSpPr/>
          <p:nvPr/>
        </p:nvSpPr>
        <p:spPr>
          <a:xfrm>
            <a:off x="812800" y="5181600"/>
            <a:ext cx="1524000" cy="381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412" name="AutoShape 13"/>
          <p:cNvSpPr/>
          <p:nvPr/>
        </p:nvSpPr>
        <p:spPr>
          <a:xfrm>
            <a:off x="9652000" y="6248400"/>
            <a:ext cx="17272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zh-CN" sz="1200" b="0" i="0" u="none" strike="noStrike">
                <a:solidFill>
                  <a:srgbClr val="FFFFFF">
                    <a:alpha val="45098"/>
                  </a:srgbClr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18 / 18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2026-10-22T22:30:32Z</dcterms:created>
  <dcterms:modified xsi:type="dcterms:W3CDTF">2026-10-22T22:30:32Z</dcterms:modified>
</cp:coreProperties>
</file>